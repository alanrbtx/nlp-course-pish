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2bc6e7f1ab4b7c" /><Relationship Type="http://schemas.openxmlformats.org/officeDocument/2006/relationships/extended-properties" Target="/docProps/app.xml" Id="Rf10f224fd3b24085" /><Relationship Type="http://schemas.openxmlformats.org/officeDocument/2006/relationships/officeDocument" Target="/ppt/presentation.xml" Id="R8608ad2a21984c01" /></Relationships>
</file>

<file path=ppt/presentation.xml><?xml version="1.0" encoding="utf-8"?>
<p:presentation xmlns:p="http://schemas.openxmlformats.org/presentationml/2006/main">
  <p:sldMasterIdLst>
    <p:sldMasterId xmlns:r="http://schemas.openxmlformats.org/officeDocument/2006/relationships" id="2147483648" r:id="Rdaddaaf1b1f44f89"/>
  </p:sldMasterIdLst>
  <p:notesMasterIdLst>
    <p:notesMasterId xmlns:r="http://schemas.openxmlformats.org/officeDocument/2006/relationships" r:id="Ra65dae3dcd574179"/>
  </p:notesMasterIdLst>
  <p:sldIdLst>
    <p:sldId xmlns:r="http://schemas.openxmlformats.org/officeDocument/2006/relationships" id="256" r:id="R1caeb3bd618e4959"/>
    <p:sldId xmlns:r="http://schemas.openxmlformats.org/officeDocument/2006/relationships" id="257" r:id="R0483db8b5e814ec2"/>
    <p:sldId xmlns:r="http://schemas.openxmlformats.org/officeDocument/2006/relationships" id="258" r:id="R23ec5e109b344a02"/>
    <p:sldId xmlns:r="http://schemas.openxmlformats.org/officeDocument/2006/relationships" id="259" r:id="R7dea90ade6f0459b"/>
    <p:sldId xmlns:r="http://schemas.openxmlformats.org/officeDocument/2006/relationships" id="260" r:id="R358f17cd3fb34cdc"/>
    <p:sldId xmlns:r="http://schemas.openxmlformats.org/officeDocument/2006/relationships" id="261" r:id="R8b054a31360d4a6b"/>
    <p:sldId xmlns:r="http://schemas.openxmlformats.org/officeDocument/2006/relationships" id="262" r:id="Rb3d9d7a0e0c14fe7"/>
    <p:sldId xmlns:r="http://schemas.openxmlformats.org/officeDocument/2006/relationships" id="263" r:id="R82523254ea874520"/>
    <p:sldId xmlns:r="http://schemas.openxmlformats.org/officeDocument/2006/relationships" id="264" r:id="R0bc4c03a41a949af"/>
    <p:sldId xmlns:r="http://schemas.openxmlformats.org/officeDocument/2006/relationships" id="265" r:id="Re80d13a82dd84c00"/>
    <p:sldId xmlns:r="http://schemas.openxmlformats.org/officeDocument/2006/relationships" id="266" r:id="Rdc1e1b52f26b4f43"/>
    <p:sldId xmlns:r="http://schemas.openxmlformats.org/officeDocument/2006/relationships" id="267" r:id="R2f671920e87d4325"/>
    <p:sldId xmlns:r="http://schemas.openxmlformats.org/officeDocument/2006/relationships" id="268" r:id="R7bd8abb194424d82"/>
    <p:sldId xmlns:r="http://schemas.openxmlformats.org/officeDocument/2006/relationships" id="269" r:id="R904fa484ad544d8e"/>
    <p:sldId xmlns:r="http://schemas.openxmlformats.org/officeDocument/2006/relationships" id="270" r:id="R730f4b0cac824a8e"/>
    <p:sldId xmlns:r="http://schemas.openxmlformats.org/officeDocument/2006/relationships" id="271" r:id="Ra84c99d43eb2413c"/>
    <p:sldId xmlns:r="http://schemas.openxmlformats.org/officeDocument/2006/relationships" id="272" r:id="R28d4351ff8de40ec"/>
    <p:sldId xmlns:r="http://schemas.openxmlformats.org/officeDocument/2006/relationships" id="273" r:id="Rc5baf51651674130"/>
    <p:sldId xmlns:r="http://schemas.openxmlformats.org/officeDocument/2006/relationships" id="274" r:id="R88d39d22b75742a7"/>
    <p:sldId xmlns:r="http://schemas.openxmlformats.org/officeDocument/2006/relationships" id="275" r:id="Rd593f02f164c4e9f"/>
    <p:sldId xmlns:r="http://schemas.openxmlformats.org/officeDocument/2006/relationships" id="276" r:id="Re3149f673d934216"/>
    <p:sldId xmlns:r="http://schemas.openxmlformats.org/officeDocument/2006/relationships" id="277" r:id="Rf3428a565405425d"/>
    <p:sldId xmlns:r="http://schemas.openxmlformats.org/officeDocument/2006/relationships" id="278" r:id="R302979c8264045c6"/>
    <p:sldId xmlns:r="http://schemas.openxmlformats.org/officeDocument/2006/relationships" id="279" r:id="R65002a8f6e3d4584"/>
    <p:sldId xmlns:r="http://schemas.openxmlformats.org/officeDocument/2006/relationships" id="280" r:id="R42a0f326d3624829"/>
    <p:sldId xmlns:r="http://schemas.openxmlformats.org/officeDocument/2006/relationships" id="281" r:id="Rf2cdafda57f245c2"/>
    <p:sldId xmlns:r="http://schemas.openxmlformats.org/officeDocument/2006/relationships" id="282" r:id="R093ecb55ea7a4bd2"/>
    <p:sldId xmlns:r="http://schemas.openxmlformats.org/officeDocument/2006/relationships" id="283" r:id="Rf7ad88d4b5354ecf"/>
    <p:sldId xmlns:r="http://schemas.openxmlformats.org/officeDocument/2006/relationships" id="284" r:id="R60c6afd369ee4e78"/>
    <p:sldId xmlns:r="http://schemas.openxmlformats.org/officeDocument/2006/relationships" id="285" r:id="Rb81d19de5eb64934"/>
    <p:sldId xmlns:r="http://schemas.openxmlformats.org/officeDocument/2006/relationships" id="286" r:id="R88fbc4d270154204"/>
    <p:sldId xmlns:r="http://schemas.openxmlformats.org/officeDocument/2006/relationships" id="287" r:id="R12872bda491544b8"/>
    <p:sldId xmlns:r="http://schemas.openxmlformats.org/officeDocument/2006/relationships" id="288" r:id="Rc41d3109724847b3"/>
    <p:sldId xmlns:r="http://schemas.openxmlformats.org/officeDocument/2006/relationships" id="289" r:id="R496ca69ea4614eec"/>
    <p:sldId xmlns:r="http://schemas.openxmlformats.org/officeDocument/2006/relationships" id="290" r:id="R49185b5af0c44116"/>
    <p:sldId xmlns:r="http://schemas.openxmlformats.org/officeDocument/2006/relationships" id="291" r:id="R1435332a5ae34b6b"/>
    <p:sldId xmlns:r="http://schemas.openxmlformats.org/officeDocument/2006/relationships" id="292" r:id="Rfb31bbfddd7546aa"/>
    <p:sldId xmlns:r="http://schemas.openxmlformats.org/officeDocument/2006/relationships" id="293" r:id="R1fcd0b51ab44487e"/>
    <p:sldId xmlns:r="http://schemas.openxmlformats.org/officeDocument/2006/relationships" id="294" r:id="R4a59291eb09743c7"/>
    <p:sldId xmlns:r="http://schemas.openxmlformats.org/officeDocument/2006/relationships" id="295" r:id="Rf03233377b2d4b9e"/>
    <p:sldId xmlns:r="http://schemas.openxmlformats.org/officeDocument/2006/relationships" id="296" r:id="R5138bfa2e8164ccb"/>
    <p:sldId xmlns:r="http://schemas.openxmlformats.org/officeDocument/2006/relationships" id="297" r:id="R377812dc2cf542dc"/>
    <p:sldId xmlns:r="http://schemas.openxmlformats.org/officeDocument/2006/relationships" id="298" r:id="R33eddcdce2ec40fe"/>
    <p:sldId xmlns:r="http://schemas.openxmlformats.org/officeDocument/2006/relationships" id="299" r:id="R0db899a4ffe645ca"/>
    <p:sldId xmlns:r="http://schemas.openxmlformats.org/officeDocument/2006/relationships" id="300" r:id="R18fd6e8543c048f5"/>
    <p:sldId xmlns:r="http://schemas.openxmlformats.org/officeDocument/2006/relationships" id="301" r:id="Rf153629e63204f23"/>
    <p:sldId xmlns:r="http://schemas.openxmlformats.org/officeDocument/2006/relationships" id="302" r:id="Rbca625d32d244a3c"/>
    <p:sldId xmlns:r="http://schemas.openxmlformats.org/officeDocument/2006/relationships" id="303" r:id="Rd93982b518a84be5"/>
    <p:sldId xmlns:r="http://schemas.openxmlformats.org/officeDocument/2006/relationships" id="304" r:id="R5bf12173301d4ffa"/>
    <p:sldId xmlns:r="http://schemas.openxmlformats.org/officeDocument/2006/relationships" id="305" r:id="Rfc1091c987e2490e"/>
    <p:sldId xmlns:r="http://schemas.openxmlformats.org/officeDocument/2006/relationships" id="306" r:id="Rd4119c9e9ab5456e"/>
    <p:sldId xmlns:r="http://schemas.openxmlformats.org/officeDocument/2006/relationships" id="307" r:id="Rdaa436fe32fd4ff6"/>
    <p:sldId xmlns:r="http://schemas.openxmlformats.org/officeDocument/2006/relationships" id="308" r:id="Rab29f1f718e44542"/>
    <p:sldId xmlns:r="http://schemas.openxmlformats.org/officeDocument/2006/relationships" id="309" r:id="Rf4142438142042aa"/>
    <p:sldId xmlns:r="http://schemas.openxmlformats.org/officeDocument/2006/relationships" id="310" r:id="Rb69a3c595a48452c"/>
    <p:sldId xmlns:r="http://schemas.openxmlformats.org/officeDocument/2006/relationships" id="311" r:id="R7fb916c0e7724843"/>
    <p:sldId xmlns:r="http://schemas.openxmlformats.org/officeDocument/2006/relationships" id="312" r:id="R99cdc1f3858f46bd"/>
    <p:sldId xmlns:r="http://schemas.openxmlformats.org/officeDocument/2006/relationships" id="313" r:id="Re6081e6f86b64a3a"/>
    <p:sldId xmlns:r="http://schemas.openxmlformats.org/officeDocument/2006/relationships" id="314" r:id="Rdb6aa74a2e9c4135"/>
    <p:sldId xmlns:r="http://schemas.openxmlformats.org/officeDocument/2006/relationships" id="315" r:id="Rd35da657e66a41e9"/>
    <p:sldId xmlns:r="http://schemas.openxmlformats.org/officeDocument/2006/relationships" id="316" r:id="Rf094351535d841c2"/>
    <p:sldId xmlns:r="http://schemas.openxmlformats.org/officeDocument/2006/relationships" id="317" r:id="Ra197a3b7fdfd4f0d"/>
    <p:sldId xmlns:r="http://schemas.openxmlformats.org/officeDocument/2006/relationships" id="318" r:id="Rd444bed1d79f4a70"/>
    <p:sldId xmlns:r="http://schemas.openxmlformats.org/officeDocument/2006/relationships" id="319" r:id="R4b63ebc211c74545"/>
    <p:sldId xmlns:r="http://schemas.openxmlformats.org/officeDocument/2006/relationships" id="320" r:id="R2cd8ae5e52b4453b"/>
    <p:sldId xmlns:r="http://schemas.openxmlformats.org/officeDocument/2006/relationships" id="321" r:id="R5f2a6eacf3a346f5"/>
    <p:sldId xmlns:r="http://schemas.openxmlformats.org/officeDocument/2006/relationships" id="322" r:id="R401205f0eb834a64"/>
    <p:sldId xmlns:r="http://schemas.openxmlformats.org/officeDocument/2006/relationships" id="323" r:id="R77d88910fda743a3"/>
    <p:sldId xmlns:r="http://schemas.openxmlformats.org/officeDocument/2006/relationships" id="324" r:id="Rcd54c39428f645c2"/>
    <p:sldId xmlns:r="http://schemas.openxmlformats.org/officeDocument/2006/relationships" id="325" r:id="R61713e34932246a5"/>
    <p:sldId xmlns:r="http://schemas.openxmlformats.org/officeDocument/2006/relationships" id="326" r:id="Rd08762edd8da4c30"/>
    <p:sldId xmlns:r="http://schemas.openxmlformats.org/officeDocument/2006/relationships" id="327" r:id="R973700be4e6e4313"/>
    <p:sldId xmlns:r="http://schemas.openxmlformats.org/officeDocument/2006/relationships" id="328" r:id="R642599b07dc94638"/>
    <p:sldId xmlns:r="http://schemas.openxmlformats.org/officeDocument/2006/relationships" id="329" r:id="R07672b1fc7b44cc5"/>
    <p:sldId xmlns:r="http://schemas.openxmlformats.org/officeDocument/2006/relationships" id="330" r:id="Rdb2ceb180ee74885"/>
    <p:sldId xmlns:r="http://schemas.openxmlformats.org/officeDocument/2006/relationships" id="331" r:id="Re2f859920d654e96"/>
    <p:sldId xmlns:r="http://schemas.openxmlformats.org/officeDocument/2006/relationships" id="332" r:id="R9915f8e65682484a"/>
    <p:sldId xmlns:r="http://schemas.openxmlformats.org/officeDocument/2006/relationships" id="333" r:id="R970ebdb5c9d14b5b"/>
    <p:sldId xmlns:r="http://schemas.openxmlformats.org/officeDocument/2006/relationships" id="334" r:id="R5d8f9030218b4ab6"/>
    <p:sldId xmlns:r="http://schemas.openxmlformats.org/officeDocument/2006/relationships" id="335" r:id="Re2df54403dcb493e"/>
    <p:sldId xmlns:r="http://schemas.openxmlformats.org/officeDocument/2006/relationships" id="336" r:id="R621554eed11547e6"/>
    <p:sldId xmlns:r="http://schemas.openxmlformats.org/officeDocument/2006/relationships" id="337" r:id="R832c5559400a4bf7"/>
    <p:sldId xmlns:r="http://schemas.openxmlformats.org/officeDocument/2006/relationships" id="338" r:id="R27205c81704949c4"/>
    <p:sldId xmlns:r="http://schemas.openxmlformats.org/officeDocument/2006/relationships" id="339" r:id="Re9235b4b18ad4986"/>
    <p:sldId xmlns:r="http://schemas.openxmlformats.org/officeDocument/2006/relationships" id="340" r:id="R6c819f761e384036"/>
    <p:sldId xmlns:r="http://schemas.openxmlformats.org/officeDocument/2006/relationships" id="341" r:id="R040b624b24824fa4"/>
    <p:sldId xmlns:r="http://schemas.openxmlformats.org/officeDocument/2006/relationships" id="342" r:id="R3c2f28a3ee074628"/>
    <p:sldId xmlns:r="http://schemas.openxmlformats.org/officeDocument/2006/relationships" id="343" r:id="R773c845fe55c4083"/>
    <p:sldId xmlns:r="http://schemas.openxmlformats.org/officeDocument/2006/relationships" id="344" r:id="R98e4ed8677a84187"/>
    <p:sldId xmlns:r="http://schemas.openxmlformats.org/officeDocument/2006/relationships" id="345" r:id="R4faa93f727104d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e0ab2f84af4492" /><Relationship Type="http://schemas.openxmlformats.org/officeDocument/2006/relationships/slideMaster" Target="/ppt/slideMasters/slideMaster1.xml" Id="Rdaddaaf1b1f44f89" /><Relationship Type="http://schemas.openxmlformats.org/officeDocument/2006/relationships/notesMaster" Target="/ppt/notesMasters/notesMaster1.xml" Id="Ra65dae3dcd574179" /><Relationship Type="http://schemas.openxmlformats.org/officeDocument/2006/relationships/presProps" Target="/ppt/presProps.xml" Id="Rb46993893b66426e" /><Relationship Type="http://schemas.openxmlformats.org/officeDocument/2006/relationships/tableStyles" Target="/ppt/tableStyles.xml" Id="R542c0faea9844c34" /><Relationship Type="http://schemas.openxmlformats.org/officeDocument/2006/relationships/slide" Target="/ppt/slides/slide1.xml" Id="R1caeb3bd618e4959" /><Relationship Type="http://schemas.openxmlformats.org/officeDocument/2006/relationships/slide" Target="/ppt/slides/slide2.xml" Id="R0483db8b5e814ec2" /><Relationship Type="http://schemas.openxmlformats.org/officeDocument/2006/relationships/slide" Target="/ppt/slides/slide3.xml" Id="R23ec5e109b344a02" /><Relationship Type="http://schemas.openxmlformats.org/officeDocument/2006/relationships/slide" Target="/ppt/slides/slide4.xml" Id="R7dea90ade6f0459b" /><Relationship Type="http://schemas.openxmlformats.org/officeDocument/2006/relationships/slide" Target="/ppt/slides/slide5.xml" Id="R358f17cd3fb34cdc" /><Relationship Type="http://schemas.openxmlformats.org/officeDocument/2006/relationships/slide" Target="/ppt/slides/slide6.xml" Id="R8b054a31360d4a6b" /><Relationship Type="http://schemas.openxmlformats.org/officeDocument/2006/relationships/slide" Target="/ppt/slides/slide7.xml" Id="Rb3d9d7a0e0c14fe7" /><Relationship Type="http://schemas.openxmlformats.org/officeDocument/2006/relationships/slide" Target="/ppt/slides/slide8.xml" Id="R82523254ea874520" /><Relationship Type="http://schemas.openxmlformats.org/officeDocument/2006/relationships/slide" Target="/ppt/slides/slide9.xml" Id="R0bc4c03a41a949af" /><Relationship Type="http://schemas.openxmlformats.org/officeDocument/2006/relationships/slide" Target="/ppt/slides/slide10.xml" Id="Re80d13a82dd84c00" /><Relationship Type="http://schemas.openxmlformats.org/officeDocument/2006/relationships/slide" Target="/ppt/slides/slide11.xml" Id="Rdc1e1b52f26b4f43" /><Relationship Type="http://schemas.openxmlformats.org/officeDocument/2006/relationships/slide" Target="/ppt/slides/slide12.xml" Id="R2f671920e87d4325" /><Relationship Type="http://schemas.openxmlformats.org/officeDocument/2006/relationships/slide" Target="/ppt/slides/slide13.xml" Id="R7bd8abb194424d82" /><Relationship Type="http://schemas.openxmlformats.org/officeDocument/2006/relationships/slide" Target="/ppt/slides/slide14.xml" Id="R904fa484ad544d8e" /><Relationship Type="http://schemas.openxmlformats.org/officeDocument/2006/relationships/slide" Target="/ppt/slides/slide15.xml" Id="R730f4b0cac824a8e" /><Relationship Type="http://schemas.openxmlformats.org/officeDocument/2006/relationships/slide" Target="/ppt/slides/slide16.xml" Id="Ra84c99d43eb2413c" /><Relationship Type="http://schemas.openxmlformats.org/officeDocument/2006/relationships/slide" Target="/ppt/slides/slide17.xml" Id="R28d4351ff8de40ec" /><Relationship Type="http://schemas.openxmlformats.org/officeDocument/2006/relationships/slide" Target="/ppt/slides/slide18.xml" Id="Rc5baf51651674130" /><Relationship Type="http://schemas.openxmlformats.org/officeDocument/2006/relationships/slide" Target="/ppt/slides/slide19.xml" Id="R88d39d22b75742a7" /><Relationship Type="http://schemas.openxmlformats.org/officeDocument/2006/relationships/slide" Target="/ppt/slides/slide20.xml" Id="Rd593f02f164c4e9f" /><Relationship Type="http://schemas.openxmlformats.org/officeDocument/2006/relationships/slide" Target="/ppt/slides/slide21.xml" Id="Re3149f673d934216" /><Relationship Type="http://schemas.openxmlformats.org/officeDocument/2006/relationships/slide" Target="/ppt/slides/slide22.xml" Id="Rf3428a565405425d" /><Relationship Type="http://schemas.openxmlformats.org/officeDocument/2006/relationships/slide" Target="/ppt/slides/slide23.xml" Id="R302979c8264045c6" /><Relationship Type="http://schemas.openxmlformats.org/officeDocument/2006/relationships/slide" Target="/ppt/slides/slide24.xml" Id="R65002a8f6e3d4584" /><Relationship Type="http://schemas.openxmlformats.org/officeDocument/2006/relationships/slide" Target="/ppt/slides/slide25.xml" Id="R42a0f326d3624829" /><Relationship Type="http://schemas.openxmlformats.org/officeDocument/2006/relationships/slide" Target="/ppt/slides/slide26.xml" Id="Rf2cdafda57f245c2" /><Relationship Type="http://schemas.openxmlformats.org/officeDocument/2006/relationships/slide" Target="/ppt/slides/slide27.xml" Id="R093ecb55ea7a4bd2" /><Relationship Type="http://schemas.openxmlformats.org/officeDocument/2006/relationships/slide" Target="/ppt/slides/slide28.xml" Id="Rf7ad88d4b5354ecf" /><Relationship Type="http://schemas.openxmlformats.org/officeDocument/2006/relationships/slide" Target="/ppt/slides/slide29.xml" Id="R60c6afd369ee4e78" /><Relationship Type="http://schemas.openxmlformats.org/officeDocument/2006/relationships/slide" Target="/ppt/slides/slide30.xml" Id="Rb81d19de5eb64934" /><Relationship Type="http://schemas.openxmlformats.org/officeDocument/2006/relationships/slide" Target="/ppt/slides/slide31.xml" Id="R88fbc4d270154204" /><Relationship Type="http://schemas.openxmlformats.org/officeDocument/2006/relationships/slide" Target="/ppt/slides/slide32.xml" Id="R12872bda491544b8" /><Relationship Type="http://schemas.openxmlformats.org/officeDocument/2006/relationships/slide" Target="/ppt/slides/slide33.xml" Id="Rc41d3109724847b3" /><Relationship Type="http://schemas.openxmlformats.org/officeDocument/2006/relationships/slide" Target="/ppt/slides/slide34.xml" Id="R496ca69ea4614eec" /><Relationship Type="http://schemas.openxmlformats.org/officeDocument/2006/relationships/slide" Target="/ppt/slides/slide35.xml" Id="R49185b5af0c44116" /><Relationship Type="http://schemas.openxmlformats.org/officeDocument/2006/relationships/slide" Target="/ppt/slides/slide36.xml" Id="R1435332a5ae34b6b" /><Relationship Type="http://schemas.openxmlformats.org/officeDocument/2006/relationships/slide" Target="/ppt/slides/slide37.xml" Id="Rfb31bbfddd7546aa" /><Relationship Type="http://schemas.openxmlformats.org/officeDocument/2006/relationships/slide" Target="/ppt/slides/slide38.xml" Id="R1fcd0b51ab44487e" /><Relationship Type="http://schemas.openxmlformats.org/officeDocument/2006/relationships/slide" Target="/ppt/slides/slide39.xml" Id="R4a59291eb09743c7" /><Relationship Type="http://schemas.openxmlformats.org/officeDocument/2006/relationships/slide" Target="/ppt/slides/slide40.xml" Id="Rf03233377b2d4b9e" /><Relationship Type="http://schemas.openxmlformats.org/officeDocument/2006/relationships/slide" Target="/ppt/slides/slide41.xml" Id="R5138bfa2e8164ccb" /><Relationship Type="http://schemas.openxmlformats.org/officeDocument/2006/relationships/slide" Target="/ppt/slides/slide42.xml" Id="R377812dc2cf542dc" /><Relationship Type="http://schemas.openxmlformats.org/officeDocument/2006/relationships/slide" Target="/ppt/slides/slide43.xml" Id="R33eddcdce2ec40fe" /><Relationship Type="http://schemas.openxmlformats.org/officeDocument/2006/relationships/slide" Target="/ppt/slides/slide44.xml" Id="R0db899a4ffe645ca" /><Relationship Type="http://schemas.openxmlformats.org/officeDocument/2006/relationships/slide" Target="/ppt/slides/slide45.xml" Id="R18fd6e8543c048f5" /><Relationship Type="http://schemas.openxmlformats.org/officeDocument/2006/relationships/slide" Target="/ppt/slides/slide46.xml" Id="Rf153629e63204f23" /><Relationship Type="http://schemas.openxmlformats.org/officeDocument/2006/relationships/slide" Target="/ppt/slides/slide47.xml" Id="Rbca625d32d244a3c" /><Relationship Type="http://schemas.openxmlformats.org/officeDocument/2006/relationships/slide" Target="/ppt/slides/slide48.xml" Id="Rd93982b518a84be5" /><Relationship Type="http://schemas.openxmlformats.org/officeDocument/2006/relationships/slide" Target="/ppt/slides/slide49.xml" Id="R5bf12173301d4ffa" /><Relationship Type="http://schemas.openxmlformats.org/officeDocument/2006/relationships/slide" Target="/ppt/slides/slide50.xml" Id="Rfc1091c987e2490e" /><Relationship Type="http://schemas.openxmlformats.org/officeDocument/2006/relationships/slide" Target="/ppt/slides/slide51.xml" Id="Rd4119c9e9ab5456e" /><Relationship Type="http://schemas.openxmlformats.org/officeDocument/2006/relationships/slide" Target="/ppt/slides/slide52.xml" Id="Rdaa436fe32fd4ff6" /><Relationship Type="http://schemas.openxmlformats.org/officeDocument/2006/relationships/slide" Target="/ppt/slides/slide53.xml" Id="Rab29f1f718e44542" /><Relationship Type="http://schemas.openxmlformats.org/officeDocument/2006/relationships/slide" Target="/ppt/slides/slide54.xml" Id="Rf4142438142042aa" /><Relationship Type="http://schemas.openxmlformats.org/officeDocument/2006/relationships/slide" Target="/ppt/slides/slide55.xml" Id="Rb69a3c595a48452c" /><Relationship Type="http://schemas.openxmlformats.org/officeDocument/2006/relationships/slide" Target="/ppt/slides/slide56.xml" Id="R7fb916c0e7724843" /><Relationship Type="http://schemas.openxmlformats.org/officeDocument/2006/relationships/slide" Target="/ppt/slides/slide57.xml" Id="R99cdc1f3858f46bd" /><Relationship Type="http://schemas.openxmlformats.org/officeDocument/2006/relationships/slide" Target="/ppt/slides/slide58.xml" Id="Re6081e6f86b64a3a" /><Relationship Type="http://schemas.openxmlformats.org/officeDocument/2006/relationships/slide" Target="/ppt/slides/slide59.xml" Id="Rdb6aa74a2e9c4135" /><Relationship Type="http://schemas.openxmlformats.org/officeDocument/2006/relationships/slide" Target="/ppt/slides/slide60.xml" Id="Rd35da657e66a41e9" /><Relationship Type="http://schemas.openxmlformats.org/officeDocument/2006/relationships/slide" Target="/ppt/slides/slide61.xml" Id="Rf094351535d841c2" /><Relationship Type="http://schemas.openxmlformats.org/officeDocument/2006/relationships/slide" Target="/ppt/slides/slide62.xml" Id="Ra197a3b7fdfd4f0d" /><Relationship Type="http://schemas.openxmlformats.org/officeDocument/2006/relationships/slide" Target="/ppt/slides/slide63.xml" Id="Rd444bed1d79f4a70" /><Relationship Type="http://schemas.openxmlformats.org/officeDocument/2006/relationships/slide" Target="/ppt/slides/slide64.xml" Id="R4b63ebc211c74545" /><Relationship Type="http://schemas.openxmlformats.org/officeDocument/2006/relationships/slide" Target="/ppt/slides/slide65.xml" Id="R2cd8ae5e52b4453b" /><Relationship Type="http://schemas.openxmlformats.org/officeDocument/2006/relationships/slide" Target="/ppt/slides/slide66.xml" Id="R5f2a6eacf3a346f5" /><Relationship Type="http://schemas.openxmlformats.org/officeDocument/2006/relationships/slide" Target="/ppt/slides/slide67.xml" Id="R401205f0eb834a64" /><Relationship Type="http://schemas.openxmlformats.org/officeDocument/2006/relationships/slide" Target="/ppt/slides/slide68.xml" Id="R77d88910fda743a3" /><Relationship Type="http://schemas.openxmlformats.org/officeDocument/2006/relationships/slide" Target="/ppt/slides/slide69.xml" Id="Rcd54c39428f645c2" /><Relationship Type="http://schemas.openxmlformats.org/officeDocument/2006/relationships/slide" Target="/ppt/slides/slide70.xml" Id="R61713e34932246a5" /><Relationship Type="http://schemas.openxmlformats.org/officeDocument/2006/relationships/slide" Target="/ppt/slides/slide71.xml" Id="Rd08762edd8da4c30" /><Relationship Type="http://schemas.openxmlformats.org/officeDocument/2006/relationships/slide" Target="/ppt/slides/slide72.xml" Id="R973700be4e6e4313" /><Relationship Type="http://schemas.openxmlformats.org/officeDocument/2006/relationships/slide" Target="/ppt/slides/slide73.xml" Id="R642599b07dc94638" /><Relationship Type="http://schemas.openxmlformats.org/officeDocument/2006/relationships/slide" Target="/ppt/slides/slide74.xml" Id="R07672b1fc7b44cc5" /><Relationship Type="http://schemas.openxmlformats.org/officeDocument/2006/relationships/slide" Target="/ppt/slides/slide75.xml" Id="Rdb2ceb180ee74885" /><Relationship Type="http://schemas.openxmlformats.org/officeDocument/2006/relationships/slide" Target="/ppt/slides/slide76.xml" Id="Re2f859920d654e96" /><Relationship Type="http://schemas.openxmlformats.org/officeDocument/2006/relationships/slide" Target="/ppt/slides/slide77.xml" Id="R9915f8e65682484a" /><Relationship Type="http://schemas.openxmlformats.org/officeDocument/2006/relationships/slide" Target="/ppt/slides/slide78.xml" Id="R970ebdb5c9d14b5b" /><Relationship Type="http://schemas.openxmlformats.org/officeDocument/2006/relationships/slide" Target="/ppt/slides/slide79.xml" Id="R5d8f9030218b4ab6" /><Relationship Type="http://schemas.openxmlformats.org/officeDocument/2006/relationships/slide" Target="/ppt/slides/slide80.xml" Id="Re2df54403dcb493e" /><Relationship Type="http://schemas.openxmlformats.org/officeDocument/2006/relationships/slide" Target="/ppt/slides/slide81.xml" Id="R621554eed11547e6" /><Relationship Type="http://schemas.openxmlformats.org/officeDocument/2006/relationships/slide" Target="/ppt/slides/slide82.xml" Id="R832c5559400a4bf7" /><Relationship Type="http://schemas.openxmlformats.org/officeDocument/2006/relationships/slide" Target="/ppt/slides/slide83.xml" Id="R27205c81704949c4" /><Relationship Type="http://schemas.openxmlformats.org/officeDocument/2006/relationships/slide" Target="/ppt/slides/slide84.xml" Id="Re9235b4b18ad4986" /><Relationship Type="http://schemas.openxmlformats.org/officeDocument/2006/relationships/slide" Target="/ppt/slides/slide85.xml" Id="R6c819f761e384036" /><Relationship Type="http://schemas.openxmlformats.org/officeDocument/2006/relationships/slide" Target="/ppt/slides/slide86.xml" Id="R040b624b24824fa4" /><Relationship Type="http://schemas.openxmlformats.org/officeDocument/2006/relationships/slide" Target="/ppt/slides/slide87.xml" Id="R3c2f28a3ee074628" /><Relationship Type="http://schemas.openxmlformats.org/officeDocument/2006/relationships/slide" Target="/ppt/slides/slide88.xml" Id="R773c845fe55c4083" /><Relationship Type="http://schemas.openxmlformats.org/officeDocument/2006/relationships/slide" Target="/ppt/slides/slide89.xml" Id="R98e4ed8677a84187" /><Relationship Type="http://schemas.openxmlformats.org/officeDocument/2006/relationships/slide" Target="/ppt/slides/slide90.xml" Id="R4faa93f727104d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83f2a5d3f145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LL">
      <a:dk1>
        <a:srgbClr val="000000"/>
      </a:dk1>
      <a:lt1>
        <a:srgbClr val="F5F5F7"/>
      </a:lt1>
      <a:dk2>
        <a:srgbClr val="09090B"/>
      </a:dk2>
      <a:lt2>
        <a:srgbClr val="98989F"/>
      </a:lt2>
      <a:accent1>
        <a:srgbClr val="BD9FE3"/>
      </a:accent1>
      <a:accent2>
        <a:srgbClr val="A0BBA6"/>
      </a:accent2>
      <a:accent3>
        <a:srgbClr val="D1C9DF"/>
      </a:accent3>
      <a:accent4>
        <a:srgbClr val="80808A"/>
      </a:accent4>
      <a:accent5>
        <a:srgbClr val="C5B5F2"/>
      </a:accent5>
      <a:accent6>
        <a:srgbClr val="B4B4BB"/>
      </a:accent6>
      <a:hlink>
        <a:srgbClr val="BD9FE3"/>
      </a:hlink>
      <a:folHlink>
        <a:srgbClr val="BD9FE3"/>
      </a:folHlink>
    </a:clrScheme>
    <a:fontScheme name="">
      <a:majorFont>
        <a:latin typeface="Helvetica Neue"/>
        <a:ea typeface=""/>
        <a:cs typeface=""/>
      </a:majorFont>
      <a:minorFont>
        <a:latin typeface="Helvetica Neue"/>
        <a:ea typeface=""/>
        <a:cs typeface=""/>
      </a:minorFont>
    </a:fontScheme>
    <a:fmtScheme name="RL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ef8db91ddd417c" /><Relationship Type="http://schemas.openxmlformats.org/officeDocument/2006/relationships/notesMaster" Target="/ppt/notesMasters/notesMaster1.xml" Id="Rd29f7be59a4f47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d754028710434f" /><Relationship Type="http://schemas.openxmlformats.org/officeDocument/2006/relationships/notesMaster" Target="/ppt/notesMasters/notesMaster1.xml" Id="R8c670a01a5ca44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96c38cc61f4e00" /><Relationship Type="http://schemas.openxmlformats.org/officeDocument/2006/relationships/notesMaster" Target="/ppt/notesMasters/notesMaster1.xml" Id="Re42554da9dda44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d7b2d5221246d4" /><Relationship Type="http://schemas.openxmlformats.org/officeDocument/2006/relationships/notesMaster" Target="/ppt/notesMasters/notesMaster1.xml" Id="Ra0ff54cfb4fc49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18aa6009ac43a2" /><Relationship Type="http://schemas.openxmlformats.org/officeDocument/2006/relationships/notesMaster" Target="/ppt/notesMasters/notesMaster1.xml" Id="Rb11f8469c66a4f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d06bec7ae04366" /><Relationship Type="http://schemas.openxmlformats.org/officeDocument/2006/relationships/notesMaster" Target="/ppt/notesMasters/notesMaster1.xml" Id="R7f272588701a46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a9f22abac443b4" /><Relationship Type="http://schemas.openxmlformats.org/officeDocument/2006/relationships/notesMaster" Target="/ppt/notesMasters/notesMaster1.xml" Id="R0865552e5f7f4e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e07a5aa62d4901" /><Relationship Type="http://schemas.openxmlformats.org/officeDocument/2006/relationships/notesMaster" Target="/ppt/notesMasters/notesMaster1.xml" Id="R531bf2df365e4f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9d42aef47e4930" /><Relationship Type="http://schemas.openxmlformats.org/officeDocument/2006/relationships/notesMaster" Target="/ppt/notesMasters/notesMaster1.xml" Id="Rb3ac23d98cfb4b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40ec99e0954d5f" /><Relationship Type="http://schemas.openxmlformats.org/officeDocument/2006/relationships/notesMaster" Target="/ppt/notesMasters/notesMaster1.xml" Id="R00f4d3990e5a40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6ba19d29c043f8" /><Relationship Type="http://schemas.openxmlformats.org/officeDocument/2006/relationships/notesMaster" Target="/ppt/notesMasters/notesMaster1.xml" Id="R3df5c2f27ff645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7bedeedb364432" /><Relationship Type="http://schemas.openxmlformats.org/officeDocument/2006/relationships/notesMaster" Target="/ppt/notesMasters/notesMaster1.xml" Id="Rc980ee3d854e40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ecab6b22ff4ada" /><Relationship Type="http://schemas.openxmlformats.org/officeDocument/2006/relationships/notesMaster" Target="/ppt/notesMasters/notesMaster1.xml" Id="R02f94b7a748f435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4ae7c09f36460c" /><Relationship Type="http://schemas.openxmlformats.org/officeDocument/2006/relationships/notesMaster" Target="/ppt/notesMasters/notesMaster1.xml" Id="R9bcc8f354f2341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57143c1a674192" /><Relationship Type="http://schemas.openxmlformats.org/officeDocument/2006/relationships/notesMaster" Target="/ppt/notesMasters/notesMaster1.xml" Id="R8e77f32a009048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44985fac834f91" /><Relationship Type="http://schemas.openxmlformats.org/officeDocument/2006/relationships/notesMaster" Target="/ppt/notesMasters/notesMaster1.xml" Id="R1d9c3166f518449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4977927f7364979" /><Relationship Type="http://schemas.openxmlformats.org/officeDocument/2006/relationships/notesMaster" Target="/ppt/notesMasters/notesMaster1.xml" Id="R5ca8deb8ce2041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575e5424dc54b1b" /><Relationship Type="http://schemas.openxmlformats.org/officeDocument/2006/relationships/notesMaster" Target="/ppt/notesMasters/notesMaster1.xml" Id="Rd88089ac7ec8471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07361d2e3214915" /><Relationship Type="http://schemas.openxmlformats.org/officeDocument/2006/relationships/notesMaster" Target="/ppt/notesMasters/notesMaster1.xml" Id="R3534a9d3bf884e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1fc15772174e30" /><Relationship Type="http://schemas.openxmlformats.org/officeDocument/2006/relationships/notesMaster" Target="/ppt/notesMasters/notesMaster1.xml" Id="Rd64af593a77246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e87004396c4a5a" /><Relationship Type="http://schemas.openxmlformats.org/officeDocument/2006/relationships/notesMaster" Target="/ppt/notesMasters/notesMaster1.xml" Id="R9cd19d2a037b4c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174746f5ba46c2" /><Relationship Type="http://schemas.openxmlformats.org/officeDocument/2006/relationships/notesMaster" Target="/ppt/notesMasters/notesMaster1.xml" Id="Rf38adef0ac81431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ee6a46fca644800" /><Relationship Type="http://schemas.openxmlformats.org/officeDocument/2006/relationships/notesMaster" Target="/ppt/notesMasters/notesMaster1.xml" Id="R02bba142e1a94db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d6a74ee3cc24bef" /><Relationship Type="http://schemas.openxmlformats.org/officeDocument/2006/relationships/notesMaster" Target="/ppt/notesMasters/notesMaster1.xml" Id="R1d466de8c7e6409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230dadf6b9d4699" /><Relationship Type="http://schemas.openxmlformats.org/officeDocument/2006/relationships/notesMaster" Target="/ppt/notesMasters/notesMaster1.xml" Id="R988c49d7d9cb4dd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d19a22822734901" /><Relationship Type="http://schemas.openxmlformats.org/officeDocument/2006/relationships/notesMaster" Target="/ppt/notesMasters/notesMaster1.xml" Id="R0d41a54c5acb4a6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8d74a4c1a2e41cc" /><Relationship Type="http://schemas.openxmlformats.org/officeDocument/2006/relationships/notesMaster" Target="/ppt/notesMasters/notesMaster1.xml" Id="R32835f211db94d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a0a0c9db5064440" /><Relationship Type="http://schemas.openxmlformats.org/officeDocument/2006/relationships/notesMaster" Target="/ppt/notesMasters/notesMaster1.xml" Id="R1ddbd28d87414ad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30eeacb9304d2d" /><Relationship Type="http://schemas.openxmlformats.org/officeDocument/2006/relationships/notesMaster" Target="/ppt/notesMasters/notesMaster1.xml" Id="R67fe77c14a384c6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d80e820acb8405d" /><Relationship Type="http://schemas.openxmlformats.org/officeDocument/2006/relationships/notesMaster" Target="/ppt/notesMasters/notesMaster1.xml" Id="R0e78ba65b15b457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87ae89a909e4faf" /><Relationship Type="http://schemas.openxmlformats.org/officeDocument/2006/relationships/notesMaster" Target="/ppt/notesMasters/notesMaster1.xml" Id="R9fa1ca2886ac46f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1142805e4f74874" /><Relationship Type="http://schemas.openxmlformats.org/officeDocument/2006/relationships/notesMaster" Target="/ppt/notesMasters/notesMaster1.xml" Id="Rbf65fcd2a3e84a3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c5d147550d1453d" /><Relationship Type="http://schemas.openxmlformats.org/officeDocument/2006/relationships/notesMaster" Target="/ppt/notesMasters/notesMaster1.xml" Id="R31f13d9d80424e7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09c4af24d6f40df" /><Relationship Type="http://schemas.openxmlformats.org/officeDocument/2006/relationships/notesMaster" Target="/ppt/notesMasters/notesMaster1.xml" Id="R0a8d0a98ffbe4cb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2886bf128c34142" /><Relationship Type="http://schemas.openxmlformats.org/officeDocument/2006/relationships/notesMaster" Target="/ppt/notesMasters/notesMaster1.xml" Id="R84ed2a7a37e44ac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f9bfd66f377432b" /><Relationship Type="http://schemas.openxmlformats.org/officeDocument/2006/relationships/notesMaster" Target="/ppt/notesMasters/notesMaster1.xml" Id="R28840c75200e4b9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90de6ad29af4e4e" /><Relationship Type="http://schemas.openxmlformats.org/officeDocument/2006/relationships/notesMaster" Target="/ppt/notesMasters/notesMaster1.xml" Id="Raa3fdf07628c487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63e050a6e80417b" /><Relationship Type="http://schemas.openxmlformats.org/officeDocument/2006/relationships/notesMaster" Target="/ppt/notesMasters/notesMaster1.xml" Id="Rb5c330eee26842a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9723121b36748c0" /><Relationship Type="http://schemas.openxmlformats.org/officeDocument/2006/relationships/notesMaster" Target="/ppt/notesMasters/notesMaster1.xml" Id="Radc94f483ad14f6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5df43e796b84dc9" /><Relationship Type="http://schemas.openxmlformats.org/officeDocument/2006/relationships/notesMaster" Target="/ppt/notesMasters/notesMaster1.xml" Id="R27da131dfc1449d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1c41918e99f41f9" /><Relationship Type="http://schemas.openxmlformats.org/officeDocument/2006/relationships/notesMaster" Target="/ppt/notesMasters/notesMaster1.xml" Id="Ra3fcb445f99144d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e1fc52fb0af4b18" /><Relationship Type="http://schemas.openxmlformats.org/officeDocument/2006/relationships/notesMaster" Target="/ppt/notesMasters/notesMaster1.xml" Id="R039af0ed731046d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9a904affde14fac" /><Relationship Type="http://schemas.openxmlformats.org/officeDocument/2006/relationships/notesMaster" Target="/ppt/notesMasters/notesMaster1.xml" Id="R7d18a82a386b482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8024052ba0f4ee8" /><Relationship Type="http://schemas.openxmlformats.org/officeDocument/2006/relationships/notesMaster" Target="/ppt/notesMasters/notesMaster1.xml" Id="R3853f5a455954a2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b95766643694e34" /><Relationship Type="http://schemas.openxmlformats.org/officeDocument/2006/relationships/notesMaster" Target="/ppt/notesMasters/notesMaster1.xml" Id="Rfc5b90281ae346c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4c3d45672134eff" /><Relationship Type="http://schemas.openxmlformats.org/officeDocument/2006/relationships/notesMaster" Target="/ppt/notesMasters/notesMaster1.xml" Id="Rada2987ce6e645d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b09f81005d24831" /><Relationship Type="http://schemas.openxmlformats.org/officeDocument/2006/relationships/notesMaster" Target="/ppt/notesMasters/notesMaster1.xml" Id="R86ed01722b5b4c4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3884485286848b7" /><Relationship Type="http://schemas.openxmlformats.org/officeDocument/2006/relationships/notesMaster" Target="/ppt/notesMasters/notesMaster1.xml" Id="R5caaca667add41d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61002d3874748ab" /><Relationship Type="http://schemas.openxmlformats.org/officeDocument/2006/relationships/notesMaster" Target="/ppt/notesMasters/notesMaster1.xml" Id="R6eb2af68c1d64f6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c3b0f3704494a5d" /><Relationship Type="http://schemas.openxmlformats.org/officeDocument/2006/relationships/notesMaster" Target="/ppt/notesMasters/notesMaster1.xml" Id="Rf0771a7ab57b4c2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b068532b35a488e" /><Relationship Type="http://schemas.openxmlformats.org/officeDocument/2006/relationships/notesMaster" Target="/ppt/notesMasters/notesMaster1.xml" Id="Ra0ea4d15fb1f43b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5a90ef71e29456c" /><Relationship Type="http://schemas.openxmlformats.org/officeDocument/2006/relationships/notesMaster" Target="/ppt/notesMasters/notesMaster1.xml" Id="Re5af918820304f8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d78478084d24fd7" /><Relationship Type="http://schemas.openxmlformats.org/officeDocument/2006/relationships/notesMaster" Target="/ppt/notesMasters/notesMaster1.xml" Id="R553b84df4fbe41f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e61b88b59e44132" /><Relationship Type="http://schemas.openxmlformats.org/officeDocument/2006/relationships/notesMaster" Target="/ppt/notesMasters/notesMaster1.xml" Id="Rd5b8b9d6afd94c8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b0552692a3d479c" /><Relationship Type="http://schemas.openxmlformats.org/officeDocument/2006/relationships/notesMaster" Target="/ppt/notesMasters/notesMaster1.xml" Id="R9906ae9ab362492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bda03247c8d4b54" /><Relationship Type="http://schemas.openxmlformats.org/officeDocument/2006/relationships/notesMaster" Target="/ppt/notesMasters/notesMaster1.xml" Id="Rba52e6475d2d4af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64d727063f94ea7" /><Relationship Type="http://schemas.openxmlformats.org/officeDocument/2006/relationships/notesMaster" Target="/ppt/notesMasters/notesMaster1.xml" Id="Reb61c10744b24dc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247eb2025484cb3" /><Relationship Type="http://schemas.openxmlformats.org/officeDocument/2006/relationships/notesMaster" Target="/ppt/notesMasters/notesMaster1.xml" Id="R54c12acd056141e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75a5cf324f1458e" /><Relationship Type="http://schemas.openxmlformats.org/officeDocument/2006/relationships/notesMaster" Target="/ppt/notesMasters/notesMaster1.xml" Id="R24301fed728e4b4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091a68fe99d4e30" /><Relationship Type="http://schemas.openxmlformats.org/officeDocument/2006/relationships/notesMaster" Target="/ppt/notesMasters/notesMaster1.xml" Id="Rce0fb9ccf31b4d6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b3dbc436eab41c3" /><Relationship Type="http://schemas.openxmlformats.org/officeDocument/2006/relationships/notesMaster" Target="/ppt/notesMasters/notesMaster1.xml" Id="R18f0bfda6f524c1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8cfba3dacb94bb5" /><Relationship Type="http://schemas.openxmlformats.org/officeDocument/2006/relationships/notesMaster" Target="/ppt/notesMasters/notesMaster1.xml" Id="R3ac4ef3b111a433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d183db5af3942c1" /><Relationship Type="http://schemas.openxmlformats.org/officeDocument/2006/relationships/notesMaster" Target="/ppt/notesMasters/notesMaster1.xml" Id="Rc4cda5f1af50451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3ae7226845f45ee" /><Relationship Type="http://schemas.openxmlformats.org/officeDocument/2006/relationships/notesMaster" Target="/ppt/notesMasters/notesMaster1.xml" Id="Rb7c1d19a229142d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f7b28633989495c" /><Relationship Type="http://schemas.openxmlformats.org/officeDocument/2006/relationships/notesMaster" Target="/ppt/notesMasters/notesMaster1.xml" Id="Raa01697340ac4a2a"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ab94c66fcfc47c4" /><Relationship Type="http://schemas.openxmlformats.org/officeDocument/2006/relationships/notesMaster" Target="/ppt/notesMasters/notesMaster1.xml" Id="Rc083184c32f94a2f"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82bb759bda5047af" /><Relationship Type="http://schemas.openxmlformats.org/officeDocument/2006/relationships/notesMaster" Target="/ppt/notesMasters/notesMaster1.xml" Id="R505a6b492a08405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f80b07f882e447c2" /><Relationship Type="http://schemas.openxmlformats.org/officeDocument/2006/relationships/notesMaster" Target="/ppt/notesMasters/notesMaster1.xml" Id="R3da9a9f173f44e4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58f39ba0c9e14cdd" /><Relationship Type="http://schemas.openxmlformats.org/officeDocument/2006/relationships/notesMaster" Target="/ppt/notesMasters/notesMaster1.xml" Id="Rcb38d9ae8bd1487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aa73faf97614c28" /><Relationship Type="http://schemas.openxmlformats.org/officeDocument/2006/relationships/notesMaster" Target="/ppt/notesMasters/notesMaster1.xml" Id="R3e95c5c58e55427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b523bbf8ee343fc" /><Relationship Type="http://schemas.openxmlformats.org/officeDocument/2006/relationships/notesMaster" Target="/ppt/notesMasters/notesMaster1.xml" Id="R6e0711de60834b0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410d71b866f4186" /><Relationship Type="http://schemas.openxmlformats.org/officeDocument/2006/relationships/notesMaster" Target="/ppt/notesMasters/notesMaster1.xml" Id="R091e065b0b5f490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27f7b21a18942bf" /><Relationship Type="http://schemas.openxmlformats.org/officeDocument/2006/relationships/notesMaster" Target="/ppt/notesMasters/notesMaster1.xml" Id="Rf4999b59902b4ba4"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7c216c0da034147" /><Relationship Type="http://schemas.openxmlformats.org/officeDocument/2006/relationships/notesMaster" Target="/ppt/notesMasters/notesMaster1.xml" Id="Rf2c5bc864b8e4937"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8c4db3577d254e36" /><Relationship Type="http://schemas.openxmlformats.org/officeDocument/2006/relationships/notesMaster" Target="/ppt/notesMasters/notesMaster1.xml" Id="Rc4a2d3788b5d444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797213149bf848a4" /><Relationship Type="http://schemas.openxmlformats.org/officeDocument/2006/relationships/notesMaster" Target="/ppt/notesMasters/notesMaster1.xml" Id="R87b48b87a91b4ea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7a14f898a1cb4fa5" /><Relationship Type="http://schemas.openxmlformats.org/officeDocument/2006/relationships/notesMaster" Target="/ppt/notesMasters/notesMaster1.xml" Id="R9761066702ac4695"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349c3cc45c7948dd" /><Relationship Type="http://schemas.openxmlformats.org/officeDocument/2006/relationships/notesMaster" Target="/ppt/notesMasters/notesMaster1.xml" Id="R733f8e0b6ab7486f"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3a54375e0b0144b0" /><Relationship Type="http://schemas.openxmlformats.org/officeDocument/2006/relationships/notesMaster" Target="/ppt/notesMasters/notesMaster1.xml" Id="Rde2f5a4efb6e4f80"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bd1bae801a8f4bc0" /><Relationship Type="http://schemas.openxmlformats.org/officeDocument/2006/relationships/notesMaster" Target="/ppt/notesMasters/notesMaster1.xml" Id="R6daa142955824213"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32d929ed88d743e3" /><Relationship Type="http://schemas.openxmlformats.org/officeDocument/2006/relationships/notesMaster" Target="/ppt/notesMasters/notesMaster1.xml" Id="Rc680b020d9674c8a"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8bdb0d10b48c4fbf" /><Relationship Type="http://schemas.openxmlformats.org/officeDocument/2006/relationships/notesMaster" Target="/ppt/notesMasters/notesMaster1.xml" Id="Rd80ce5378d514df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11ea6588e664e0c" /><Relationship Type="http://schemas.openxmlformats.org/officeDocument/2006/relationships/notesMaster" Target="/ppt/notesMasters/notesMaster1.xml" Id="Re010102f32464c2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a430de6792214a4d" /><Relationship Type="http://schemas.openxmlformats.org/officeDocument/2006/relationships/notesMaster" Target="/ppt/notesMasters/notesMaster1.xml" Id="R3aebea69e2bf44e7"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ce06f3f236aa49e2" /><Relationship Type="http://schemas.openxmlformats.org/officeDocument/2006/relationships/notesMaster" Target="/ppt/notesMasters/notesMaster1.xml" Id="R26aadb76efba49ba"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f772b0f40f8f4118" /><Relationship Type="http://schemas.openxmlformats.org/officeDocument/2006/relationships/notesMaster" Target="/ppt/notesMasters/notesMaster1.xml" Id="Rc6ee8dd7333b4648"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b1e19dc8720d4842" /><Relationship Type="http://schemas.openxmlformats.org/officeDocument/2006/relationships/notesMaster" Target="/ppt/notesMasters/notesMaster1.xml" Id="R438485aff9a34b33"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20d5fe4b4dbf4049" /><Relationship Type="http://schemas.openxmlformats.org/officeDocument/2006/relationships/notesMaster" Target="/ppt/notesMasters/notesMaster1.xml" Id="Rdd3d22ff19b34911"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b0a6b0c048ed4fb0" /><Relationship Type="http://schemas.openxmlformats.org/officeDocument/2006/relationships/notesMaster" Target="/ppt/notesMasters/notesMaster1.xml" Id="Rf91148331c22421d"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b285604f60b04008" /><Relationship Type="http://schemas.openxmlformats.org/officeDocument/2006/relationships/notesMaster" Target="/ppt/notesMasters/notesMaster1.xml" Id="Re379580796fb45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 Векторные представления текста</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https://docs.google.com/document/d/1dhTfnnaMGqnamn8odhJQwGDgKYyPB46GE1Q-YxJ3D-U/editВторая лекция блока. Преподаватель: Алан-Барсаг Газзаев. Дата: 24 октября 2026. Word2Vec, GloVe, fastText и doc2vec рассматриваются концептуально; код и выполнение экспериментов относятся к семинару.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 Содержание второй лекции</a:t>
            </a:r>
          </a:p>
          <a:p xmlns:a="http://schemas.openxmlformats.org/drawingml/2006/main">
            <a:r>
              <a:t/>
            </a:r>
          </a:p>
          <a:p xmlns:a="http://schemas.openxmlformats.org/drawingml/2006/main">
            <a:r>
              <a:t>Static и document embeddings</a:t>
            </a:r>
          </a:p>
          <a:p xmlns:a="http://schemas.openxmlformats.org/drawingml/2006/main">
            <a:r>
              <a:t>Сначала рассматривается связь между corpus, контекстом слова и его representation. Word2Vec, GloVe и fastText сравниваются по источнику обучающего сигнала и способу работы со словами. Затем обсуждаются representations предложений и документов: TF-IDF baseline, pooling word embeddings и doc2vec. Для каждого подхода важно понимать, какая информация сохраняется и что теряется.</a:t>
            </a:r>
          </a:p>
          <a:p xmlns:a="http://schemas.openxmlformats.org/drawingml/2006/main">
            <a:r>
              <a:t/>
            </a:r>
          </a:p>
          <a:p xmlns:a="http://schemas.openxmlformats.org/drawingml/2006/main">
            <a:r>
              <a:t>Contextual embeddings и применение</a:t>
            </a:r>
          </a:p>
          <a:p xmlns:a="http://schemas.openxmlformats.org/drawingml/2006/main">
            <a:r>
              <a:t>ELMo и BERT вводят representation конкретного употребления слова. Transfer learning позволяет использовать pretrained model и адаптировать её к downstream task. Sentence embeddings связывают эти идеи с semantic search и RAG. Лекция объясняет понятия и выбор компонентов; код, получение embeddings и сравнение classifiers относятся к семинару.</a:t>
            </a:r>
          </a:p>
          <a:p xmlns:a="http://schemas.openxmlformats.org/drawingml/2006/main">
            <a:r>
              <a:t/>
            </a:r>
          </a:p>
          <a:p xmlns:a="http://schemas.openxmlformats.org/drawingml/2006/main">
            <a:r>
              <a:t>Источник: https://docs.google.com/document/d/1dhTfnnaMGqnamn8odhJQwGDgKYyPB46GE1Q-YxJ3D-U/edit</a:t>
            </a:r>
          </a:p>
          <a:p xmlns:a="http://schemas.openxmlformats.org/drawingml/2006/main">
            <a:r>
              <a:t>Источник: https://github.com/yandexdataschool/nlp_course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 Уровни text representation</a:t>
            </a:r>
          </a:p>
          <a:p xmlns:a="http://schemas.openxmlformats.org/drawingml/2006/main">
            <a:r>
              <a:t/>
            </a:r>
          </a:p>
          <a:p xmlns:a="http://schemas.openxmlformats.org/drawingml/2006/main">
            <a:r>
              <a:t>Объект, которому соответствует вектор, необходимо определить до выбора модели. Одинаковое слово embedding может обозначать разные уровни анализа.</a:t>
            </a:r>
          </a:p>
          <a:p xmlns:a="http://schemas.openxmlformats.org/drawingml/2006/main">
            <a:r>
              <a:t/>
            </a:r>
          </a:p>
          <a:p xmlns:a="http://schemas.openxmlformats.org/drawingml/2006/main">
            <a:r>
              <a:t>Объект | Что описывает vector | Пример применения</a:t>
            </a:r>
          </a:p>
          <a:p xmlns:a="http://schemas.openxmlformats.org/drawingml/2006/main">
            <a:r>
              <a:t>Token / word | Элемент или его употребление | Sequence labeling</a:t>
            </a:r>
          </a:p>
          <a:p xmlns:a="http://schemas.openxmlformats.org/drawingml/2006/main">
            <a:r>
              <a:t>Sentence / passage | Предложение или фрагмент | Semantic search</a:t>
            </a:r>
          </a:p>
          <a:p xmlns:a="http://schemas.openxmlformats.org/drawingml/2006/main">
            <a:r>
              <a:t>Document | Документ целиком | Classification, clustering</a:t>
            </a:r>
          </a:p>
          <a:p xmlns:a="http://schemas.openxmlformats.org/drawingml/2006/main">
            <a:r>
              <a:t/>
            </a:r>
          </a:p>
          <a:p xmlns:a="http://schemas.openxmlformats.org/drawingml/2006/main">
            <a:r>
              <a:t>Word embedding не становится sentence embedding автоматически. Для перехода между уровнями требуется pooling или отдельная модель.</a:t>
            </a:r>
          </a:p>
          <a:p xmlns:a="http://schemas.openxmlformats.org/drawingml/2006/main">
            <a:r>
              <a:t/>
            </a:r>
          </a:p>
          <a:p xmlns:a="http://schemas.openxmlformats.org/drawingml/2006/main">
            <a:r>
              <a:t>Источник: https://lena-voita.github.io/nlp_course/word_embeddings.html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 Text representations в NLP pipeline</a:t>
            </a:r>
          </a:p>
          <a:p xmlns:a="http://schemas.openxmlformats.org/drawingml/2006/main">
            <a:r>
              <a:t/>
            </a:r>
          </a:p>
          <a:p xmlns:a="http://schemas.openxmlformats.org/drawingml/2006/main">
            <a:r>
              <a:t>Исходный текст сначала превращается в последовательность tokens. Модель получает численные representations этих элементов, а затем строит ответ на прикладную задачу. На схеме word representations являются входом для следующего алгоритма. Смысл каждой координаты обычно не задан заранее: полезная информация распределена по вектору и проявляется в сравнении с другими representations.</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https://lena-voita.github.io/resources/lectures/word_emb/word_repr_intro-min.png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 Sparse и dense representations</a:t>
            </a:r>
          </a:p>
          <a:p xmlns:a="http://schemas.openxmlformats.org/drawingml/2006/main">
            <a:r>
              <a:t/>
            </a:r>
          </a:p>
          <a:p xmlns:a="http://schemas.openxmlformats.org/drawingml/2006/main">
            <a:r>
              <a:t>Различие относится к организации численного описания. Оно само по себе не определяет качество решения.</a:t>
            </a:r>
          </a:p>
          <a:p xmlns:a="http://schemas.openxmlformats.org/drawingml/2006/main">
            <a:r>
              <a:t/>
            </a:r>
          </a:p>
          <a:p xmlns:a="http://schemas.openxmlformats.org/drawingml/2006/main">
            <a:r>
              <a:t>Свойство | Sparse representation | Dense representation</a:t>
            </a:r>
          </a:p>
          <a:p xmlns:a="http://schemas.openxmlformats.org/drawingml/2006/main">
            <a:r>
              <a:t>Координаты | Часто связаны с vocabulary | Обычно обучаются совместно</a:t>
            </a:r>
          </a:p>
          <a:p xmlns:a="http://schemas.openxmlformats.org/drawingml/2006/main">
            <a:r>
              <a:t>Нулевые значения | Преобладают у коротких текстов | Обычно не преобладают</a:t>
            </a:r>
          </a:p>
          <a:p xmlns:a="http://schemas.openxmlformats.org/drawingml/2006/main">
            <a:r>
              <a:t>Пример | Counts, TF-IDF | Word и sentence embeddings</a:t>
            </a:r>
          </a:p>
          <a:p xmlns:a="http://schemas.openxmlformats.org/drawingml/2006/main">
            <a:r>
              <a:t/>
            </a:r>
          </a:p>
          <a:p xmlns:a="http://schemas.openxmlformats.org/drawingml/2006/main">
            <a:r>
              <a:t>Sparse features удобны для точных lexical signals. Dense embeddings позволяют учитывать статистические связи между разными формулировками, но тоже зависят от данных и задачи.</a:t>
            </a:r>
          </a:p>
          <a:p xmlns:a="http://schemas.openxmlformats.org/drawingml/2006/main">
            <a:r>
              <a:t/>
            </a:r>
          </a:p>
          <a:p xmlns:a="http://schemas.openxmlformats.org/drawingml/2006/main">
            <a:r>
              <a:t>Источник: https://scikit-learn.org/stable/modules/feature_extraction.html</a:t>
            </a:r>
          </a:p>
          <a:p xmlns:a="http://schemas.openxmlformats.org/drawingml/2006/main">
            <a:r>
              <a:t>Источник: https://lena-voita.github.io/nlp_course/word_embeddings.html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 One-hot representation</a:t>
            </a:r>
          </a:p>
          <a:p xmlns:a="http://schemas.openxmlformats.org/drawingml/2006/main">
            <a:r>
              <a:t/>
            </a:r>
          </a:p>
          <a:p xmlns:a="http://schemas.openxmlformats.org/drawingml/2006/main">
            <a:r>
              <a:t>В one-hot vector одна координата равна единице, остальные — нулю. Координата выбирается по позиции слова в vocabulary. Размер representation совпадает с размером vocabulary; разные слова получают разные независимые координаты. Такой способ сохраняет идентичность элемента, но сам по себе не сообщает, что cat ближе по смыслу к dog, чем к table. Для смысловых отношений необходим дополнительный обучающий сигнал.</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https://lena-voita.github.io/resources/lectures/word_emb/one_hot-min.png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 Embedding lookup table</a:t>
            </a:r>
          </a:p>
          <a:p xmlns:a="http://schemas.openxmlformats.org/drawingml/2006/main">
            <a:r>
              <a:t/>
            </a:r>
          </a:p>
          <a:p xmlns:a="http://schemas.openxmlformats.org/drawingml/2006/main">
            <a:r>
              <a:t>Lookup table связывает token ID со строкой embedding matrix. На слайде курса показан выбор вектора для одного элемента последовательности. Размер vocabulary определяет число строк, embedding dimension — число координат в строке. Token ID служит адресом и не выражает смысловой близости: соседние ID не обязаны соответствовать похожим словам. Vocabulary и матрица должны быть согласованы.</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https://drive.google.com/file/d/1y2GKIKBzie7l8iycBO6gTKGiTTfJc4Dr/view</a:t>
            </a:r>
          </a:p>
          <a:p xmlns:a="http://schemas.openxmlformats.org/drawingml/2006/main">
            <a:r>
              <a:t>Файл иллюстрации: https://drive.google.com/file/d/1y2GKIKBzie7l8iycBO6gTKGiTTfJc4Dr/view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 Distributional hypothesis</a:t>
            </a:r>
          </a:p>
          <a:p xmlns:a="http://schemas.openxmlformats.org/drawingml/2006/main">
            <a:r>
              <a:t/>
            </a:r>
          </a:p>
          <a:p xmlns:a="http://schemas.openxmlformats.org/drawingml/2006/main">
            <a:r>
              <a:t>Контексты как наблюдаемые данные</a:t>
            </a:r>
          </a:p>
          <a:p xmlns:a="http://schemas.openxmlformats.org/drawingml/2006/main">
            <a:r>
              <a:t>Distributional hypothesis связывает смысловую близость со сходством контекстов употребления. Если два слова встречаются в похожих окружениях, по corpus можно обнаружить между ними статистическую связь. Это даёт обучающий сигнал без ручной разметки значения каждого слова. При этом контекст определяется выбранным методом: соседние слова, предложение или документ.</a:t>
            </a:r>
          </a:p>
          <a:p xmlns:a="http://schemas.openxmlformats.org/drawingml/2006/main">
            <a:r>
              <a:t/>
            </a:r>
          </a:p>
          <a:p xmlns:a="http://schemas.openxmlformats.org/drawingml/2006/main">
            <a:r>
              <a:t>Границы предположения</a:t>
            </a:r>
          </a:p>
          <a:p xmlns:a="http://schemas.openxmlformats.org/drawingml/2006/main">
            <a:r>
              <a:t>Похожее окружение не означает полную взаимозаменяемость. Antonyms, слова одной темы и названия конкурирующих объектов тоже могут встречаться в сходных контекстах. Representation отражает закономерности corpus и цель обучения. Поэтому близость vectors интерпретируют относительно задачи, а не как универсальное определение одинакового значения.</a:t>
            </a:r>
          </a:p>
          <a:p xmlns:a="http://schemas.openxmlformats.org/drawingml/2006/main">
            <a:r>
              <a:t/>
            </a:r>
          </a:p>
          <a:p xmlns:a="http://schemas.openxmlformats.org/drawingml/2006/main">
            <a:r>
              <a:t>Источник: https://lena-voita.github.io/nlp_course/word_embeddings.html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9. Значение слова через контексты</a:t>
            </a:r>
          </a:p>
          <a:p xmlns:a="http://schemas.openxmlformats.org/drawingml/2006/main">
            <a:r>
              <a:t/>
            </a:r>
          </a:p>
          <a:p xmlns:a="http://schemas.openxmlformats.org/drawingml/2006/main">
            <a:r>
              <a:t>В примере курса значение незнакомого слова tezgüino постепенно становится понятнее по окружающим выражениям. Каждое употребление ограничивает возможную интерпретацию. Аналогично corpus даёт модели множество наблюдений о слове, даже когда определение не предоставлено. Один случай может быть неоднозначен; устойчивые закономерности обнаруживаются при сопоставлении разных контекстов.</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https://lena-voita.github.io/resources/lectures/word_emb/tezguino9-min.png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10. Context window</a:t>
            </a:r>
          </a:p>
          <a:p xmlns:a="http://schemas.openxmlformats.org/drawingml/2006/main">
            <a:r>
              <a:t/>
            </a:r>
          </a:p>
          <a:p xmlns:a="http://schemas.openxmlformats.org/drawingml/2006/main">
            <a:r>
              <a:t>Context window определяет, какие соседние слова считаются окружением текущего слова. Окно перемещается по corpus и создаёт наблюдения для разных позиций. Размер window влияет на характер информации: ближайшие слова часто связаны с локальной конструкцией, более широкое окружение может отражать тему. Конкретный результат зависит также от corpus, weighting и preprocessing.</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https://lena-voita.github.io/resources/lectures/word_emb/preneural/window-min.png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11. Выбор контекста</a:t>
            </a:r>
          </a:p>
          <a:p xmlns:a="http://schemas.openxmlformats.org/drawingml/2006/main">
            <a:r>
              <a:t/>
            </a:r>
          </a:p>
          <a:p xmlns:a="http://schemas.openxmlformats.org/drawingml/2006/main">
            <a:r>
              <a:t>Локальный и широкий контекст</a:t>
            </a:r>
          </a:p>
          <a:p xmlns:a="http://schemas.openxmlformats.org/drawingml/2006/main">
            <a:r>
              <a:t>Для слова bank ближайшие элементы river и credit дают разные сигналы, хотя сама запись остаётся одинаковой. Контекст можно ограничить фиксированным числом tokens, предложением или более крупной единицей. Если границы документов игнорируются, в обучающие наблюдения могут попасть искусственные соседства, которых нет в реальном языке.</a:t>
            </a:r>
          </a:p>
          <a:p xmlns:a="http://schemas.openxmlformats.org/drawingml/2006/main">
            <a:r>
              <a:t/>
            </a:r>
          </a:p>
          <a:p xmlns:a="http://schemas.openxmlformats.org/drawingml/2006/main">
            <a:r>
              <a:t>Параметры representation</a:t>
            </a:r>
          </a:p>
          <a:p xmlns:a="http://schemas.openxmlformats.org/drawingml/2006/main">
            <a:r>
              <a:t>Учитывается не только размер window, но и направление, расстояние до слова и правила исключения элементов. Узкий контекст и широкий контекст отвечают разным исследовательским вопросам. Выбор должен проверяться по полезности representations в downstream task. Универсального размера window для всех языков и коллекций не существует.</a:t>
            </a:r>
          </a:p>
          <a:p xmlns:a="http://schemas.openxmlformats.org/drawingml/2006/main">
            <a:r>
              <a:t/>
            </a:r>
          </a:p>
          <a:p xmlns:a="http://schemas.openxmlformats.org/drawingml/2006/main">
            <a:r>
              <a:t>Источник: https://lena-voita.github.io/nlp_course/word_embeddings.html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12. Word–context matrix</a:t>
            </a:r>
          </a:p>
          <a:p xmlns:a="http://schemas.openxmlformats.org/drawingml/2006/main">
            <a:r>
              <a:t/>
            </a:r>
          </a:p>
          <a:p xmlns:a="http://schemas.openxmlformats.org/drawingml/2006/main">
            <a:r>
              <a:t>Строка word–context matrix описывает, с какими context words встречалось выбранное слово. Счётчики собираются по corpus. Сходство строк показывает сходство наблюдаемых окружений; редкие слова имеют меньше надёжных наблюдений. Матрица может быть очень большой и sparse. Поэтому используют weighting и уменьшение размерности, чтобы получить более компактное representation.</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https://lena-voita.github.io/resources/lectures/word_emb/research/counts_simple-min.png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13. Count-based representations</a:t>
            </a:r>
          </a:p>
          <a:p xmlns:a="http://schemas.openxmlformats.org/drawingml/2006/main">
            <a:r>
              <a:t/>
            </a:r>
          </a:p>
          <a:p xmlns:a="http://schemas.openxmlformats.org/drawingml/2006/main">
            <a:r>
              <a:t>Count-based methods сначала собирают статистику corpus, затем преобразуют её в representations. На схеме word–context matrix заменяется набором более коротких vectors. Это отличается от сохранения одного счётчика частоты слова: representation учитывает распределение по контекстам. Компактность полезна для хранения и сравнения, но сама по себе не гарантирует сохранения всех значимых различий.</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https://lena-voita.github.io/resources/lectures/word_emb/preneural/idea-min.png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14. Dimensionality reduction</a:t>
            </a:r>
          </a:p>
          <a:p xmlns:a="http://schemas.openxmlformats.org/drawingml/2006/main">
            <a:r>
              <a:t/>
            </a:r>
          </a:p>
          <a:p xmlns:a="http://schemas.openxmlformats.org/drawingml/2006/main">
            <a:r>
              <a:t>Компактное описание</a:t>
            </a:r>
          </a:p>
          <a:p xmlns:a="http://schemas.openxmlformats.org/drawingml/2006/main">
            <a:r>
              <a:t>Разные context words могут появляться вместе и нести близкую информацию. Dimensionality reduction описывает часть этой структуры меньшим числом координат. Например, LSA строит низкоразмерное приближение term–document matrix: исходные признаки объединяются в общие направления, отражающие совместное употребление слов.</a:t>
            </a:r>
          </a:p>
          <a:p xmlns:a="http://schemas.openxmlformats.org/drawingml/2006/main">
            <a:r>
              <a:t/>
            </a:r>
          </a:p>
          <a:p xmlns:a="http://schemas.openxmlformats.org/drawingml/2006/main">
            <a:r>
              <a:t>Выбор embedding dimension</a:t>
            </a:r>
          </a:p>
          <a:p xmlns:a="http://schemas.openxmlformats.org/drawingml/2006/main">
            <a:r>
              <a:t>Число координат задаёт ёмкость representation и влияет на хранение и вычисления. Слишком маленький vector может потерять полезные различия; увеличение dimension не гарантирует рост качества при ограниченных данных. Координаты нового пространства обычно не соответствуют отдельным словам и не получают однозначных человеческих названий.</a:t>
            </a:r>
          </a:p>
          <a:p xmlns:a="http://schemas.openxmlformats.org/drawingml/2006/main">
            <a:r>
              <a:t/>
            </a:r>
          </a:p>
          <a:p xmlns:a="http://schemas.openxmlformats.org/drawingml/2006/main">
            <a:r>
              <a:t>Источник: https://lena-voita.github.io/nlp_course/word_embeddings.html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15. TF-IDF как baseline</a:t>
            </a:r>
          </a:p>
          <a:p xmlns:a="http://schemas.openxmlformats.org/drawingml/2006/main">
            <a:r>
              <a:t/>
            </a:r>
          </a:p>
          <a:p xmlns:a="http://schemas.openxmlformats.org/drawingml/2006/main">
            <a:r>
              <a:t>Representation документа</a:t>
            </a:r>
          </a:p>
          <a:p xmlns:a="http://schemas.openxmlformats.org/drawingml/2006/main">
            <a:r>
              <a:t>В TF-IDF документ задаётся весами terms из vocabulary. Координаты имеют понятную связь с текстом, а различия формулировок учитываются только через выбранные features и preprocessing. Такой baseline особенно полезен, когда в задаче важны точные слова, номера, редкие названия или устойчивые сочетания. Получение features не требует обучения большой neural model.</a:t>
            </a:r>
          </a:p>
          <a:p xmlns:a="http://schemas.openxmlformats.org/drawingml/2006/main">
            <a:r>
              <a:t/>
            </a:r>
          </a:p>
          <a:p xmlns:a="http://schemas.openxmlformats.org/drawingml/2006/main">
            <a:r>
              <a:t>Сравнение с embeddings</a:t>
            </a:r>
          </a:p>
          <a:p xmlns:a="http://schemas.openxmlformats.org/drawingml/2006/main">
            <a:r>
              <a:t>TF-IDF и dense embeddings сравнивают на одинаковом split и с одинаковыми labels. Dense representation может сопоставлять тексты без общих слов, но иногда теряет точные lexical distinctions. Поэтому переход к embeddings является гипотезой об улучшении, которую нужно проверить. Baseline позволяет измерить полезность дополнительной сложности.</a:t>
            </a:r>
          </a:p>
          <a:p xmlns:a="http://schemas.openxmlformats.org/drawingml/2006/main">
            <a:r>
              <a:t/>
            </a:r>
          </a:p>
          <a:p xmlns:a="http://schemas.openxmlformats.org/drawingml/2006/main">
            <a:r>
              <a:t>Источник: https://scikit-learn.org/stable/modules/feature_extraction.html</a:t>
            </a:r>
          </a:p>
          <a:p xmlns:a="http://schemas.openxmlformats.org/drawingml/2006/main">
            <a:r>
              <a:t>Источник: https://docs.google.com/document/d/1dhTfnnaMGqnamn8odhJQwGDgKYyPB46GE1Q-YxJ3D-U/edit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16. Word vectors и document vectors</a:t>
            </a:r>
          </a:p>
          <a:p xmlns:a="http://schemas.openxmlformats.org/drawingml/2006/main">
            <a:r>
              <a:t/>
            </a:r>
          </a:p>
          <a:p xmlns:a="http://schemas.openxmlformats.org/drawingml/2006/main">
            <a:r>
              <a:t>Сначала определяют, какой объект описывает vector и как получены его координаты. Одинаковая численная размерность не означает одинаковую интерпретацию.</a:t>
            </a:r>
          </a:p>
          <a:p xmlns:a="http://schemas.openxmlformats.org/drawingml/2006/main">
            <a:r>
              <a:t/>
            </a:r>
          </a:p>
          <a:p xmlns:a="http://schemas.openxmlformats.org/drawingml/2006/main">
            <a:r>
              <a:t>Representation | Один объект | Содержание координат</a:t>
            </a:r>
          </a:p>
          <a:p xmlns:a="http://schemas.openxmlformats.org/drawingml/2006/main">
            <a:r>
              <a:t>Word–context | Слово | Его окружения в corpus</a:t>
            </a:r>
          </a:p>
          <a:p xmlns:a="http://schemas.openxmlformats.org/drawingml/2006/main">
            <a:r>
              <a:t>TF-IDF document | Документ | Вес каждого term</a:t>
            </a:r>
          </a:p>
          <a:p xmlns:a="http://schemas.openxmlformats.org/drawingml/2006/main">
            <a:r>
              <a:t>Sentence embedding | Предложение | Обучаемые общие признаки</a:t>
            </a:r>
          </a:p>
          <a:p xmlns:a="http://schemas.openxmlformats.org/drawingml/2006/main">
            <a:r>
              <a:t/>
            </a:r>
          </a:p>
          <a:p xmlns:a="http://schemas.openxmlformats.org/drawingml/2006/main">
            <a:r>
              <a:t>Нельзя сравнивать word vector и document vector только потому, что у них одинаковая длина. Они должны находиться в согласованном пространстве и быть предназначены для такого сравнения.</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17. Embedding space</a:t>
            </a:r>
          </a:p>
          <a:p xmlns:a="http://schemas.openxmlformats.org/drawingml/2006/main">
            <a:r>
              <a:t/>
            </a:r>
          </a:p>
          <a:p xmlns:a="http://schemas.openxmlformats.org/drawingml/2006/main">
            <a:r>
              <a:t>Отдельный vector и пространство</a:t>
            </a:r>
          </a:p>
          <a:p xmlns:a="http://schemas.openxmlformats.org/drawingml/2006/main">
            <a:r>
              <a:t>Embedding dimension задаёт длину representation. Один vector интерпретируется через отношения с другими vectors, полученными совместимым способом. Близкие точки могут соответствовать похожим текстам или словам, если это поддерживается обучающей целью. Сам номер координаты обычно не имеет фиксированного значения вроде «тональность» или «тема».</a:t>
            </a:r>
          </a:p>
          <a:p xmlns:a="http://schemas.openxmlformats.org/drawingml/2006/main">
            <a:r>
              <a:t/>
            </a:r>
          </a:p>
          <a:p xmlns:a="http://schemas.openxmlformats.org/drawingml/2006/main">
            <a:r>
              <a:t>Совместимость координат</a:t>
            </a:r>
          </a:p>
          <a:p xmlns:a="http://schemas.openxmlformats.org/drawingml/2006/main">
            <a:r>
              <a:t>Два независимо обученных пространства нельзя напрямую смешивать. Даже если оба используют 300 координат, направление одной оси не обязано совпадать. Замена encoder или его weights обычно требует повторного вычисления всех representations в index. Совместимость определяется моделью и настройками, а не только размерностью.</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18. Cosine similarity</a:t>
            </a:r>
          </a:p>
          <a:p xmlns:a="http://schemas.openxmlformats.org/drawingml/2006/main">
            <a:r>
              <a:t/>
            </a:r>
          </a:p>
          <a:p xmlns:a="http://schemas.openxmlformats.org/drawingml/2006/main">
            <a:r>
              <a:t>Сравнение направлений</a:t>
            </a:r>
          </a:p>
          <a:p xmlns:a="http://schemas.openxmlformats.org/drawingml/2006/main">
            <a:r>
              <a:t>Cosine similarity сравнивает направления vectors. При совпадающем направлении score максимален; противоположное направление даёт отрицательное значение. Длина vector при таком сравнении исключается через normalization. Геометрический смысл показателя не означает, что он автоматически измеряет semantic similarity: это зависит от того, как получены embeddings.</a:t>
            </a:r>
          </a:p>
          <a:p xmlns:a="http://schemas.openxmlformats.org/drawingml/2006/main">
            <a:r>
              <a:t/>
            </a:r>
          </a:p>
          <a:p xmlns:a="http://schemas.openxmlformats.org/drawingml/2006/main">
            <a:r>
              <a:t>Интерпретация score</a:t>
            </a:r>
          </a:p>
          <a:p xmlns:a="http://schemas.openxmlformats.org/drawingml/2006/main">
            <a:r>
              <a:t>Cosine score не является вероятностью релевантности и не задаёт универсальный порог. Распределение значений меняется между моделями, языками и задачами. Для поиска важен порядок candidates; для решения «похожи или нет» порог выбирают на размеченных примерах. Для zero vector cosine similarity не определена без дополнительного соглашения.</a:t>
            </a:r>
          </a:p>
          <a:p xmlns:a="http://schemas.openxmlformats.org/drawingml/2006/main">
            <a:r>
              <a:t/>
            </a:r>
          </a:p>
          <a:p xmlns:a="http://schemas.openxmlformats.org/drawingml/2006/main">
            <a:r>
              <a:t>Источник: https://sbert.net/docs/sentence_transformer/usage/semantic_textual_similarity.html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19. Nearest neighbors</a:t>
            </a:r>
          </a:p>
          <a:p xmlns:a="http://schemas.openxmlformats.org/drawingml/2006/main">
            <a:r>
              <a:t/>
            </a:r>
          </a:p>
          <a:p xmlns:a="http://schemas.openxmlformats.org/drawingml/2006/main">
            <a:r>
              <a:t>Nearest neighbors — элементы с наиболее близкими vectors по выбранной similarity measure. Пример из курса показывает соседей слова frog: среди них есть родственные формы и другие названия животных. Такой просмотр помогает понять структуру пространства и обнаружить проблемы vocabulary. Он не заменяет evaluation на прикладной задаче: убедительные отдельные примеры не характеризуют всю модель.</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https://lena-voita.github.io/resources/lectures/word_emb/analysis/frog-min.png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20. Similarity и relatedness</a:t>
            </a:r>
          </a:p>
          <a:p xmlns:a="http://schemas.openxmlformats.org/drawingml/2006/main">
            <a:r>
              <a:t/>
            </a:r>
          </a:p>
          <a:p xmlns:a="http://schemas.openxmlformats.org/drawingml/2006/main">
            <a:r>
              <a:t>Слова good и bad могут иметь близкие контексты: оба описывают качество товара, фильма или обслуживания. Поэтому distributional representations способны сближать antonyms. Для sentiment analysis это не означает одинаковую class label. Classifier должен научиться использовать нужные различия, а при необходимости representation дополнительно адаптируют к задаче. Геометрическая близость и одинаковый ответ модели — разные свойства.</a:t>
            </a:r>
          </a:p>
          <a:p xmlns:a="http://schemas.openxmlformats.org/drawingml/2006/main">
            <a:r>
              <a:t/>
            </a:r>
          </a:p>
          <a:p xmlns:a="http://schemas.openxmlformats.org/drawingml/2006/main">
            <a:r>
              <a:t>Источник: https://lena-voita.github.io/nlp_course/text_classification.html</a:t>
            </a:r>
          </a:p>
          <a:p xmlns:a="http://schemas.openxmlformats.org/drawingml/2006/main">
            <a:r>
              <a:t>Источник иллюстрации: https://lena-voita.github.io/nlp_course/text_classification.html</a:t>
            </a:r>
          </a:p>
          <a:p xmlns:a="http://schemas.openxmlformats.org/drawingml/2006/main">
            <a:r>
              <a:t>Файл иллюстрации: https://lena-voita.github.io/resources/lectures/text_clf/research/antonyms_close-min.png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21. Word analogies</a:t>
            </a:r>
          </a:p>
          <a:p xmlns:a="http://schemas.openxmlformats.org/drawingml/2006/main">
            <a:r>
              <a:t/>
            </a:r>
          </a:p>
          <a:p xmlns:a="http://schemas.openxmlformats.org/drawingml/2006/main">
            <a:r>
              <a:t>Word analogy проверяет, сохраняются ли некоторые отношения между парами слов в геометрии пространства. Известные примеры сопоставляют роли или формы слов. На схеме показана иллюстрация такого отношения, а не универсальное правило рассуждения. Результат зависит от vocabulary, corpus и способа поиска ответа; удачная analogy не доказывает понимания всех свойств связанных понятий.</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https://lena-voita.github.io/resources/lectures/word_emb/analysis/king_example-min.png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22. Embedding spaces разных языков</a:t>
            </a:r>
          </a:p>
          <a:p xmlns:a="http://schemas.openxmlformats.org/drawingml/2006/main">
            <a:r>
              <a:t/>
            </a:r>
          </a:p>
          <a:p xmlns:a="http://schemas.openxmlformats.org/drawingml/2006/main">
            <a:r>
              <a:t>У разных языков могут обнаруживаться сходные отношения между словами, но независимо обученные embedding spaces не совпадают по координатам. Для cross-lingual comparison нужно согласовать пространства или использовать модель, обученную для такого сопоставления. На рисунке иллюстрируется соответствие структур. Оно не означает, что любая пара monolingual models сразу подходит для multilingual search.</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https://lena-voita.github.io/resources/lectures/word_emb/analysis/cross_lingual_matching-min.png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23. Ограничения embedding space</a:t>
            </a:r>
          </a:p>
          <a:p xmlns:a="http://schemas.openxmlformats.org/drawingml/2006/main">
            <a:r>
              <a:t/>
            </a:r>
          </a:p>
          <a:p xmlns:a="http://schemas.openxmlformats.org/drawingml/2006/main">
            <a:r>
              <a:t>Corpus и устойчивость</a:t>
            </a:r>
          </a:p>
          <a:p xmlns:a="http://schemas.openxmlformats.org/drawingml/2006/main">
            <a:r>
              <a:t>Representations зависят от источников, времени и языка corpus. Для частых слов доступны многочисленные контексты; для редких слов оценки менее устойчивы. В пространстве могут отражаться стереотипы и перекосы данных. Оценивать embeddings только по нескольким красивым примерам опасно: нужны систематические проверки на выбранной задаче.</a:t>
            </a:r>
          </a:p>
          <a:p xmlns:a="http://schemas.openxmlformats.org/drawingml/2006/main">
            <a:r>
              <a:t/>
            </a:r>
          </a:p>
          <a:p xmlns:a="http://schemas.openxmlformats.org/drawingml/2006/main">
            <a:r>
              <a:t>Визуализация и выводы</a:t>
            </a:r>
          </a:p>
          <a:p xmlns:a="http://schemas.openxmlformats.org/drawingml/2006/main">
            <a:r>
              <a:t>Проекция в две координаты удобна для обзора, но искажает часть расстояний и отношений. Cluster на картинке не является доказательством отдельной смысловой категории. Анализ должен учитывать исходную similarity measure и настройки проекции. Особенно осторожно интерпретируют большие расстояния и направление осей в t-SNE-подобных визуализациях.</a:t>
            </a:r>
          </a:p>
          <a:p xmlns:a="http://schemas.openxmlformats.org/drawingml/2006/main">
            <a:r>
              <a:t/>
            </a:r>
          </a:p>
          <a:p xmlns:a="http://schemas.openxmlformats.org/drawingml/2006/main">
            <a:r>
              <a:t>Источник: https://lena-voita.github.io/nlp_course/word_embeddings.html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24. Word2Vec</a:t>
            </a:r>
          </a:p>
          <a:p xmlns:a="http://schemas.openxmlformats.org/drawingml/2006/main">
            <a:r>
              <a:t/>
            </a:r>
          </a:p>
          <a:p xmlns:a="http://schemas.openxmlformats.org/drawingml/2006/main">
            <a:r>
              <a:t>Prediction-based representation</a:t>
            </a:r>
          </a:p>
          <a:p xmlns:a="http://schemas.openxmlformats.org/drawingml/2006/main">
            <a:r>
              <a:t>Word2Vec обучает word vectors через задачу предсказания слов по контексту или контекста по слову. Размеченные class labels для каждого документа не требуются: обучающие пары получают из последовательности tokens. Цель обучения заставляет vectors отражать регулярности окружения. Итоговые representations затем применяют в другой задаче.</a:t>
            </a:r>
          </a:p>
          <a:p xmlns:a="http://schemas.openxmlformats.org/drawingml/2006/main">
            <a:r>
              <a:t/>
            </a:r>
          </a:p>
          <a:p xmlns:a="http://schemas.openxmlformats.org/drawingml/2006/main">
            <a:r>
              <a:t>Что остаётся после обучения</a:t>
            </a:r>
          </a:p>
          <a:p xmlns:a="http://schemas.openxmlformats.org/drawingml/2006/main">
            <a:r>
              <a:t>Для каждого слова из vocabulary сохраняется static vector. В обычном Word2Vec разные употребления одной словоформы получают один и тот же vector. Это делает lookup быстрым, но объединяет разные значения слова. Обучающая задача Word2Vec и конечная задача, например classification отзывов, обычно не совпадают.</a:t>
            </a:r>
          </a:p>
          <a:p xmlns:a="http://schemas.openxmlformats.org/drawingml/2006/main">
            <a:r>
              <a:t/>
            </a:r>
          </a:p>
          <a:p xmlns:a="http://schemas.openxmlformats.org/drawingml/2006/main">
            <a:r>
              <a:t>Источник: https://arxiv.org/abs/1301.3781</a:t>
            </a:r>
          </a:p>
          <a:p xmlns:a="http://schemas.openxmlformats.org/drawingml/2006/main">
            <a:r>
              <a:t>Источник: https://lena-voita.github.io/nlp_course/word_embeddings.html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25. Skip-gram</a:t>
            </a:r>
          </a:p>
          <a:p xmlns:a="http://schemas.openxmlformats.org/drawingml/2006/main">
            <a:r>
              <a:t/>
            </a:r>
          </a:p>
          <a:p xmlns:a="http://schemas.openxmlformats.org/drawingml/2006/main">
            <a:r>
              <a:t>Skip-gram использует central word для предсказания context words в выбранном window. Одно положение окна даёт несколько обучающих пар. По мере перемещения окна разные слова становятся центральными и получают сигналы от своих окружений. На схеме изображён один фрагмент этого процесса; модель не получает словарного определения слова, а учится по повторяющимся контекстам.</a:t>
            </a:r>
          </a:p>
          <a:p xmlns:a="http://schemas.openxmlformats.org/drawingml/2006/main">
            <a:r>
              <a:t/>
            </a:r>
          </a:p>
          <a:p xmlns:a="http://schemas.openxmlformats.org/drawingml/2006/main">
            <a:r>
              <a:t>Источник: https://arxiv.org/abs/1301.3781</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https://lena-voita.github.io/resources/lectures/word_emb/w2v/window_prob3-min.png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26. Обучающие пары для Skip-gram</a:t>
            </a:r>
          </a:p>
          <a:p xmlns:a="http://schemas.openxmlformats.org/drawingml/2006/main">
            <a:r>
              <a:t/>
            </a:r>
          </a:p>
          <a:p xmlns:a="http://schemas.openxmlformats.org/drawingml/2006/main">
            <a:r>
              <a:t>Учебный пример: «студент читает полезную книгу». Central word — «читает»; window содержит по одному соседу с каждой стороны.</a:t>
            </a:r>
          </a:p>
          <a:p xmlns:a="http://schemas.openxmlformats.org/drawingml/2006/main">
            <a:r>
              <a:t/>
            </a:r>
          </a:p>
          <a:p xmlns:a="http://schemas.openxmlformats.org/drawingml/2006/main">
            <a:r>
              <a:t>Central word | Context word | Наблюдение</a:t>
            </a:r>
          </a:p>
          <a:p xmlns:a="http://schemas.openxmlformats.org/drawingml/2006/main">
            <a:r>
              <a:t>читает | студент | Сосед слева</a:t>
            </a:r>
          </a:p>
          <a:p xmlns:a="http://schemas.openxmlformats.org/drawingml/2006/main">
            <a:r>
              <a:t>читает | полезную | Сосед справа</a:t>
            </a:r>
          </a:p>
          <a:p xmlns:a="http://schemas.openxmlformats.org/drawingml/2006/main">
            <a:r>
              <a:t/>
            </a:r>
          </a:p>
          <a:p xmlns:a="http://schemas.openxmlformats.org/drawingml/2006/main">
            <a:r>
              <a:t>При следующем положении window изменятся central word и пары. Здесь показана только организация данных, без расчёта probabilities и обновления weights.</a:t>
            </a:r>
          </a:p>
          <a:p xmlns:a="http://schemas.openxmlformats.org/drawingml/2006/main">
            <a:r>
              <a:t/>
            </a:r>
          </a:p>
          <a:p xmlns:a="http://schemas.openxmlformats.org/drawingml/2006/main">
            <a:r>
              <a:t>Источник: https://arxiv.org/abs/1301.3781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27. CBOW и Skip-gram</a:t>
            </a:r>
          </a:p>
          <a:p xmlns:a="http://schemas.openxmlformats.org/drawingml/2006/main">
            <a:r>
              <a:t/>
            </a:r>
          </a:p>
          <a:p xmlns:a="http://schemas.openxmlformats.org/drawingml/2006/main">
            <a:r>
              <a:t>CBOW предсказывает central word по окружающим словам. Skip-gram использует обратное направление: central word служит входом, context words — целями. В обоих случаях обучающий сигнал извлекается из corpus. Эти варианты различаются устройством предсказания и поведением на данных, но оба могут давать static word embeddings для последующего использования.</a:t>
            </a:r>
          </a:p>
          <a:p xmlns:a="http://schemas.openxmlformats.org/drawingml/2006/main">
            <a:r>
              <a:t/>
            </a:r>
          </a:p>
          <a:p xmlns:a="http://schemas.openxmlformats.org/drawingml/2006/main">
            <a:r>
              <a:t>Источник: https://arxiv.org/abs/1301.3781</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https://lena-voita.github.io/resources/lectures/word_emb/w2v/cbow_skip-min.png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28. Word и context embeddings</a:t>
            </a:r>
          </a:p>
          <a:p xmlns:a="http://schemas.openxmlformats.org/drawingml/2006/main">
            <a:r>
              <a:t/>
            </a:r>
          </a:p>
          <a:p xmlns:a="http://schemas.openxmlformats.org/drawingml/2006/main">
            <a:r>
              <a:t>В стандартном обучении Word2Vec различаются роли слова как входа и как context target. Для этих ролей используются два набора обучаемых vectors. На схеме курса показаны две соответствующие таблицы. При выгрузке pretrained embeddings часто сохраняют только один набор. Поэтому формат готового файла может содержать меньше информации, чем полная обучаемая модель.</a:t>
            </a:r>
          </a:p>
          <a:p xmlns:a="http://schemas.openxmlformats.org/drawingml/2006/main">
            <a:r>
              <a:t/>
            </a:r>
          </a:p>
          <a:p xmlns:a="http://schemas.openxmlformats.org/drawingml/2006/main">
            <a:r>
              <a:t>Источник: https://arxiv.org/abs/1310.4546</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https://lena-voita.github.io/resources/lectures/word_emb/w2v/two_vocs_with_theta-min.png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29. Negative sampling</a:t>
            </a:r>
          </a:p>
          <a:p xmlns:a="http://schemas.openxmlformats.org/drawingml/2006/main">
            <a:r>
              <a:t/>
            </a:r>
          </a:p>
          <a:p xmlns:a="http://schemas.openxmlformats.org/drawingml/2006/main">
            <a:r>
              <a:t>Вместо полного перебора vocabulary модель сопоставляет наблюдаемую пару с небольшим набором sampled alternatives. Ниже — условный пример организации данных.</a:t>
            </a:r>
          </a:p>
          <a:p xmlns:a="http://schemas.openxmlformats.org/drawingml/2006/main">
            <a:r>
              <a:t/>
            </a:r>
          </a:p>
          <a:p xmlns:a="http://schemas.openxmlformats.org/drawingml/2006/main">
            <a:r>
              <a:t>Central word | Context candidate | Источник пары</a:t>
            </a:r>
          </a:p>
          <a:p xmlns:a="http://schemas.openxmlformats.org/drawingml/2006/main">
            <a:r>
              <a:t>cat | cute | Наблюдение в window</a:t>
            </a:r>
          </a:p>
          <a:p xmlns:a="http://schemas.openxmlformats.org/drawingml/2006/main">
            <a:r>
              <a:t>cat | invoice | Sampled negative</a:t>
            </a:r>
          </a:p>
          <a:p xmlns:a="http://schemas.openxmlformats.org/drawingml/2006/main">
            <a:r>
              <a:t>cat | station | Sampled negative</a:t>
            </a:r>
          </a:p>
          <a:p xmlns:a="http://schemas.openxmlformats.org/drawingml/2006/main">
            <a:r>
              <a:t/>
            </a:r>
          </a:p>
          <a:p xmlns:a="http://schemas.openxmlformats.org/drawingml/2006/main">
            <a:r>
              <a:t>Negative означает выбор процедурой sampling, а не доказанную невозможность контекста. Число и распределение sampled words влияют на обучающий сигнал.</a:t>
            </a:r>
          </a:p>
          <a:p xmlns:a="http://schemas.openxmlformats.org/drawingml/2006/main">
            <a:r>
              <a:t/>
            </a:r>
          </a:p>
          <a:p xmlns:a="http://schemas.openxmlformats.org/drawingml/2006/main">
            <a:r>
              <a:t>Источник: https://arxiv.org/abs/1310.4546</a:t>
            </a:r>
          </a:p>
          <a:p xmlns:a="http://schemas.openxmlformats.org/drawingml/2006/main">
            <a:r>
              <a:t>Источник: https://lena-voita.github.io/nlp_course/word_embeddings.html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30. Corpus для Word2Vec</a:t>
            </a:r>
          </a:p>
          <a:p xmlns:a="http://schemas.openxmlformats.org/drawingml/2006/main">
            <a:r>
              <a:t/>
            </a:r>
          </a:p>
          <a:p xmlns:a="http://schemas.openxmlformats.org/drawingml/2006/main">
            <a:r>
              <a:t>Подготовка наблюдений</a:t>
            </a:r>
          </a:p>
          <a:p xmlns:a="http://schemas.openxmlformats.org/drawingml/2006/main">
            <a:r>
              <a:t>Corpus определяет доступные значения слов и типичные контексты. Сохраняются границы документов и согласованные правила tokenization. Нормализация регистра, обработка punctuation и исключение редких слов меняют vocabulary и обучающие пары. Важно заранее решить, должны ли имена, числа, сокращения и специальные tokens сохраняться как самостоятельные элементы.</a:t>
            </a:r>
          </a:p>
          <a:p xmlns:a="http://schemas.openxmlformats.org/drawingml/2006/main">
            <a:r>
              <a:t/>
            </a:r>
          </a:p>
          <a:p xmlns:a="http://schemas.openxmlformats.org/drawingml/2006/main">
            <a:r>
              <a:t>Данные и задача применения</a:t>
            </a:r>
          </a:p>
          <a:p xmlns:a="http://schemas.openxmlformats.org/drawingml/2006/main">
            <a:r>
              <a:t>Большой corpus общего назначения не обязательно лучше небольшой специализированной коллекции для узкой терминологии. Но маленькая коллекция может не дать достаточно наблюдений для устойчивых word vectors. Поэтому часто начинают с pretrained embeddings и проверяют их coverage и качество. Обучение с нуля имеет смысл, когда данные и цель такого эксперимента определены.</a:t>
            </a:r>
          </a:p>
          <a:p xmlns:a="http://schemas.openxmlformats.org/drawingml/2006/main">
            <a:r>
              <a:t/>
            </a:r>
          </a:p>
          <a:p xmlns:a="http://schemas.openxmlformats.org/drawingml/2006/main">
            <a:r>
              <a:t>Источник: https://arxiv.org/abs/1301.3781</a:t>
            </a:r>
          </a:p>
          <a:p xmlns:a="http://schemas.openxmlformats.org/drawingml/2006/main">
            <a:r>
              <a:t>Источник: https://radimrehurek.com/gensim/models/keyedvectors.html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31. Параметры Word2Vec</a:t>
            </a:r>
          </a:p>
          <a:p xmlns:a="http://schemas.openxmlformats.org/drawingml/2006/main">
            <a:r>
              <a:t/>
            </a:r>
          </a:p>
          <a:p xmlns:a="http://schemas.openxmlformats.org/drawingml/2006/main">
            <a:r>
              <a:t>Параметры меняют доступные наблюдения, ёмкость representation и процедуру обучения. Их выбирают под данные и downstream evaluation.</a:t>
            </a:r>
          </a:p>
          <a:p xmlns:a="http://schemas.openxmlformats.org/drawingml/2006/main">
            <a:r>
              <a:t/>
            </a:r>
          </a:p>
          <a:p xmlns:a="http://schemas.openxmlformats.org/drawingml/2006/main">
            <a:r>
              <a:t>Параметр | Что меняется | Что проверять</a:t>
            </a:r>
          </a:p>
          <a:p xmlns:a="http://schemas.openxmlformats.org/drawingml/2006/main">
            <a:r>
              <a:t>Window size | Доступный контекст | Локальные связи и темы</a:t>
            </a:r>
          </a:p>
          <a:p xmlns:a="http://schemas.openxmlformats.org/drawingml/2006/main">
            <a:r>
              <a:t>Embedding dimension | Размер vector | Качество и затраты памяти</a:t>
            </a:r>
          </a:p>
          <a:p xmlns:a="http://schemas.openxmlformats.org/drawingml/2006/main">
            <a:r>
              <a:t>Min count | Состав vocabulary | Coverage редких слов</a:t>
            </a:r>
          </a:p>
          <a:p xmlns:a="http://schemas.openxmlformats.org/drawingml/2006/main">
            <a:r>
              <a:t>Sampling settings | Обучающий сигнал | Устойчивость результата</a:t>
            </a:r>
          </a:p>
          <a:p xmlns:a="http://schemas.openxmlformats.org/drawingml/2006/main">
            <a:r>
              <a:t/>
            </a:r>
          </a:p>
          <a:p xmlns:a="http://schemas.openxmlformats.org/drawingml/2006/main">
            <a:r>
              <a:t>Большее значение параметра не означает автоматически лучшее representation. Сравнение требует одинаковой процедуры оценки.</a:t>
            </a:r>
          </a:p>
          <a:p xmlns:a="http://schemas.openxmlformats.org/drawingml/2006/main">
            <a:r>
              <a:t/>
            </a:r>
          </a:p>
          <a:p xmlns:a="http://schemas.openxmlformats.org/drawingml/2006/main">
            <a:r>
              <a:t>Источник: https://arxiv.org/abs/1301.3781</a:t>
            </a:r>
          </a:p>
          <a:p xmlns:a="http://schemas.openxmlformats.org/drawingml/2006/main">
            <a:r>
              <a:t>Источник: https://radimrehurek.com/gensim/models/keyedvectors.html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32. Context window и обучаемые отношения</a:t>
            </a:r>
          </a:p>
          <a:p xmlns:a="http://schemas.openxmlformats.org/drawingml/2006/main">
            <a:r>
              <a:t/>
            </a:r>
          </a:p>
          <a:p xmlns:a="http://schemas.openxmlformats.org/drawingml/2006/main">
            <a:r>
              <a:t>Состав обучающих пар</a:t>
            </a:r>
          </a:p>
          <a:p xmlns:a="http://schemas.openxmlformats.org/drawingml/2006/main">
            <a:r>
              <a:t>Увеличение window добавляет более удалённые context words. Это может усилить тематические связи и одновременно ослабить относительную роль ближайших соседей. Направление и расстояние также можно учитывать отдельно. Изменение window фактически меняет данные, которые модель считает подтверждением связи между словами.</a:t>
            </a:r>
          </a:p>
          <a:p xmlns:a="http://schemas.openxmlformats.org/drawingml/2006/main">
            <a:r>
              <a:t/>
            </a:r>
          </a:p>
          <a:p xmlns:a="http://schemas.openxmlformats.org/drawingml/2006/main">
            <a:r>
              <a:t>Проверка полезности</a:t>
            </a:r>
          </a:p>
          <a:p xmlns:a="http://schemas.openxmlformats.org/drawingml/2006/main">
            <a:r>
              <a:t>Близость в embedding space зависит от этой процедуры. Для одних задач полезнее общая тема, для других — точная роль слова в локальной конструкции. Поэтому размер window не выбирают по одному примеру nearest neighbors. Проверяют несколько классов слов и downstream task, фиксируя остальные настройки и источник corpus.</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https://arxiv.org/abs/1301.3781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33. Pretrained word embeddings</a:t>
            </a:r>
          </a:p>
          <a:p xmlns:a="http://schemas.openxmlformats.org/drawingml/2006/main">
            <a:r>
              <a:t/>
            </a:r>
          </a:p>
          <a:p xmlns:a="http://schemas.openxmlformats.org/drawingml/2006/main">
            <a:r>
              <a:t>Повторное использование vectors</a:t>
            </a:r>
          </a:p>
          <a:p xmlns:a="http://schemas.openxmlformats.org/drawingml/2006/main">
            <a:r>
              <a:t>Готовые word embeddings позволяют начать работу без собственного pretraining. Перед применением проверяют язык, vocabulary, регистр, tokenization и embedding dimension. В Gensim объект KeyedVectors хранит соответствие между ключом и vector и поддерживает поиск похожих элементов. Он не обязательно содержит всё состояние, нужное для продолжения обучения исходной модели.</a:t>
            </a:r>
          </a:p>
          <a:p xmlns:a="http://schemas.openxmlformats.org/drawingml/2006/main">
            <a:r>
              <a:t/>
            </a:r>
          </a:p>
          <a:p xmlns:a="http://schemas.openxmlformats.org/drawingml/2006/main">
            <a:r>
              <a:t>Coverage и воспроизводимость</a:t>
            </a:r>
          </a:p>
          <a:p xmlns:a="http://schemas.openxmlformats.org/drawingml/2006/main">
            <a:r>
              <a:t>Coverage показывает, какая часть нужных слов представлена в выбранном наборе. Важна не только общая доля, но и пропуски среди имён, терминов и редких классов. Сохраняют источник и версию файла, правила обработки OOV и способ построения document representation. Замена набора vectors меняет пространство и требует повторной оценки.</a:t>
            </a:r>
          </a:p>
          <a:p xmlns:a="http://schemas.openxmlformats.org/drawingml/2006/main">
            <a:r>
              <a:t/>
            </a:r>
          </a:p>
          <a:p xmlns:a="http://schemas.openxmlformats.org/drawingml/2006/main">
            <a:r>
              <a:t>Источник: https://radimrehurek.com/gensim/models/keyedvectors.html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34. GloVe</a:t>
            </a:r>
          </a:p>
          <a:p xmlns:a="http://schemas.openxmlformats.org/drawingml/2006/main">
            <a:r>
              <a:t/>
            </a:r>
          </a:p>
          <a:p xmlns:a="http://schemas.openxmlformats.org/drawingml/2006/main">
            <a:r>
              <a:t>GloVe использует агрегированные word–word co-occurrence statistics. Сначала по corpus собирают совместные появления, затем обучают компактные word vectors, отражающие эти связи. Название означает Global Vectors for Word Representation. В результате получается static representation слова. В отличие от простого хранения строки counts, GloVe обучает более короткий vector по статистике всей коллекции.</a:t>
            </a:r>
          </a:p>
          <a:p xmlns:a="http://schemas.openxmlformats.org/drawingml/2006/main">
            <a:r>
              <a:t/>
            </a:r>
          </a:p>
          <a:p xmlns:a="http://schemas.openxmlformats.org/drawingml/2006/main">
            <a:r>
              <a:t>Источник: https://nlp.stanford.edu/projects/glove/</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https://lena-voita.github.io/resources/lectures/word_emb/glove/idea-min.png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35. Word2Vec и GloVe</a:t>
            </a:r>
          </a:p>
          <a:p xmlns:a="http://schemas.openxmlformats.org/drawingml/2006/main">
            <a:r>
              <a:t/>
            </a:r>
          </a:p>
          <a:p xmlns:a="http://schemas.openxmlformats.org/drawingml/2006/main">
            <a:r>
              <a:t>Оба подхода связывают слово с его контекстами и дают static word vectors. Различается организация обучающего сигнала.</a:t>
            </a:r>
          </a:p>
          <a:p xmlns:a="http://schemas.openxmlformats.org/drawingml/2006/main">
            <a:r>
              <a:t/>
            </a:r>
          </a:p>
          <a:p xmlns:a="http://schemas.openxmlformats.org/drawingml/2006/main">
            <a:r>
              <a:t>Свойство | Word2Vec | GloVe</a:t>
            </a:r>
          </a:p>
          <a:p xmlns:a="http://schemas.openxmlformats.org/drawingml/2006/main">
            <a:r>
              <a:t>Исходные наблюдения | Word–context pairs | Co-occurrence statistics</a:t>
            </a:r>
          </a:p>
          <a:p xmlns:a="http://schemas.openxmlformats.org/drawingml/2006/main">
            <a:r>
              <a:t>Основная идея | Предсказывать окружение | Согласовать vectors со статистикой</a:t>
            </a:r>
          </a:p>
          <a:p xmlns:a="http://schemas.openxmlformats.org/drawingml/2006/main">
            <a:r>
              <a:t>Результат | Static word vectors | Static word vectors</a:t>
            </a:r>
          </a:p>
          <a:p xmlns:a="http://schemas.openxmlformats.org/drawingml/2006/main">
            <a:r>
              <a:t/>
            </a:r>
          </a:p>
          <a:p xmlns:a="http://schemas.openxmlformats.org/drawingml/2006/main">
            <a:r>
              <a:t>Выбор нельзя обосновать только названием метода. Существенны corpus, vocabulary, dimension, реализация и качество в целевой задаче.</a:t>
            </a:r>
          </a:p>
          <a:p xmlns:a="http://schemas.openxmlformats.org/drawingml/2006/main">
            <a:r>
              <a:t/>
            </a:r>
          </a:p>
          <a:p xmlns:a="http://schemas.openxmlformats.org/drawingml/2006/main">
            <a:r>
              <a:t>Источник: https://arxiv.org/abs/1301.3781</a:t>
            </a:r>
          </a:p>
          <a:p xmlns:a="http://schemas.openxmlformats.org/drawingml/2006/main">
            <a:r>
              <a:t>Источник: https://nlp.stanford.edu/projects/glove/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36. fastText: subword information</a:t>
            </a:r>
          </a:p>
          <a:p xmlns:a="http://schemas.openxmlformats.org/drawingml/2006/main">
            <a:r>
              <a:t/>
            </a:r>
          </a:p>
          <a:p xmlns:a="http://schemas.openxmlformats.org/drawingml/2006/main">
            <a:r>
              <a:t>fastText строит word representation с использованием character n-grams. Слова с общими фрагментами могут разделять часть параметров, что помогает связывать редкие формы с более частыми. На схеме курса показано составление representation из частей слова. Это отличается от subword tokenization в BERT: здесь фрагменты участвуют в построении word vector, а не обязательно становятся отдельными входными позициями.</a:t>
            </a:r>
          </a:p>
          <a:p xmlns:a="http://schemas.openxmlformats.org/drawingml/2006/main">
            <a:r>
              <a:t/>
            </a:r>
          </a:p>
          <a:p xmlns:a="http://schemas.openxmlformats.org/drawingml/2006/main">
            <a:r>
              <a:t>Источник: https://fasttext.cc/docs/en/unsupervised-tutorial.html</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https://lena-voita.github.io/resources/lectures/word_emb/research/fasttext-min.png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37. fastText и OOV</a:t>
            </a:r>
          </a:p>
          <a:p xmlns:a="http://schemas.openxmlformats.org/drawingml/2006/main">
            <a:r>
              <a:t/>
            </a:r>
          </a:p>
          <a:p xmlns:a="http://schemas.openxmlformats.org/drawingml/2006/main">
            <a:r>
              <a:t>Representation нового слова</a:t>
            </a:r>
          </a:p>
          <a:p xmlns:a="http://schemas.openxmlformats.org/drawingml/2006/main">
            <a:r>
              <a:t>Полная fastText model может построить vector для слова, отсутствовавшего в vocabulary целых слов, используя параметры его character n-grams. Это полезно для новых словоформ и некоторых опечаток. Возможность вычислить vector не означает, что модель знает значение слова: результат зависит от знакомых фрагментов и обучающего corpus.</a:t>
            </a:r>
          </a:p>
          <a:p xmlns:a="http://schemas.openxmlformats.org/drawingml/2006/main">
            <a:r>
              <a:t/>
            </a:r>
          </a:p>
          <a:p xmlns:a="http://schemas.openxmlformats.org/drawingml/2006/main">
            <a:r>
              <a:t>Формат модели</a:t>
            </a:r>
          </a:p>
          <a:p xmlns:a="http://schemas.openxmlformats.org/drawingml/2006/main">
            <a:r>
              <a:t>Текстовый файл с готовыми vectors для перечисленных слов обычно не сохраняет все subword parameters. Поэтому простая выгрузка word vectors и полная fastText model дают разные возможности для OOV. При выборе файла проверяют, требуется ли только lookup известных слов или вычисление representations для новых записей.</a:t>
            </a:r>
          </a:p>
          <a:p xmlns:a="http://schemas.openxmlformats.org/drawingml/2006/main">
            <a:r>
              <a:t/>
            </a:r>
          </a:p>
          <a:p xmlns:a="http://schemas.openxmlformats.org/drawingml/2006/main">
            <a:r>
              <a:t>Источник: https://fasttext.cc/docs/en/unsupervised-tutorial.html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38. Subword information: примеры</a:t>
            </a:r>
          </a:p>
          <a:p xmlns:a="http://schemas.openxmlformats.org/drawingml/2006/main">
            <a:r>
              <a:t/>
            </a:r>
          </a:p>
          <a:p xmlns:a="http://schemas.openxmlformats.org/drawingml/2006/main">
            <a:r>
              <a:t>Character n-grams связывают слова по записи. Это полезный сигнал, но совпадение написания не является доказательством одинакового значения.</a:t>
            </a:r>
          </a:p>
          <a:p xmlns:a="http://schemas.openxmlformats.org/drawingml/2006/main">
            <a:r>
              <a:t/>
            </a:r>
          </a:p>
          <a:p xmlns:a="http://schemas.openxmlformats.org/drawingml/2006/main">
            <a:r>
              <a:t>Случай | Что может помочь | Ограничение</a:t>
            </a:r>
          </a:p>
          <a:p xmlns:a="http://schemas.openxmlformats.org/drawingml/2006/main">
            <a:r>
              <a:t>«книга» / «книги» | Общие фрагменты словоформ | Нужные различия могут сохраниться</a:t>
            </a:r>
          </a:p>
          <a:p xmlns:a="http://schemas.openxmlformats.org/drawingml/2006/main">
            <a:r>
              <a:t>Опечатка в длинном слове | Часть фрагментов остаётся | Сильное искажение меняет vector</a:t>
            </a:r>
          </a:p>
          <a:p xmlns:a="http://schemas.openxmlformats.org/drawingml/2006/main">
            <a:r>
              <a:t>Новая терминология | Representation по частям | Значение может быть неизвестно</a:t>
            </a:r>
          </a:p>
          <a:p xmlns:a="http://schemas.openxmlformats.org/drawingml/2006/main">
            <a:r>
              <a:t/>
            </a:r>
          </a:p>
          <a:p xmlns:a="http://schemas.openxmlformats.org/drawingml/2006/main">
            <a:r>
              <a:t>Для русского текста сравнивают пользу character information с другими решениями на одних данных, а не считают её универсальным исправлением OOV.</a:t>
            </a:r>
          </a:p>
          <a:p xmlns:a="http://schemas.openxmlformats.org/drawingml/2006/main">
            <a:r>
              <a:t/>
            </a:r>
          </a:p>
          <a:p xmlns:a="http://schemas.openxmlformats.org/drawingml/2006/main">
            <a:r>
              <a:t>Источник: https://fasttext.cc/docs/en/unsupervised-tutorial.html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39. Word2Vec, GloVe и fastText</a:t>
            </a:r>
          </a:p>
          <a:p xmlns:a="http://schemas.openxmlformats.org/drawingml/2006/main">
            <a:r>
              <a:t/>
            </a:r>
          </a:p>
          <a:p xmlns:a="http://schemas.openxmlformats.org/drawingml/2006/main">
            <a:r>
              <a:t>Все три семейства относятся к static representations, если итоговый word vector не меняется от предложения к предложению.</a:t>
            </a:r>
          </a:p>
          <a:p xmlns:a="http://schemas.openxmlformats.org/drawingml/2006/main">
            <a:r>
              <a:t/>
            </a:r>
          </a:p>
          <a:p xmlns:a="http://schemas.openxmlformats.org/drawingml/2006/main">
            <a:r>
              <a:t>Метод | Основной сигнал | Работа с новой записью</a:t>
            </a:r>
          </a:p>
          <a:p xmlns:a="http://schemas.openxmlformats.org/drawingml/2006/main">
            <a:r>
              <a:t>Word2Vec | Предсказание контекстов | Обычно lookup / OOV policy</a:t>
            </a:r>
          </a:p>
          <a:p xmlns:a="http://schemas.openxmlformats.org/drawingml/2006/main">
            <a:r>
              <a:t>GloVe | Global co-occurrence | Обычно lookup / OOV policy</a:t>
            </a:r>
          </a:p>
          <a:p xmlns:a="http://schemas.openxmlformats.org/drawingml/2006/main">
            <a:r>
              <a:t>fastText | Контексты и character n-grams | Возможен subword composition</a:t>
            </a:r>
          </a:p>
          <a:p xmlns:a="http://schemas.openxmlformats.org/drawingml/2006/main">
            <a:r>
              <a:t/>
            </a:r>
          </a:p>
          <a:p xmlns:a="http://schemas.openxmlformats.org/drawingml/2006/main">
            <a:r>
              <a:t>Во всех случаях применение зависит от corpus и формата сохранённой модели. Static representation не различает отдельные значения слова по текущему контексту.</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https://nlp.stanford.edu/projects/glove/</a:t>
            </a:r>
          </a:p>
          <a:p xmlns:a="http://schemas.openxmlformats.org/drawingml/2006/main">
            <a:r>
              <a:t>Источник: https://fasttext.cc/docs/en/unsupervised-tutorial.html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40. Static embeddings и polysemy</a:t>
            </a:r>
          </a:p>
          <a:p xmlns:a="http://schemas.openxmlformats.org/drawingml/2006/main">
            <a:r>
              <a:t/>
            </a:r>
          </a:p>
          <a:p xmlns:a="http://schemas.openxmlformats.org/drawingml/2006/main">
            <a:r>
              <a:t>Один vector для разных употреблений</a:t>
            </a:r>
          </a:p>
          <a:p xmlns:a="http://schemas.openxmlformats.org/drawingml/2006/main">
            <a:r>
              <a:t>В static lookup слово bank получает одинаковый vector в предложениях о кредите и о берегу реки. Все наблюдавшиеся значения объединяются в одном representation. Если corpus содержит одно значение значительно чаще, оно может сильнее влиять на ближайших соседей. Это ограничение связано с единицей representation, а не только с размером vector.</a:t>
            </a:r>
          </a:p>
          <a:p xmlns:a="http://schemas.openxmlformats.org/drawingml/2006/main">
            <a:r>
              <a:t/>
            </a:r>
          </a:p>
          <a:p xmlns:a="http://schemas.openxmlformats.org/drawingml/2006/main">
            <a:r>
              <a:t>Значение контекста для задачи</a:t>
            </a:r>
          </a:p>
          <a:p xmlns:a="http://schemas.openxmlformats.org/drawingml/2006/main">
            <a:r>
              <a:t>Для некоторых задач усреднённой информации о слове достаточно: контекст может обрабатывать следующая модель. Но для точного сравнения употреблений нужны representations, которые меняются вместе с окружением. Этот переход приводит к contextual embeddings. Перед ним полезно разобраться, как вообще получить один vector для целого документа.</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https://lena-voita.github.io/nlp_course/transfer_learning.html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41. Sentence и document representations</a:t>
            </a:r>
          </a:p>
          <a:p xmlns:a="http://schemas.openxmlformats.org/drawingml/2006/main">
            <a:r>
              <a:t/>
            </a:r>
          </a:p>
          <a:p xmlns:a="http://schemas.openxmlformats.org/drawingml/2006/main">
            <a:r>
              <a:t>Один объект — один vector</a:t>
            </a:r>
          </a:p>
          <a:p xmlns:a="http://schemas.openxmlformats.org/drawingml/2006/main">
            <a:r>
              <a:t>При classification или retrieval часто требуется vector фиксированной длины для текста переменной длины. Он должен сохранять информацию, полезную для сравнения или предсказания class label. Это можно получить из lexical features, через объединение word vectors или с помощью модели, обученной представлять целые тексты.</a:t>
            </a:r>
          </a:p>
          <a:p xmlns:a="http://schemas.openxmlformats.org/drawingml/2006/main">
            <a:r>
              <a:t/>
            </a:r>
          </a:p>
          <a:p xmlns:a="http://schemas.openxmlformats.org/drawingml/2006/main">
            <a:r>
              <a:t>Выбор единицы текста</a:t>
            </a:r>
          </a:p>
          <a:p xmlns:a="http://schemas.openxmlformats.org/drawingml/2006/main">
            <a:r>
              <a:t>Sentence, passage и document различаются объёмом и структурой. Один длинный документ может содержать несколько тем, поэтому единый vector способен смешивать разные смысловые части. Иногда полезнее представлять отдельные passages и хранить связь с исходным документом. Решение зависит от того, что именно должна возвращать система.</a:t>
            </a:r>
          </a:p>
          <a:p xmlns:a="http://schemas.openxmlformats.org/drawingml/2006/main">
            <a:r>
              <a:t/>
            </a:r>
          </a:p>
          <a:p xmlns:a="http://schemas.openxmlformats.org/drawingml/2006/main">
            <a:r>
              <a:t>Источник: https://proceedings.mlr.press/v32/le14.html</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42. Bag of Embeddings</a:t>
            </a:r>
          </a:p>
          <a:p xmlns:a="http://schemas.openxmlformats.org/drawingml/2006/main">
            <a:r>
              <a:t/>
            </a:r>
          </a:p>
          <a:p xmlns:a="http://schemas.openxmlformats.org/drawingml/2006/main">
            <a:r>
              <a:t>Bag of Embeddings объединяет word vectors, например усредняет их по тексту. Размер результата не зависит от количества слов. Weighted variant меняет вклад отдельных элементов; на схеме показаны оба подхода. Такое representation просто получить, но оно не учитывает порядок слов само по себе. Если два текста содержат одинаковый набор vectors с одинаковыми весами, результат будет одинаковым.</a:t>
            </a:r>
          </a:p>
          <a:p xmlns:a="http://schemas.openxmlformats.org/drawingml/2006/main">
            <a:r>
              <a:t/>
            </a:r>
          </a:p>
          <a:p xmlns:a="http://schemas.openxmlformats.org/drawingml/2006/main">
            <a:r>
              <a:t>Источник: https://lena-voita.github.io/nlp_course/text_classification.html</a:t>
            </a:r>
          </a:p>
          <a:p xmlns:a="http://schemas.openxmlformats.org/drawingml/2006/main">
            <a:r>
              <a:t>Источник иллюстрации: https://lena-voita.github.io/nlp_course/text_classification.html</a:t>
            </a:r>
          </a:p>
          <a:p xmlns:a="http://schemas.openxmlformats.org/drawingml/2006/main">
            <a:r>
              <a:t>Файл иллюстрации: https://lena-voita.github.io/resources/lectures/text_clf/neural/bow_tfidf-min.png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43. Weighted pooling</a:t>
            </a:r>
          </a:p>
          <a:p xmlns:a="http://schemas.openxmlformats.org/drawingml/2006/main">
            <a:r>
              <a:t/>
            </a:r>
          </a:p>
          <a:p xmlns:a="http://schemas.openxmlformats.org/drawingml/2006/main">
            <a:r>
              <a:t>Вклад отдельных слов</a:t>
            </a:r>
          </a:p>
          <a:p xmlns:a="http://schemas.openxmlformats.org/drawingml/2006/main">
            <a:r>
              <a:t>При weighted pooling одни word vectors влияют на итоговое representation сильнее других. Веса могут задаваться статистикой corpus, например IDF, или обучаться для задачи. Это позволяет уменьшить вклад общего фона и выделить более характерные элементы. Правило выбора весов является частью метода и должно быть зафиксировано.</a:t>
            </a:r>
          </a:p>
          <a:p xmlns:a="http://schemas.openxmlformats.org/drawingml/2006/main">
            <a:r>
              <a:t/>
            </a:r>
          </a:p>
          <a:p xmlns:a="http://schemas.openxmlformats.org/drawingml/2006/main">
            <a:r>
              <a:t>Ограничения объединения</a:t>
            </a:r>
          </a:p>
          <a:p xmlns:a="http://schemas.openxmlformats.org/drawingml/2006/main">
            <a:r>
              <a:t>Weighting не восстанавливает информацию, которую исходные vectors не содержат. Если static embedding объединяет несколько значений слова, одних весов может быть недостаточно для их разделения. Необходимо также определить обработку OOV, пустого текста и normalization результата. Все эти решения проверяют вместе, поскольку они влияют на similarity scores.</a:t>
            </a:r>
          </a:p>
          <a:p xmlns:a="http://schemas.openxmlformats.org/drawingml/2006/main">
            <a:r>
              <a:t/>
            </a:r>
          </a:p>
          <a:p xmlns:a="http://schemas.openxmlformats.org/drawingml/2006/main">
            <a:r>
              <a:t>Источник: https://lena-voita.github.io/nlp_course/text_classification.html</a:t>
            </a:r>
          </a:p>
          <a:p xmlns:a="http://schemas.openxmlformats.org/drawingml/2006/main">
            <a:r>
              <a:t>Источник: https://sbert.net/docs/sentence_transformer/usage/semantic_textual_similarity.html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44. Потери при простом averaging</a:t>
            </a:r>
          </a:p>
          <a:p xmlns:a="http://schemas.openxmlformats.org/drawingml/2006/main">
            <a:r>
              <a:t/>
            </a:r>
          </a:p>
          <a:p xmlns:a="http://schemas.openxmlformats.org/drawingml/2006/main">
            <a:r>
              <a:t>Пример показывает ограничение representation, которое использует одинаковые word vectors и не учитывает порядок.</a:t>
            </a:r>
          </a:p>
          <a:p xmlns:a="http://schemas.openxmlformats.org/drawingml/2006/main">
            <a:r>
              <a:t/>
            </a:r>
          </a:p>
          <a:p xmlns:a="http://schemas.openxmlformats.org/drawingml/2006/main">
            <a:r>
              <a:t>Текст A | Текст B | Что различается</a:t>
            </a:r>
          </a:p>
          <a:p xmlns:a="http://schemas.openxmlformats.org/drawingml/2006/main">
            <a:r>
              <a:t>«Собака укусила человека» | «Человек укусил собаку» | Роли участников</a:t>
            </a:r>
          </a:p>
          <a:p xmlns:a="http://schemas.openxmlformats.org/drawingml/2006/main">
            <a:r>
              <a:t>«Товар хороший, сервис плохой» | «Товар плохой, сервис хороший» | Объект оценки</a:t>
            </a:r>
          </a:p>
          <a:p xmlns:a="http://schemas.openxmlformats.org/drawingml/2006/main">
            <a:r>
              <a:t/>
            </a:r>
          </a:p>
          <a:p xmlns:a="http://schemas.openxmlformats.org/drawingml/2006/main">
            <a:r>
              <a:t>После приведения словоформ к общим единицам наборы элементов могут совпасть. Простое averaging не различит порядок и связи, если они не закодированы на предыдущем этапе.</a:t>
            </a:r>
          </a:p>
          <a:p xmlns:a="http://schemas.openxmlformats.org/drawingml/2006/main">
            <a:r>
              <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45. TF-IDF для документов</a:t>
            </a:r>
          </a:p>
          <a:p xmlns:a="http://schemas.openxmlformats.org/drawingml/2006/main">
            <a:r>
              <a:t/>
            </a:r>
          </a:p>
          <a:p xmlns:a="http://schemas.openxmlformats.org/drawingml/2006/main">
            <a:r>
              <a:t>Lexical baseline</a:t>
            </a:r>
          </a:p>
          <a:p xmlns:a="http://schemas.openxmlformats.org/drawingml/2006/main">
            <a:r>
              <a:t>TF-IDF описывает документ через vocabulary corpus. Разные документы могут сравниваться по пересечению взвешенных terms или использоваться как вход classifier. Character и word n-grams расширяют набор наблюдаемых lexical patterns. В отличие от усреднения pretrained vectors, здесь представление непосредственно связано с выбранными единицами текста.</a:t>
            </a:r>
          </a:p>
          <a:p xmlns:a="http://schemas.openxmlformats.org/drawingml/2006/main">
            <a:r>
              <a:t/>
            </a:r>
          </a:p>
          <a:p xmlns:a="http://schemas.openxmlformats.org/drawingml/2006/main">
            <a:r>
              <a:t>Сильные и слабые стороны</a:t>
            </a:r>
          </a:p>
          <a:p xmlns:a="http://schemas.openxmlformats.org/drawingml/2006/main">
            <a:r>
              <a:t>Подход сохраняет точные названия, идентификаторы и редкие сочетания, если они входят в vocabulary. Но одинаковый смысл без общих features может остаться незамеченным. Поэтому TF-IDF полезен и как самостоятельное решение, и как контроль при оценке embeddings. Сравнение должно учитывать качество, время обработки и объём хранения.</a:t>
            </a:r>
          </a:p>
          <a:p xmlns:a="http://schemas.openxmlformats.org/drawingml/2006/main">
            <a:r>
              <a:t/>
            </a:r>
          </a:p>
          <a:p xmlns:a="http://schemas.openxmlformats.org/drawingml/2006/main">
            <a:r>
              <a:t>Источник: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46. Latent Semantic Analysis</a:t>
            </a:r>
          </a:p>
          <a:p xmlns:a="http://schemas.openxmlformats.org/drawingml/2006/main">
            <a:r>
              <a:t/>
            </a:r>
          </a:p>
          <a:p xmlns:a="http://schemas.openxmlformats.org/drawingml/2006/main">
            <a:r>
              <a:t>LSA строит компактное representation на основе term–document matrix. На схеме показаны TF-IDF weights, которыми можно заполнить исходную матрицу. Затем dimensionality reduction объединяет закономерности совместного употребления слов. Документы получают координаты в новом пространстве общих направлений. Важно различать исходные lexical features и результат этого преобразования; детали matrix factorization здесь не рассматриваются.</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https://lena-voita.github.io/resources/lectures/word_emb/preneural/lsa-min.png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47. doc2vec / Paragraph Vector</a:t>
            </a:r>
          </a:p>
          <a:p xmlns:a="http://schemas.openxmlformats.org/drawingml/2006/main">
            <a:r>
              <a:t/>
            </a:r>
          </a:p>
          <a:p xmlns:a="http://schemas.openxmlformats.org/drawingml/2006/main">
            <a:r>
              <a:t>Representation документа при обучении</a:t>
            </a:r>
          </a:p>
          <a:p xmlns:a="http://schemas.openxmlformats.org/drawingml/2006/main">
            <a:r>
              <a:t>doc2vec дополняет обучение слов представлением документа или paragraph. Document ID используется для выбора обучаемого vector, который помогает предсказывать слова. Тем самым модель учится сохранять информацию, полезную для описания данного текста. ID не является готовым смысловым признаком: значение получают параметры vector, связанные с этим ID.</a:t>
            </a:r>
          </a:p>
          <a:p xmlns:a="http://schemas.openxmlformats.org/drawingml/2006/main">
            <a:r>
              <a:t/>
            </a:r>
          </a:p>
          <a:p xmlns:a="http://schemas.openxmlformats.org/drawingml/2006/main">
            <a:r>
              <a:t>Семейство методов</a:t>
            </a:r>
          </a:p>
          <a:p xmlns:a="http://schemas.openxmlformats.org/drawingml/2006/main">
            <a:r>
              <a:t>В оригинальной работе рассматриваются PV-DM и PV-DBOW. Они различаются тем, как document vector участвует в предсказании слов и используется ли локальный контекст. Название doc2vec обычно обозначает это семейство, а не один универсальный способ получения sentence embeddings. Отдельно необходимо определить обработку новых документов.</a:t>
            </a:r>
          </a:p>
          <a:p xmlns:a="http://schemas.openxmlformats.org/drawingml/2006/main">
            <a:r>
              <a:t/>
            </a:r>
          </a:p>
          <a:p xmlns:a="http://schemas.openxmlformats.org/drawingml/2006/main">
            <a:r>
              <a:t>Источник: https://proceedings.mlr.press/v32/le14.html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48. PV-DM</a:t>
            </a:r>
          </a:p>
          <a:p xmlns:a="http://schemas.openxmlformats.org/drawingml/2006/main">
            <a:r>
              <a:t/>
            </a:r>
          </a:p>
          <a:p xmlns:a="http://schemas.openxmlformats.org/drawingml/2006/main">
            <a:r>
              <a:t>Distributed Memory model использует document vector вместе с контекстом слов. Таблица передаёт смысл компонентов без архитектурных деталей.</a:t>
            </a:r>
          </a:p>
          <a:p xmlns:a="http://schemas.openxmlformats.org/drawingml/2006/main">
            <a:r>
              <a:t/>
            </a:r>
          </a:p>
          <a:p xmlns:a="http://schemas.openxmlformats.org/drawingml/2006/main">
            <a:r>
              <a:t>Компонент | Роль в предсказании</a:t>
            </a:r>
          </a:p>
          <a:p xmlns:a="http://schemas.openxmlformats.org/drawingml/2006/main">
            <a:r>
              <a:t>Document ID | Выбирает обучаемый document vector</a:t>
            </a:r>
          </a:p>
          <a:p xmlns:a="http://schemas.openxmlformats.org/drawingml/2006/main">
            <a:r>
              <a:t>Context words | Дают локальное окружение позиции</a:t>
            </a:r>
          </a:p>
          <a:p xmlns:a="http://schemas.openxmlformats.org/drawingml/2006/main">
            <a:r>
              <a:t>Target word | Задаёт обучающий ответ</a:t>
            </a:r>
          </a:p>
          <a:p xmlns:a="http://schemas.openxmlformats.org/drawingml/2006/main">
            <a:r>
              <a:t/>
            </a:r>
          </a:p>
          <a:p xmlns:a="http://schemas.openxmlformats.org/drawingml/2006/main">
            <a:r>
              <a:t>Document vector помогает объяснять содержание, которое не полностью задано коротким локальным контекстом. Он обучается совместно с остальными параметрами.</a:t>
            </a:r>
          </a:p>
          <a:p xmlns:a="http://schemas.openxmlformats.org/drawingml/2006/main">
            <a:r>
              <a:t/>
            </a:r>
          </a:p>
          <a:p xmlns:a="http://schemas.openxmlformats.org/drawingml/2006/main">
            <a:r>
              <a:t>Источник: https://proceedings.mlr.press/v32/le14.html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49. PV-DBOW</a:t>
            </a:r>
          </a:p>
          <a:p xmlns:a="http://schemas.openxmlformats.org/drawingml/2006/main">
            <a:r>
              <a:t/>
            </a:r>
          </a:p>
          <a:p xmlns:a="http://schemas.openxmlformats.org/drawingml/2006/main">
            <a:r>
              <a:t>Предсказание слов документа</a:t>
            </a:r>
          </a:p>
          <a:p xmlns:a="http://schemas.openxmlformats.org/drawingml/2006/main">
            <a:r>
              <a:t>Distributed Bag of Words model использует document vector для предсказания слов, встречающихся в документе. В этой постановке локальное окно соседних слов не является обязательным входом для получения данного сигнала. Представление обучается так, чтобы быть полезным для восстановления информации о содержании документа.</a:t>
            </a:r>
          </a:p>
          <a:p xmlns:a="http://schemas.openxmlformats.org/drawingml/2006/main">
            <a:r>
              <a:t/>
            </a:r>
          </a:p>
          <a:p xmlns:a="http://schemas.openxmlformats.org/drawingml/2006/main">
            <a:r>
              <a:t>Что метод сохраняет</a:t>
            </a:r>
          </a:p>
          <a:p xmlns:a="http://schemas.openxmlformats.org/drawingml/2006/main">
            <a:r>
              <a:t>Document vector может отражать тему и другие регулярности текста, но не обязан сохранять все факты и порядок высказываний. PV-DBOW и PV-DM оценивают по downstream quality, а не по сходству названий с Word2Vec. Результат зависит от corpus, длины документов, training settings и процедуры inference для новых текстов.</a:t>
            </a:r>
          </a:p>
          <a:p xmlns:a="http://schemas.openxmlformats.org/drawingml/2006/main">
            <a:r>
              <a:t/>
            </a:r>
          </a:p>
          <a:p xmlns:a="http://schemas.openxmlformats.org/drawingml/2006/main">
            <a:r>
              <a:t>Источник: https://proceedings.mlr.press/v32/le14.html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50. doc2vec: inference нового документа</a:t>
            </a:r>
          </a:p>
          <a:p xmlns:a="http://schemas.openxmlformats.org/drawingml/2006/main">
            <a:r>
              <a:t/>
            </a:r>
          </a:p>
          <a:p xmlns:a="http://schemas.openxmlformats.org/drawingml/2006/main">
            <a:r>
              <a:t>Новый ID не имеет обученного vector</a:t>
            </a:r>
          </a:p>
          <a:p xmlns:a="http://schemas.openxmlformats.org/drawingml/2006/main">
            <a:r>
              <a:t>В training corpus каждый document ID связан со своим vector. Для нового текста такого обученного элемента ещё нет. Классическая процедура inference фиксирует параметры модели и подбирает representation нового документа по его словам. Это отличается от простого lookup и от одного forward pass типичного sentence encoder.</a:t>
            </a:r>
          </a:p>
          <a:p xmlns:a="http://schemas.openxmlformats.org/drawingml/2006/main">
            <a:r>
              <a:t/>
            </a:r>
          </a:p>
          <a:p xmlns:a="http://schemas.openxmlformats.org/drawingml/2006/main">
            <a:r>
              <a:t>Практические последствия</a:t>
            </a:r>
          </a:p>
          <a:p xmlns:a="http://schemas.openxmlformats.org/drawingml/2006/main">
            <a:r>
              <a:t>Число шагов inference и другие настройки могут влиять на скорость и устойчивость результата. Их нужно фиксировать при сравнении документов. Сходство representations, полученных разными способами, не следует принимать как самоочевидное. В Gensim полезно различать сохранённые vectors training documents и representations, вычисленные для новых текстов.</a:t>
            </a:r>
          </a:p>
          <a:p xmlns:a="http://schemas.openxmlformats.org/drawingml/2006/main">
            <a:r>
              <a:t/>
            </a:r>
          </a:p>
          <a:p xmlns:a="http://schemas.openxmlformats.org/drawingml/2006/main">
            <a:r>
              <a:t>Источник: https://proceedings.mlr.press/v32/le14.html</a:t>
            </a:r>
          </a:p>
          <a:p xmlns:a="http://schemas.openxmlformats.org/drawingml/2006/main">
            <a:r>
              <a:t>Источник: https://radimrehurek.com/gensim/models/doc2vec.html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51. Document representations: сравнение</a:t>
            </a:r>
          </a:p>
          <a:p xmlns:a="http://schemas.openxmlformats.org/drawingml/2006/main">
            <a:r>
              <a:t/>
            </a:r>
          </a:p>
          <a:p xmlns:a="http://schemas.openxmlformats.org/drawingml/2006/main">
            <a:r>
              <a:t>Подходы различаются источником признаков и тем, что требуется для обработки нового текста.</a:t>
            </a:r>
          </a:p>
          <a:p xmlns:a="http://schemas.openxmlformats.org/drawingml/2006/main">
            <a:r>
              <a:t/>
            </a:r>
          </a:p>
          <a:p xmlns:a="http://schemas.openxmlformats.org/drawingml/2006/main">
            <a:r>
              <a:t>Подход | Representation | Новый текст</a:t>
            </a:r>
          </a:p>
          <a:p xmlns:a="http://schemas.openxmlformats.org/drawingml/2006/main">
            <a:r>
              <a:t>TF-IDF | Веса lexical features | Transform по train vocabulary</a:t>
            </a:r>
          </a:p>
          <a:p xmlns:a="http://schemas.openxmlformats.org/drawingml/2006/main">
            <a:r>
              <a:t>Word-vector pooling | Объединение word vectors | Lookup и pooling</a:t>
            </a:r>
          </a:p>
          <a:p xmlns:a="http://schemas.openxmlformats.org/drawingml/2006/main">
            <a:r>
              <a:t>doc2vec | Обученный document vector | Отдельная inference procedure</a:t>
            </a:r>
          </a:p>
          <a:p xmlns:a="http://schemas.openxmlformats.org/drawingml/2006/main">
            <a:r>
              <a:t>Sentence encoder | Vector целого текста | Forward pass модели</a:t>
            </a:r>
          </a:p>
          <a:p xmlns:a="http://schemas.openxmlformats.org/drawingml/2006/main">
            <a:r>
              <a:t/>
            </a:r>
          </a:p>
          <a:p xmlns:a="http://schemas.openxmlformats.org/drawingml/2006/main">
            <a:r>
              <a:t>Сравнение проводят на одной задаче и с одинаковым доступом к данным. При оценке учитывают не только размер vector, но и качество и стоимость его получения.</a:t>
            </a:r>
          </a:p>
          <a:p xmlns:a="http://schemas.openxmlformats.org/drawingml/2006/main">
            <a:r>
              <a:t/>
            </a:r>
          </a:p>
          <a:p xmlns:a="http://schemas.openxmlformats.org/drawingml/2006/main">
            <a:r>
              <a:t>Источник: https://scikit-learn.org/stable/modules/feature_extraction.html</a:t>
            </a:r>
          </a:p>
          <a:p xmlns:a="http://schemas.openxmlformats.org/drawingml/2006/main">
            <a:r>
              <a:t>Источник: https://proceedings.mlr.press/v32/le14.html</a:t>
            </a:r>
          </a:p>
          <a:p xmlns:a="http://schemas.openxmlformats.org/drawingml/2006/main">
            <a:r>
              <a:t>Источник: https://aclanthology.org/D19-1410/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52. Intrinsic evaluation</a:t>
            </a:r>
          </a:p>
          <a:p xmlns:a="http://schemas.openxmlformats.org/drawingml/2006/main">
            <a:r>
              <a:t/>
            </a:r>
          </a:p>
          <a:p xmlns:a="http://schemas.openxmlformats.org/drawingml/2006/main">
            <a:r>
              <a:t>Intrinsic evaluation оценивает свойства representations через отдельную проверочную задачу: например, сходство слов или analogies. Она удобна для анализа пространства и сравнений на заранее определённом benchmark. Однако результат зависит от устройства benchmark и не всегда предсказывает качество конкретного приложения. Высокий score здесь не заменяет проверку retrieval или classification.</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https://lena-voita.github.io/resources/lectures/word_emb/intrinsic_evaluation-min.png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53. Extrinsic evaluation</a:t>
            </a:r>
          </a:p>
          <a:p xmlns:a="http://schemas.openxmlformats.org/drawingml/2006/main">
            <a:r>
              <a:t/>
            </a:r>
          </a:p>
          <a:p xmlns:a="http://schemas.openxmlformats.org/drawingml/2006/main">
            <a:r>
              <a:t>Extrinsic evaluation проверяет, помогают ли representations решать downstream task. Например, embeddings используются как вход classifier, после чего оценивается качество его ответов. Сравнение требует одинаковых данных и согласованной процедуры обучения. Иначе изменение результата может объясняться другим classifier, дополнительным corpus или настройками, а не самими representations.</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https://lena-voita.github.io/resources/lectures/word_emb/extrinsic_evaluation-min.png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54. Evaluation representations</a:t>
            </a:r>
          </a:p>
          <a:p xmlns:a="http://schemas.openxmlformats.org/drawingml/2006/main">
            <a:r>
              <a:t/>
            </a:r>
          </a:p>
          <a:p xmlns:a="http://schemas.openxmlformats.org/drawingml/2006/main">
            <a:r>
              <a:t>Сопоставимые условия</a:t>
            </a:r>
          </a:p>
          <a:p xmlns:a="http://schemas.openxmlformats.org/drawingml/2006/main">
            <a:r>
              <a:t>Фиксируют train/dev/test split, labels, preprocessing и критерии качества. При сравнении static embeddings проверяют coverage; при сравнении sentence encoders — truncation и способы encoding. Если меняются сразу representation, classifier и training data, отдельный эффект embeddings определить трудно. Полезно изменять компоненты последовательно.</a:t>
            </a:r>
          </a:p>
          <a:p xmlns:a="http://schemas.openxmlformats.org/drawingml/2006/main">
            <a:r>
              <a:t/>
            </a:r>
          </a:p>
          <a:p xmlns:a="http://schemas.openxmlformats.org/drawingml/2006/main">
            <a:r>
              <a:t>Качество и затраты</a:t>
            </a:r>
          </a:p>
          <a:p xmlns:a="http://schemas.openxmlformats.org/drawingml/2006/main">
            <a:r>
              <a:t>Помимо итоговой metric учитывают время получения vectors, объём памяти и скорость поиска. На редких терминах, длинных документах и разных языках качество может различаться. Анализ по группам примеров дополняет средний score. Независимый test используют после выбора конфигурации; многочисленные попытки подбора по test искажают итоговую оценку.</a:t>
            </a:r>
          </a:p>
          <a:p xmlns:a="http://schemas.openxmlformats.org/drawingml/2006/main">
            <a:r>
              <a:t/>
            </a:r>
          </a:p>
          <a:p xmlns:a="http://schemas.openxmlformats.org/drawingml/2006/main">
            <a:r>
              <a:t>Источник: https://sbert.net/docs/sentence_transformer/usage/semantic_textual_similarity.html</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55. Corpus и semantic change</a:t>
            </a:r>
          </a:p>
          <a:p xmlns:a="http://schemas.openxmlformats.org/drawingml/2006/main">
            <a:r>
              <a:t/>
            </a:r>
          </a:p>
          <a:p xmlns:a="http://schemas.openxmlformats.org/drawingml/2006/main">
            <a:r>
              <a:t>Значения и контексты слов меняются со временем. На примере из курса показана идея анализа таких изменений через representations, обученные на разных периодах. Прямое сравнение координат требует согласования пространств; различие соседей также может зависеть от объёма и состава данных. Для прикладной системы это означает необходимость проверять embeddings на актуальном языке и терминологии.</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иллюстрации: https://lena-voita.github.io/nlp_course/word_embeddings.html</a:t>
            </a:r>
          </a:p>
          <a:p xmlns:a="http://schemas.openxmlformats.org/drawingml/2006/main">
            <a:r>
              <a:t>Файл иллюстрации: https://lena-voita.github.io/resources/lectures/word_emb/research/semantic_change-min.png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56. Static и contextual embeddings</a:t>
            </a:r>
          </a:p>
          <a:p xmlns:a="http://schemas.openxmlformats.org/drawingml/2006/main">
            <a:r>
              <a:t/>
            </a:r>
          </a:p>
          <a:p xmlns:a="http://schemas.openxmlformats.org/drawingml/2006/main">
            <a:r>
              <a:t>Ключевое различие — зависит ли representation конкретного token от окружающего текста при применении модели.</a:t>
            </a:r>
          </a:p>
          <a:p xmlns:a="http://schemas.openxmlformats.org/drawingml/2006/main">
            <a:r>
              <a:t/>
            </a:r>
          </a:p>
          <a:p xmlns:a="http://schemas.openxmlformats.org/drawingml/2006/main">
            <a:r>
              <a:t>Свойство | Static | Contextual</a:t>
            </a:r>
          </a:p>
          <a:p xmlns:a="http://schemas.openxmlformats.org/drawingml/2006/main">
            <a:r>
              <a:t>Единица lookup | Слово из vocabulary | Употребление в последовательности</a:t>
            </a:r>
          </a:p>
          <a:p xmlns:a="http://schemas.openxmlformats.org/drawingml/2006/main">
            <a:r>
              <a:t>Одна запись в разных фразах | Один word vector | Разные hidden states</a:t>
            </a:r>
          </a:p>
          <a:p xmlns:a="http://schemas.openxmlformats.org/drawingml/2006/main">
            <a:r>
              <a:t>Примеры | Word2Vec, GloVe, fastText | ELMo, BERT</a:t>
            </a:r>
          </a:p>
          <a:p xmlns:a="http://schemas.openxmlformats.org/drawingml/2006/main">
            <a:r>
              <a:t/>
            </a:r>
          </a:p>
          <a:p xmlns:a="http://schemas.openxmlformats.org/drawingml/2006/main">
            <a:r>
              <a:t>Contextual representation не гарантирует правильную интерпретацию каждого случая, но позволяет модели учитывать окружение непосредственно при вычислении vector.</a:t>
            </a:r>
          </a:p>
          <a:p xmlns:a="http://schemas.openxmlformats.org/drawingml/2006/main">
            <a:r>
              <a:t/>
            </a:r>
          </a:p>
          <a:p xmlns:a="http://schemas.openxmlformats.org/drawingml/2006/main">
            <a:r>
              <a:t>Источник: https://lena-voita.github.io/nlp_course/transfer_learning.html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57. Context: пример слова bank</a:t>
            </a:r>
          </a:p>
          <a:p xmlns:a="http://schemas.openxmlformats.org/drawingml/2006/main">
            <a:r>
              <a:t/>
            </a:r>
          </a:p>
          <a:p xmlns:a="http://schemas.openxmlformats.org/drawingml/2006/main">
            <a:r>
              <a:t>Одинаковая запись употребляется в разных контекстах. Пример иллюстрирует задачу различения значений, а не измеренный результат конкретной модели.</a:t>
            </a:r>
          </a:p>
          <a:p xmlns:a="http://schemas.openxmlformats.org/drawingml/2006/main">
            <a:r>
              <a:t/>
            </a:r>
          </a:p>
          <a:p xmlns:a="http://schemas.openxmlformats.org/drawingml/2006/main">
            <a:r>
              <a:t>Контекст | Употребление bank | Что требуется от representation</a:t>
            </a:r>
          </a:p>
          <a:p xmlns:a="http://schemas.openxmlformats.org/drawingml/2006/main">
            <a:r>
              <a:t>The bank approved a loan. | Финансовая организация | Учесть approved и loan</a:t>
            </a:r>
          </a:p>
          <a:p xmlns:a="http://schemas.openxmlformats.org/drawingml/2006/main">
            <a:r>
              <a:t>They sat on the river bank. | Берег реки | Учесть river и sat</a:t>
            </a:r>
          </a:p>
          <a:p xmlns:a="http://schemas.openxmlformats.org/drawingml/2006/main">
            <a:r>
              <a:t/>
            </a:r>
          </a:p>
          <a:p xmlns:a="http://schemas.openxmlformats.org/drawingml/2006/main">
            <a:r>
              <a:t>Static lookup возвращает одинаковый word vector. Contextual encoder может вычислить разные representations для этих двух вхождений.</a:t>
            </a:r>
          </a:p>
          <a:p xmlns:a="http://schemas.openxmlformats.org/drawingml/2006/main">
            <a:r>
              <a:t/>
            </a:r>
          </a:p>
          <a:p xmlns:a="http://schemas.openxmlformats.org/drawingml/2006/main">
            <a:r>
              <a:t>Источник: https://lena-voita.github.io/nlp_course/transfer_learning.html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58. Words-in-context</a:t>
            </a:r>
          </a:p>
          <a:p xmlns:a="http://schemas.openxmlformats.org/drawingml/2006/main">
            <a:r>
              <a:t/>
            </a:r>
          </a:p>
          <a:p xmlns:a="http://schemas.openxmlformats.org/drawingml/2006/main">
            <a:r>
              <a:t>Contextual model получает всю доступную последовательность и строит representation для каждой её позиции. Входные token embeddings ещё могут быть одинаковыми для одной записи, но последующие hidden states учитывают окружение. На схеме курса этот переход отделён от простого word lookup. В результате объектом анализа становится употребление слова, а не только его тип в vocabulary.</a:t>
            </a:r>
          </a:p>
          <a:p xmlns:a="http://schemas.openxmlformats.org/drawingml/2006/main">
            <a:r>
              <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https://lena-voita.github.io/resources/lectures/transfer/words_to_context-min.png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59. ELMo</a:t>
            </a:r>
          </a:p>
          <a:p xmlns:a="http://schemas.openxmlformats.org/drawingml/2006/main">
            <a:r>
              <a:t/>
            </a:r>
          </a:p>
          <a:p xmlns:a="http://schemas.openxmlformats.org/drawingml/2006/main">
            <a:r>
              <a:t>ELMo получает contextual representations из pretrained language models. Forward и backward направления используют контекст с разных сторон, а входные representations учитывают character information. Обучающий сигнал извлекается из текста без ручной разметки downstream labels. Для понимания метода важно различать pretrained language modeling и дальнейшее использование полученных representations в другой задаче.</a:t>
            </a:r>
          </a:p>
          <a:p xmlns:a="http://schemas.openxmlformats.org/drawingml/2006/main">
            <a:r>
              <a:t/>
            </a:r>
          </a:p>
          <a:p xmlns:a="http://schemas.openxmlformats.org/drawingml/2006/main">
            <a:r>
              <a:t>Источник: https://aclanthology.org/N18-1202/</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https://lena-voita.github.io/resources/lectures/transfer/elmo/training-min.png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60. ELMo: representations разных слоёв</a:t>
            </a:r>
          </a:p>
          <a:p xmlns:a="http://schemas.openxmlformats.org/drawingml/2006/main">
            <a:r>
              <a:t/>
            </a:r>
          </a:p>
          <a:p xmlns:a="http://schemas.openxmlformats.org/drawingml/2006/main">
            <a:r>
              <a:t>Разные слои ELMo содержат разные representations одного token. Для downstream task их можно объединять с обучаемыми весами. Схема показывает сбор информации из нескольких уровней, а не выбор единственного word vector из словаря. Такой подход сохраняет зависимость от текущего контекста и позволяет адаптировать использование pretrained features к конкретной задаче.</a:t>
            </a:r>
          </a:p>
          <a:p xmlns:a="http://schemas.openxmlformats.org/drawingml/2006/main">
            <a:r>
              <a:t/>
            </a:r>
          </a:p>
          <a:p xmlns:a="http://schemas.openxmlformats.org/drawingml/2006/main">
            <a:r>
              <a:t>Источник: https://aclanthology.org/N18-1202/</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https://lena-voita.github.io/resources/lectures/transfer/elmo/gather_layers-min.png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61. ELMo в downstream task</a:t>
            </a:r>
          </a:p>
          <a:p xmlns:a="http://schemas.openxmlformats.org/drawingml/2006/main">
            <a:r>
              <a:t/>
            </a:r>
          </a:p>
          <a:p xmlns:a="http://schemas.openxmlformats.org/drawingml/2006/main">
            <a:r>
              <a:t>Pretrained ELMo вычисляет contextual features, которые передаются модели конкретной задачи. Например, classifier или sequence labeling model использует их вместо отдельных static word vectors либо вместе с ними. На схеме различаются pretraining и task-specific обучение. Переносится способ представления языка; downstream model всё ещё должна научиться связывать эти features с нужными labels.</a:t>
            </a:r>
          </a:p>
          <a:p xmlns:a="http://schemas.openxmlformats.org/drawingml/2006/main">
            <a:r>
              <a:t/>
            </a:r>
          </a:p>
          <a:p xmlns:a="http://schemas.openxmlformats.org/drawingml/2006/main">
            <a:r>
              <a:t>Источник: https://aclanthology.org/N18-1202/</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https://lena-voita.github.io/resources/lectures/transfer/elmo/transfer_scheme-min.png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62. BERT</a:t>
            </a:r>
          </a:p>
          <a:p xmlns:a="http://schemas.openxmlformats.org/drawingml/2006/main">
            <a:r>
              <a:t/>
            </a:r>
          </a:p>
          <a:p xmlns:a="http://schemas.openxmlformats.org/drawingml/2006/main">
            <a:r>
              <a:t>BERT использует Transformer encoder для вычисления representations с учётом контекста с обеих сторон. Одна pretrained model затем может адаптироваться к разным downstream tasks. Это отличается от идеи переносить только таблицу static word embeddings. В этом блоке достаточно понимать данный принцип; устройство attention и архитектурные детали рассматриваются далее в курсе.</a:t>
            </a:r>
          </a:p>
          <a:p xmlns:a="http://schemas.openxmlformats.org/drawingml/2006/main">
            <a:r>
              <a:t/>
            </a:r>
          </a:p>
          <a:p xmlns:a="http://schemas.openxmlformats.org/drawingml/2006/main">
            <a:r>
              <a:t>Источник: https://aclanthology.org/N19-1423/</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https://lena-voita.github.io/resources/lectures/transfer/bert/intro-min.png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63. Masked Language Modeling</a:t>
            </a:r>
          </a:p>
          <a:p xmlns:a="http://schemas.openxmlformats.org/drawingml/2006/main">
            <a:r>
              <a:t/>
            </a:r>
          </a:p>
          <a:p xmlns:a="http://schemas.openxmlformats.org/drawingml/2006/main">
            <a:r>
              <a:t>В Masked Language Modeling часть tokens скрывается или изменяется, а модель учится восстанавливать исходные элементы по контексту. Так формируется обучающий сигнал для representations. Схема иллюстрирует задачу pretraining, а не необходимость скрывать слова при обычном encoding документа. Для получения embeddings новый текст, как правило, подаётся с обычными правилами tokenizer без случайного masking.</a:t>
            </a:r>
          </a:p>
          <a:p xmlns:a="http://schemas.openxmlformats.org/drawingml/2006/main">
            <a:r>
              <a:t/>
            </a:r>
          </a:p>
          <a:p xmlns:a="http://schemas.openxmlformats.org/drawingml/2006/main">
            <a:r>
              <a:t>Источник: https://aclanthology.org/N19-1423/</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https://lena-voita.github.io/resources/lectures/transfer/bert/mlm7-min.png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64. Tokenizer и вход BERT</a:t>
            </a:r>
          </a:p>
          <a:p xmlns:a="http://schemas.openxmlformats.org/drawingml/2006/main">
            <a:r>
              <a:t/>
            </a:r>
          </a:p>
          <a:p xmlns:a="http://schemas.openxmlformats.org/drawingml/2006/main">
            <a:r>
              <a:t>Tokenizer переводит текст в token IDs и добавляет специальные элементы, предусмотренные моделью. В оригинальном BERT используются WordPiece и tokens вроде CLS и SEP. Одно слово может занимать несколько позиций. Поэтому vector отдельного token не всегда является representation целого слова. Tokenizer, vocabulary и pretrained weights должны соответствовать друг другу.</a:t>
            </a:r>
          </a:p>
          <a:p xmlns:a="http://schemas.openxmlformats.org/drawingml/2006/main">
            <a:r>
              <a:t/>
            </a:r>
          </a:p>
          <a:p xmlns:a="http://schemas.openxmlformats.org/drawingml/2006/main">
            <a:r>
              <a:t>Источник: https://aclanthology.org/N19-1423/</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https://lena-voita.github.io/resources/lectures/transfer/bert/input_text-min.png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65. Hidden states и pooling</a:t>
            </a:r>
          </a:p>
          <a:p xmlns:a="http://schemas.openxmlformats.org/drawingml/2006/main">
            <a:r>
              <a:t/>
            </a:r>
          </a:p>
          <a:p xmlns:a="http://schemas.openxmlformats.org/drawingml/2006/main">
            <a:r>
              <a:t>Token-level выход</a:t>
            </a:r>
          </a:p>
          <a:p xmlns:a="http://schemas.openxmlformats.org/drawingml/2006/main">
            <a:r>
              <a:t>Encoder возвращает hidden states для позиций входной последовательности. Они отражают текущий контекст и могут использоваться в sequence labeling или других задачах на уровне tokens. Длина последовательности и embedding dimension — разные оси результата. При работе со словами, разбитыми на несколько subwords, требуется определить правило объединения позиций.</a:t>
            </a:r>
          </a:p>
          <a:p xmlns:a="http://schemas.openxmlformats.org/drawingml/2006/main">
            <a:r>
              <a:t/>
            </a:r>
          </a:p>
          <a:p xmlns:a="http://schemas.openxmlformats.org/drawingml/2006/main">
            <a:r>
              <a:t>Sentence-level выход</a:t>
            </a:r>
          </a:p>
          <a:p xmlns:a="http://schemas.openxmlformats.org/drawingml/2006/main">
            <a:r>
              <a:t>Чтобы получить один vector для текста, используют pooling или специально обученный output. Возможны mean pooling, CLS representation и другие варианты. Выбор должен соответствовать training recipe модели. Нельзя считать любой vector первого token универсальным representation предложения: полезность определяется обучением и evaluation на нужной задаче.</a:t>
            </a:r>
          </a:p>
          <a:p xmlns:a="http://schemas.openxmlformats.org/drawingml/2006/main">
            <a:r>
              <a:t/>
            </a:r>
          </a:p>
          <a:p xmlns:a="http://schemas.openxmlformats.org/drawingml/2006/main">
            <a:r>
              <a:t>Источник: https://aclanthology.org/N19-1423/</a:t>
            </a:r>
          </a:p>
          <a:p xmlns:a="http://schemas.openxmlformats.org/drawingml/2006/main">
            <a:r>
              <a:t>Источник: https://aclanthology.org/D19-1410/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66. BERT и sentence embeddings</a:t>
            </a:r>
          </a:p>
          <a:p xmlns:a="http://schemas.openxmlformats.org/drawingml/2006/main">
            <a:r>
              <a:t/>
            </a:r>
          </a:p>
          <a:p xmlns:a="http://schemas.openxmlformats.org/drawingml/2006/main">
            <a:r>
              <a:t>Pretraining не задаёт готовую similarity metric</a:t>
            </a:r>
          </a:p>
          <a:p xmlns:a="http://schemas.openxmlformats.org/drawingml/2006/main">
            <a:r>
              <a:t>BERT обучается прежде всего строить representations, полезные для pretraining objectives и последующей адаптации. Это не означает, что cosine similarity между любыми pooled outputs сразу хорошо измеряет близость предложений. Устройство пространства зависит от обучения; representation для token prediction и representation для semantic retrieval требуют разных проверок.</a:t>
            </a:r>
          </a:p>
          <a:p xmlns:a="http://schemas.openxmlformats.org/drawingml/2006/main">
            <a:r>
              <a:t/>
            </a:r>
          </a:p>
          <a:p xmlns:a="http://schemas.openxmlformats.org/drawingml/2006/main">
            <a:r>
              <a:t>Специализированный sentence encoder</a:t>
            </a:r>
          </a:p>
          <a:p xmlns:a="http://schemas.openxmlformats.org/drawingml/2006/main">
            <a:r>
              <a:t>Sentence embedding model дополнительно обучают сопоставлять целые тексты. Обычно для этого используются пары, relevance labels, similarity data или contrastive objectives. Поэтому сравнение «TF-IDF против BERT» слишком неопределённо: необходимо указать checkpoint, pooling, normalization, способ адаптации и downstream evaluation.</a:t>
            </a:r>
          </a:p>
          <a:p xmlns:a="http://schemas.openxmlformats.org/drawingml/2006/main">
            <a:r>
              <a:t/>
            </a:r>
          </a:p>
          <a:p xmlns:a="http://schemas.openxmlformats.org/drawingml/2006/main">
            <a:r>
              <a:t>Источник: https://aclanthology.org/D19-1410/</a:t>
            </a:r>
          </a:p>
          <a:p xmlns:a="http://schemas.openxmlformats.org/drawingml/2006/main">
            <a:r>
              <a:t>Источник: https://sbert.net/docs/sentence_transformer/usage/semantic_textual_similarity.html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67. Pretraining и downstream adaptation</a:t>
            </a:r>
          </a:p>
          <a:p xmlns:a="http://schemas.openxmlformats.org/drawingml/2006/main">
            <a:r>
              <a:t/>
            </a:r>
          </a:p>
          <a:p xmlns:a="http://schemas.openxmlformats.org/drawingml/2006/main">
            <a:r>
              <a:t>Transfer learning использует параметры, полученные на source task или corpus, при решении target task. Pretraining формирует общие representations; дальнейшее обучение может адаптировать их к новым labels или домену. На схеме показан перенос знаний между задачами. Польза такого переноса зависит от совместимости данных и того, какую информацию сохранила pretrained model.</a:t>
            </a:r>
          </a:p>
          <a:p xmlns:a="http://schemas.openxmlformats.org/drawingml/2006/main">
            <a:r>
              <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https://lena-voita.github.io/resources/lectures/transfer/intro/idea-min.png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68. Feature extraction и fine-tuning</a:t>
            </a:r>
          </a:p>
          <a:p xmlns:a="http://schemas.openxmlformats.org/drawingml/2006/main">
            <a:r>
              <a:t/>
            </a:r>
          </a:p>
          <a:p xmlns:a="http://schemas.openxmlformats.org/drawingml/2006/main">
            <a:r>
              <a:t>Frozen encoder</a:t>
            </a:r>
          </a:p>
          <a:p xmlns:a="http://schemas.openxmlformats.org/drawingml/2006/main">
            <a:r>
              <a:t>При feature extraction pretrained encoder фиксируют и используют для вычисления representations. Затем обучают небольшой classifier или применяют similarity search. Это упрощает эксперимент и позволяет заранее сохранить vectors. Однако encoder не адаптируется к особенностям целевой задачи; качество ограничено исходным representation и выбранным pooling.</a:t>
            </a:r>
          </a:p>
          <a:p xmlns:a="http://schemas.openxmlformats.org/drawingml/2006/main">
            <a:r>
              <a:t/>
            </a:r>
          </a:p>
          <a:p xmlns:a="http://schemas.openxmlformats.org/drawingml/2006/main">
            <a:r>
              <a:t>Fine-tuning</a:t>
            </a:r>
          </a:p>
          <a:p xmlns:a="http://schemas.openxmlformats.org/drawingml/2006/main">
            <a:r>
              <a:t>При fine-tuning часть или все параметры модели изменяются по целевым данным. Это может улучшить качество, но требует корректного split и осторожного подбора training settings. После изменения encoder ранее сохранённые vectors обычно нужно пересчитать. Сравнение frozen и fine-tuned вариантов должно учитывать стоимость обучения и риск overfitting.</a:t>
            </a:r>
          </a:p>
          <a:p xmlns:a="http://schemas.openxmlformats.org/drawingml/2006/main">
            <a:r>
              <a:t/>
            </a:r>
          </a:p>
          <a:p xmlns:a="http://schemas.openxmlformats.org/drawingml/2006/main">
            <a:r>
              <a:t>Источник: https://lena-voita.github.io/nlp_course/transfer_learning.html</a:t>
            </a:r>
          </a:p>
          <a:p xmlns:a="http://schemas.openxmlformats.org/drawingml/2006/main">
            <a:r>
              <a:t>Источник: https://aclanthology.org/N19-1423/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69. Backbone и task head</a:t>
            </a:r>
          </a:p>
          <a:p xmlns:a="http://schemas.openxmlformats.org/drawingml/2006/main">
            <a:r>
              <a:t/>
            </a:r>
          </a:p>
          <a:p xmlns:a="http://schemas.openxmlformats.org/drawingml/2006/main">
            <a:r>
              <a:t>Pretrained backbone строит contextual representations. Task head преобразует их в ответ конкретной задачи, например class probabilities. На схеме курса показан вариант BERT для sentence classification. При переносе между задачами backbone можно использовать повторно, а head выбирается под новый формат ответа. Его выход не следует путать с embedding: score класса и representation текста выполняют разные функции.</a:t>
            </a:r>
          </a:p>
          <a:p xmlns:a="http://schemas.openxmlformats.org/drawingml/2006/main">
            <a:r>
              <a:t/>
            </a:r>
          </a:p>
          <a:p xmlns:a="http://schemas.openxmlformats.org/drawingml/2006/main">
            <a:r>
              <a:t>Источник: https://aclanthology.org/N19-1423/</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https://lena-voita.github.io/resources/lectures/transfer/bert/single_sentence_clf-min.png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70. Domain adaptation</a:t>
            </a:r>
          </a:p>
          <a:p xmlns:a="http://schemas.openxmlformats.org/drawingml/2006/main">
            <a:r>
              <a:t/>
            </a:r>
          </a:p>
          <a:p xmlns:a="http://schemas.openxmlformats.org/drawingml/2006/main">
            <a:r>
              <a:t>Несоответствие данных</a:t>
            </a:r>
          </a:p>
          <a:p xmlns:a="http://schemas.openxmlformats.org/drawingml/2006/main">
            <a:r>
              <a:t>Model может быть обучена на новостях или Wikipedia, а применяться к юридическим документам, переписке или описаниям товаров. Меняются vocabulary, жанр и распределение смыслов. Поэтому высокий benchmark score на общей задаче не гарантирует подходящего representation в новом домене. Важны реальные тексты и характерные поисковые запросы.</a:t>
            </a:r>
          </a:p>
          <a:p xmlns:a="http://schemas.openxmlformats.org/drawingml/2006/main">
            <a:r>
              <a:t/>
            </a:r>
          </a:p>
          <a:p xmlns:a="http://schemas.openxmlformats.org/drawingml/2006/main">
            <a:r>
              <a:t>Выбор адаптации</a:t>
            </a:r>
          </a:p>
          <a:p xmlns:a="http://schemas.openxmlformats.org/drawingml/2006/main">
            <a:r>
              <a:t>Сначала проверяют pretrained baseline и анализируют ошибки. Затем рассматривают дополнительное обучение на доменных текстах или на размеченных парах нужной задачи. Эти варианты используют разный сигнал и могут давать разные результаты. Evaluation должна показывать, улучшилось ли целевое поведение, а не только насколько модель приспособилась к training corpus.</a:t>
            </a:r>
          </a:p>
          <a:p xmlns:a="http://schemas.openxmlformats.org/drawingml/2006/main">
            <a:r>
              <a:t/>
            </a:r>
          </a:p>
          <a:p xmlns:a="http://schemas.openxmlformats.org/drawingml/2006/main">
            <a:r>
              <a:t>Источник: https://lena-voita.github.io/nlp_course/transfer_learning.html</a:t>
            </a:r>
          </a:p>
          <a:p xmlns:a="http://schemas.openxmlformats.org/drawingml/2006/main">
            <a:r>
              <a:t>Источник: https://aclanthology.org/D19-1410/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71. Sentence-BERT и Siamese architecture</a:t>
            </a:r>
          </a:p>
          <a:p xmlns:a="http://schemas.openxmlformats.org/drawingml/2006/main">
            <a:r>
              <a:t/>
            </a:r>
          </a:p>
          <a:p xmlns:a="http://schemas.openxmlformats.org/drawingml/2006/main">
            <a:r>
              <a:t>Sentence-BERT обучает representations целых предложений с помощью общей encoder architecture для разных текстов. Shared weights означают, что сравниваемые тексты обрабатываются согласованным способом. Полученные vectors можно сохранять и повторно использовать. Это отличается от обработки каждой пары совместной моделью, где representation одного текста зависит от конкретного второго текста.</a:t>
            </a:r>
          </a:p>
          <a:p xmlns:a="http://schemas.openxmlformats.org/drawingml/2006/main">
            <a:r>
              <a:t/>
            </a:r>
          </a:p>
          <a:p xmlns:a="http://schemas.openxmlformats.org/drawingml/2006/main">
            <a:r>
              <a:t>Источник: https://aclanthology.org/D19-1410/</a:t>
            </a:r>
          </a:p>
          <a:p xmlns:a="http://schemas.openxmlformats.org/drawingml/2006/main">
            <a:r>
              <a:t>Источник иллюстрации: https://sbert.net/examples/sentence_transformer/applications/retrieve_rerank/README.html</a:t>
            </a:r>
          </a:p>
          <a:p xmlns:a="http://schemas.openxmlformats.org/drawingml/2006/main">
            <a:r>
              <a:t>Файл иллюстрации: https://raw.githubusercontent.com/huggingface/sentence-transformers/main/docs/img/SBERT_Siamese_Network.png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72. Обучающие пары для sentence embeddings</a:t>
            </a:r>
          </a:p>
          <a:p xmlns:a="http://schemas.openxmlformats.org/drawingml/2006/main">
            <a:r>
              <a:t/>
            </a:r>
          </a:p>
          <a:p xmlns:a="http://schemas.openxmlformats.org/drawingml/2006/main">
            <a:r>
              <a:t>Учебные примеры показывают требуемое отношение между текстами. Конкретная loss function может использовать пары, labels или группы candidates.</a:t>
            </a:r>
          </a:p>
          <a:p xmlns:a="http://schemas.openxmlformats.org/drawingml/2006/main">
            <a:r>
              <a:t/>
            </a:r>
          </a:p>
          <a:p xmlns:a="http://schemas.openxmlformats.org/drawingml/2006/main">
            <a:r>
              <a:t>Текст / query | Связанный текст | Обучающий сигнал</a:t>
            </a:r>
          </a:p>
          <a:p xmlns:a="http://schemas.openxmlformats.org/drawingml/2006/main">
            <a:r>
              <a:t>«Как вернуть заказ?» | «Инструкция по возврату товара» | Positive pair</a:t>
            </a:r>
          </a:p>
          <a:p xmlns:a="http://schemas.openxmlformats.org/drawingml/2006/main">
            <a:r>
              <a:t>«Как вернуть заказ?» | «Условия рассрочки» | Negative pair</a:t>
            </a:r>
          </a:p>
          <a:p xmlns:a="http://schemas.openxmlformats.org/drawingml/2006/main">
            <a:r>
              <a:t>«Отмена подписки» | «Как отключить автопродление» | Positive pair</a:t>
            </a:r>
          </a:p>
          <a:p xmlns:a="http://schemas.openxmlformats.org/drawingml/2006/main">
            <a:r>
              <a:t/>
            </a:r>
          </a:p>
          <a:p xmlns:a="http://schemas.openxmlformats.org/drawingml/2006/main">
            <a:r>
              <a:t>Negatives должны отражать реальные сложности задачи. Слишком простые negatives не учат различать близкие по теме, но нерелевантные ответы.</a:t>
            </a:r>
          </a:p>
          <a:p xmlns:a="http://schemas.openxmlformats.org/drawingml/2006/main">
            <a:r>
              <a:t/>
            </a:r>
          </a:p>
          <a:p xmlns:a="http://schemas.openxmlformats.org/drawingml/2006/main">
            <a:r>
              <a:t>Источник: https://aclanthology.org/D19-1410/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73. Pooling для sentence representation</a:t>
            </a:r>
          </a:p>
          <a:p xmlns:a="http://schemas.openxmlformats.org/drawingml/2006/main">
            <a:r>
              <a:t/>
            </a:r>
          </a:p>
          <a:p xmlns:a="http://schemas.openxmlformats.org/drawingml/2006/main">
            <a:r>
              <a:t>Pooling превращает набор token representations в один vector. Выбранная операция должна соответствовать обучению модели.</a:t>
            </a:r>
          </a:p>
          <a:p xmlns:a="http://schemas.openxmlformats.org/drawingml/2006/main">
            <a:r>
              <a:t/>
            </a:r>
          </a:p>
          <a:p xmlns:a="http://schemas.openxmlformats.org/drawingml/2006/main">
            <a:r>
              <a:t>Способ | Принцип | Условие применения</a:t>
            </a:r>
          </a:p>
          <a:p xmlns:a="http://schemas.openxmlformats.org/drawingml/2006/main">
            <a:r>
              <a:t>Mean pooling | Усреднение нужных позиций | Padding исключается по mask</a:t>
            </a:r>
          </a:p>
          <a:p xmlns:a="http://schemas.openxmlformats.org/drawingml/2006/main">
            <a:r>
              <a:t>CLS pooling | Использование специальной позиции | Модель обучена использовать её</a:t>
            </a:r>
          </a:p>
          <a:p xmlns:a="http://schemas.openxmlformats.org/drawingml/2006/main">
            <a:r>
              <a:t>Learned pooling | Обучаемое объединение | Нужны соответствующие weights</a:t>
            </a:r>
          </a:p>
          <a:p xmlns:a="http://schemas.openxmlformats.org/drawingml/2006/main">
            <a:r>
              <a:t/>
            </a:r>
          </a:p>
          <a:p xmlns:a="http://schemas.openxmlformats.org/drawingml/2006/main">
            <a:r>
              <a:t>Произвольная смена pooling может ухудшить embeddings. Одинаковая размерность результата не делает разные способы взаимозаменяемыми.</a:t>
            </a:r>
          </a:p>
          <a:p xmlns:a="http://schemas.openxmlformats.org/drawingml/2006/main">
            <a:r>
              <a:t/>
            </a:r>
          </a:p>
          <a:p xmlns:a="http://schemas.openxmlformats.org/drawingml/2006/main">
            <a:r>
              <a:t>Источник: https://aclanthology.org/D19-1410/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74. Encoding нового текста</a:t>
            </a:r>
          </a:p>
          <a:p xmlns:a="http://schemas.openxmlformats.org/drawingml/2006/main">
            <a:r>
              <a:t/>
            </a:r>
          </a:p>
          <a:p xmlns:a="http://schemas.openxmlformats.org/drawingml/2006/main">
            <a:r>
              <a:t>Согласованные этапы</a:t>
            </a:r>
          </a:p>
          <a:p xmlns:a="http://schemas.openxmlformats.org/drawingml/2006/main">
            <a:r>
              <a:t>Encoder получает tokens, attention mask и другие входы, предусмотренные моделью. Затем вычисляются hidden states, pooling и, если необходимо, normalization. В типичном sentence encoder один forward pass возвращает vector фиксированной длины. Внешний API может скрывать эти этапы, но их настройки продолжают влиять на результат.</a:t>
            </a:r>
          </a:p>
          <a:p xmlns:a="http://schemas.openxmlformats.org/drawingml/2006/main">
            <a:r>
              <a:t/>
            </a:r>
          </a:p>
          <a:p xmlns:a="http://schemas.openxmlformats.org/drawingml/2006/main">
            <a:r>
              <a:t>Что фиксируется вместе с vector</a:t>
            </a:r>
          </a:p>
          <a:p xmlns:a="http://schemas.openxmlformats.org/drawingml/2006/main">
            <a:r>
              <a:t>Для воспроизводимости сохраняют model identifier, revision, tokenizer, pooling, max length и normalization. При asymmetric retrieval дополнительно фиксируют query/document mode или prompt. Batch size обычно относится к организации вычислений, но truncation меняет сам доступный текст. Векторы без сведений об их происхождении трудно безопасно переиспользовать.</a:t>
            </a:r>
          </a:p>
          <a:p xmlns:a="http://schemas.openxmlformats.org/drawingml/2006/main">
            <a:r>
              <a:t/>
            </a:r>
          </a:p>
          <a:p xmlns:a="http://schemas.openxmlformats.org/drawingml/2006/main">
            <a:r>
              <a:t>Источник: https://sbert.net/docs/sentence_transformer/usage/semantic_textual_similarity.html</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75. Similarity score и решение</a:t>
            </a:r>
          </a:p>
          <a:p xmlns:a="http://schemas.openxmlformats.org/drawingml/2006/main">
            <a:r>
              <a:t/>
            </a:r>
          </a:p>
          <a:p xmlns:a="http://schemas.openxmlformats.org/drawingml/2006/main">
            <a:r>
              <a:t>Score зависит от пространства</a:t>
            </a:r>
          </a:p>
          <a:p xmlns:a="http://schemas.openxmlformats.org/drawingml/2006/main">
            <a:r>
              <a:t>Similarity function сравнивает vectors, но её значение не является универсальной шкалой смысла. Одни модели используют cosine similarity, другие обучаются для dot product или иной меры. Normalization может менять связь между этими способами сравнения. Поэтому similarity function выбирается по документации конкретного checkpoint и проверяется на данных задачи.</a:t>
            </a:r>
          </a:p>
          <a:p xmlns:a="http://schemas.openxmlformats.org/drawingml/2006/main">
            <a:r>
              <a:t/>
            </a:r>
          </a:p>
          <a:p xmlns:a="http://schemas.openxmlformats.org/drawingml/2006/main">
            <a:r>
              <a:t>Threshold и ranking</a:t>
            </a:r>
          </a:p>
          <a:p xmlns:a="http://schemas.openxmlformats.org/drawingml/2006/main">
            <a:r>
              <a:t>Ranking выбирает наиболее подходящие candidates относительно друг друга. Threshold дополнительно решает, достаточно ли высок score для принятия результата. Порог нельзя переносить между моделями без проверки. Для случаев без релевантного документа нужны отдельные примеры: наличие nearest neighbor не означает, что система нашла правильный ответ.</a:t>
            </a:r>
          </a:p>
          <a:p xmlns:a="http://schemas.openxmlformats.org/drawingml/2006/main">
            <a:r>
              <a:t/>
            </a:r>
          </a:p>
          <a:p xmlns:a="http://schemas.openxmlformats.org/drawingml/2006/main">
            <a:r>
              <a:t>Источник: https://sbert.net/docs/sentence_transformer/usage/semantic_textual_similarity.html</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76. Bi-encoder retrieval</a:t>
            </a:r>
          </a:p>
          <a:p xmlns:a="http://schemas.openxmlformats.org/drawingml/2006/main">
            <a:r>
              <a:t/>
            </a:r>
          </a:p>
          <a:p xmlns:a="http://schemas.openxmlformats.org/drawingml/2006/main">
            <a:r>
              <a:t>Bi-encoder вычисляет representation query и representation document раздельно. Document vectors можно подготовить заранее и хранить в index. Для нового query вычисляется один vector, который сравнивается с candidates. На схеме query и documents находятся в общем embedding space. Независимый encoding делает retrieval эффективным, но ограничивает взаимодействие между query и document сравнением готовых vectors.</a:t>
            </a:r>
          </a:p>
          <a:p xmlns:a="http://schemas.openxmlformats.org/drawingml/2006/main">
            <a:r>
              <a:t/>
            </a:r>
          </a:p>
          <a:p xmlns:a="http://schemas.openxmlformats.org/drawingml/2006/main">
            <a:r>
              <a:t>Источник: https://sbert.net/examples/sentence_transformer/applications/semantic-search/README.html</a:t>
            </a:r>
          </a:p>
          <a:p xmlns:a="http://schemas.openxmlformats.org/drawingml/2006/main">
            <a:r>
              <a:t>Источник: https://aclanthology.org/D19-1410/</a:t>
            </a:r>
          </a:p>
          <a:p xmlns:a="http://schemas.openxmlformats.org/drawingml/2006/main">
            <a:r>
              <a:t>Источник иллюстрации: https://sbert.net/examples/sentence_transformer/applications/retrieve_rerank/README.html</a:t>
            </a:r>
          </a:p>
          <a:p xmlns:a="http://schemas.openxmlformats.org/drawingml/2006/main">
            <a:r>
              <a:t>Файл иллюстрации: https://raw.githubusercontent.com/huggingface/sentence-transformers/main/docs/img/SemanticSearch.png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77. Retrieval pipeline</a:t>
            </a:r>
          </a:p>
          <a:p xmlns:a="http://schemas.openxmlformats.org/drawingml/2006/main">
            <a:r>
              <a:t/>
            </a:r>
          </a:p>
          <a:p xmlns:a="http://schemas.openxmlformats.org/drawingml/2006/main">
            <a:r>
              <a:t>В большом corpus сначала получают небольшое множество candidates, затем при необходимости уточняют их порядок. На схеме Sentence Transformers retrieval и re-ranking представлены как разные этапы. Embedding model влияет на то, какие документы попадут в candidates. Если нужного документа нет на первом этапе, последующий re-ranker не сможет вернуть его без дополнительного поиска.</a:t>
            </a:r>
          </a:p>
          <a:p xmlns:a="http://schemas.openxmlformats.org/drawingml/2006/main">
            <a:r>
              <a:t/>
            </a:r>
          </a:p>
          <a:p xmlns:a="http://schemas.openxmlformats.org/drawingml/2006/main">
            <a:r>
              <a:t>Источник: https://sbert.net/examples/sentence_transformer/applications/retrieve_rerank/README.html</a:t>
            </a:r>
          </a:p>
          <a:p xmlns:a="http://schemas.openxmlformats.org/drawingml/2006/main">
            <a:r>
              <a:t>Источник иллюстрации: https://sbert.net/examples/sentence_transformer/applications/retrieve_rerank/README.html</a:t>
            </a:r>
          </a:p>
          <a:p xmlns:a="http://schemas.openxmlformats.org/drawingml/2006/main">
            <a:r>
              <a:t>Файл иллюстрации: https://raw.githubusercontent.com/huggingface/sentence-transformers/main/docs/img/InformationRetrieval.png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78. Symmetric и asymmetric search</a:t>
            </a:r>
          </a:p>
          <a:p xmlns:a="http://schemas.openxmlformats.org/drawingml/2006/main">
            <a:r>
              <a:t/>
            </a:r>
          </a:p>
          <a:p xmlns:a="http://schemas.openxmlformats.org/drawingml/2006/main">
            <a:r>
              <a:t>Разные роли текстов</a:t>
            </a:r>
          </a:p>
          <a:p xmlns:a="http://schemas.openxmlformats.org/drawingml/2006/main">
            <a:r>
              <a:t>При symmetric search сравниваются похожие по роли и длине объекты: например, две формулировки вопроса. При asymmetric search короткий query сопоставляется с более длинным passage, содержащим ответ. Требуемое отношение между ними не сводится к одинаковой формулировке: хороший ответ может содержать другие слова и иметь другую структуру.</a:t>
            </a:r>
          </a:p>
          <a:p xmlns:a="http://schemas.openxmlformats.org/drawingml/2006/main">
            <a:r>
              <a:t/>
            </a:r>
          </a:p>
          <a:p xmlns:a="http://schemas.openxmlformats.org/drawingml/2006/main">
            <a:r>
              <a:t>Query и document encoding</a:t>
            </a:r>
          </a:p>
          <a:p xmlns:a="http://schemas.openxmlformats.org/drawingml/2006/main">
            <a:r>
              <a:t>Некоторые модели используют разные instructions или специальные modes для query и document. Поэтому один и тот же универсальный вызов без нужного prompt может не соответствовать training recipe. Выбор encoder и способ encoding проверяют на характерных парах. Для multilingual search дополнительно оценивают сочетания языков query и документов.</a:t>
            </a:r>
          </a:p>
          <a:p xmlns:a="http://schemas.openxmlformats.org/drawingml/2006/main">
            <a:r>
              <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79. Chunking документов</a:t>
            </a:r>
          </a:p>
          <a:p xmlns:a="http://schemas.openxmlformats.org/drawingml/2006/main">
            <a:r>
              <a:t/>
            </a:r>
          </a:p>
          <a:p xmlns:a="http://schemas.openxmlformats.org/drawingml/2006/main">
            <a:r>
              <a:t>Единица retrieval</a:t>
            </a:r>
          </a:p>
          <a:p xmlns:a="http://schemas.openxmlformats.org/drawingml/2006/main">
            <a:r>
              <a:t>Длинный документ часто разделяют на passages или chunks. Слишком крупный фрагмент может смешивать несколько тем, слишком маленький — терять контекст. Границы желательно согласовывать со структурой: заголовками, абзацами, предложениями. Размер chunk определяется доступным контекстом модели и тем, какой объём материала нужен для ответа.</a:t>
            </a:r>
          </a:p>
          <a:p xmlns:a="http://schemas.openxmlformats.org/drawingml/2006/main">
            <a:r>
              <a:t/>
            </a:r>
          </a:p>
          <a:p xmlns:a="http://schemas.openxmlformats.org/drawingml/2006/main">
            <a:r>
              <a:t>Связь с источником</a:t>
            </a:r>
          </a:p>
          <a:p xmlns:a="http://schemas.openxmlformats.org/drawingml/2006/main">
            <a:r>
              <a:t>Для каждого chunk сохраняют document ID, положение в документе и полезные metadata. Это позволяет показать источник и восстановить соседние фрагменты. Overlap может помочь на границах, но создаёт близкие candidates и увеличивает объём index. Параметры chunking оценивают вместе с retrieval quality, а не выбирают только по числу tokens.</a:t>
            </a:r>
          </a:p>
          <a:p xmlns:a="http://schemas.openxmlformats.org/drawingml/2006/main">
            <a:r>
              <a:t/>
            </a:r>
          </a:p>
          <a:p xmlns:a="http://schemas.openxmlformats.org/drawingml/2006/main">
            <a:r>
              <a:t>Источник: https://sbert.net/examples/sentence_transformer/applications/semantic-search/README.html</a:t>
            </a:r>
          </a:p>
          <a:p xmlns:a="http://schemas.openxmlformats.org/drawingml/2006/main">
            <a:r>
              <a:t>Источник: 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80. Vector index и ANN</a:t>
            </a:r>
          </a:p>
          <a:p xmlns:a="http://schemas.openxmlformats.org/drawingml/2006/main">
            <a:r>
              <a:t/>
            </a:r>
          </a:p>
          <a:p xmlns:a="http://schemas.openxmlformats.org/drawingml/2006/main">
            <a:r>
              <a:t>Поиск по representations</a:t>
            </a:r>
          </a:p>
          <a:p xmlns:a="http://schemas.openxmlformats.org/drawingml/2006/main">
            <a:r>
              <a:t>При exact search query сравнивается со всеми candidate vectors. Для больших коллекций это может быть дорого. Approximate Nearest Neighbor search использует index, чтобы быстрее находить близкие элементы с возможной потерей части точных соседей. Скорость, память и полнота поиска образуют отдельный инженерный компромисс.</a:t>
            </a:r>
          </a:p>
          <a:p xmlns:a="http://schemas.openxmlformats.org/drawingml/2006/main">
            <a:r>
              <a:t/>
            </a:r>
          </a:p>
          <a:p xmlns:a="http://schemas.openxmlformats.org/drawingml/2006/main">
            <a:r>
              <a:t>Разделение источников ошибки</a:t>
            </a:r>
          </a:p>
          <a:p xmlns:a="http://schemas.openxmlformats.org/drawingml/2006/main">
            <a:r>
              <a:t>Плохой результат может быть вызван encoder, chunking, similarity function или approximation в index. Эти причины нужно различать. Сначала полезно проверить качество representations на небольшой коллекции с exact search, затем оценить потери при переходе к ANN. Обновление encoder обычно требует пересчёта corpus vectors и перестройки соответствующего index.</a:t>
            </a:r>
          </a:p>
          <a:p xmlns:a="http://schemas.openxmlformats.org/drawingml/2006/main">
            <a:r>
              <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81. Lexical, dense и hybrid retrieval</a:t>
            </a:r>
          </a:p>
          <a:p xmlns:a="http://schemas.openxmlformats.org/drawingml/2006/main">
            <a:r>
              <a:t/>
            </a:r>
          </a:p>
          <a:p xmlns:a="http://schemas.openxmlformats.org/drawingml/2006/main">
            <a:r>
              <a:t>Разные способы retrieval выделяют разные связи между query и документом. Hybrid approach сочетает несколько сигналов.</a:t>
            </a:r>
          </a:p>
          <a:p xmlns:a="http://schemas.openxmlformats.org/drawingml/2006/main">
            <a:r>
              <a:t/>
            </a:r>
          </a:p>
          <a:p xmlns:a="http://schemas.openxmlformats.org/drawingml/2006/main">
            <a:r>
              <a:t>Подход | Что хорошо сохраняет | Типичный риск</a:t>
            </a:r>
          </a:p>
          <a:p xmlns:a="http://schemas.openxmlformats.org/drawingml/2006/main">
            <a:r>
              <a:t>Lexical | Точные terms и identifiers | Нет совпадающих формулировок</a:t>
            </a:r>
          </a:p>
          <a:p xmlns:a="http://schemas.openxmlformats.org/drawingml/2006/main">
            <a:r>
              <a:t>Dense | Связи между разными выражениями | Потеря точных деталей</a:t>
            </a:r>
          </a:p>
          <a:p xmlns:a="http://schemas.openxmlformats.org/drawingml/2006/main">
            <a:r>
              <a:t>Hybrid | Несколько видов evidence | Нужна настройка объединения</a:t>
            </a:r>
          </a:p>
          <a:p xmlns:a="http://schemas.openxmlformats.org/drawingml/2006/main">
            <a:r>
              <a:t/>
            </a:r>
          </a:p>
          <a:p xmlns:a="http://schemas.openxmlformats.org/drawingml/2006/main">
            <a:r>
              <a:t>TF-IDF или BM25 могут быть полезны рядом с embeddings. Выбор и объединение candidates проверяют по relevance labels и эксплуатационным ограничениям.</a:t>
            </a:r>
          </a:p>
          <a:p xmlns:a="http://schemas.openxmlformats.org/drawingml/2006/main">
            <a:r>
              <a:t/>
            </a:r>
          </a:p>
          <a:p xmlns:a="http://schemas.openxmlformats.org/drawingml/2006/main">
            <a:r>
              <a:t>Источник: https://scikit-learn.org/stable/modules/feature_extraction.html</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82. Cross-encoder и re-ranking</a:t>
            </a:r>
          </a:p>
          <a:p xmlns:a="http://schemas.openxmlformats.org/drawingml/2006/main">
            <a:r>
              <a:t/>
            </a:r>
          </a:p>
          <a:p xmlns:a="http://schemas.openxmlformats.org/drawingml/2006/main">
            <a:r>
              <a:t>Cross-encoder получает query и document совместно и оценивает их связь с учётом взаимодействия между tokens. На схеме показана обработка пары текстов одним BERT; task head можно обучить предсказывать relevance. Выход используется как score пары, а не как независимо сохраняемый document embedding. Такая обработка дороже для большого числа пар, поэтому модель часто применяется к небольшому набору candidates после retrieval.</a:t>
            </a:r>
          </a:p>
          <a:p xmlns:a="http://schemas.openxmlformats.org/drawingml/2006/main">
            <a:r>
              <a:t/>
            </a:r>
          </a:p>
          <a:p xmlns:a="http://schemas.openxmlformats.org/drawingml/2006/main">
            <a:r>
              <a:t>Источник: https://sbert.net/examples/sentence_transformer/applications/retrieve_rerank/README.html</a:t>
            </a:r>
          </a:p>
          <a:p xmlns:a="http://schemas.openxmlformats.org/drawingml/2006/main">
            <a:r>
              <a:t>Источник: https://lena-voita.github.io/nlp_course/transfer_learning.html</a:t>
            </a:r>
          </a:p>
          <a:p xmlns:a="http://schemas.openxmlformats.org/drawingml/2006/main">
            <a:r>
              <a:t>Источник иллюстрации: https://lena-voita.github.io/nlp_course/transfer_learning.html</a:t>
            </a:r>
          </a:p>
          <a:p xmlns:a="http://schemas.openxmlformats.org/drawingml/2006/main">
            <a:r>
              <a:t>Файл иллюстрации: https://lena-voita.github.io/resources/lectures/transfer/bert/sentence_pair_clf-min.png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83. Retrieval evaluation</a:t>
            </a:r>
          </a:p>
          <a:p xmlns:a="http://schemas.openxmlformats.org/drawingml/2006/main">
            <a:r>
              <a:t/>
            </a:r>
          </a:p>
          <a:p xmlns:a="http://schemas.openxmlformats.org/drawingml/2006/main">
            <a:r>
              <a:t>Учебный пример: для query существуют два релевантных документа, A и B. Система вернула следующий top-3.</a:t>
            </a:r>
          </a:p>
          <a:p xmlns:a="http://schemas.openxmlformats.org/drawingml/2006/main">
            <a:r>
              <a:t/>
            </a:r>
          </a:p>
          <a:p xmlns:a="http://schemas.openxmlformats.org/drawingml/2006/main">
            <a:r>
              <a:t>Rank | Document | Relevance</a:t>
            </a:r>
          </a:p>
          <a:p xmlns:a="http://schemas.openxmlformats.org/drawingml/2006/main">
            <a:r>
              <a:t>1 | C | Нет</a:t>
            </a:r>
          </a:p>
          <a:p xmlns:a="http://schemas.openxmlformats.org/drawingml/2006/main">
            <a:r>
              <a:t>2 | A | Да</a:t>
            </a:r>
          </a:p>
          <a:p xmlns:a="http://schemas.openxmlformats.org/drawingml/2006/main">
            <a:r>
              <a:t>3 | D | Нет</a:t>
            </a:r>
          </a:p>
          <a:p xmlns:a="http://schemas.openxmlformats.org/drawingml/2006/main">
            <a:r>
              <a:t/>
            </a:r>
          </a:p>
          <a:p xmlns:a="http://schemas.openxmlformats.org/drawingml/2006/main">
            <a:r>
              <a:t>Recall@3 = 1/2: найден один из двух релевантных документов. Reciprocal Rank = 1/2: первый релевантный ответ стоит на втором месте. MRR — среднее Reciprocal Rank по всем queries.</a:t>
            </a:r>
          </a:p>
          <a:p xmlns:a="http://schemas.openxmlformats.org/drawingml/2006/main">
            <a:r>
              <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84. Embeddings в RAG</a:t>
            </a:r>
          </a:p>
          <a:p xmlns:a="http://schemas.openxmlformats.org/drawingml/2006/main">
            <a:r>
              <a:t/>
            </a:r>
          </a:p>
          <a:p xmlns:a="http://schemas.openxmlformats.org/drawingml/2006/main">
            <a:r>
              <a:t>В оригинальной схеме RAG retriever находит документы по representation query, а generator использует найденное содержание для ответа. Схема Lewis et al. показывает конкретную исследовательскую модель; современные системы могут организовывать обучение иначе. Общая роль embeddings остаётся прикладной: помочь получить релевантные внешние материалы. Сам vector не является ответом и не содержит проверяемой ссылки на факт.</a:t>
            </a:r>
          </a:p>
          <a:p xmlns:a="http://schemas.openxmlformats.org/drawingml/2006/main">
            <a:r>
              <a:t/>
            </a:r>
          </a:p>
          <a:p xmlns:a="http://schemas.openxmlformats.org/drawingml/2006/main">
            <a:r>
              <a:t>Источник: https://arxiv.org/abs/2005.11401</a:t>
            </a:r>
          </a:p>
          <a:p xmlns:a="http://schemas.openxmlformats.org/drawingml/2006/main">
            <a:r>
              <a:t>Источник иллюстрации: https://arxiv.org/abs/2005.11401</a:t>
            </a:r>
          </a:p>
          <a:p xmlns:a="http://schemas.openxmlformats.org/drawingml/2006/main">
            <a:r>
              <a:t>Файл иллюстрации: https://arxiv.org/pdf/2005.11401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85. Retrieval и grounded generation</a:t>
            </a:r>
          </a:p>
          <a:p xmlns:a="http://schemas.openxmlformats.org/drawingml/2006/main">
            <a:r>
              <a:t/>
            </a:r>
          </a:p>
          <a:p xmlns:a="http://schemas.openxmlformats.org/drawingml/2006/main">
            <a:r>
              <a:t>Качество evidence</a:t>
            </a:r>
          </a:p>
          <a:p xmlns:a="http://schemas.openxmlformats.org/drawingml/2006/main">
            <a:r>
              <a:t>Даже корректно работающий generator ограничен найденными материалами. Если retriever вернул устаревший или нерелевантный passage, ответ может оказаться неверным. Поэтому качество RAG оценивают по этапам: были ли найдены нужные документы, поддерживают ли они ответ и корректно ли использованы при generation. Один общий показатель может скрывать причину ошибки.</a:t>
            </a:r>
          </a:p>
          <a:p xmlns:a="http://schemas.openxmlformats.org/drawingml/2006/main">
            <a:r>
              <a:t/>
            </a:r>
          </a:p>
          <a:p xmlns:a="http://schemas.openxmlformats.org/drawingml/2006/main">
            <a:r>
              <a:t>Источники и обновление данных</a:t>
            </a:r>
          </a:p>
          <a:p xmlns:a="http://schemas.openxmlformats.org/drawingml/2006/main">
            <a:r>
              <a:t>Система должна сохранять связь chunk с исходным документом и учитывать актуальность и доступность материалов. Обновление corpus не равно обновлению encoder: это разные операции. Embeddings помогают выбирать содержание, но не гарантируют его истинность. Для ответа без достаточного evidence требуется отдельная логика, а не обязательный выбор ближайшего passage.</a:t>
            </a:r>
          </a:p>
          <a:p xmlns:a="http://schemas.openxmlformats.org/drawingml/2006/main">
            <a:r>
              <a:t/>
            </a:r>
          </a:p>
          <a:p xmlns:a="http://schemas.openxmlformats.org/drawingml/2006/main">
            <a:r>
              <a:t>Источник: 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86. Сравнение на семинаре</a:t>
            </a:r>
          </a:p>
          <a:p xmlns:a="http://schemas.openxmlformats.org/drawingml/2006/main">
            <a:r>
              <a:t/>
            </a:r>
          </a:p>
          <a:p xmlns:a="http://schemas.openxmlformats.org/drawingml/2006/main">
            <a:r>
              <a:t>TF-IDF baseline</a:t>
            </a:r>
          </a:p>
          <a:p xmlns:a="http://schemas.openxmlformats.org/drawingml/2006/main">
            <a:r>
              <a:t>Первое решение строится из TF-IDF и Logistic Regression на подготовленных текстах. Vocabulary и IDF оцениваются только по train. Затем фиксируются evaluation metrics и конкретные ошибки. Такой baseline позволяет проверить данные и получить понятную отправную точку без обучения большой encoder model.</a:t>
            </a:r>
          </a:p>
          <a:p xmlns:a="http://schemas.openxmlformats.org/drawingml/2006/main">
            <a:r>
              <a:t/>
            </a:r>
          </a:p>
          <a:p xmlns:a="http://schemas.openxmlformats.org/drawingml/2006/main">
            <a:r>
              <a:t>Sentence embeddings</a:t>
            </a:r>
          </a:p>
          <a:p xmlns:a="http://schemas.openxmlformats.org/drawingml/2006/main">
            <a:r>
              <a:t>Во втором варианте те же тексты получают representations через pretrained Sentence Transformers. Classifier и split по возможности сохраняют сопоставимыми. Сравнивают quality, время encoding и поведение на разных типах примеров. Код и запуск относятся к семинару; лекция задаёт смысл компонентов и правила интерпретации результата.</a:t>
            </a:r>
          </a:p>
          <a:p xmlns:a="http://schemas.openxmlformats.org/drawingml/2006/main">
            <a:r>
              <a:t/>
            </a:r>
          </a:p>
          <a:p xmlns:a="http://schemas.openxmlformats.org/drawingml/2006/main">
            <a:r>
              <a:t>Источник: https://docs.google.com/document/d/1dhTfnnaMGqnamn8odhJQwGDgKYyPB46GE1Q-YxJ3D-U/edit</a:t>
            </a:r>
          </a:p>
          <a:p xmlns:a="http://schemas.openxmlformats.org/drawingml/2006/main">
            <a:r>
              <a:t>Источник: https://scikit-learn.org/stable/modules/feature_extraction.html</a:t>
            </a:r>
          </a:p>
          <a:p xmlns:a="http://schemas.openxmlformats.org/drawingml/2006/main">
            <a:r>
              <a:t>Источник: https://aclanthology.org/D19-1410/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87. Библиотеки и компоненты</a:t>
            </a:r>
          </a:p>
          <a:p xmlns:a="http://schemas.openxmlformats.org/drawingml/2006/main">
            <a:r>
              <a:t/>
            </a:r>
          </a:p>
          <a:p xmlns:a="http://schemas.openxmlformats.org/drawingml/2006/main">
            <a:r>
              <a:t>Инструменты выбирают по операции. Наличие готового API не отменяет проверки данных, формата representation и настроек модели.</a:t>
            </a:r>
          </a:p>
          <a:p xmlns:a="http://schemas.openxmlformats.org/drawingml/2006/main">
            <a:r>
              <a:t/>
            </a:r>
          </a:p>
          <a:p xmlns:a="http://schemas.openxmlformats.org/drawingml/2006/main">
            <a:r>
              <a:t>Инструмент | Назначение</a:t>
            </a:r>
          </a:p>
          <a:p xmlns:a="http://schemas.openxmlformats.org/drawingml/2006/main">
            <a:r>
              <a:t>scikit-learn | TF-IDF, classifiers, metrics, Pipeline</a:t>
            </a:r>
          </a:p>
          <a:p xmlns:a="http://schemas.openxmlformats.org/drawingml/2006/main">
            <a:r>
              <a:t>Gensim | Word vectors, Word2Vec, FastText, doc2vec</a:t>
            </a:r>
          </a:p>
          <a:p xmlns:a="http://schemas.openxmlformats.org/drawingml/2006/main">
            <a:r>
              <a:t>Hugging Face Transformers | Tokenizer, pretrained encoder, hidden states</a:t>
            </a:r>
          </a:p>
          <a:p xmlns:a="http://schemas.openxmlformats.org/drawingml/2006/main">
            <a:r>
              <a:t>Sentence Transformers | Text embeddings, similarity, retrieval</a:t>
            </a:r>
          </a:p>
          <a:p xmlns:a="http://schemas.openxmlformats.org/drawingml/2006/main">
            <a:r>
              <a:t/>
            </a:r>
          </a:p>
          <a:p xmlns:a="http://schemas.openxmlformats.org/drawingml/2006/main">
            <a:r>
              <a:t>Для поиска также нужен способ хранения vectors и index. Модель, tokenizer, pooling и версия данных фиксируются как части одного решения.</a:t>
            </a:r>
          </a:p>
          <a:p xmlns:a="http://schemas.openxmlformats.org/drawingml/2006/main">
            <a:r>
              <a:t/>
            </a:r>
          </a:p>
          <a:p xmlns:a="http://schemas.openxmlformats.org/drawingml/2006/main">
            <a:r>
              <a:t>Источник: https://radimrehurek.com/gensim/models/keyedvectors.html</a:t>
            </a:r>
          </a:p>
          <a:p xmlns:a="http://schemas.openxmlformats.org/drawingml/2006/main">
            <a:r>
              <a:t>Источник: https://scikit-learn.org/stable/modules/feature_extraction.html</a:t>
            </a:r>
          </a:p>
          <a:p xmlns:a="http://schemas.openxmlformats.org/drawingml/2006/main">
            <a:r>
              <a:t>Источник: https://huggingface.co/docs/transformers/</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88. Выбор pretrained model</a:t>
            </a:r>
          </a:p>
          <a:p xmlns:a="http://schemas.openxmlformats.org/drawingml/2006/main">
            <a:r>
              <a:t/>
            </a:r>
          </a:p>
          <a:p xmlns:a="http://schemas.openxmlformats.org/drawingml/2006/main">
            <a:r>
              <a:t>Model card и назначение</a:t>
            </a:r>
          </a:p>
          <a:p xmlns:a="http://schemas.openxmlformats.org/drawingml/2006/main">
            <a:r>
              <a:t>Проверяют supported languages, training objective и тип рекомендуемой задачи. Модель для коротких paraphrases может не подходить для поиска длинных passages. Важны license, model revision, max sequence length, embedding dimension и ожидаемый query/document format. Размер checkpoint или популярность не заменяют evaluation на собственных примерах.</a:t>
            </a:r>
          </a:p>
          <a:p xmlns:a="http://schemas.openxmlformats.org/drawingml/2006/main">
            <a:r>
              <a:t/>
            </a:r>
          </a:p>
          <a:p xmlns:a="http://schemas.openxmlformats.org/drawingml/2006/main">
            <a:r>
              <a:t>Ограничения применения</a:t>
            </a:r>
          </a:p>
          <a:p xmlns:a="http://schemas.openxmlformats.org/drawingml/2006/main">
            <a:r>
              <a:t>Truncation удаляет часть длинного текста; normalization и prompts меняют representations. Для новых языков и доменов качество может существенно отличаться от заявленных benchmark results. Выбор подтверждают небольшим размеченным набором, затем проверяют скорость и память. При смене модели пересматривают thresholds и совместимость существующего index.</a:t>
            </a:r>
          </a:p>
          <a:p xmlns:a="http://schemas.openxmlformats.org/drawingml/2006/main">
            <a:r>
              <a:t/>
            </a:r>
          </a:p>
          <a:p xmlns:a="http://schemas.openxmlformats.org/drawingml/2006/main">
            <a:r>
              <a:t>Источник: https://sbert.net/examples/sentence_transformer/applications/semantic-search/README.html</a:t>
            </a:r>
          </a:p>
          <a:p xmlns:a="http://schemas.openxmlformats.org/drawingml/2006/main">
            <a:r>
              <a:t>Источник: https://sbert.net/docs/sentence_transformer/usage/semantic_textual_similarity.html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89. Результаты лекции</a:t>
            </a:r>
          </a:p>
          <a:p xmlns:a="http://schemas.openxmlformats.org/drawingml/2006/main">
            <a:r>
              <a:t/>
            </a:r>
          </a:p>
          <a:p xmlns:a="http://schemas.openxmlformats.org/drawingml/2006/main">
            <a:r>
              <a:t>Основные различия</a:t>
            </a:r>
          </a:p>
          <a:p xmlns:a="http://schemas.openxmlformats.org/drawingml/2006/main">
            <a:r>
              <a:t>Static embeddings связывают слово с одним vector; contextual embeddings описывают его употребление. Sentence и document representations требуют определённого способа объединения информации или отдельного обучения. Pretraining и fine-tuning используют разные данные и цели. В retrieval качество зависит одновременно от encoder, corpus, chunking и способа поиска.</a:t>
            </a:r>
          </a:p>
          <a:p xmlns:a="http://schemas.openxmlformats.org/drawingml/2006/main">
            <a:r>
              <a:t/>
            </a:r>
          </a:p>
          <a:p xmlns:a="http://schemas.openxmlformats.org/drawingml/2006/main">
            <a:r>
              <a:t>Контрольные вопросы</a:t>
            </a:r>
          </a:p>
          <a:p xmlns:a="http://schemas.openxmlformats.org/drawingml/2006/main">
            <a:r>
              <a:t>Почему одинаковая dimension не означает совместимость пространств? Чем fastText OOV отличается от обычного lookup? Как получают representation нового документа в doc2vec? Почему pooled BERT не всегда является хорошим sentence encoder? Когда нужны разные query/document modes? Какие ошибки RAG невозможно исправить только заменой generator?</a:t>
            </a:r>
          </a:p>
          <a:p xmlns:a="http://schemas.openxmlformats.org/drawingml/2006/main">
            <a:r>
              <a:t/>
            </a:r>
          </a:p>
          <a:p xmlns:a="http://schemas.openxmlformats.org/drawingml/2006/main">
            <a:r>
              <a:t>Источник: https://docs.google.com/document/d/1dhTfnnaMGqnamn8odhJQwGDgKYyPB46GE1Q-YxJ3D-U/edit</a:t>
            </a:r>
          </a:p>
          <a:p xmlns:a="http://schemas.openxmlformats.org/drawingml/2006/main">
            <a:r>
              <a:t>Источник: https://lena-voita.github.io/nlp_course/word_embeddings.html</a:t>
            </a:r>
          </a:p>
          <a:p xmlns:a="http://schemas.openxmlformats.org/drawingml/2006/main">
            <a:r>
              <a:t>Источник: https://sbert.net/examples/sentence_transformer/applications/semantic-search/README.html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90. Материалы и источники</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https://github.com/yandexdataschool/nlp_course</a:t>
            </a:r>
          </a:p>
          <a:p xmlns:a="http://schemas.openxmlformats.org/drawingml/2006/main">
            <a:r>
              <a:t>Источник: https://lena-voita.github.io/nlp_course/word_embeddings.html</a:t>
            </a:r>
          </a:p>
          <a:p xmlns:a="http://schemas.openxmlformats.org/drawingml/2006/main">
            <a:r>
              <a:t>Источник: https://lena-voita.github.io/nlp_course/transfer_learning.html</a:t>
            </a:r>
          </a:p>
          <a:p xmlns:a="http://schemas.openxmlformats.org/drawingml/2006/main">
            <a:r>
              <a:t>Источник: https://lena-voita.github.io/nlp_course/text_classification.html</a:t>
            </a:r>
          </a:p>
          <a:p xmlns:a="http://schemas.openxmlformats.org/drawingml/2006/main">
            <a:r>
              <a:t>Источник: https://arxiv.org/abs/1301.3781</a:t>
            </a:r>
          </a:p>
          <a:p xmlns:a="http://schemas.openxmlformats.org/drawingml/2006/main">
            <a:r>
              <a:t>Источник: https://arxiv.org/abs/1310.4546</a:t>
            </a:r>
          </a:p>
          <a:p xmlns:a="http://schemas.openxmlformats.org/drawingml/2006/main">
            <a:r>
              <a:t>Источник: https://nlp.stanford.edu/projects/glove/</a:t>
            </a:r>
          </a:p>
          <a:p xmlns:a="http://schemas.openxmlformats.org/drawingml/2006/main">
            <a:r>
              <a:t>Источник: https://fasttext.cc/docs/en/unsupervised-tutorial.html</a:t>
            </a:r>
          </a:p>
          <a:p xmlns:a="http://schemas.openxmlformats.org/drawingml/2006/main">
            <a:r>
              <a:t>Источник: https://proceedings.mlr.press/v32/le14.html</a:t>
            </a:r>
          </a:p>
          <a:p xmlns:a="http://schemas.openxmlformats.org/drawingml/2006/main">
            <a:r>
              <a:t>Источник: https://radimrehurek.com/gensim/models/keyedvectors.html</a:t>
            </a:r>
          </a:p>
          <a:p xmlns:a="http://schemas.openxmlformats.org/drawingml/2006/main">
            <a:r>
              <a:t>Источник: https://aclanthology.org/N18-1202/</a:t>
            </a:r>
          </a:p>
          <a:p xmlns:a="http://schemas.openxmlformats.org/drawingml/2006/main">
            <a:r>
              <a:t>Источник: https://aclanthology.org/N19-1423/</a:t>
            </a:r>
          </a:p>
          <a:p xmlns:a="http://schemas.openxmlformats.org/drawingml/2006/main">
            <a:r>
              <a:t>Источник: https://aclanthology.org/D19-1410/</a:t>
            </a:r>
          </a:p>
          <a:p xmlns:a="http://schemas.openxmlformats.org/drawingml/2006/main">
            <a:r>
              <a:t>Источник: https://sbert.net/docs/sentence_transformer/usage/semantic_textual_similarity.html</a:t>
            </a:r>
          </a:p>
          <a:p xmlns:a="http://schemas.openxmlformats.org/drawingml/2006/main">
            <a:r>
              <a:t>Источник: https://sbert.net/examples/sentence_transformer/applications/semantic-search/README.html</a:t>
            </a:r>
          </a:p>
          <a:p xmlns:a="http://schemas.openxmlformats.org/drawingml/2006/main">
            <a:r>
              <a:t>Источник: https://sbert.net/examples/sentence_transformer/applications/retrieve_rerank/README.html</a:t>
            </a:r>
          </a:p>
          <a:p xmlns:a="http://schemas.openxmlformats.org/drawingml/2006/main">
            <a:r>
              <a:t>Источник: https://arxiv.org/abs/2005.11401</a:t>
            </a:r>
          </a:p>
          <a:p xmlns:a="http://schemas.openxmlformats.org/drawingml/2006/main">
            <a:r>
              <a:t>Источник: https://scikit-learn.org/stable/modules/feature_extraction.html</a:t>
            </a:r>
          </a:p>
          <a:p xmlns:a="http://schemas.openxmlformats.org/drawingml/2006/main">
            <a:r>
              <a:t>Источник: https://docs.google.com/document/d/1dhTfnnaMGqnamn8odhJQwGDgKYyPB46GE1Q-YxJ3D-U/edit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337c0bb90648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ecd91d07b345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a4b7d5d82346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b808c2b2c4e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a6b5447a2143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73540b79074f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6D97C-4F84-4AE1-A19A-8A3890AFC1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C55A53-7DE3-4032-911E-84EFDF96B17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C88D80-6401-491F-90F3-4305634003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6502AF-205F-4672-BF16-C5C5E42F35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608CFE-878A-42B7-A038-90DC0105CF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1B5E6D-68A6-4F78-B389-4BF5A71F7C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A80746-837D-4355-8BB7-BFE6B8D00C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4083C8-D524-4BA7-9889-5FCD02E0421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7422D9-86D3-436C-8B45-758884327B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FEC988-B4C0-49C9-899D-B3F845D557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0edb5aad704a53" /><Relationship Type="http://schemas.openxmlformats.org/officeDocument/2006/relationships/slideLayout" Target="/ppt/slideLayouts/slideLayout1.xml" Id="Ra722d452aa214bd3" /><Relationship Type="http://schemas.openxmlformats.org/officeDocument/2006/relationships/slideLayout" Target="/ppt/slideLayouts/slideLayout2.xml" Id="Rb028f0373dbd4092" /><Relationship Type="http://schemas.openxmlformats.org/officeDocument/2006/relationships/slideLayout" Target="/ppt/slideLayouts/slideLayout3.xml" Id="R46ddd70a95f9454b" /><Relationship Type="http://schemas.openxmlformats.org/officeDocument/2006/relationships/slideLayout" Target="/ppt/slideLayouts/slideLayout4.xml" Id="R0c3f6c88def44b06" /><Relationship Type="http://schemas.openxmlformats.org/officeDocument/2006/relationships/slideLayout" Target="/ppt/slideLayouts/slideLayout5.xml" Id="R64b3a28ffbc04b93" /><Relationship Type="http://schemas.openxmlformats.org/officeDocument/2006/relationships/slideLayout" Target="/ppt/slideLayouts/slideLayout6.xml" Id="R1da8b83ea1a64a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22d452aa214bd3"/>
    <p:sldLayoutId xmlns:r="http://schemas.openxmlformats.org/officeDocument/2006/relationships" id="2147483650" r:id="Rb028f0373dbd4092"/>
    <p:sldLayoutId xmlns:r="http://schemas.openxmlformats.org/officeDocument/2006/relationships" id="2147483651" r:id="R46ddd70a95f9454b"/>
    <p:sldLayoutId xmlns:r="http://schemas.openxmlformats.org/officeDocument/2006/relationships" id="2147483652" r:id="R0c3f6c88def44b06"/>
    <p:sldLayoutId xmlns:r="http://schemas.openxmlformats.org/officeDocument/2006/relationships" id="2147483653" r:id="R64b3a28ffbc04b93"/>
    <p:sldLayoutId xmlns:r="http://schemas.openxmlformats.org/officeDocument/2006/relationships" id="2147483654" r:id="R1da8b83ea1a64a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LL">
      <a:dk1>
        <a:srgbClr val="000000"/>
      </a:dk1>
      <a:lt1>
        <a:srgbClr val="F5F5F7"/>
      </a:lt1>
      <a:dk2>
        <a:srgbClr val="09090B"/>
      </a:dk2>
      <a:lt2>
        <a:srgbClr val="98989F"/>
      </a:lt2>
      <a:accent1>
        <a:srgbClr val="BD9FE3"/>
      </a:accent1>
      <a:accent2>
        <a:srgbClr val="A0BBA6"/>
      </a:accent2>
      <a:accent3>
        <a:srgbClr val="D1C9DF"/>
      </a:accent3>
      <a:accent4>
        <a:srgbClr val="80808A"/>
      </a:accent4>
      <a:accent5>
        <a:srgbClr val="C5B5F2"/>
      </a:accent5>
      <a:accent6>
        <a:srgbClr val="B4B4BB"/>
      </a:accent6>
      <a:hlink>
        <a:srgbClr val="BD9FE3"/>
      </a:hlink>
      <a:folHlink>
        <a:srgbClr val="BD9FE3"/>
      </a:folHlink>
    </a:clrScheme>
    <a:fontScheme name="">
      <a:majorFont>
        <a:latin typeface="Helvetica Neue"/>
        <a:ea typeface=""/>
        <a:cs typeface=""/>
      </a:majorFont>
      <a:minorFont>
        <a:latin typeface="Helvetica Neue"/>
        <a:ea typeface=""/>
        <a:cs typeface=""/>
      </a:minorFont>
    </a:fontScheme>
    <a:fmtScheme name="RL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51d4b88b114874" /><Relationship Type="http://schemas.openxmlformats.org/officeDocument/2006/relationships/notesSlide" Target="/ppt/notesSlides/notesSlide1.xml" Id="Ra7fca83a7afa41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44704a83d3e4449" /><Relationship Type="http://schemas.openxmlformats.org/officeDocument/2006/relationships/notesSlide" Target="/ppt/notesSlides/notesSlide2.xml" Id="R7f7ab16a4bd540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dd5676bd7e49a6" /><Relationship Type="http://schemas.openxmlformats.org/officeDocument/2006/relationships/notesSlide" Target="/ppt/notesSlides/notesSlide3.xml" Id="R233258551ffa4b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4296eb73324dac" /><Relationship Type="http://schemas.openxmlformats.org/officeDocument/2006/relationships/image" Target="/ppt/media/image.png" Id="Rb4d3f95f6a0746c6" /><Relationship Type="http://schemas.openxmlformats.org/officeDocument/2006/relationships/hyperlink" Target="https://lena-voita.github.io/nlp_course/word_embeddings.html" TargetMode="External" Id="R90714c863510406f" /><Relationship Type="http://schemas.openxmlformats.org/officeDocument/2006/relationships/notesSlide" Target="/ppt/notesSlides/notesSlide4.xml" Id="R41f8ef7c1af843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74c480a7c640db" /><Relationship Type="http://schemas.openxmlformats.org/officeDocument/2006/relationships/notesSlide" Target="/ppt/notesSlides/notesSlide5.xml" Id="R6c12e5b6380540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c0d5af97ead4f77" /><Relationship Type="http://schemas.openxmlformats.org/officeDocument/2006/relationships/image" Target="/ppt/media/image2.png" Id="R24b2045dbd804d4e" /><Relationship Type="http://schemas.openxmlformats.org/officeDocument/2006/relationships/hyperlink" Target="https://lena-voita.github.io/nlp_course/word_embeddings.html" TargetMode="External" Id="Raa060bb0f29e41b6" /><Relationship Type="http://schemas.openxmlformats.org/officeDocument/2006/relationships/notesSlide" Target="/ppt/notesSlides/notesSlide6.xml" Id="R21dae716d8e040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1360a7e6574e1b" /><Relationship Type="http://schemas.openxmlformats.org/officeDocument/2006/relationships/image" Target="/ppt/media/image3.png" Id="R8975710fdc0f4bf9" /><Relationship Type="http://schemas.openxmlformats.org/officeDocument/2006/relationships/hyperlink" Target="https://drive.google.com/file/d/1y2GKIKBzie7l8iycBO6gTKGiTTfJc4Dr/view" TargetMode="External" Id="R1de65c20c2874514" /><Relationship Type="http://schemas.openxmlformats.org/officeDocument/2006/relationships/notesSlide" Target="/ppt/notesSlides/notesSlide7.xml" Id="Rd61603012ff94e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d408d2ef5ea4130" /><Relationship Type="http://schemas.openxmlformats.org/officeDocument/2006/relationships/notesSlide" Target="/ppt/notesSlides/notesSlide8.xml" Id="R609f65060c8746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5815d5dde047d9" /><Relationship Type="http://schemas.openxmlformats.org/officeDocument/2006/relationships/image" Target="/ppt/media/image4.png" Id="R1d4e2f3f4ccc4b88" /><Relationship Type="http://schemas.openxmlformats.org/officeDocument/2006/relationships/hyperlink" Target="https://lena-voita.github.io/nlp_course/word_embeddings.html" TargetMode="External" Id="R85371b797de04bcb" /><Relationship Type="http://schemas.openxmlformats.org/officeDocument/2006/relationships/notesSlide" Target="/ppt/notesSlides/notesSlide9.xml" Id="R4772e9b54b8249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b290e14cd54060" /><Relationship Type="http://schemas.openxmlformats.org/officeDocument/2006/relationships/image" Target="/ppt/media/image5.png" Id="R8fc67e555024414f" /><Relationship Type="http://schemas.openxmlformats.org/officeDocument/2006/relationships/hyperlink" Target="https://lena-voita.github.io/nlp_course/word_embeddings.html" TargetMode="External" Id="R5e3a36628634464b" /><Relationship Type="http://schemas.openxmlformats.org/officeDocument/2006/relationships/notesSlide" Target="/ppt/notesSlides/notesSlide10.xml" Id="R339677a296c041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0560237f6f4c90" /><Relationship Type="http://schemas.openxmlformats.org/officeDocument/2006/relationships/notesSlide" Target="/ppt/notesSlides/notesSlide11.xml" Id="Rb75dd18a25bf4a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0873e29e35c4ad9" /><Relationship Type="http://schemas.openxmlformats.org/officeDocument/2006/relationships/image" Target="/ppt/media/image6.png" Id="R84ab4080e1cc4e49" /><Relationship Type="http://schemas.openxmlformats.org/officeDocument/2006/relationships/hyperlink" Target="https://lena-voita.github.io/nlp_course/word_embeddings.html" TargetMode="External" Id="R342b51c6d49041db" /><Relationship Type="http://schemas.openxmlformats.org/officeDocument/2006/relationships/notesSlide" Target="/ppt/notesSlides/notesSlide12.xml" Id="R2695d57638ae46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73832130b8478f" /><Relationship Type="http://schemas.openxmlformats.org/officeDocument/2006/relationships/image" Target="/ppt/media/image7.png" Id="R5ba9ca44b2c74433" /><Relationship Type="http://schemas.openxmlformats.org/officeDocument/2006/relationships/hyperlink" Target="https://lena-voita.github.io/nlp_course/word_embeddings.html" TargetMode="External" Id="Rd19c3cb636724cd7" /><Relationship Type="http://schemas.openxmlformats.org/officeDocument/2006/relationships/notesSlide" Target="/ppt/notesSlides/notesSlide13.xml" Id="R21ffb7e47d2846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eb9ab96c2e24f90" /><Relationship Type="http://schemas.openxmlformats.org/officeDocument/2006/relationships/notesSlide" Target="/ppt/notesSlides/notesSlide14.xml" Id="R2274c11bc3bc4f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6669af75a2b49e7" /><Relationship Type="http://schemas.openxmlformats.org/officeDocument/2006/relationships/notesSlide" Target="/ppt/notesSlides/notesSlide15.xml" Id="Rae7b35cf19c5439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206909f791c4e96" /><Relationship Type="http://schemas.openxmlformats.org/officeDocument/2006/relationships/notesSlide" Target="/ppt/notesSlides/notesSlide16.xml" Id="Rfeeebd42bfd6475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6942922a00345d1" /><Relationship Type="http://schemas.openxmlformats.org/officeDocument/2006/relationships/notesSlide" Target="/ppt/notesSlides/notesSlide17.xml" Id="R4a55a6d07da74e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e975d2ccd444ff5" /><Relationship Type="http://schemas.openxmlformats.org/officeDocument/2006/relationships/notesSlide" Target="/ppt/notesSlides/notesSlide18.xml" Id="Rdb03b13e17b543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33c24feeceb4b91" /><Relationship Type="http://schemas.openxmlformats.org/officeDocument/2006/relationships/image" Target="/ppt/media/image8.png" Id="R0df3052d54c34459" /><Relationship Type="http://schemas.openxmlformats.org/officeDocument/2006/relationships/hyperlink" Target="https://lena-voita.github.io/nlp_course/word_embeddings.html" TargetMode="External" Id="Rcd80bf464af64ead" /><Relationship Type="http://schemas.openxmlformats.org/officeDocument/2006/relationships/notesSlide" Target="/ppt/notesSlides/notesSlide19.xml" Id="R2cafce2f98f441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7d358efcdb541e8" /><Relationship Type="http://schemas.openxmlformats.org/officeDocument/2006/relationships/image" Target="/ppt/media/image9.png" Id="R3b502ea0402e4c1d" /><Relationship Type="http://schemas.openxmlformats.org/officeDocument/2006/relationships/hyperlink" Target="https://lena-voita.github.io/nlp_course/text_classification.html" TargetMode="External" Id="R82fef0f30010439a" /><Relationship Type="http://schemas.openxmlformats.org/officeDocument/2006/relationships/notesSlide" Target="/ppt/notesSlides/notesSlide20.xml" Id="R82ead2a6fe614e5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cfa2fac135f45a7" /><Relationship Type="http://schemas.openxmlformats.org/officeDocument/2006/relationships/image" Target="/ppt/media/image10.png" Id="R368a29c2a39347e2" /><Relationship Type="http://schemas.openxmlformats.org/officeDocument/2006/relationships/hyperlink" Target="https://lena-voita.github.io/nlp_course/word_embeddings.html" TargetMode="External" Id="R88507fbb7086428c" /><Relationship Type="http://schemas.openxmlformats.org/officeDocument/2006/relationships/notesSlide" Target="/ppt/notesSlides/notesSlide21.xml" Id="Rccc39272232f406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f0b7750127441fd" /><Relationship Type="http://schemas.openxmlformats.org/officeDocument/2006/relationships/image" Target="/ppt/media/image11.png" Id="Re1594c9b489e40b1" /><Relationship Type="http://schemas.openxmlformats.org/officeDocument/2006/relationships/hyperlink" Target="https://lena-voita.github.io/nlp_course/word_embeddings.html" TargetMode="External" Id="Rc3e7e9dcb3534952" /><Relationship Type="http://schemas.openxmlformats.org/officeDocument/2006/relationships/notesSlide" Target="/ppt/notesSlides/notesSlide22.xml" Id="R02415655da6648b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2de9ba6339645c6" /><Relationship Type="http://schemas.openxmlformats.org/officeDocument/2006/relationships/notesSlide" Target="/ppt/notesSlides/notesSlide23.xml" Id="R15764a582401412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42849256ac1431c" /><Relationship Type="http://schemas.openxmlformats.org/officeDocument/2006/relationships/notesSlide" Target="/ppt/notesSlides/notesSlide24.xml" Id="R89d8af2858004e3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7957572e7a14b7e" /><Relationship Type="http://schemas.openxmlformats.org/officeDocument/2006/relationships/image" Target="/ppt/media/image12.png" Id="R5d54f3a6add941e4" /><Relationship Type="http://schemas.openxmlformats.org/officeDocument/2006/relationships/hyperlink" Target="https://lena-voita.github.io/nlp_course/word_embeddings.html" TargetMode="External" Id="R17c9329c6f174767" /><Relationship Type="http://schemas.openxmlformats.org/officeDocument/2006/relationships/notesSlide" Target="/ppt/notesSlides/notesSlide25.xml" Id="Ra1fb06505427453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882a02acd8b47df" /><Relationship Type="http://schemas.openxmlformats.org/officeDocument/2006/relationships/notesSlide" Target="/ppt/notesSlides/notesSlide26.xml" Id="Rb6a99d6918d14b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f0bfd58f92048b8" /><Relationship Type="http://schemas.openxmlformats.org/officeDocument/2006/relationships/image" Target="/ppt/media/image13.png" Id="R5acf6fc0f40f40b9" /><Relationship Type="http://schemas.openxmlformats.org/officeDocument/2006/relationships/hyperlink" Target="https://lena-voita.github.io/nlp_course/word_embeddings.html" TargetMode="External" Id="R74165cec3ac04906" /><Relationship Type="http://schemas.openxmlformats.org/officeDocument/2006/relationships/notesSlide" Target="/ppt/notesSlides/notesSlide27.xml" Id="Rc982d39bc66e416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d0e916b9f85421c" /><Relationship Type="http://schemas.openxmlformats.org/officeDocument/2006/relationships/image" Target="/ppt/media/image14.png" Id="R3f4fb1c62aef45c5" /><Relationship Type="http://schemas.openxmlformats.org/officeDocument/2006/relationships/hyperlink" Target="https://lena-voita.github.io/nlp_course/word_embeddings.html" TargetMode="External" Id="R8606a596ce614e2a" /><Relationship Type="http://schemas.openxmlformats.org/officeDocument/2006/relationships/notesSlide" Target="/ppt/notesSlides/notesSlide28.xml" Id="R219173d247a3448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5860fb109dd4309" /><Relationship Type="http://schemas.openxmlformats.org/officeDocument/2006/relationships/notesSlide" Target="/ppt/notesSlides/notesSlide29.xml" Id="R0079796b56e0449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66790cd4bac4eca" /><Relationship Type="http://schemas.openxmlformats.org/officeDocument/2006/relationships/notesSlide" Target="/ppt/notesSlides/notesSlide30.xml" Id="Rffc3b8cadc454c4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e495413d94041cf" /><Relationship Type="http://schemas.openxmlformats.org/officeDocument/2006/relationships/notesSlide" Target="/ppt/notesSlides/notesSlide31.xml" Id="Rf92f9c9d38824f5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a799dd5cddb4f97" /><Relationship Type="http://schemas.openxmlformats.org/officeDocument/2006/relationships/notesSlide" Target="/ppt/notesSlides/notesSlide32.xml" Id="Rf55f3f8bf8cb4d4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75f9b636dbf4971" /><Relationship Type="http://schemas.openxmlformats.org/officeDocument/2006/relationships/notesSlide" Target="/ppt/notesSlides/notesSlide33.xml" Id="Rd385dd5167dc45e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68cddd00cc242df" /><Relationship Type="http://schemas.openxmlformats.org/officeDocument/2006/relationships/image" Target="/ppt/media/image15.png" Id="R881a862e6aa34345" /><Relationship Type="http://schemas.openxmlformats.org/officeDocument/2006/relationships/hyperlink" Target="https://lena-voita.github.io/nlp_course/word_embeddings.html" TargetMode="External" Id="R66bf2c385f9b4d6a" /><Relationship Type="http://schemas.openxmlformats.org/officeDocument/2006/relationships/notesSlide" Target="/ppt/notesSlides/notesSlide34.xml" Id="R1529575c98a84e8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b69c5a7a2f84213" /><Relationship Type="http://schemas.openxmlformats.org/officeDocument/2006/relationships/notesSlide" Target="/ppt/notesSlides/notesSlide35.xml" Id="R5947b247b67b452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033d2a12b124a12" /><Relationship Type="http://schemas.openxmlformats.org/officeDocument/2006/relationships/image" Target="/ppt/media/image16.png" Id="Rca777f67c06c41c0" /><Relationship Type="http://schemas.openxmlformats.org/officeDocument/2006/relationships/hyperlink" Target="https://lena-voita.github.io/nlp_course/word_embeddings.html" TargetMode="External" Id="Ree06c3674d994d9f" /><Relationship Type="http://schemas.openxmlformats.org/officeDocument/2006/relationships/notesSlide" Target="/ppt/notesSlides/notesSlide36.xml" Id="Rb3a2c99e9499495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034182ea4b14029" /><Relationship Type="http://schemas.openxmlformats.org/officeDocument/2006/relationships/notesSlide" Target="/ppt/notesSlides/notesSlide37.xml" Id="Rbea28c1d149244f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fcc4c1c85fc4e6b" /><Relationship Type="http://schemas.openxmlformats.org/officeDocument/2006/relationships/notesSlide" Target="/ppt/notesSlides/notesSlide38.xml" Id="R00d1a2d29ae0475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2f1e9d4df554768" /><Relationship Type="http://schemas.openxmlformats.org/officeDocument/2006/relationships/notesSlide" Target="/ppt/notesSlides/notesSlide39.xml" Id="R516dfbf332f24b1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305cadf89c64fd9" /><Relationship Type="http://schemas.openxmlformats.org/officeDocument/2006/relationships/notesSlide" Target="/ppt/notesSlides/notesSlide40.xml" Id="R20f4ad4a2b3c426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6baf65dd0474328" /><Relationship Type="http://schemas.openxmlformats.org/officeDocument/2006/relationships/notesSlide" Target="/ppt/notesSlides/notesSlide41.xml" Id="R19d0fb386a5e448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519ad1dda8f540e9" /><Relationship Type="http://schemas.openxmlformats.org/officeDocument/2006/relationships/image" Target="/ppt/media/image17.png" Id="R49f85c1e6c464767" /><Relationship Type="http://schemas.openxmlformats.org/officeDocument/2006/relationships/hyperlink" Target="https://lena-voita.github.io/nlp_course/text_classification.html" TargetMode="External" Id="R3e16d43fe177410f" /><Relationship Type="http://schemas.openxmlformats.org/officeDocument/2006/relationships/notesSlide" Target="/ppt/notesSlides/notesSlide42.xml" Id="R1f9d35a919f940e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8833b1d05884a7e" /><Relationship Type="http://schemas.openxmlformats.org/officeDocument/2006/relationships/notesSlide" Target="/ppt/notesSlides/notesSlide43.xml" Id="R02bad5505c1049f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cf8933d61e9f4495" /><Relationship Type="http://schemas.openxmlformats.org/officeDocument/2006/relationships/notesSlide" Target="/ppt/notesSlides/notesSlide44.xml" Id="R745d1ed85305480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6e48de25bd164eee" /><Relationship Type="http://schemas.openxmlformats.org/officeDocument/2006/relationships/notesSlide" Target="/ppt/notesSlides/notesSlide45.xml" Id="R67b2f9db3bd1453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49f78aecd2834aa0" /><Relationship Type="http://schemas.openxmlformats.org/officeDocument/2006/relationships/image" Target="/ppt/media/image18.png" Id="Racf119d82bf64c7e" /><Relationship Type="http://schemas.openxmlformats.org/officeDocument/2006/relationships/hyperlink" Target="https://lena-voita.github.io/nlp_course/word_embeddings.html" TargetMode="External" Id="Rdc425194ff1e4966" /><Relationship Type="http://schemas.openxmlformats.org/officeDocument/2006/relationships/notesSlide" Target="/ppt/notesSlides/notesSlide46.xml" Id="Rce9eb1a0a33545f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6880182cb804218" /><Relationship Type="http://schemas.openxmlformats.org/officeDocument/2006/relationships/notesSlide" Target="/ppt/notesSlides/notesSlide47.xml" Id="R95f051cd8bcc463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6ade0bafe444782" /><Relationship Type="http://schemas.openxmlformats.org/officeDocument/2006/relationships/notesSlide" Target="/ppt/notesSlides/notesSlide48.xml" Id="R43dcd5e9bc5f4f2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511835013d3f4d6a" /><Relationship Type="http://schemas.openxmlformats.org/officeDocument/2006/relationships/notesSlide" Target="/ppt/notesSlides/notesSlide49.xml" Id="Rf924787b3cbd41d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4164e836247a4709" /><Relationship Type="http://schemas.openxmlformats.org/officeDocument/2006/relationships/notesSlide" Target="/ppt/notesSlides/notesSlide50.xml" Id="Rd30f9163140640f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73d63da15921491c" /><Relationship Type="http://schemas.openxmlformats.org/officeDocument/2006/relationships/notesSlide" Target="/ppt/notesSlides/notesSlide51.xml" Id="R231f597ec26045d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6a46cc9e703042cd" /><Relationship Type="http://schemas.openxmlformats.org/officeDocument/2006/relationships/image" Target="/ppt/media/image19.png" Id="Rff8ed4f388644cce" /><Relationship Type="http://schemas.openxmlformats.org/officeDocument/2006/relationships/hyperlink" Target="https://lena-voita.github.io/nlp_course/word_embeddings.html" TargetMode="External" Id="R7221ef5ddcea4bbb" /><Relationship Type="http://schemas.openxmlformats.org/officeDocument/2006/relationships/notesSlide" Target="/ppt/notesSlides/notesSlide52.xml" Id="R17b69d3b058542f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57b6431f22234bc7" /><Relationship Type="http://schemas.openxmlformats.org/officeDocument/2006/relationships/image" Target="/ppt/media/image20.png" Id="R9180460b18814d4b" /><Relationship Type="http://schemas.openxmlformats.org/officeDocument/2006/relationships/hyperlink" Target="https://lena-voita.github.io/nlp_course/word_embeddings.html" TargetMode="External" Id="R7a79e4fbfc6f48b9" /><Relationship Type="http://schemas.openxmlformats.org/officeDocument/2006/relationships/notesSlide" Target="/ppt/notesSlides/notesSlide53.xml" Id="R4b43c68a1d70445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daede6125334bf9" /><Relationship Type="http://schemas.openxmlformats.org/officeDocument/2006/relationships/notesSlide" Target="/ppt/notesSlides/notesSlide54.xml" Id="R99248d06933d477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e8794b69b7164cbe" /><Relationship Type="http://schemas.openxmlformats.org/officeDocument/2006/relationships/image" Target="/ppt/media/image21.png" Id="Rea7b921a082a4830" /><Relationship Type="http://schemas.openxmlformats.org/officeDocument/2006/relationships/hyperlink" Target="https://lena-voita.github.io/nlp_course/word_embeddings.html" TargetMode="External" Id="R333ec771b7144b3c" /><Relationship Type="http://schemas.openxmlformats.org/officeDocument/2006/relationships/notesSlide" Target="/ppt/notesSlides/notesSlide55.xml" Id="Rfb7f0dda244743e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a856224c0ab24ec1" /><Relationship Type="http://schemas.openxmlformats.org/officeDocument/2006/relationships/notesSlide" Target="/ppt/notesSlides/notesSlide56.xml" Id="Rb16123f8f54b4e8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f00d1de28fd14bdf" /><Relationship Type="http://schemas.openxmlformats.org/officeDocument/2006/relationships/notesSlide" Target="/ppt/notesSlides/notesSlide57.xml" Id="Rd1e6db397018456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d16c1d3ca8c2455e" /><Relationship Type="http://schemas.openxmlformats.org/officeDocument/2006/relationships/image" Target="/ppt/media/image22.png" Id="Ra71039935ea9424b" /><Relationship Type="http://schemas.openxmlformats.org/officeDocument/2006/relationships/hyperlink" Target="https://lena-voita.github.io/nlp_course/transfer_learning.html" TargetMode="External" Id="Rf10195d5141148ef" /><Relationship Type="http://schemas.openxmlformats.org/officeDocument/2006/relationships/notesSlide" Target="/ppt/notesSlides/notesSlide58.xml" Id="Rf9d56a8f9e1747e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cd4cfe42490b4105" /><Relationship Type="http://schemas.openxmlformats.org/officeDocument/2006/relationships/image" Target="/ppt/media/image23.png" Id="R8edd016439154fc8" /><Relationship Type="http://schemas.openxmlformats.org/officeDocument/2006/relationships/hyperlink" Target="https://lena-voita.github.io/nlp_course/transfer_learning.html" TargetMode="External" Id="R5affc11cfa7046db" /><Relationship Type="http://schemas.openxmlformats.org/officeDocument/2006/relationships/notesSlide" Target="/ppt/notesSlides/notesSlide59.xml" Id="Ref4de431be11423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fd14af70c42641bf" /><Relationship Type="http://schemas.openxmlformats.org/officeDocument/2006/relationships/image" Target="/ppt/media/image24.png" Id="R8b62f09ba1984e56" /><Relationship Type="http://schemas.openxmlformats.org/officeDocument/2006/relationships/hyperlink" Target="https://lena-voita.github.io/nlp_course/transfer_learning.html" TargetMode="External" Id="R92e746448f54470b" /><Relationship Type="http://schemas.openxmlformats.org/officeDocument/2006/relationships/notesSlide" Target="/ppt/notesSlides/notesSlide60.xml" Id="R9cb1add527f34b6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e187360595fe4d9f" /><Relationship Type="http://schemas.openxmlformats.org/officeDocument/2006/relationships/image" Target="/ppt/media/image25.png" Id="Rde3b3a40197148dc" /><Relationship Type="http://schemas.openxmlformats.org/officeDocument/2006/relationships/hyperlink" Target="https://lena-voita.github.io/nlp_course/transfer_learning.html" TargetMode="External" Id="R4f63ef78640045f4" /><Relationship Type="http://schemas.openxmlformats.org/officeDocument/2006/relationships/notesSlide" Target="/ppt/notesSlides/notesSlide61.xml" Id="R6ac4c9ad262a476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e6b660b674a14c1c" /><Relationship Type="http://schemas.openxmlformats.org/officeDocument/2006/relationships/image" Target="/ppt/media/image26.png" Id="R6b11cb4361754a4b" /><Relationship Type="http://schemas.openxmlformats.org/officeDocument/2006/relationships/hyperlink" Target="https://lena-voita.github.io/nlp_course/transfer_learning.html" TargetMode="External" Id="R11837c574d0f49a7" /><Relationship Type="http://schemas.openxmlformats.org/officeDocument/2006/relationships/notesSlide" Target="/ppt/notesSlides/notesSlide62.xml" Id="Rc1f995abf4cb449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7716ba6c03ec4633" /><Relationship Type="http://schemas.openxmlformats.org/officeDocument/2006/relationships/image" Target="/ppt/media/image27.png" Id="R3616f35999c7412a" /><Relationship Type="http://schemas.openxmlformats.org/officeDocument/2006/relationships/hyperlink" Target="https://lena-voita.github.io/nlp_course/transfer_learning.html" TargetMode="External" Id="R36e41aea225b4ea4" /><Relationship Type="http://schemas.openxmlformats.org/officeDocument/2006/relationships/notesSlide" Target="/ppt/notesSlides/notesSlide63.xml" Id="Ra0b58a56b270451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9561bbc672484ffa" /><Relationship Type="http://schemas.openxmlformats.org/officeDocument/2006/relationships/image" Target="/ppt/media/image28.png" Id="R61433e1ca011463d" /><Relationship Type="http://schemas.openxmlformats.org/officeDocument/2006/relationships/hyperlink" Target="https://lena-voita.github.io/nlp_course/transfer_learning.html" TargetMode="External" Id="R2d0df60503c54567" /><Relationship Type="http://schemas.openxmlformats.org/officeDocument/2006/relationships/notesSlide" Target="/ppt/notesSlides/notesSlide64.xml" Id="R8c70890fc03f4e3a"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40671dcba7f64f7f" /><Relationship Type="http://schemas.openxmlformats.org/officeDocument/2006/relationships/notesSlide" Target="/ppt/notesSlides/notesSlide65.xml" Id="R74a149ab9f7d497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77c079d4c6fd4bf2" /><Relationship Type="http://schemas.openxmlformats.org/officeDocument/2006/relationships/notesSlide" Target="/ppt/notesSlides/notesSlide66.xml" Id="R1c19957fcd7a43a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3e5df823de55406b" /><Relationship Type="http://schemas.openxmlformats.org/officeDocument/2006/relationships/image" Target="/ppt/media/image29.png" Id="Rfd16ba3f223f4489" /><Relationship Type="http://schemas.openxmlformats.org/officeDocument/2006/relationships/hyperlink" Target="https://lena-voita.github.io/nlp_course/transfer_learning.html" TargetMode="External" Id="Rb51d931298d7406a" /><Relationship Type="http://schemas.openxmlformats.org/officeDocument/2006/relationships/notesSlide" Target="/ppt/notesSlides/notesSlide67.xml" Id="Raa602f39a16e4eb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d5179a181bde4b00" /><Relationship Type="http://schemas.openxmlformats.org/officeDocument/2006/relationships/notesSlide" Target="/ppt/notesSlides/notesSlide68.xml" Id="R9e0575c99fc94bdc"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450f1e0709fa4863" /><Relationship Type="http://schemas.openxmlformats.org/officeDocument/2006/relationships/image" Target="/ppt/media/image30.png" Id="R15bccd2257934d78" /><Relationship Type="http://schemas.openxmlformats.org/officeDocument/2006/relationships/hyperlink" Target="https://lena-voita.github.io/nlp_course/transfer_learning.html" TargetMode="External" Id="R9fe35cfe8ffa4346" /><Relationship Type="http://schemas.openxmlformats.org/officeDocument/2006/relationships/notesSlide" Target="/ppt/notesSlides/notesSlide69.xml" Id="R7672426787d0419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0bb8caa0c38a4d11" /><Relationship Type="http://schemas.openxmlformats.org/officeDocument/2006/relationships/notesSlide" Target="/ppt/notesSlides/notesSlide70.xml" Id="R2ab6f9314d734136"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47715a637b38413f" /><Relationship Type="http://schemas.openxmlformats.org/officeDocument/2006/relationships/image" Target="/ppt/media/image31.png" Id="R95139150d6cc4038" /><Relationship Type="http://schemas.openxmlformats.org/officeDocument/2006/relationships/hyperlink" Target="https://sbert.net/examples/sentence_transformer/applications/retrieve_rerank/README.html" TargetMode="External" Id="R47c55e032e2b4e03" /><Relationship Type="http://schemas.openxmlformats.org/officeDocument/2006/relationships/notesSlide" Target="/ppt/notesSlides/notesSlide71.xml" Id="Rc8d8ad5b907a47e3"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feda1c4cd9e04113" /><Relationship Type="http://schemas.openxmlformats.org/officeDocument/2006/relationships/notesSlide" Target="/ppt/notesSlides/notesSlide72.xml" Id="R801b08c68bda4730"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eddd815b63874e90" /><Relationship Type="http://schemas.openxmlformats.org/officeDocument/2006/relationships/notesSlide" Target="/ppt/notesSlides/notesSlide73.xml" Id="R27210e70b1144d7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a6c70d9a9755427f" /><Relationship Type="http://schemas.openxmlformats.org/officeDocument/2006/relationships/notesSlide" Target="/ppt/notesSlides/notesSlide74.xml" Id="R3660d9410874495e"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23a5793c427343de" /><Relationship Type="http://schemas.openxmlformats.org/officeDocument/2006/relationships/notesSlide" Target="/ppt/notesSlides/notesSlide75.xml" Id="Rc17ffcf34aa146df"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07d5b2b2e6304ba9" /><Relationship Type="http://schemas.openxmlformats.org/officeDocument/2006/relationships/image" Target="/ppt/media/image32.png" Id="R55abd5ffa048426b" /><Relationship Type="http://schemas.openxmlformats.org/officeDocument/2006/relationships/hyperlink" Target="https://sbert.net/examples/sentence_transformer/applications/retrieve_rerank/README.html" TargetMode="External" Id="Rd05db3e4faf44aff" /><Relationship Type="http://schemas.openxmlformats.org/officeDocument/2006/relationships/notesSlide" Target="/ppt/notesSlides/notesSlide76.xml" Id="R0d16f014479b40b9"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a939e3c7a9d54e2a" /><Relationship Type="http://schemas.openxmlformats.org/officeDocument/2006/relationships/image" Target="/ppt/media/image33.png" Id="R3ace612af5f14101" /><Relationship Type="http://schemas.openxmlformats.org/officeDocument/2006/relationships/hyperlink" Target="https://sbert.net/examples/sentence_transformer/applications/retrieve_rerank/README.html" TargetMode="External" Id="R1152dc4f10f24d0d" /><Relationship Type="http://schemas.openxmlformats.org/officeDocument/2006/relationships/notesSlide" Target="/ppt/notesSlides/notesSlide77.xml" Id="Rc0033564d0084fc1"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e96cbd71738b4ec6" /><Relationship Type="http://schemas.openxmlformats.org/officeDocument/2006/relationships/notesSlide" Target="/ppt/notesSlides/notesSlide78.xml" Id="R5308fbbc0212468b"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b94ce7cf96a24a5d" /><Relationship Type="http://schemas.openxmlformats.org/officeDocument/2006/relationships/notesSlide" Target="/ppt/notesSlides/notesSlide79.xml" Id="Ra75a5f0281674359"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c62e33a87e7b4bc6" /><Relationship Type="http://schemas.openxmlformats.org/officeDocument/2006/relationships/notesSlide" Target="/ppt/notesSlides/notesSlide80.xml" Id="R0e3ace0f7bed42b2"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75ab2ec0a8ee4a23" /><Relationship Type="http://schemas.openxmlformats.org/officeDocument/2006/relationships/notesSlide" Target="/ppt/notesSlides/notesSlide81.xml" Id="R02b47f4951cd472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ae260c559e3f45c0" /><Relationship Type="http://schemas.openxmlformats.org/officeDocument/2006/relationships/image" Target="/ppt/media/image34.png" Id="R69cb7aa98fb04346" /><Relationship Type="http://schemas.openxmlformats.org/officeDocument/2006/relationships/hyperlink" Target="https://lena-voita.github.io/nlp_course/transfer_learning.html" TargetMode="External" Id="Rcecdc8989c5f4c3e" /><Relationship Type="http://schemas.openxmlformats.org/officeDocument/2006/relationships/notesSlide" Target="/ppt/notesSlides/notesSlide82.xml" Id="Rd423cc2da1a5435e"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1520b1d2b7be429a" /><Relationship Type="http://schemas.openxmlformats.org/officeDocument/2006/relationships/notesSlide" Target="/ppt/notesSlides/notesSlide83.xml" Id="Rff1f10d7128b4ee1"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d9095572ba3846b6" /><Relationship Type="http://schemas.openxmlformats.org/officeDocument/2006/relationships/image" Target="/ppt/media/image35.png" Id="R108c916e356c46e8" /><Relationship Type="http://schemas.openxmlformats.org/officeDocument/2006/relationships/hyperlink" Target="https://arxiv.org/abs/2005.11401" TargetMode="External" Id="R32de91c51a574032" /><Relationship Type="http://schemas.openxmlformats.org/officeDocument/2006/relationships/notesSlide" Target="/ppt/notesSlides/notesSlide84.xml" Id="Ra51465dffec6493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79de17e059704609" /><Relationship Type="http://schemas.openxmlformats.org/officeDocument/2006/relationships/notesSlide" Target="/ppt/notesSlides/notesSlide85.xml" Id="R8900a51e60d7422c"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54fa9ed9ae174076" /><Relationship Type="http://schemas.openxmlformats.org/officeDocument/2006/relationships/notesSlide" Target="/ppt/notesSlides/notesSlide86.xml" Id="R580528b9fec44b46"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660f3a43e2654bc9" /><Relationship Type="http://schemas.openxmlformats.org/officeDocument/2006/relationships/notesSlide" Target="/ppt/notesSlides/notesSlide87.xml" Id="R3a97518b79944c9e"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62599c637e724e5f" /><Relationship Type="http://schemas.openxmlformats.org/officeDocument/2006/relationships/notesSlide" Target="/ppt/notesSlides/notesSlide88.xml" Id="R550eb698435a4a26"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a636d37982a74465" /><Relationship Type="http://schemas.openxmlformats.org/officeDocument/2006/relationships/notesSlide" Target="/ppt/notesSlides/notesSlide89.xml" Id="R873a41566f09458f"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c9057d57c39f47a7" /><Relationship Type="http://schemas.openxmlformats.org/officeDocument/2006/relationships/hyperlink" Target="https://lena-voita.github.io/nlp_course/word_embeddings.html" TargetMode="External" Id="R5620c761eeff4a1e" /><Relationship Type="http://schemas.openxmlformats.org/officeDocument/2006/relationships/hyperlink" Target="https://nlp.stanford.edu/projects/glove/" TargetMode="External" Id="R7b31a8a3f77a4e52" /><Relationship Type="http://schemas.openxmlformats.org/officeDocument/2006/relationships/hyperlink" Target="https://proceedings.mlr.press/v32/le14.html" TargetMode="External" Id="Rab125c6db1ab49cc" /><Relationship Type="http://schemas.openxmlformats.org/officeDocument/2006/relationships/hyperlink" Target="https://aclanthology.org/N19-1423/" TargetMode="External" Id="Re53caafa629f4818" /><Relationship Type="http://schemas.openxmlformats.org/officeDocument/2006/relationships/hyperlink" Target="https://aclanthology.org/D19-1410/" TargetMode="External" Id="R903c0d8a10654a24" /><Relationship Type="http://schemas.openxmlformats.org/officeDocument/2006/relationships/hyperlink" Target="https://arxiv.org/abs/2005.11401" TargetMode="External" Id="R5cd06f3e80944b51" /><Relationship Type="http://schemas.openxmlformats.org/officeDocument/2006/relationships/notesSlide" Target="/ppt/notesSlides/notesSlide90.xml" Id="R52a5354eb6364110"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28CD0D9-C9B2-4268-8FCA-05345897BF4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46D075A3-68FA-47E2-8129-547AAC41699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BAA4881-848B-4197-B89D-BABA73E71CB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58BA1C5-7867-49CB-ACB8-3208109ED99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450" b="1">
                <a:solidFill>
                  <a:srgbClr val="F5F5F7"/>
                </a:solidFill>
                <a:latin typeface="Helvetica Neue"/>
                <a:ea typeface="Helvetica Neue"/>
                <a:cs typeface="Helvetica Neue"/>
              </a:defRPr>
            </a:pPr>
            <a:r>
              <a:rPr sz="3450" b="1">
                <a:solidFill>
                  <a:srgbClr val="F5F5F7"/>
                </a:solidFill>
                <a:latin typeface="Helvetica Neue"/>
                <a:ea typeface="Helvetica Neue"/>
                <a:cs typeface="Helvetica Neue"/>
              </a:rPr>
              <a:t/>
            </a:r>
          </a:p>
        </p:txBody>
      </p:sp>
      <p:sp>
        <p:nvSpPr>
          <p:cNvPr id="5" name="text-4">
            <a:extLst xmlns:a="http://schemas.openxmlformats.org/drawingml/2006/main">
              <a:ext uri="{FF2B5EF4-FFF2-40B4-BE49-F238E27FC236}">
                <a16:creationId xmlns:a16="http://schemas.microsoft.com/office/drawing/2014/main" id="{4BCF8FEF-5A9A-432F-8DE4-449444FE45AC}"/>
              </a:ext>
            </a:extLst>
          </p:cNvPr>
          <p:cNvSpPr>
            <a:spLocks xmlns:a="http://schemas.openxmlformats.org/drawingml/2006/main" noGrp="1"/>
          </p:cNvSpPr>
          <p:nvPr/>
        </p:nvSpPr>
        <p:spPr>
          <a:xfrm xmlns:a="http://schemas.openxmlformats.org/drawingml/2006/main">
            <a:off x="685800" y="1685925"/>
            <a:ext cx="108204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1">
                <a:solidFill>
                  <a:srgbClr val="F5F5F7"/>
                </a:solidFill>
                <a:latin typeface="Helvetica Neue"/>
                <a:ea typeface="Helvetica Neue"/>
                <a:cs typeface="Helvetica Neue"/>
              </a:defRPr>
            </a:defPPr>
            <a:lvl1pPr algn="l">
              <a:buNone/>
              <a:defRPr sz="7050" b="1">
                <a:solidFill>
                  <a:srgbClr val="F5F5F7"/>
                </a:solidFill>
                <a:latin typeface="Helvetica Neue"/>
                <a:ea typeface="Helvetica Neue"/>
                <a:cs typeface="Helvetica Neue"/>
              </a:defRPr>
            </a:lvl1pPr>
            <a:lvl2pPr algn="l">
              <a:buNone/>
              <a:defRPr sz="7050" b="1">
                <a:solidFill>
                  <a:srgbClr val="F5F5F7"/>
                </a:solidFill>
                <a:latin typeface="Helvetica Neue"/>
                <a:ea typeface="Helvetica Neue"/>
                <a:cs typeface="Helvetica Neue"/>
              </a:defRPr>
            </a:lvl2pPr>
            <a:lvl3pPr algn="l">
              <a:buNone/>
              <a:defRPr sz="7050" b="1">
                <a:solidFill>
                  <a:srgbClr val="F5F5F7"/>
                </a:solidFill>
                <a:latin typeface="Helvetica Neue"/>
                <a:ea typeface="Helvetica Neue"/>
                <a:cs typeface="Helvetica Neue"/>
              </a:defRPr>
            </a:lvl3pPr>
            <a:lvl4pPr algn="l">
              <a:buNone/>
              <a:defRPr sz="7050" b="1">
                <a:solidFill>
                  <a:srgbClr val="F5F5F7"/>
                </a:solidFill>
                <a:latin typeface="Helvetica Neue"/>
                <a:ea typeface="Helvetica Neue"/>
                <a:cs typeface="Helvetica Neue"/>
              </a:defRPr>
            </a:lvl4pPr>
            <a:lvl5pPr algn="l">
              <a:buNone/>
              <a:defRPr sz="7050" b="1">
                <a:solidFill>
                  <a:srgbClr val="F5F5F7"/>
                </a:solidFill>
                <a:latin typeface="Helvetica Neue"/>
                <a:ea typeface="Helvetica Neue"/>
                <a:cs typeface="Helvetica Neue"/>
              </a:defRPr>
            </a:lvl5pPr>
            <a:lvl6pPr algn="l">
              <a:buNone/>
              <a:defRPr sz="7050" b="1">
                <a:solidFill>
                  <a:srgbClr val="F5F5F7"/>
                </a:solidFill>
                <a:latin typeface="Helvetica Neue"/>
                <a:ea typeface="Helvetica Neue"/>
                <a:cs typeface="Helvetica Neue"/>
              </a:defRPr>
            </a:lvl6pPr>
            <a:lvl7pPr algn="l">
              <a:buNone/>
              <a:defRPr sz="7050" b="1">
                <a:solidFill>
                  <a:srgbClr val="F5F5F7"/>
                </a:solidFill>
                <a:latin typeface="Helvetica Neue"/>
                <a:ea typeface="Helvetica Neue"/>
                <a:cs typeface="Helvetica Neue"/>
              </a:defRPr>
            </a:lvl7pPr>
            <a:lvl8pPr algn="l">
              <a:buNone/>
              <a:defRPr sz="7050" b="1">
                <a:solidFill>
                  <a:srgbClr val="F5F5F7"/>
                </a:solidFill>
                <a:latin typeface="Helvetica Neue"/>
                <a:ea typeface="Helvetica Neue"/>
                <a:cs typeface="Helvetica Neue"/>
              </a:defRPr>
            </a:lvl8pPr>
            <a:lvl9pPr algn="l">
              <a:buNone/>
              <a:defRPr sz="7050" b="1">
                <a:solidFill>
                  <a:srgbClr val="F5F5F7"/>
                </a:solidFill>
                <a:latin typeface="Helvetica Neue"/>
                <a:ea typeface="Helvetica Neue"/>
                <a:cs typeface="Helvetica Neue"/>
              </a:defRPr>
            </a:lvl9pPr>
          </a:lstStyle>
          <a:p xmlns:a="http://schemas.openxmlformats.org/drawingml/2006/main">
            <a:pPr algn="l">
              <a:buNone/>
              <a:defRPr sz="5775" b="1">
                <a:solidFill>
                  <a:srgbClr val="F5F5F7"/>
                </a:solidFill>
                <a:latin typeface="Helvetica Neue"/>
                <a:ea typeface="Helvetica Neue"/>
                <a:cs typeface="Helvetica Neue"/>
              </a:defRPr>
            </a:pPr>
            <a:r>
              <a:rPr sz="5775" b="1">
                <a:solidFill>
                  <a:srgbClr val="F5F5F7"/>
                </a:solidFill>
                <a:latin typeface="Helvetica Neue"/>
                <a:ea typeface="Helvetica Neue"/>
                <a:cs typeface="Helvetica Neue"/>
              </a:rPr>
              <a:t>Векторные</a:t>
            </a:r>
          </a:p>
          <a:p xmlns:a="http://schemas.openxmlformats.org/drawingml/2006/main">
            <a:pPr algn="l">
              <a:buNone/>
              <a:defRPr sz="5775" b="1">
                <a:solidFill>
                  <a:srgbClr val="F5F5F7"/>
                </a:solidFill>
                <a:latin typeface="Helvetica Neue"/>
                <a:ea typeface="Helvetica Neue"/>
                <a:cs typeface="Helvetica Neue"/>
              </a:defRPr>
            </a:pPr>
            <a:r>
              <a:rPr sz="5775" b="1">
                <a:solidFill>
                  <a:srgbClr val="F5F5F7"/>
                </a:solidFill>
                <a:latin typeface="Helvetica Neue"/>
                <a:ea typeface="Helvetica Neue"/>
                <a:cs typeface="Helvetica Neue"/>
              </a:rPr>
              <a:t>представления текста</a:t>
            </a:r>
          </a:p>
        </p:txBody>
      </p:sp>
      <p:sp>
        <p:nvSpPr>
          <p:cNvPr id="6" name="text-5">
            <a:extLst xmlns:a="http://schemas.openxmlformats.org/drawingml/2006/main">
              <a:ext uri="{FF2B5EF4-FFF2-40B4-BE49-F238E27FC236}">
                <a16:creationId xmlns:a16="http://schemas.microsoft.com/office/drawing/2014/main" id="{BBE66A9F-B6F0-4322-83E2-0F048CD3A759}"/>
              </a:ext>
            </a:extLst>
          </p:cNvPr>
          <p:cNvSpPr>
            <a:spLocks xmlns:a="http://schemas.openxmlformats.org/drawingml/2006/main" noGrp="1"/>
          </p:cNvSpPr>
          <p:nvPr/>
        </p:nvSpPr>
        <p:spPr>
          <a:xfrm xmlns:a="http://schemas.openxmlformats.org/drawingml/2006/main">
            <a:off x="723900" y="4124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98989F"/>
                </a:solidFill>
                <a:latin typeface="Helvetica Neue"/>
                <a:ea typeface="Helvetica Neue"/>
                <a:cs typeface="Helvetica Neue"/>
              </a:defRPr>
            </a:defPPr>
            <a:lvl1pPr algn="l">
              <a:buNone/>
              <a:defRPr sz="2400" b="0">
                <a:solidFill>
                  <a:srgbClr val="98989F"/>
                </a:solidFill>
                <a:latin typeface="Helvetica Neue"/>
                <a:ea typeface="Helvetica Neue"/>
                <a:cs typeface="Helvetica Neue"/>
              </a:defRPr>
            </a:lvl1pPr>
            <a:lvl2pPr algn="l">
              <a:buNone/>
              <a:defRPr sz="2400" b="0">
                <a:solidFill>
                  <a:srgbClr val="98989F"/>
                </a:solidFill>
                <a:latin typeface="Helvetica Neue"/>
                <a:ea typeface="Helvetica Neue"/>
                <a:cs typeface="Helvetica Neue"/>
              </a:defRPr>
            </a:lvl2pPr>
            <a:lvl3pPr algn="l">
              <a:buNone/>
              <a:defRPr sz="2400" b="0">
                <a:solidFill>
                  <a:srgbClr val="98989F"/>
                </a:solidFill>
                <a:latin typeface="Helvetica Neue"/>
                <a:ea typeface="Helvetica Neue"/>
                <a:cs typeface="Helvetica Neue"/>
              </a:defRPr>
            </a:lvl3pPr>
            <a:lvl4pPr algn="l">
              <a:buNone/>
              <a:defRPr sz="2400" b="0">
                <a:solidFill>
                  <a:srgbClr val="98989F"/>
                </a:solidFill>
                <a:latin typeface="Helvetica Neue"/>
                <a:ea typeface="Helvetica Neue"/>
                <a:cs typeface="Helvetica Neue"/>
              </a:defRPr>
            </a:lvl4pPr>
            <a:lvl5pPr algn="l">
              <a:buNone/>
              <a:defRPr sz="2400" b="0">
                <a:solidFill>
                  <a:srgbClr val="98989F"/>
                </a:solidFill>
                <a:latin typeface="Helvetica Neue"/>
                <a:ea typeface="Helvetica Neue"/>
                <a:cs typeface="Helvetica Neue"/>
              </a:defRPr>
            </a:lvl5pPr>
            <a:lvl6pPr algn="l">
              <a:buNone/>
              <a:defRPr sz="2400" b="0">
                <a:solidFill>
                  <a:srgbClr val="98989F"/>
                </a:solidFill>
                <a:latin typeface="Helvetica Neue"/>
                <a:ea typeface="Helvetica Neue"/>
                <a:cs typeface="Helvetica Neue"/>
              </a:defRPr>
            </a:lvl6pPr>
            <a:lvl7pPr algn="l">
              <a:buNone/>
              <a:defRPr sz="2400" b="0">
                <a:solidFill>
                  <a:srgbClr val="98989F"/>
                </a:solidFill>
                <a:latin typeface="Helvetica Neue"/>
                <a:ea typeface="Helvetica Neue"/>
                <a:cs typeface="Helvetica Neue"/>
              </a:defRPr>
            </a:lvl7pPr>
            <a:lvl8pPr algn="l">
              <a:buNone/>
              <a:defRPr sz="2400" b="0">
                <a:solidFill>
                  <a:srgbClr val="98989F"/>
                </a:solidFill>
                <a:latin typeface="Helvetica Neue"/>
                <a:ea typeface="Helvetica Neue"/>
                <a:cs typeface="Helvetica Neue"/>
              </a:defRPr>
            </a:lvl8pPr>
            <a:lvl9pPr algn="l">
              <a:buNone/>
              <a:defRPr sz="2400" b="0">
                <a:solidFill>
                  <a:srgbClr val="98989F"/>
                </a:solidFill>
                <a:latin typeface="Helvetica Neue"/>
                <a:ea typeface="Helvetica Neue"/>
                <a:cs typeface="Helvetica Neue"/>
              </a:defRPr>
            </a:lvl9pPr>
          </a:lstStyle>
          <a:p xmlns:a="http://schemas.openxmlformats.org/drawingml/2006/main">
            <a:pPr algn="l">
              <a:buNone/>
              <a:defRPr sz="2250" b="0">
                <a:solidFill>
                  <a:srgbClr val="98989F"/>
                </a:solidFill>
                <a:latin typeface="Helvetica Neue"/>
                <a:ea typeface="Helvetica Neue"/>
                <a:cs typeface="Helvetica Neue"/>
              </a:defRPr>
            </a:pPr>
            <a:r>
              <a:rPr sz="2250" b="0">
                <a:solidFill>
                  <a:srgbClr val="98989F"/>
                </a:solidFill>
                <a:latin typeface="Helvetica Neue"/>
                <a:ea typeface="Helvetica Neue"/>
                <a:cs typeface="Helvetica Neue"/>
              </a:rPr>
              <a:t>Static и contextual embeddings,</a:t>
            </a:r>
          </a:p>
          <a:p xmlns:a="http://schemas.openxmlformats.org/drawingml/2006/main">
            <a:pPr algn="l">
              <a:buNone/>
              <a:defRPr sz="2250" b="0">
                <a:solidFill>
                  <a:srgbClr val="98989F"/>
                </a:solidFill>
                <a:latin typeface="Helvetica Neue"/>
                <a:ea typeface="Helvetica Neue"/>
                <a:cs typeface="Helvetica Neue"/>
              </a:defRPr>
            </a:pPr>
            <a:r>
              <a:rPr sz="2250" b="0">
                <a:solidFill>
                  <a:srgbClr val="98989F"/>
                </a:solidFill>
                <a:latin typeface="Helvetica Neue"/>
                <a:ea typeface="Helvetica Neue"/>
                <a:cs typeface="Helvetica Neue"/>
              </a:rPr>
              <a:t>transfer learning, semantic search и RAG</a:t>
            </a:r>
          </a:p>
        </p:txBody>
      </p:sp>
      <p:sp>
        <p:nvSpPr>
          <p:cNvPr id="7" name="">
            <a:extLst xmlns:a="http://schemas.openxmlformats.org/drawingml/2006/main">
              <a:ext uri="{FF2B5EF4-FFF2-40B4-BE49-F238E27FC236}">
                <a16:creationId xmlns:a16="http://schemas.microsoft.com/office/drawing/2014/main" id="{CC808E86-0DDD-441F-9CFF-EAA294910DAE}"/>
              </a:ext>
            </a:extLst>
          </p:cNvPr>
          <p:cNvSpPr>
            <a:spLocks xmlns:a="http://schemas.openxmlformats.org/drawingml/2006/main" noGrp="1"/>
          </p:cNvSpPr>
          <p:nvPr/>
        </p:nvSpPr>
        <p:spPr>
          <a:xfrm xmlns:a="http://schemas.openxmlformats.org/drawingml/2006/main">
            <a:off x="685800" y="541020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8" name="text-7">
            <a:extLst xmlns:a="http://schemas.openxmlformats.org/drawingml/2006/main">
              <a:ext uri="{FF2B5EF4-FFF2-40B4-BE49-F238E27FC236}">
                <a16:creationId xmlns:a16="http://schemas.microsoft.com/office/drawing/2014/main" id="{8FD4D2FE-281B-40E5-AFE8-7739E86698A6}"/>
              </a:ext>
            </a:extLst>
          </p:cNvPr>
          <p:cNvSpPr>
            <a:spLocks xmlns:a="http://schemas.openxmlformats.org/drawingml/2006/main" noGrp="1"/>
          </p:cNvSpPr>
          <p:nvPr/>
        </p:nvSpPr>
        <p:spPr>
          <a:xfrm xmlns:a="http://schemas.openxmlformats.org/drawingml/2006/main">
            <a:off x="723900" y="57150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5F7"/>
                </a:solidFill>
                <a:latin typeface="Helvetica Neue"/>
                <a:ea typeface="Helvetica Neue"/>
                <a:cs typeface="Helvetica Neue"/>
              </a:defRPr>
            </a:defPPr>
            <a:lvl1pPr algn="l">
              <a:buNone/>
              <a:defRPr sz="1950" b="0">
                <a:solidFill>
                  <a:srgbClr val="F5F5F7"/>
                </a:solidFill>
                <a:latin typeface="Helvetica Neue"/>
                <a:ea typeface="Helvetica Neue"/>
                <a:cs typeface="Helvetica Neue"/>
              </a:defRPr>
            </a:lvl1pPr>
            <a:lvl2pPr algn="l">
              <a:buNone/>
              <a:defRPr sz="1950" b="0">
                <a:solidFill>
                  <a:srgbClr val="F5F5F7"/>
                </a:solidFill>
                <a:latin typeface="Helvetica Neue"/>
                <a:ea typeface="Helvetica Neue"/>
                <a:cs typeface="Helvetica Neue"/>
              </a:defRPr>
            </a:lvl2pPr>
            <a:lvl3pPr algn="l">
              <a:buNone/>
              <a:defRPr sz="1950" b="0">
                <a:solidFill>
                  <a:srgbClr val="F5F5F7"/>
                </a:solidFill>
                <a:latin typeface="Helvetica Neue"/>
                <a:ea typeface="Helvetica Neue"/>
                <a:cs typeface="Helvetica Neue"/>
              </a:defRPr>
            </a:lvl3pPr>
            <a:lvl4pPr algn="l">
              <a:buNone/>
              <a:defRPr sz="1950" b="0">
                <a:solidFill>
                  <a:srgbClr val="F5F5F7"/>
                </a:solidFill>
                <a:latin typeface="Helvetica Neue"/>
                <a:ea typeface="Helvetica Neue"/>
                <a:cs typeface="Helvetica Neue"/>
              </a:defRPr>
            </a:lvl4pPr>
            <a:lvl5pPr algn="l">
              <a:buNone/>
              <a:defRPr sz="1950" b="0">
                <a:solidFill>
                  <a:srgbClr val="F5F5F7"/>
                </a:solidFill>
                <a:latin typeface="Helvetica Neue"/>
                <a:ea typeface="Helvetica Neue"/>
                <a:cs typeface="Helvetica Neue"/>
              </a:defRPr>
            </a:lvl5pPr>
            <a:lvl6pPr algn="l">
              <a:buNone/>
              <a:defRPr sz="1950" b="0">
                <a:solidFill>
                  <a:srgbClr val="F5F5F7"/>
                </a:solidFill>
                <a:latin typeface="Helvetica Neue"/>
                <a:ea typeface="Helvetica Neue"/>
                <a:cs typeface="Helvetica Neue"/>
              </a:defRPr>
            </a:lvl6pPr>
            <a:lvl7pPr algn="l">
              <a:buNone/>
              <a:defRPr sz="1950" b="0">
                <a:solidFill>
                  <a:srgbClr val="F5F5F7"/>
                </a:solidFill>
                <a:latin typeface="Helvetica Neue"/>
                <a:ea typeface="Helvetica Neue"/>
                <a:cs typeface="Helvetica Neue"/>
              </a:defRPr>
            </a:lvl7pPr>
            <a:lvl8pPr algn="l">
              <a:buNone/>
              <a:defRPr sz="1950" b="0">
                <a:solidFill>
                  <a:srgbClr val="F5F5F7"/>
                </a:solidFill>
                <a:latin typeface="Helvetica Neue"/>
                <a:ea typeface="Helvetica Neue"/>
                <a:cs typeface="Helvetica Neue"/>
              </a:defRPr>
            </a:lvl8pPr>
            <a:lvl9pPr algn="l">
              <a:buNone/>
              <a:defRPr sz="1950" b="0">
                <a:solidFill>
                  <a:srgbClr val="F5F5F7"/>
                </a:solidFill>
                <a:latin typeface="Helvetica Neue"/>
                <a:ea typeface="Helvetica Neue"/>
                <a:cs typeface="Helvetica Neue"/>
              </a:defRPr>
            </a:lvl9pPr>
          </a:lstStyle>
          <a:p xmlns:a="http://schemas.openxmlformats.org/drawingml/2006/main">
            <a:pPr algn="l">
              <a:buNone/>
              <a:defRPr sz="1950" b="0">
                <a:solidFill>
                  <a:srgbClr val="F5F5F7"/>
                </a:solidFill>
                <a:latin typeface="Helvetica Neue"/>
                <a:ea typeface="Helvetica Neue"/>
                <a:cs typeface="Helvetica Neue"/>
              </a:defRPr>
            </a:pPr>
            <a:r>
              <a:rPr sz="1950" b="0">
                <a:solidFill>
                  <a:srgbClr val="F5F5F7"/>
                </a:solidFill>
                <a:latin typeface="Helvetica Neue"/>
                <a:ea typeface="Helvetica Neue"/>
                <a:cs typeface="Helvetica Neue"/>
              </a:rPr>
              <a:t>Алан-Барсаг Газзаев</a:t>
            </a:r>
          </a:p>
        </p:txBody>
      </p:sp>
      <p:sp>
        <p:nvSpPr>
          <p:cNvPr id="9" name="text-8">
            <a:extLst xmlns:a="http://schemas.openxmlformats.org/drawingml/2006/main">
              <a:ext uri="{FF2B5EF4-FFF2-40B4-BE49-F238E27FC236}">
                <a16:creationId xmlns:a16="http://schemas.microsoft.com/office/drawing/2014/main" id="{5E531DDA-7BE0-41D3-ACD4-06F6A937C9B4}"/>
              </a:ext>
            </a:extLst>
          </p:cNvPr>
          <p:cNvSpPr>
            <a:spLocks xmlns:a="http://schemas.openxmlformats.org/drawingml/2006/main" noGrp="1"/>
          </p:cNvSpPr>
          <p:nvPr/>
        </p:nvSpPr>
        <p:spPr>
          <a:xfrm xmlns:a="http://schemas.openxmlformats.org/drawingml/2006/main">
            <a:off x="6000750" y="5753100"/>
            <a:ext cx="5505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98989F"/>
                </a:solidFill>
                <a:latin typeface="Helvetica Neue"/>
                <a:ea typeface="Helvetica Neue"/>
                <a:cs typeface="Helvetica Neue"/>
              </a:defRPr>
            </a:defPPr>
            <a:lvl1pPr algn="r">
              <a:buNone/>
              <a:defRPr sz="1725" b="0">
                <a:solidFill>
                  <a:srgbClr val="98989F"/>
                </a:solidFill>
                <a:latin typeface="Helvetica Neue"/>
                <a:ea typeface="Helvetica Neue"/>
                <a:cs typeface="Helvetica Neue"/>
              </a:defRPr>
            </a:lvl1pPr>
            <a:lvl2pPr algn="r">
              <a:buNone/>
              <a:defRPr sz="1725" b="0">
                <a:solidFill>
                  <a:srgbClr val="98989F"/>
                </a:solidFill>
                <a:latin typeface="Helvetica Neue"/>
                <a:ea typeface="Helvetica Neue"/>
                <a:cs typeface="Helvetica Neue"/>
              </a:defRPr>
            </a:lvl2pPr>
            <a:lvl3pPr algn="r">
              <a:buNone/>
              <a:defRPr sz="1725" b="0">
                <a:solidFill>
                  <a:srgbClr val="98989F"/>
                </a:solidFill>
                <a:latin typeface="Helvetica Neue"/>
                <a:ea typeface="Helvetica Neue"/>
                <a:cs typeface="Helvetica Neue"/>
              </a:defRPr>
            </a:lvl3pPr>
            <a:lvl4pPr algn="r">
              <a:buNone/>
              <a:defRPr sz="1725" b="0">
                <a:solidFill>
                  <a:srgbClr val="98989F"/>
                </a:solidFill>
                <a:latin typeface="Helvetica Neue"/>
                <a:ea typeface="Helvetica Neue"/>
                <a:cs typeface="Helvetica Neue"/>
              </a:defRPr>
            </a:lvl4pPr>
            <a:lvl5pPr algn="r">
              <a:buNone/>
              <a:defRPr sz="1725" b="0">
                <a:solidFill>
                  <a:srgbClr val="98989F"/>
                </a:solidFill>
                <a:latin typeface="Helvetica Neue"/>
                <a:ea typeface="Helvetica Neue"/>
                <a:cs typeface="Helvetica Neue"/>
              </a:defRPr>
            </a:lvl5pPr>
            <a:lvl6pPr algn="r">
              <a:buNone/>
              <a:defRPr sz="1725" b="0">
                <a:solidFill>
                  <a:srgbClr val="98989F"/>
                </a:solidFill>
                <a:latin typeface="Helvetica Neue"/>
                <a:ea typeface="Helvetica Neue"/>
                <a:cs typeface="Helvetica Neue"/>
              </a:defRPr>
            </a:lvl6pPr>
            <a:lvl7pPr algn="r">
              <a:buNone/>
              <a:defRPr sz="1725" b="0">
                <a:solidFill>
                  <a:srgbClr val="98989F"/>
                </a:solidFill>
                <a:latin typeface="Helvetica Neue"/>
                <a:ea typeface="Helvetica Neue"/>
                <a:cs typeface="Helvetica Neue"/>
              </a:defRPr>
            </a:lvl7pPr>
            <a:lvl8pPr algn="r">
              <a:buNone/>
              <a:defRPr sz="1725" b="0">
                <a:solidFill>
                  <a:srgbClr val="98989F"/>
                </a:solidFill>
                <a:latin typeface="Helvetica Neue"/>
                <a:ea typeface="Helvetica Neue"/>
                <a:cs typeface="Helvetica Neue"/>
              </a:defRPr>
            </a:lvl8pPr>
            <a:lvl9pPr algn="r">
              <a:buNone/>
              <a:defRPr sz="1725" b="0">
                <a:solidFill>
                  <a:srgbClr val="98989F"/>
                </a:solidFill>
                <a:latin typeface="Helvetica Neue"/>
                <a:ea typeface="Helvetica Neue"/>
                <a:cs typeface="Helvetica Neue"/>
              </a:defRPr>
            </a:lvl9pPr>
          </a:lstStyle>
          <a:p xmlns:a="http://schemas.openxmlformats.org/drawingml/2006/main">
            <a:pPr algn="r">
              <a:buNone/>
              <a:defRPr sz="1725" b="0">
                <a:solidFill>
                  <a:srgbClr val="98989F"/>
                </a:solidFill>
                <a:latin typeface="Helvetica Neue"/>
                <a:ea typeface="Helvetica Neue"/>
                <a:cs typeface="Helvetica Neue"/>
              </a:defRPr>
            </a:pPr>
            <a:r>
              <a:rPr sz="1725" b="0">
                <a:solidFill>
                  <a:srgbClr val="98989F"/>
                </a:solidFill>
                <a:latin typeface="Helvetica Neue"/>
                <a:ea typeface="Helvetica Neue"/>
                <a:cs typeface="Helvetica Neue"/>
              </a:rPr>
              <a:t>Лекция 2</a:t>
            </a:r>
          </a:p>
        </p:txBody>
      </p:sp>
    </p:spTree>
    <p:extLst>
      <p:ext uri="{BB962C8B-B14F-4D97-AF65-F5344CB8AC3E}">
        <p14:creationId xmlns:p14="http://schemas.microsoft.com/office/powerpoint/2010/main" val="65582184"/>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25A2100B-D54A-450A-9C78-F27AAFCF138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B3396D10-F9C8-44CA-86B6-F4D426CD864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6B73750-2196-488E-ACED-C9DC55B36AC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FC97007-C7F7-45B4-A82C-2633BC6A95E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Содержание второй лекции</a:t>
            </a:r>
          </a:p>
        </p:txBody>
      </p:sp>
      <p:sp>
        <p:nvSpPr>
          <p:cNvPr id="17" name="lecture2-4">
            <a:extLst xmlns:a="http://schemas.openxmlformats.org/drawingml/2006/main">
              <a:ext uri="{FF2B5EF4-FFF2-40B4-BE49-F238E27FC236}">
                <a16:creationId xmlns:a16="http://schemas.microsoft.com/office/drawing/2014/main" id="{55ECA8C1-59C5-44BB-838A-DE40C73218AB}"/>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Static и document embeddings</a:t>
            </a:r>
          </a:p>
        </p:txBody>
      </p:sp>
      <p:sp>
        <p:nvSpPr>
          <p:cNvPr id="18" name="lecture2-5">
            <a:extLst xmlns:a="http://schemas.openxmlformats.org/drawingml/2006/main">
              <a:ext uri="{FF2B5EF4-FFF2-40B4-BE49-F238E27FC236}">
                <a16:creationId xmlns:a16="http://schemas.microsoft.com/office/drawing/2014/main" id="{17EDC1C9-3EBE-4DF6-A176-129AA5470C38}"/>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Сначала рассматривается связь между corpus, контекстом слова и его representation. Word2Vec, GloVe и fastText сравниваются по источнику обучающего сигнала и способу работы со словами. Затем обсуждаются representations предложений и документов: TF-IDF baseline, pooling word embeddings и doc2vec. Для каждого подхода важно понимать, какая информация сохраняется и что теряется.</a:t>
            </a:r>
          </a:p>
        </p:txBody>
      </p:sp>
      <p:sp>
        <p:nvSpPr>
          <p:cNvPr id="19" name="lecture2-6">
            <a:extLst xmlns:a="http://schemas.openxmlformats.org/drawingml/2006/main">
              <a:ext uri="{FF2B5EF4-FFF2-40B4-BE49-F238E27FC236}">
                <a16:creationId xmlns:a16="http://schemas.microsoft.com/office/drawing/2014/main" id="{457EFBE8-78F1-4DC2-A31A-3C17D3F5D5B7}"/>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Contextual embeddings и применение</a:t>
            </a:r>
          </a:p>
        </p:txBody>
      </p:sp>
      <p:sp>
        <p:nvSpPr>
          <p:cNvPr id="20" name="lecture2-7">
            <a:extLst xmlns:a="http://schemas.openxmlformats.org/drawingml/2006/main">
              <a:ext uri="{FF2B5EF4-FFF2-40B4-BE49-F238E27FC236}">
                <a16:creationId xmlns:a16="http://schemas.microsoft.com/office/drawing/2014/main" id="{7946DF6F-FF6D-4B7D-9617-C106E2F29FD3}"/>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ELMo и BERT вводят representation конкретного употребления слова. Transfer learning позволяет использовать pretrained model и адаптировать её к downstream task. Sentence embeddings связывают эти идеи с semantic search и RAG. Лекция объясняет понятия и выбор компонентов; код, получение embeddings и сравнение classifiers относятся к семинару.</a:t>
            </a:r>
          </a:p>
        </p:txBody>
      </p:sp>
    </p:spTree>
    <p:extLst>
      <p:ext uri="{BB962C8B-B14F-4D97-AF65-F5344CB8AC3E}">
        <p14:creationId xmlns:p14="http://schemas.microsoft.com/office/powerpoint/2010/main" val="101608184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2DB58BC-F0F4-4F03-A51E-6C719EDFC9B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6B735070-40FB-4073-84FF-111A4E99FC8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350E573-B179-457D-9B1C-16023C061955}"/>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8383793-1EBB-46E5-8A87-934EA91A8AA4}"/>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Уровни text representation</a:t>
            </a:r>
          </a:p>
        </p:txBody>
      </p:sp>
      <p:sp>
        <p:nvSpPr>
          <p:cNvPr id="10" name="lecture2-4">
            <a:extLst xmlns:a="http://schemas.openxmlformats.org/drawingml/2006/main">
              <a:ext uri="{FF2B5EF4-FFF2-40B4-BE49-F238E27FC236}">
                <a16:creationId xmlns:a16="http://schemas.microsoft.com/office/drawing/2014/main" id="{8170C909-70BD-4F56-B326-7F5FCC9A47FA}"/>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Объект, которому соответствует вектор, необходимо определить до выбора модели. Одинаковое слово embedding может обозначать разные уровни анализа.</a:t>
            </a:r>
          </a:p>
        </p:txBody>
      </p:sp>
      <p:graphicFrame>
        <p:nvGraphicFramePr>
          <p:cNvPr id="11" name="">
            <a:extLst xmlns:a="http://schemas.openxmlformats.org/drawingml/2006/main">
              <a:ext uri="{FF2B5EF4-FFF2-40B4-BE49-F238E27FC236}">
                <a16:creationId xmlns:a16="http://schemas.microsoft.com/office/drawing/2014/main" id="{D37BEFEB-789E-4549-8725-69912749F6A5}"/>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476500"/>
                <a:gridCol w="4095750"/>
                <a:gridCol w="4248150"/>
              </a:tblGrid>
              <a:tr h="666750">
                <a:tc>
                  <a:txBody>
                    <a:bodyPr lIns="114300" tIns="57150" rIns="114300" bIns="57150"/>
                    <a:lstStyle/>
                    <a:p>
                      <a:r>
                        <a:rPr sz="1725" b="1">
                          <a:solidFill>
                            <a:srgbClr val="98989F"/>
                          </a:solidFill>
                          <a:latin typeface="Helvetica Neue"/>
                          <a:ea typeface="Helvetica Neue"/>
                          <a:cs typeface="Helvetica Neue"/>
                        </a:rPr>
                        <a:t>Объект</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Что описывает vector</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Пример применения</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Token / word</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Элемент или его употребление</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Sequence labeling</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Sentence / passage</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Предложение или фрагмент</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Semantic search</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Document</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Документ целиком</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Classification, clustering</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2" name="lecture2-5">
            <a:extLst xmlns:a="http://schemas.openxmlformats.org/drawingml/2006/main">
              <a:ext uri="{FF2B5EF4-FFF2-40B4-BE49-F238E27FC236}">
                <a16:creationId xmlns:a16="http://schemas.microsoft.com/office/drawing/2014/main" id="{77B709BF-7879-47C6-8625-4F9391630D3F}"/>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Word embedding не становится sentence embedding автоматически. Для перехода между уровнями требуется pooling или отдельная модель.</a:t>
            </a:r>
          </a:p>
        </p:txBody>
      </p:sp>
    </p:spTree>
    <p:extLst>
      <p:ext uri="{BB962C8B-B14F-4D97-AF65-F5344CB8AC3E}">
        <p14:creationId xmlns:p14="http://schemas.microsoft.com/office/powerpoint/2010/main" val="316585084"/>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B88A4E6-0EC3-4774-818C-B087EF72626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0F193124-8622-4CE8-8E6C-0902363FBE1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79C9D88E-879B-4FD1-B42D-1B04F6051DFE}"/>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5B947B4-60C0-47FB-8CA7-45A90823481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Text representations в NLP pipeline</a:t>
            </a:r>
          </a:p>
        </p:txBody>
      </p:sp>
      <p:pic>
        <p:nvPicPr>
          <p:cNvPr id="8" name="">
            <a:extLst xmlns:a="http://schemas.openxmlformats.org/drawingml/2006/main">
              <a:ext uri="{FF2B5EF4-FFF2-40B4-BE49-F238E27FC236}">
                <a16:creationId xmlns:a16="http://schemas.microsoft.com/office/drawing/2014/main" id="{1DA723B4-90F3-4966-A3AE-17C4010CD9E8}"/>
              </a:ext>
            </a:extLst>
          </p:cNvPr>
          <p:cNvPicPr>
            <a:picLocks xmlns:a="http://schemas.openxmlformats.org/drawingml/2006/main" noChangeAspect="1"/>
          </p:cNvPicPr>
          <p:nvPr/>
        </p:nvPicPr>
        <p:blipFill>
          <a:blip xmlns:r="http://schemas.openxmlformats.org/officeDocument/2006/relationships" xmlns:a="http://schemas.openxmlformats.org/drawingml/2006/main" r:embed="Rb4d3f95f6a0746c6"/>
          <a:stretch xmlns:a="http://schemas.openxmlformats.org/drawingml/2006/main"/>
        </p:blipFill>
        <p:spPr>
          <a:xfrm xmlns:a="http://schemas.openxmlformats.org/drawingml/2006/main">
            <a:off x="3645688" y="2000250"/>
            <a:ext cx="4900624" cy="2381250"/>
          </a:xfrm>
          <a:prstGeom xmlns:a="http://schemas.openxmlformats.org/drawingml/2006/main" prst="rect">
            <a:avLst/>
          </a:prstGeom>
        </p:spPr>
      </p:pic>
      <p:sp>
        <p:nvSpPr>
          <p:cNvPr id="9" name="lecture2-4">
            <a:extLst xmlns:a="http://schemas.openxmlformats.org/drawingml/2006/main">
              <a:ext uri="{FF2B5EF4-FFF2-40B4-BE49-F238E27FC236}">
                <a16:creationId xmlns:a16="http://schemas.microsoft.com/office/drawing/2014/main" id="{30E4CABF-743F-4233-AF9D-FAD61B78F7AB}"/>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Исходный текст сначала превращается в последовательность tokens. Модель получает численные representations этих элементов, а затем строит ответ на прикладную задачу. На схеме word representations являются входом для следующего алгоритма. Смысл каждой координаты обычно не задан заранее: полезная информация распределена по вектору и проявляется в сравнении с другими representations.</a:t>
            </a:r>
          </a:p>
        </p:txBody>
      </p:sp>
    </p:spTree>
    <p:extLst>
      <p:ext uri="{BB962C8B-B14F-4D97-AF65-F5344CB8AC3E}">
        <p14:creationId xmlns:p14="http://schemas.microsoft.com/office/powerpoint/2010/main" val="32641761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9845AF02-0402-4898-B61D-2A0AEA8F6C2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7E222730-E18C-4808-8AB6-8BE481C3B39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E985132B-CF58-49CC-8FC5-8337F062804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AEBB7EF-D0E0-4063-BCC8-BA274A7FB98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Sparse и dense representations</a:t>
            </a:r>
          </a:p>
        </p:txBody>
      </p:sp>
      <p:sp>
        <p:nvSpPr>
          <p:cNvPr id="13" name="lecture2-4">
            <a:extLst xmlns:a="http://schemas.openxmlformats.org/drawingml/2006/main">
              <a:ext uri="{FF2B5EF4-FFF2-40B4-BE49-F238E27FC236}">
                <a16:creationId xmlns:a16="http://schemas.microsoft.com/office/drawing/2014/main" id="{3C66054A-2E28-4C67-AFFA-E8360D255707}"/>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Различие относится к организации численного описания. Оно само по себе не определяет качество решения.</a:t>
            </a:r>
          </a:p>
        </p:txBody>
      </p:sp>
      <p:graphicFrame>
        <p:nvGraphicFramePr>
          <p:cNvPr id="14" name="">
            <a:extLst xmlns:a="http://schemas.openxmlformats.org/drawingml/2006/main">
              <a:ext uri="{FF2B5EF4-FFF2-40B4-BE49-F238E27FC236}">
                <a16:creationId xmlns:a16="http://schemas.microsoft.com/office/drawing/2014/main" id="{340C3696-1056-4379-8B53-08102AC3A26C}"/>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476500"/>
                <a:gridCol w="4171950"/>
                <a:gridCol w="4171950"/>
              </a:tblGrid>
              <a:tr h="666750">
                <a:tc>
                  <a:txBody>
                    <a:bodyPr lIns="114300" tIns="57150" rIns="114300" bIns="57150"/>
                    <a:lstStyle/>
                    <a:p>
                      <a:r>
                        <a:rPr sz="1725" b="1">
                          <a:solidFill>
                            <a:srgbClr val="98989F"/>
                          </a:solidFill>
                          <a:latin typeface="Helvetica Neue"/>
                          <a:ea typeface="Helvetica Neue"/>
                          <a:cs typeface="Helvetica Neue"/>
                        </a:rPr>
                        <a:t>Свойство</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Sparse representation</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Dense representation</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Координаты</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Часто связаны с vocabulary</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Обычно обучаются совместно</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Нулевые значения</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Преобладают у коротких текстов</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Обычно не преобладают</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Пример</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Counts, TF-IDF</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Word и sentence embeddings</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5" name="lecture2-5">
            <a:extLst xmlns:a="http://schemas.openxmlformats.org/drawingml/2006/main">
              <a:ext uri="{FF2B5EF4-FFF2-40B4-BE49-F238E27FC236}">
                <a16:creationId xmlns:a16="http://schemas.microsoft.com/office/drawing/2014/main" id="{1DAFBFEE-3A3E-4EE6-8757-8AAB8F1D4906}"/>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Sparse features удобны для точных lexical signals. Dense embeddings позволяют учитывать статистические связи между разными формулировками, но тоже зависят от данных и задачи.</a:t>
            </a:r>
          </a:p>
        </p:txBody>
      </p:sp>
    </p:spTree>
    <p:extLst>
      <p:ext uri="{BB962C8B-B14F-4D97-AF65-F5344CB8AC3E}">
        <p14:creationId xmlns:p14="http://schemas.microsoft.com/office/powerpoint/2010/main" val="1252138942"/>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1BA118B-6EA9-447F-9F88-A6F80B07AF9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B59A801-2133-4223-84DB-84983CD7D94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64359F5A-C126-4B86-B687-CCBC5D3B6D1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3703A4A4-449E-4C6E-867E-95ED9AF4F5F7}"/>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One-hot representation</a:t>
            </a:r>
          </a:p>
        </p:txBody>
      </p:sp>
      <p:pic>
        <p:nvPicPr>
          <p:cNvPr id="14" name="">
            <a:extLst xmlns:a="http://schemas.openxmlformats.org/drawingml/2006/main">
              <a:ext uri="{FF2B5EF4-FFF2-40B4-BE49-F238E27FC236}">
                <a16:creationId xmlns:a16="http://schemas.microsoft.com/office/drawing/2014/main" id="{37F0BFD8-052D-416C-A237-F11BD640DA0A}"/>
              </a:ext>
            </a:extLst>
          </p:cNvPr>
          <p:cNvPicPr>
            <a:picLocks xmlns:a="http://schemas.openxmlformats.org/drawingml/2006/main" noChangeAspect="1"/>
          </p:cNvPicPr>
          <p:nvPr/>
        </p:nvPicPr>
        <p:blipFill>
          <a:blip xmlns:r="http://schemas.openxmlformats.org/officeDocument/2006/relationships" xmlns:a="http://schemas.openxmlformats.org/drawingml/2006/main" r:embed="R24b2045dbd804d4e"/>
          <a:stretch xmlns:a="http://schemas.openxmlformats.org/drawingml/2006/main"/>
        </p:blipFill>
        <p:spPr>
          <a:xfrm xmlns:a="http://schemas.openxmlformats.org/drawingml/2006/main">
            <a:off x="1809322" y="2095500"/>
            <a:ext cx="3944205" cy="3905250"/>
          </a:xfrm>
          <a:prstGeom xmlns:a="http://schemas.openxmlformats.org/drawingml/2006/main" prst="rect">
            <a:avLst/>
          </a:prstGeom>
        </p:spPr>
      </p:pic>
      <p:sp>
        <p:nvSpPr>
          <p:cNvPr id="15" name="lecture2-4">
            <a:extLst xmlns:a="http://schemas.openxmlformats.org/drawingml/2006/main">
              <a:ext uri="{FF2B5EF4-FFF2-40B4-BE49-F238E27FC236}">
                <a16:creationId xmlns:a16="http://schemas.microsoft.com/office/drawing/2014/main" id="{82A4FC3A-ED05-4684-A557-E34FE8329BE0}"/>
              </a:ext>
            </a:extLst>
          </p:cNvPr>
          <p:cNvSpPr>
            <a:spLocks xmlns:a="http://schemas.openxmlformats.org/drawingml/2006/main" noGrp="1"/>
          </p:cNvSpPr>
          <p:nvPr/>
        </p:nvSpPr>
        <p:spPr>
          <a:xfrm xmlns:a="http://schemas.openxmlformats.org/drawingml/2006/main">
            <a:off x="7239000" y="2076450"/>
            <a:ext cx="4267200" cy="427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В one-hot vector одна координата равна единице, остальные — нулю. Координата выбирается по позиции слова в vocabulary. Размер representation совпадает с размером vocabulary; разные слова получают разные независимые координаты. Такой способ сохраняет идентичность элемента, но сам по себе не сообщает, что cat ближе по смыслу к dog, чем к table. Для смысловых отношений необходим дополнительный обучающий сигнал.</a:t>
            </a:r>
          </a:p>
        </p:txBody>
      </p:sp>
    </p:spTree>
    <p:extLst>
      <p:ext uri="{BB962C8B-B14F-4D97-AF65-F5344CB8AC3E}">
        <p14:creationId xmlns:p14="http://schemas.microsoft.com/office/powerpoint/2010/main" val="133882144"/>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D7F0E7F-2427-4754-8C93-3BA71D30082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7379A119-3F44-4F4D-BB61-0E22ECFFD02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537AA2B-DFBC-4AD4-86A1-975DAC0BDDAC}"/>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37054109-6CCA-4D32-AE7E-90BB960E661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Embedding lookup table</a:t>
            </a:r>
          </a:p>
        </p:txBody>
      </p:sp>
      <p:pic>
        <p:nvPicPr>
          <p:cNvPr id="9" name="">
            <a:extLst xmlns:a="http://schemas.openxmlformats.org/drawingml/2006/main">
              <a:ext uri="{FF2B5EF4-FFF2-40B4-BE49-F238E27FC236}">
                <a16:creationId xmlns:a16="http://schemas.microsoft.com/office/drawing/2014/main" id="{BA99C8A8-EC3A-4A18-95C7-FB01DD65BD20}"/>
              </a:ext>
            </a:extLst>
          </p:cNvPr>
          <p:cNvPicPr>
            <a:picLocks xmlns:a="http://schemas.openxmlformats.org/drawingml/2006/main" noChangeAspect="1"/>
          </p:cNvPicPr>
          <p:nvPr/>
        </p:nvPicPr>
        <p:blipFill>
          <a:blip xmlns:r="http://schemas.openxmlformats.org/officeDocument/2006/relationships" xmlns:a="http://schemas.openxmlformats.org/drawingml/2006/main" r:embed="R8975710fdc0f4bf9"/>
          <a:stretch xmlns:a="http://schemas.openxmlformats.org/drawingml/2006/main"/>
        </p:blipFill>
        <p:spPr>
          <a:xfrm xmlns:a="http://schemas.openxmlformats.org/drawingml/2006/main">
            <a:off x="2626380" y="2000250"/>
            <a:ext cx="6939240" cy="3905250"/>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40769BE7-A5BF-4FD4-800E-C95831322024}"/>
              </a:ext>
            </a:extLst>
          </p:cNvPr>
          <p:cNvSpPr>
            <a:spLocks xmlns:a="http://schemas.openxmlformats.org/drawingml/2006/main" noGrp="1"/>
          </p:cNvSpPr>
          <p:nvPr/>
        </p:nvSpPr>
        <p:spPr>
          <a:xfrm xmlns:a="http://schemas.openxmlformats.org/drawingml/2006/main">
            <a:off x="685800" y="60864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Token ID выбирает строку embedding matrix. Vocabulary и embeddings должны сохранять одно и то же соответствие.</a:t>
            </a:r>
          </a:p>
        </p:txBody>
      </p:sp>
    </p:spTree>
    <p:extLst>
      <p:ext uri="{BB962C8B-B14F-4D97-AF65-F5344CB8AC3E}">
        <p14:creationId xmlns:p14="http://schemas.microsoft.com/office/powerpoint/2010/main" val="727312423"/>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4926D93D-D037-4933-BB46-7DD196535E9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1F140012-1C8D-4B0E-9032-D6602BD873B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00A2D3C0-D895-4CFF-B259-7C982BABDF0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DA3E38E8-05A0-4BF1-892D-9D820120F0B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Distributional hypothesis</a:t>
            </a:r>
          </a:p>
        </p:txBody>
      </p:sp>
      <p:sp>
        <p:nvSpPr>
          <p:cNvPr id="13" name="lecture2-4">
            <a:extLst xmlns:a="http://schemas.openxmlformats.org/drawingml/2006/main">
              <a:ext uri="{FF2B5EF4-FFF2-40B4-BE49-F238E27FC236}">
                <a16:creationId xmlns:a16="http://schemas.microsoft.com/office/drawing/2014/main" id="{B2A6A607-E848-45F0-A896-C9490E690F70}"/>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Контексты как наблюдаемые данные</a:t>
            </a:r>
          </a:p>
        </p:txBody>
      </p:sp>
      <p:sp>
        <p:nvSpPr>
          <p:cNvPr id="14" name="lecture2-5">
            <a:extLst xmlns:a="http://schemas.openxmlformats.org/drawingml/2006/main">
              <a:ext uri="{FF2B5EF4-FFF2-40B4-BE49-F238E27FC236}">
                <a16:creationId xmlns:a16="http://schemas.microsoft.com/office/drawing/2014/main" id="{C41148A7-4478-4496-8385-C6D1CB395219}"/>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Distributional hypothesis связывает смысловую близость со сходством контекстов употребления. Если два слова встречаются в похожих окружениях, по corpus можно обнаружить между ними статистическую связь. Это даёт обучающий сигнал без ручной разметки значения каждого слова. При этом контекст определяется выбранным методом: соседние слова, предложение или документ.</a:t>
            </a:r>
          </a:p>
        </p:txBody>
      </p:sp>
      <p:sp>
        <p:nvSpPr>
          <p:cNvPr id="15" name="lecture2-6">
            <a:extLst xmlns:a="http://schemas.openxmlformats.org/drawingml/2006/main">
              <a:ext uri="{FF2B5EF4-FFF2-40B4-BE49-F238E27FC236}">
                <a16:creationId xmlns:a16="http://schemas.microsoft.com/office/drawing/2014/main" id="{A37FDCF9-83F2-40BA-9BE2-8D6377F4C58B}"/>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Границы предположения</a:t>
            </a:r>
          </a:p>
        </p:txBody>
      </p:sp>
      <p:sp>
        <p:nvSpPr>
          <p:cNvPr id="16" name="lecture2-7">
            <a:extLst xmlns:a="http://schemas.openxmlformats.org/drawingml/2006/main">
              <a:ext uri="{FF2B5EF4-FFF2-40B4-BE49-F238E27FC236}">
                <a16:creationId xmlns:a16="http://schemas.microsoft.com/office/drawing/2014/main" id="{0C16DC8A-02B8-4741-9633-58807F562096}"/>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Похожее окружение не означает полную взаимозаменяемость. Antonyms, слова одной темы и названия конкурирующих объектов тоже могут встречаться в сходных контекстах. Representation отражает закономерности corpus и цель обучения. Поэтому близость vectors интерпретируют относительно задачи, а не как универсальное определение одинакового значения.</a:t>
            </a:r>
          </a:p>
        </p:txBody>
      </p:sp>
    </p:spTree>
    <p:extLst>
      <p:ext uri="{BB962C8B-B14F-4D97-AF65-F5344CB8AC3E}">
        <p14:creationId xmlns:p14="http://schemas.microsoft.com/office/powerpoint/2010/main" val="524637326"/>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E45DF0DC-4366-47E1-ABA6-6C4AD8A8C380}"/>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7A549C5E-B73A-4E82-BAEE-B1610450298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30775F86-4598-4C5D-B803-FC1752B82DD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86277C20-6B27-4D28-98EF-B4052CB608B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Значение слова через контексты</a:t>
            </a:r>
          </a:p>
        </p:txBody>
      </p:sp>
      <p:pic>
        <p:nvPicPr>
          <p:cNvPr id="10" name="">
            <a:extLst xmlns:a="http://schemas.openxmlformats.org/drawingml/2006/main">
              <a:ext uri="{FF2B5EF4-FFF2-40B4-BE49-F238E27FC236}">
                <a16:creationId xmlns:a16="http://schemas.microsoft.com/office/drawing/2014/main" id="{B1C7045C-3405-4A06-B158-1E1B7E987C51}"/>
              </a:ext>
            </a:extLst>
          </p:cNvPr>
          <p:cNvPicPr>
            <a:picLocks xmlns:a="http://schemas.openxmlformats.org/drawingml/2006/main" noChangeAspect="1"/>
          </p:cNvPicPr>
          <p:nvPr/>
        </p:nvPicPr>
        <p:blipFill>
          <a:blip xmlns:r="http://schemas.openxmlformats.org/officeDocument/2006/relationships" xmlns:a="http://schemas.openxmlformats.org/drawingml/2006/main" r:embed="R1d4e2f3f4ccc4b88"/>
          <a:stretch xmlns:a="http://schemas.openxmlformats.org/drawingml/2006/main"/>
        </p:blipFill>
        <p:spPr>
          <a:xfrm xmlns:a="http://schemas.openxmlformats.org/drawingml/2006/main">
            <a:off x="3319906" y="2000250"/>
            <a:ext cx="5552188" cy="2381250"/>
          </a:xfrm>
          <a:prstGeom xmlns:a="http://schemas.openxmlformats.org/drawingml/2006/main" prst="rect">
            <a:avLst/>
          </a:prstGeom>
        </p:spPr>
      </p:pic>
      <p:sp>
        <p:nvSpPr>
          <p:cNvPr id="11" name="lecture2-4">
            <a:extLst xmlns:a="http://schemas.openxmlformats.org/drawingml/2006/main">
              <a:ext uri="{FF2B5EF4-FFF2-40B4-BE49-F238E27FC236}">
                <a16:creationId xmlns:a16="http://schemas.microsoft.com/office/drawing/2014/main" id="{58FD0F35-9DC5-430D-90F8-8081A5335AB8}"/>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В примере курса значение незнакомого слова tezgüino постепенно становится понятнее по окружающим выражениям. Каждое употребление ограничивает возможную интерпретацию. Аналогично corpus даёт модели множество наблюдений о слове, даже когда определение не предоставлено. Один случай может быть неоднозначен; устойчивые закономерности обнаруживаются при сопоставлении разных контекстов.</a:t>
            </a:r>
          </a:p>
        </p:txBody>
      </p:sp>
    </p:spTree>
    <p:extLst>
      <p:ext uri="{BB962C8B-B14F-4D97-AF65-F5344CB8AC3E}">
        <p14:creationId xmlns:p14="http://schemas.microsoft.com/office/powerpoint/2010/main" val="1224089733"/>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CE7CE62-266C-4939-967D-67A97D32FE9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AEAE9199-9E0E-415D-9757-53109826774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023AA583-BA98-45A3-B174-895CEBE1A6E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BFF55E2-3E20-4206-B6AD-28842F48D2A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Context window</a:t>
            </a:r>
          </a:p>
        </p:txBody>
      </p:sp>
      <p:pic>
        <p:nvPicPr>
          <p:cNvPr id="13" name="">
            <a:extLst xmlns:a="http://schemas.openxmlformats.org/drawingml/2006/main">
              <a:ext uri="{FF2B5EF4-FFF2-40B4-BE49-F238E27FC236}">
                <a16:creationId xmlns:a16="http://schemas.microsoft.com/office/drawing/2014/main" id="{9A71B750-51AE-4E1E-8A7B-EAA86D024959}"/>
              </a:ext>
            </a:extLst>
          </p:cNvPr>
          <p:cNvPicPr>
            <a:picLocks xmlns:a="http://schemas.openxmlformats.org/drawingml/2006/main" noChangeAspect="1"/>
          </p:cNvPicPr>
          <p:nvPr/>
        </p:nvPicPr>
        <p:blipFill>
          <a:blip xmlns:r="http://schemas.openxmlformats.org/officeDocument/2006/relationships" xmlns:a="http://schemas.openxmlformats.org/drawingml/2006/main" r:embed="R8fc67e555024414f"/>
          <a:stretch xmlns:a="http://schemas.openxmlformats.org/drawingml/2006/main"/>
        </p:blipFill>
        <p:spPr>
          <a:xfrm xmlns:a="http://schemas.openxmlformats.org/drawingml/2006/main">
            <a:off x="1803175" y="2000250"/>
            <a:ext cx="8585651" cy="2381250"/>
          </a:xfrm>
          <a:prstGeom xmlns:a="http://schemas.openxmlformats.org/drawingml/2006/main" prst="rect">
            <a:avLst/>
          </a:prstGeom>
        </p:spPr>
      </p:pic>
      <p:sp>
        <p:nvSpPr>
          <p:cNvPr id="14" name="lecture2-4">
            <a:extLst xmlns:a="http://schemas.openxmlformats.org/drawingml/2006/main">
              <a:ext uri="{FF2B5EF4-FFF2-40B4-BE49-F238E27FC236}">
                <a16:creationId xmlns:a16="http://schemas.microsoft.com/office/drawing/2014/main" id="{0689180B-2CA0-432C-A355-267A5ECECA90}"/>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Context window определяет, какие соседние слова считаются окружением текущего слова. Окно перемещается по corpus и создаёт наблюдения для разных позиций. Размер window влияет на характер информации: ближайшие слова часто связаны с локальной конструкцией, более широкое окружение может отражать тему. Конкретный результат зависит также от corpus, weighting и preprocessing.</a:t>
            </a:r>
          </a:p>
        </p:txBody>
      </p:sp>
    </p:spTree>
    <p:extLst>
      <p:ext uri="{BB962C8B-B14F-4D97-AF65-F5344CB8AC3E}">
        <p14:creationId xmlns:p14="http://schemas.microsoft.com/office/powerpoint/2010/main" val="1450068230"/>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23BE2BC4-05CE-4132-B483-9D94CB81A57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53CBAB8A-6F2A-4556-9652-183CA88D798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6C8F1795-0CFB-43A5-BB9C-FE8EB3CE6E7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93AD2AD-929A-4BBE-880D-9FDF26D5978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Выбор контекста</a:t>
            </a:r>
          </a:p>
        </p:txBody>
      </p:sp>
      <p:sp>
        <p:nvSpPr>
          <p:cNvPr id="16" name="lecture2-4">
            <a:extLst xmlns:a="http://schemas.openxmlformats.org/drawingml/2006/main">
              <a:ext uri="{FF2B5EF4-FFF2-40B4-BE49-F238E27FC236}">
                <a16:creationId xmlns:a16="http://schemas.microsoft.com/office/drawing/2014/main" id="{FCB199B2-E5B7-4193-8644-679B031451B6}"/>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Локальный и широкий контекст</a:t>
            </a:r>
          </a:p>
        </p:txBody>
      </p:sp>
      <p:sp>
        <p:nvSpPr>
          <p:cNvPr id="17" name="lecture2-5">
            <a:extLst xmlns:a="http://schemas.openxmlformats.org/drawingml/2006/main">
              <a:ext uri="{FF2B5EF4-FFF2-40B4-BE49-F238E27FC236}">
                <a16:creationId xmlns:a16="http://schemas.microsoft.com/office/drawing/2014/main" id="{F545E13E-C3D6-4F7F-A849-22FB7352D7CA}"/>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Для слова bank ближайшие элементы river и credit дают разные сигналы, хотя сама запись остаётся одинаковой. Контекст можно ограничить фиксированным числом tokens, предложением или более крупной единицей. Если границы документов игнорируются, в обучающие наблюдения могут попасть искусственные соседства, которых нет в реальном языке.</a:t>
            </a:r>
          </a:p>
        </p:txBody>
      </p:sp>
      <p:sp>
        <p:nvSpPr>
          <p:cNvPr id="18" name="lecture2-6">
            <a:extLst xmlns:a="http://schemas.openxmlformats.org/drawingml/2006/main">
              <a:ext uri="{FF2B5EF4-FFF2-40B4-BE49-F238E27FC236}">
                <a16:creationId xmlns:a16="http://schemas.microsoft.com/office/drawing/2014/main" id="{E1112A13-24AF-4A5C-BE41-C7B25DDC4E13}"/>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Параметры representation</a:t>
            </a:r>
          </a:p>
        </p:txBody>
      </p:sp>
      <p:sp>
        <p:nvSpPr>
          <p:cNvPr id="19" name="lecture2-7">
            <a:extLst xmlns:a="http://schemas.openxmlformats.org/drawingml/2006/main">
              <a:ext uri="{FF2B5EF4-FFF2-40B4-BE49-F238E27FC236}">
                <a16:creationId xmlns:a16="http://schemas.microsoft.com/office/drawing/2014/main" id="{E2FBEC0F-B2E9-47C9-8675-A1BCEA123C9E}"/>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Учитывается не только размер window, но и направление, расстояние до слова и правила исключения элементов. Узкий контекст и широкий контекст отвечают разным исследовательским вопросам. Выбор должен проверяться по полезности representations в downstream task. Универсального размера window для всех языков и коллекций не существует.</a:t>
            </a:r>
          </a:p>
        </p:txBody>
      </p:sp>
    </p:spTree>
    <p:extLst>
      <p:ext uri="{BB962C8B-B14F-4D97-AF65-F5344CB8AC3E}">
        <p14:creationId xmlns:p14="http://schemas.microsoft.com/office/powerpoint/2010/main" val="545565139"/>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D022ECC9-AFB6-4A09-AB24-F541F781C4F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9A5E7ECB-7C2A-4A69-BFF0-1F8EB8079FE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4B055A91-D1C7-4C3E-AD3B-19D1BC0245A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CEF9D515-2D13-481B-91F7-BE747E81A35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Word–context matrix</a:t>
            </a:r>
          </a:p>
        </p:txBody>
      </p:sp>
      <p:pic>
        <p:nvPicPr>
          <p:cNvPr id="9" name="">
            <a:extLst xmlns:a="http://schemas.openxmlformats.org/drawingml/2006/main">
              <a:ext uri="{FF2B5EF4-FFF2-40B4-BE49-F238E27FC236}">
                <a16:creationId xmlns:a16="http://schemas.microsoft.com/office/drawing/2014/main" id="{29854EE7-8DB5-4C24-AF0B-FBDF6FC7C025}"/>
              </a:ext>
            </a:extLst>
          </p:cNvPr>
          <p:cNvPicPr>
            <a:picLocks xmlns:a="http://schemas.openxmlformats.org/drawingml/2006/main" noChangeAspect="1"/>
          </p:cNvPicPr>
          <p:nvPr/>
        </p:nvPicPr>
        <p:blipFill>
          <a:blip xmlns:r="http://schemas.openxmlformats.org/officeDocument/2006/relationships" xmlns:a="http://schemas.openxmlformats.org/drawingml/2006/main" r:embed="R84ab4080e1cc4e49"/>
          <a:stretch xmlns:a="http://schemas.openxmlformats.org/drawingml/2006/main"/>
        </p:blipFill>
        <p:spPr>
          <a:xfrm xmlns:a="http://schemas.openxmlformats.org/drawingml/2006/main">
            <a:off x="685800" y="2196112"/>
            <a:ext cx="6191250" cy="3704026"/>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1D0C4365-13B3-4618-A964-2368BBBE99E1}"/>
              </a:ext>
            </a:extLst>
          </p:cNvPr>
          <p:cNvSpPr>
            <a:spLocks xmlns:a="http://schemas.openxmlformats.org/drawingml/2006/main" noGrp="1"/>
          </p:cNvSpPr>
          <p:nvPr/>
        </p:nvSpPr>
        <p:spPr>
          <a:xfrm xmlns:a="http://schemas.openxmlformats.org/drawingml/2006/main">
            <a:off x="7239000" y="2076450"/>
            <a:ext cx="4267200" cy="427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Строка word–context matrix описывает, с какими context words встречалось выбранное слово. Счётчики собираются по corpus. Сходство строк показывает сходство наблюдаемых окружений; редкие слова имеют меньше надёжных наблюдений. Матрица может быть очень большой и sparse. Поэтому используют weighting и уменьшение размерности, чтобы получить более компактное representation.</a:t>
            </a:r>
          </a:p>
        </p:txBody>
      </p:sp>
    </p:spTree>
    <p:extLst>
      <p:ext uri="{BB962C8B-B14F-4D97-AF65-F5344CB8AC3E}">
        <p14:creationId xmlns:p14="http://schemas.microsoft.com/office/powerpoint/2010/main" val="155634378"/>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E09BCC4C-4656-46FE-8B86-589161DA871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693A3E6A-5A52-41CA-8DC5-369DD14D8D2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55B78FB6-F441-41FE-A838-850AD6B2FFC1}"/>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AE4BEB3-80EF-47B0-8099-CCDDB3644EF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Count-based representations</a:t>
            </a:r>
          </a:p>
        </p:txBody>
      </p:sp>
      <p:pic>
        <p:nvPicPr>
          <p:cNvPr id="25" name="">
            <a:extLst xmlns:a="http://schemas.openxmlformats.org/drawingml/2006/main">
              <a:ext uri="{FF2B5EF4-FFF2-40B4-BE49-F238E27FC236}">
                <a16:creationId xmlns:a16="http://schemas.microsoft.com/office/drawing/2014/main" id="{554B98C0-6972-4885-9675-921779F6B565}"/>
              </a:ext>
            </a:extLst>
          </p:cNvPr>
          <p:cNvPicPr>
            <a:picLocks xmlns:a="http://schemas.openxmlformats.org/drawingml/2006/main" noChangeAspect="1"/>
          </p:cNvPicPr>
          <p:nvPr/>
        </p:nvPicPr>
        <p:blipFill>
          <a:blip xmlns:r="http://schemas.openxmlformats.org/officeDocument/2006/relationships" xmlns:a="http://schemas.openxmlformats.org/drawingml/2006/main" r:embed="R5ba9ca44b2c74433"/>
          <a:stretch xmlns:a="http://schemas.openxmlformats.org/drawingml/2006/main"/>
        </p:blipFill>
        <p:spPr>
          <a:xfrm xmlns:a="http://schemas.openxmlformats.org/drawingml/2006/main">
            <a:off x="1519193" y="2000250"/>
            <a:ext cx="9153614" cy="3905250"/>
          </a:xfrm>
          <a:prstGeom xmlns:a="http://schemas.openxmlformats.org/drawingml/2006/main" prst="rect">
            <a:avLst/>
          </a:prstGeom>
        </p:spPr>
      </p:pic>
      <p:sp>
        <p:nvSpPr>
          <p:cNvPr id="26" name="lecture2-4">
            <a:extLst xmlns:a="http://schemas.openxmlformats.org/drawingml/2006/main">
              <a:ext uri="{FF2B5EF4-FFF2-40B4-BE49-F238E27FC236}">
                <a16:creationId xmlns:a16="http://schemas.microsoft.com/office/drawing/2014/main" id="{200C7F39-259D-41E7-A9C0-6ECFD1B62FD2}"/>
              </a:ext>
            </a:extLst>
          </p:cNvPr>
          <p:cNvSpPr>
            <a:spLocks xmlns:a="http://schemas.openxmlformats.org/drawingml/2006/main" noGrp="1"/>
          </p:cNvSpPr>
          <p:nvPr/>
        </p:nvSpPr>
        <p:spPr>
          <a:xfrm xmlns:a="http://schemas.openxmlformats.org/drawingml/2006/main">
            <a:off x="685800" y="60864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Статистика word–context преобразуется в компактные representations. Выбор контекстов определяет исходную информацию.</a:t>
            </a:r>
          </a:p>
        </p:txBody>
      </p:sp>
    </p:spTree>
    <p:extLst>
      <p:ext uri="{BB962C8B-B14F-4D97-AF65-F5344CB8AC3E}">
        <p14:creationId xmlns:p14="http://schemas.microsoft.com/office/powerpoint/2010/main" val="587640044"/>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3BC73BA5-1E53-46F0-9455-348B58BCF61C}"/>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ACF093C0-CD28-4733-993F-D721810D163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5126BDB0-4875-4ADF-8F64-717D1F54DEF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683DA44C-D287-4ED1-B976-324D71F4215F}"/>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Dimensionality reduction</a:t>
            </a:r>
          </a:p>
        </p:txBody>
      </p:sp>
      <p:sp>
        <p:nvSpPr>
          <p:cNvPr id="10" name="lecture2-4">
            <a:extLst xmlns:a="http://schemas.openxmlformats.org/drawingml/2006/main">
              <a:ext uri="{FF2B5EF4-FFF2-40B4-BE49-F238E27FC236}">
                <a16:creationId xmlns:a16="http://schemas.microsoft.com/office/drawing/2014/main" id="{02EEFE98-EA10-4FE8-9122-FCC07A220745}"/>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Компактное описание</a:t>
            </a:r>
          </a:p>
        </p:txBody>
      </p:sp>
      <p:sp>
        <p:nvSpPr>
          <p:cNvPr id="11" name="lecture2-5">
            <a:extLst xmlns:a="http://schemas.openxmlformats.org/drawingml/2006/main">
              <a:ext uri="{FF2B5EF4-FFF2-40B4-BE49-F238E27FC236}">
                <a16:creationId xmlns:a16="http://schemas.microsoft.com/office/drawing/2014/main" id="{4F5923ED-8334-4FBD-B49F-379EE54163D5}"/>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Разные context words могут появляться вместе и нести близкую информацию. Dimensionality reduction описывает часть этой структуры меньшим числом координат. Например, LSA строит низкоразмерное приближение term–document matrix: исходные признаки объединяются в общие направления, отражающие совместное употребление слов.</a:t>
            </a:r>
          </a:p>
        </p:txBody>
      </p:sp>
      <p:sp>
        <p:nvSpPr>
          <p:cNvPr id="12" name="lecture2-6">
            <a:extLst xmlns:a="http://schemas.openxmlformats.org/drawingml/2006/main">
              <a:ext uri="{FF2B5EF4-FFF2-40B4-BE49-F238E27FC236}">
                <a16:creationId xmlns:a16="http://schemas.microsoft.com/office/drawing/2014/main" id="{ACA8812E-19D5-415C-AA97-271876EFA955}"/>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Выбор embedding dimension</a:t>
            </a:r>
          </a:p>
        </p:txBody>
      </p:sp>
      <p:sp>
        <p:nvSpPr>
          <p:cNvPr id="13" name="lecture2-7">
            <a:extLst xmlns:a="http://schemas.openxmlformats.org/drawingml/2006/main">
              <a:ext uri="{FF2B5EF4-FFF2-40B4-BE49-F238E27FC236}">
                <a16:creationId xmlns:a16="http://schemas.microsoft.com/office/drawing/2014/main" id="{9FE70349-F4FE-413B-B8B5-02F1E757F57C}"/>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Число координат задаёт ёмкость representation и влияет на хранение и вычисления. Слишком маленький vector может потерять полезные различия; увеличение dimension не гарантирует рост качества при ограниченных данных. Координаты нового пространства обычно не соответствуют отдельным словам и не получают однозначных человеческих названий.</a:t>
            </a:r>
          </a:p>
        </p:txBody>
      </p:sp>
    </p:spTree>
    <p:extLst>
      <p:ext uri="{BB962C8B-B14F-4D97-AF65-F5344CB8AC3E}">
        <p14:creationId xmlns:p14="http://schemas.microsoft.com/office/powerpoint/2010/main" val="1467724818"/>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81BDB82-4290-4AB0-9286-661A65662C1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692173A2-7B29-4C06-9782-95C9B6BA81E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5ED1D84E-592B-490E-9DA7-2486581EE65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BC83DA46-D153-4322-AE86-172D8B68ADE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TF-IDF как baseline</a:t>
            </a:r>
          </a:p>
        </p:txBody>
      </p:sp>
      <p:sp>
        <p:nvSpPr>
          <p:cNvPr id="17" name="lecture2-4">
            <a:extLst xmlns:a="http://schemas.openxmlformats.org/drawingml/2006/main">
              <a:ext uri="{FF2B5EF4-FFF2-40B4-BE49-F238E27FC236}">
                <a16:creationId xmlns:a16="http://schemas.microsoft.com/office/drawing/2014/main" id="{AEF9B3C2-A658-400F-8246-81E3AF2C6F2C}"/>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Representation документа</a:t>
            </a:r>
          </a:p>
        </p:txBody>
      </p:sp>
      <p:sp>
        <p:nvSpPr>
          <p:cNvPr id="18" name="lecture2-5">
            <a:extLst xmlns:a="http://schemas.openxmlformats.org/drawingml/2006/main">
              <a:ext uri="{FF2B5EF4-FFF2-40B4-BE49-F238E27FC236}">
                <a16:creationId xmlns:a16="http://schemas.microsoft.com/office/drawing/2014/main" id="{1F4E4A83-CDBE-4E20-80ED-571EF9D003F2}"/>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 TF-IDF документ задаётся весами terms из vocabulary. Координаты имеют понятную связь с текстом, а различия формулировок учитываются только через выбранные features и preprocessing. Такой baseline особенно полезен, когда в задаче важны точные слова, номера, редкие названия или устойчивые сочетания. Получение features не требует обучения большой neural model.</a:t>
            </a:r>
          </a:p>
        </p:txBody>
      </p:sp>
      <p:sp>
        <p:nvSpPr>
          <p:cNvPr id="19" name="lecture2-6">
            <a:extLst xmlns:a="http://schemas.openxmlformats.org/drawingml/2006/main">
              <a:ext uri="{FF2B5EF4-FFF2-40B4-BE49-F238E27FC236}">
                <a16:creationId xmlns:a16="http://schemas.microsoft.com/office/drawing/2014/main" id="{4B1E189E-1AEB-4F1F-B0DE-9DE270C3CB24}"/>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Сравнение с embeddings</a:t>
            </a:r>
          </a:p>
        </p:txBody>
      </p:sp>
      <p:sp>
        <p:nvSpPr>
          <p:cNvPr id="20" name="lecture2-7">
            <a:extLst xmlns:a="http://schemas.openxmlformats.org/drawingml/2006/main">
              <a:ext uri="{FF2B5EF4-FFF2-40B4-BE49-F238E27FC236}">
                <a16:creationId xmlns:a16="http://schemas.microsoft.com/office/drawing/2014/main" id="{56EAFD70-E356-40D5-A383-C2266C0B39D3}"/>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TF-IDF и dense embeddings сравнивают на одинаковом split и с одинаковыми labels. Dense representation может сопоставлять тексты без общих слов, но иногда теряет точные lexical distinctions. Поэтому переход к embeddings является гипотезой об улучшении, которую нужно проверить. Baseline позволяет измерить полезность дополнительной сложности.</a:t>
            </a:r>
          </a:p>
        </p:txBody>
      </p:sp>
    </p:spTree>
    <p:extLst>
      <p:ext uri="{BB962C8B-B14F-4D97-AF65-F5344CB8AC3E}">
        <p14:creationId xmlns:p14="http://schemas.microsoft.com/office/powerpoint/2010/main" val="1910000168"/>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DCE0916B-49D6-48F3-8F66-66FB57B51AF8}"/>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E69A151-1D3B-44EB-ACD5-AB3F3A81F214}"/>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A984EEA0-FE37-436B-B921-3DA5B8397A8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A87E894-F6AC-4C62-A339-14290408D28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 vectors и document vectors</a:t>
            </a:r>
          </a:p>
        </p:txBody>
      </p:sp>
      <p:sp>
        <p:nvSpPr>
          <p:cNvPr id="16" name="lecture2-4">
            <a:extLst xmlns:a="http://schemas.openxmlformats.org/drawingml/2006/main">
              <a:ext uri="{FF2B5EF4-FFF2-40B4-BE49-F238E27FC236}">
                <a16:creationId xmlns:a16="http://schemas.microsoft.com/office/drawing/2014/main" id="{15AEFDCE-117A-412C-B6E2-80D31B12343F}"/>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Сначала определяют, какой объект описывает vector и как получены его координаты. Одинаковая численная размерность не означает одинаковую интерпретацию.</a:t>
            </a:r>
          </a:p>
        </p:txBody>
      </p:sp>
      <p:graphicFrame>
        <p:nvGraphicFramePr>
          <p:cNvPr id="17" name="">
            <a:extLst xmlns:a="http://schemas.openxmlformats.org/drawingml/2006/main">
              <a:ext uri="{FF2B5EF4-FFF2-40B4-BE49-F238E27FC236}">
                <a16:creationId xmlns:a16="http://schemas.microsoft.com/office/drawing/2014/main" id="{E5134CE8-21A4-4D6B-ABAD-F55D71D7711B}"/>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3095625"/>
                <a:gridCol w="2476500"/>
                <a:gridCol w="5248275"/>
              </a:tblGrid>
              <a:tr h="666750">
                <a:tc>
                  <a:txBody>
                    <a:bodyPr lIns="114300" tIns="57150" rIns="114300" bIns="57150"/>
                    <a:lstStyle/>
                    <a:p>
                      <a:r>
                        <a:rPr sz="1725" b="1">
                          <a:solidFill>
                            <a:srgbClr val="98989F"/>
                          </a:solidFill>
                          <a:latin typeface="Helvetica Neue"/>
                          <a:ea typeface="Helvetica Neue"/>
                          <a:cs typeface="Helvetica Neue"/>
                        </a:rPr>
                        <a:t>Representation</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Один объект</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Содержание координат</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Word–context</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Слово</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Его окружения в corpus</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TF-IDF document</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Документ</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Вес каждого term</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Sentence embedding</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Предложение</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Обучаемые общие признаки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8" name="lecture2-5">
            <a:extLst xmlns:a="http://schemas.openxmlformats.org/drawingml/2006/main">
              <a:ext uri="{FF2B5EF4-FFF2-40B4-BE49-F238E27FC236}">
                <a16:creationId xmlns:a16="http://schemas.microsoft.com/office/drawing/2014/main" id="{D43AC8AB-66DA-4C09-93E9-B89AF1CA7C8A}"/>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Нельзя сравнивать word vector и document vector только потому, что у них одинаковая длина. Они должны находиться в согласованном пространстве и быть предназначены для такого сравнения.</a:t>
            </a:r>
          </a:p>
        </p:txBody>
      </p:sp>
    </p:spTree>
    <p:extLst>
      <p:ext uri="{BB962C8B-B14F-4D97-AF65-F5344CB8AC3E}">
        <p14:creationId xmlns:p14="http://schemas.microsoft.com/office/powerpoint/2010/main" val="51013027"/>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text-0">
            <a:extLst xmlns:a="http://schemas.openxmlformats.org/drawingml/2006/main">
              <a:ext uri="{FF2B5EF4-FFF2-40B4-BE49-F238E27FC236}">
                <a16:creationId xmlns:a16="http://schemas.microsoft.com/office/drawing/2014/main" id="{AA81E572-01F7-43BA-BEDE-3B6F90F87EB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6C8ABB60-0302-4EDA-8846-DBA7C4654AE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D67C5AED-F561-4AE7-9DB0-9C0543A2A3E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35B9CBA-D52E-4F74-A4C2-724B10723F1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Embedding space</a:t>
            </a:r>
          </a:p>
        </p:txBody>
      </p:sp>
      <p:sp>
        <p:nvSpPr>
          <p:cNvPr id="22" name="lecture2-4">
            <a:extLst xmlns:a="http://schemas.openxmlformats.org/drawingml/2006/main">
              <a:ext uri="{FF2B5EF4-FFF2-40B4-BE49-F238E27FC236}">
                <a16:creationId xmlns:a16="http://schemas.microsoft.com/office/drawing/2014/main" id="{2C263AFD-0A84-40F3-8FC9-8652BB5AF120}"/>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Отдельный vector и пространство</a:t>
            </a:r>
          </a:p>
        </p:txBody>
      </p:sp>
      <p:sp>
        <p:nvSpPr>
          <p:cNvPr id="23" name="lecture2-5">
            <a:extLst xmlns:a="http://schemas.openxmlformats.org/drawingml/2006/main">
              <a:ext uri="{FF2B5EF4-FFF2-40B4-BE49-F238E27FC236}">
                <a16:creationId xmlns:a16="http://schemas.microsoft.com/office/drawing/2014/main" id="{A2424C09-0618-4CCB-ACF3-50ABD1E4FD88}"/>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Embedding dimension задаёт длину representation. Один vector интерпретируется через отношения с другими vectors, полученными совместимым способом. Близкие точки могут соответствовать похожим текстам или словам, если это поддерживается обучающей целью. Сам номер координаты обычно не имеет фиксированного значения вроде «тональность» или «тема».</a:t>
            </a:r>
          </a:p>
        </p:txBody>
      </p:sp>
      <p:sp>
        <p:nvSpPr>
          <p:cNvPr id="24" name="lecture2-6">
            <a:extLst xmlns:a="http://schemas.openxmlformats.org/drawingml/2006/main">
              <a:ext uri="{FF2B5EF4-FFF2-40B4-BE49-F238E27FC236}">
                <a16:creationId xmlns:a16="http://schemas.microsoft.com/office/drawing/2014/main" id="{61D7EB38-A64E-49B3-BBE9-CB38C1EE40F0}"/>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Совместимость координат</a:t>
            </a:r>
          </a:p>
        </p:txBody>
      </p:sp>
      <p:sp>
        <p:nvSpPr>
          <p:cNvPr id="25" name="lecture2-7">
            <a:extLst xmlns:a="http://schemas.openxmlformats.org/drawingml/2006/main">
              <a:ext uri="{FF2B5EF4-FFF2-40B4-BE49-F238E27FC236}">
                <a16:creationId xmlns:a16="http://schemas.microsoft.com/office/drawing/2014/main" id="{005F85EF-3DA0-4F87-90FC-A0BF7F9E822E}"/>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Два независимо обученных пространства нельзя напрямую смешивать. Даже если оба используют 300 координат, направление одной оси не обязано совпадать. Замена encoder или его weights обычно требует повторного вычисления всех representations в index. Совместимость определяется моделью и настройками, а не только размерностью.</a:t>
            </a:r>
          </a:p>
        </p:txBody>
      </p:sp>
    </p:spTree>
    <p:extLst>
      <p:ext uri="{BB962C8B-B14F-4D97-AF65-F5344CB8AC3E}">
        <p14:creationId xmlns:p14="http://schemas.microsoft.com/office/powerpoint/2010/main" val="1175164395"/>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12B709DE-EE66-44BB-93B2-93EDAFA5060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EB9C9ACD-FA79-4E1F-9102-493B07A9789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0E74EDBE-AD88-41DF-BD13-595B378441E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99FDAD1-25D1-4D1E-B04F-5B1868FAD35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Cosine similarity</a:t>
            </a:r>
          </a:p>
        </p:txBody>
      </p:sp>
      <p:sp>
        <p:nvSpPr>
          <p:cNvPr id="18" name="lecture2-4">
            <a:extLst xmlns:a="http://schemas.openxmlformats.org/drawingml/2006/main">
              <a:ext uri="{FF2B5EF4-FFF2-40B4-BE49-F238E27FC236}">
                <a16:creationId xmlns:a16="http://schemas.microsoft.com/office/drawing/2014/main" id="{5B4829C7-DE78-4E47-A1F8-CB41B6AFE60B}"/>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Сравнение направлений</a:t>
            </a:r>
          </a:p>
        </p:txBody>
      </p:sp>
      <p:sp>
        <p:nvSpPr>
          <p:cNvPr id="19" name="lecture2-5">
            <a:extLst xmlns:a="http://schemas.openxmlformats.org/drawingml/2006/main">
              <a:ext uri="{FF2B5EF4-FFF2-40B4-BE49-F238E27FC236}">
                <a16:creationId xmlns:a16="http://schemas.microsoft.com/office/drawing/2014/main" id="{361A14D5-9E71-4DFB-AA59-077FF340F195}"/>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Cosine similarity сравнивает направления vectors. При совпадающем направлении score максимален; противоположное направление даёт отрицательное значение. Длина vector при таком сравнении исключается через normalization. Геометрический смысл показателя не означает, что он автоматически измеряет semantic similarity: это зависит от того, как получены embeddings.</a:t>
            </a:r>
          </a:p>
        </p:txBody>
      </p:sp>
      <p:sp>
        <p:nvSpPr>
          <p:cNvPr id="20" name="lecture2-6">
            <a:extLst xmlns:a="http://schemas.openxmlformats.org/drawingml/2006/main">
              <a:ext uri="{FF2B5EF4-FFF2-40B4-BE49-F238E27FC236}">
                <a16:creationId xmlns:a16="http://schemas.microsoft.com/office/drawing/2014/main" id="{70647DD0-1619-4046-8AB9-880D1ABD7E33}"/>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Интерпретация score</a:t>
            </a:r>
          </a:p>
        </p:txBody>
      </p:sp>
      <p:sp>
        <p:nvSpPr>
          <p:cNvPr id="21" name="lecture2-7">
            <a:extLst xmlns:a="http://schemas.openxmlformats.org/drawingml/2006/main">
              <a:ext uri="{FF2B5EF4-FFF2-40B4-BE49-F238E27FC236}">
                <a16:creationId xmlns:a16="http://schemas.microsoft.com/office/drawing/2014/main" id="{A3954689-E44F-490E-8EF2-B2B0929A9C30}"/>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Cosine score не является вероятностью релевантности и не задаёт универсальный порог. Распределение значений меняется между моделями, языками и задачами. Для поиска важен порядок candidates; для решения «похожи или нет» порог выбирают на размеченных примерах. Для zero vector cosine similarity не определена без дополнительного соглашения.</a:t>
            </a:r>
          </a:p>
        </p:txBody>
      </p:sp>
    </p:spTree>
    <p:extLst>
      <p:ext uri="{BB962C8B-B14F-4D97-AF65-F5344CB8AC3E}">
        <p14:creationId xmlns:p14="http://schemas.microsoft.com/office/powerpoint/2010/main" val="48982712"/>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3262FAA6-9362-484F-B094-65131915143C}"/>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15C3A569-E815-4D29-92DD-7F139CF9402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A329461C-B59A-424D-9E0C-FEB5B3DD361C}"/>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BD28938-1172-4F60-861C-A1A5EAE1232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Nearest neighbors</a:t>
            </a:r>
          </a:p>
        </p:txBody>
      </p:sp>
      <p:pic>
        <p:nvPicPr>
          <p:cNvPr id="10" name="">
            <a:extLst xmlns:a="http://schemas.openxmlformats.org/drawingml/2006/main">
              <a:ext uri="{FF2B5EF4-FFF2-40B4-BE49-F238E27FC236}">
                <a16:creationId xmlns:a16="http://schemas.microsoft.com/office/drawing/2014/main" id="{E2D13193-94A2-4EC1-A16A-AC41989DE9D2}"/>
              </a:ext>
            </a:extLst>
          </p:cNvPr>
          <p:cNvPicPr>
            <a:picLocks xmlns:a="http://schemas.openxmlformats.org/drawingml/2006/main" noChangeAspect="1"/>
          </p:cNvPicPr>
          <p:nvPr/>
        </p:nvPicPr>
        <p:blipFill>
          <a:blip xmlns:r="http://schemas.openxmlformats.org/officeDocument/2006/relationships" xmlns:a="http://schemas.openxmlformats.org/drawingml/2006/main" r:embed="R0df3052d54c34459"/>
          <a:stretch xmlns:a="http://schemas.openxmlformats.org/drawingml/2006/main"/>
        </p:blipFill>
        <p:spPr>
          <a:xfrm xmlns:a="http://schemas.openxmlformats.org/drawingml/2006/main">
            <a:off x="3597081" y="2000250"/>
            <a:ext cx="4997838" cy="2381250"/>
          </a:xfrm>
          <a:prstGeom xmlns:a="http://schemas.openxmlformats.org/drawingml/2006/main" prst="rect">
            <a:avLst/>
          </a:prstGeom>
        </p:spPr>
      </p:pic>
      <p:sp>
        <p:nvSpPr>
          <p:cNvPr id="11" name="lecture2-4">
            <a:extLst xmlns:a="http://schemas.openxmlformats.org/drawingml/2006/main">
              <a:ext uri="{FF2B5EF4-FFF2-40B4-BE49-F238E27FC236}">
                <a16:creationId xmlns:a16="http://schemas.microsoft.com/office/drawing/2014/main" id="{16574489-00D3-4FB9-B77C-71296F148BDC}"/>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Nearest neighbors — элементы с наиболее близкими vectors по выбранной similarity measure. Пример из курса показывает соседей слова frog: среди них есть родственные формы и другие названия животных. Такой просмотр помогает понять структуру пространства и обнаружить проблемы vocabulary. Он не заменяет evaluation на прикладной задаче: убедительные отдельные примеры не характеризуют всю модель.</a:t>
            </a:r>
          </a:p>
        </p:txBody>
      </p:sp>
    </p:spTree>
    <p:extLst>
      <p:ext uri="{BB962C8B-B14F-4D97-AF65-F5344CB8AC3E}">
        <p14:creationId xmlns:p14="http://schemas.microsoft.com/office/powerpoint/2010/main" val="32046490"/>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F1907EEE-096E-4C28-829F-F2C980BA760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2BB2BEA1-6040-4030-A62B-DCD9A0C22DB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380EF481-AFDE-4252-B49B-B9C4DB5AD246}"/>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AEC02416-D9A2-4DE6-86D5-8963510817C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Similarity и relatedness</a:t>
            </a:r>
          </a:p>
        </p:txBody>
      </p:sp>
      <p:pic>
        <p:nvPicPr>
          <p:cNvPr id="16" name="">
            <a:extLst xmlns:a="http://schemas.openxmlformats.org/drawingml/2006/main">
              <a:ext uri="{FF2B5EF4-FFF2-40B4-BE49-F238E27FC236}">
                <a16:creationId xmlns:a16="http://schemas.microsoft.com/office/drawing/2014/main" id="{EDE41326-3143-419A-806A-F6B19AA324A7}"/>
              </a:ext>
            </a:extLst>
          </p:cNvPr>
          <p:cNvPicPr>
            <a:picLocks xmlns:a="http://schemas.openxmlformats.org/drawingml/2006/main" noChangeAspect="1"/>
          </p:cNvPicPr>
          <p:nvPr/>
        </p:nvPicPr>
        <p:blipFill>
          <a:blip xmlns:r="http://schemas.openxmlformats.org/officeDocument/2006/relationships" xmlns:a="http://schemas.openxmlformats.org/drawingml/2006/main" r:embed="R3b502ea0402e4c1d"/>
          <a:stretch xmlns:a="http://schemas.openxmlformats.org/drawingml/2006/main"/>
        </p:blipFill>
        <p:spPr>
          <a:xfrm xmlns:a="http://schemas.openxmlformats.org/drawingml/2006/main">
            <a:off x="1807860" y="2095500"/>
            <a:ext cx="3947129" cy="3905250"/>
          </a:xfrm>
          <a:prstGeom xmlns:a="http://schemas.openxmlformats.org/drawingml/2006/main" prst="rect">
            <a:avLst/>
          </a:prstGeom>
        </p:spPr>
      </p:pic>
      <p:sp>
        <p:nvSpPr>
          <p:cNvPr id="17" name="lecture2-4">
            <a:extLst xmlns:a="http://schemas.openxmlformats.org/drawingml/2006/main">
              <a:ext uri="{FF2B5EF4-FFF2-40B4-BE49-F238E27FC236}">
                <a16:creationId xmlns:a16="http://schemas.microsoft.com/office/drawing/2014/main" id="{0ECAAB79-1AE5-4ED6-A6C3-0958F34533D3}"/>
              </a:ext>
            </a:extLst>
          </p:cNvPr>
          <p:cNvSpPr>
            <a:spLocks xmlns:a="http://schemas.openxmlformats.org/drawingml/2006/main" noGrp="1"/>
          </p:cNvSpPr>
          <p:nvPr/>
        </p:nvSpPr>
        <p:spPr>
          <a:xfrm xmlns:a="http://schemas.openxmlformats.org/drawingml/2006/main">
            <a:off x="7239000" y="2076450"/>
            <a:ext cx="4267200" cy="427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Слова good и bad могут иметь близкие контексты: оба описывают качество товара, фильма или обслуживания. Поэтому distributional representations способны сближать antonyms. Для sentiment analysis это не означает одинаковую class label. Classifier должен научиться использовать нужные различия, а при необходимости representation дополнительно адаптируют к задаче. Геометрическая близость и одинаковый ответ модели — разные свойства.</a:t>
            </a:r>
          </a:p>
        </p:txBody>
      </p:sp>
    </p:spTree>
    <p:extLst>
      <p:ext uri="{BB962C8B-B14F-4D97-AF65-F5344CB8AC3E}">
        <p14:creationId xmlns:p14="http://schemas.microsoft.com/office/powerpoint/2010/main" val="2060421391"/>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6175D380-6C74-4F4D-B58B-AA91F1B0E839}"/>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39F1651-D230-4D59-8F03-7D7F4A863F7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2B679AD7-5A69-4DA7-8A36-36AB42D0EC6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3D40F5B-D6CA-4CE6-8B8A-53CF9CCF10A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 analogies</a:t>
            </a:r>
          </a:p>
        </p:txBody>
      </p:sp>
      <p:pic>
        <p:nvPicPr>
          <p:cNvPr id="16" name="">
            <a:extLst xmlns:a="http://schemas.openxmlformats.org/drawingml/2006/main">
              <a:ext uri="{FF2B5EF4-FFF2-40B4-BE49-F238E27FC236}">
                <a16:creationId xmlns:a16="http://schemas.microsoft.com/office/drawing/2014/main" id="{CDF74239-97FC-48AD-BC23-49AEBE10770B}"/>
              </a:ext>
            </a:extLst>
          </p:cNvPr>
          <p:cNvPicPr>
            <a:picLocks xmlns:a="http://schemas.openxmlformats.org/drawingml/2006/main" noChangeAspect="1"/>
          </p:cNvPicPr>
          <p:nvPr/>
        </p:nvPicPr>
        <p:blipFill>
          <a:blip xmlns:r="http://schemas.openxmlformats.org/officeDocument/2006/relationships" xmlns:a="http://schemas.openxmlformats.org/drawingml/2006/main" r:embed="R368a29c2a39347e2"/>
          <a:stretch xmlns:a="http://schemas.openxmlformats.org/drawingml/2006/main"/>
        </p:blipFill>
        <p:spPr>
          <a:xfrm xmlns:a="http://schemas.openxmlformats.org/drawingml/2006/main">
            <a:off x="3955815" y="2000250"/>
            <a:ext cx="4280370" cy="2381250"/>
          </a:xfrm>
          <a:prstGeom xmlns:a="http://schemas.openxmlformats.org/drawingml/2006/main" prst="rect">
            <a:avLst/>
          </a:prstGeom>
        </p:spPr>
      </p:pic>
      <p:sp>
        <p:nvSpPr>
          <p:cNvPr id="17" name="lecture2-4">
            <a:extLst xmlns:a="http://schemas.openxmlformats.org/drawingml/2006/main">
              <a:ext uri="{FF2B5EF4-FFF2-40B4-BE49-F238E27FC236}">
                <a16:creationId xmlns:a16="http://schemas.microsoft.com/office/drawing/2014/main" id="{59868204-22B9-4DF6-B6BC-47E1146C94F9}"/>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Word analogy проверяет, сохраняются ли некоторые отношения между парами слов в геометрии пространства. Известные примеры сопоставляют роли или формы слов. На схеме показана иллюстрация такого отношения, а не универсальное правило рассуждения. Результат зависит от vocabulary, corpus и способа поиска ответа; удачная analogy не доказывает понимания всех свойств связанных понятий.</a:t>
            </a:r>
          </a:p>
        </p:txBody>
      </p:sp>
    </p:spTree>
    <p:extLst>
      <p:ext uri="{BB962C8B-B14F-4D97-AF65-F5344CB8AC3E}">
        <p14:creationId xmlns:p14="http://schemas.microsoft.com/office/powerpoint/2010/main" val="546551432"/>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2A45742D-2622-4A61-9263-BE3191FEF122}"/>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C772AF33-FA3E-4EE4-BF4D-5CDDFBF68E73}"/>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22</a:t>
            </a:r>
          </a:p>
        </p:txBody>
      </p:sp>
      <p:sp>
        <p:nvSpPr>
          <p:cNvPr id="3" name="">
            <a:extLst xmlns:a="http://schemas.openxmlformats.org/drawingml/2006/main">
              <a:ext uri="{FF2B5EF4-FFF2-40B4-BE49-F238E27FC236}">
                <a16:creationId xmlns:a16="http://schemas.microsoft.com/office/drawing/2014/main" id="{78E32DA8-BCBB-4223-B105-7B1ACD28C69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2DCBFF8E-0CEF-435A-8974-A0227FE90652}"/>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Embedding spaces разных языков</a:t>
            </a:r>
          </a:p>
        </p:txBody>
      </p:sp>
      <p:pic>
        <p:nvPicPr>
          <p:cNvPr id="9" name="">
            <a:extLst xmlns:a="http://schemas.openxmlformats.org/drawingml/2006/main">
              <a:ext uri="{FF2B5EF4-FFF2-40B4-BE49-F238E27FC236}">
                <a16:creationId xmlns:a16="http://schemas.microsoft.com/office/drawing/2014/main" id="{AB8F723D-C0D9-438E-A84F-38DE56A67370}"/>
              </a:ext>
            </a:extLst>
          </p:cNvPr>
          <p:cNvPicPr>
            <a:picLocks xmlns:a="http://schemas.openxmlformats.org/drawingml/2006/main" noChangeAspect="1"/>
          </p:cNvPicPr>
          <p:nvPr/>
        </p:nvPicPr>
        <p:blipFill>
          <a:blip xmlns:r="http://schemas.openxmlformats.org/officeDocument/2006/relationships" xmlns:a="http://schemas.openxmlformats.org/drawingml/2006/main" r:embed="Re1594c9b489e40b1"/>
          <a:stretch xmlns:a="http://schemas.openxmlformats.org/drawingml/2006/main"/>
        </p:blipFill>
        <p:spPr>
          <a:xfrm xmlns:a="http://schemas.openxmlformats.org/drawingml/2006/main">
            <a:off x="1548643" y="2000250"/>
            <a:ext cx="9094715" cy="3905250"/>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7F8BA32C-2F82-4E61-BB9A-3DCB7565E710}"/>
              </a:ext>
            </a:extLst>
          </p:cNvPr>
          <p:cNvSpPr>
            <a:spLocks xmlns:a="http://schemas.openxmlformats.org/drawingml/2006/main" noGrp="1"/>
          </p:cNvSpPr>
          <p:nvPr/>
        </p:nvSpPr>
        <p:spPr>
          <a:xfrm xmlns:a="http://schemas.openxmlformats.org/drawingml/2006/main">
            <a:off x="685800" y="60864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Сходные отношения между словами не означают совпадения координат. Для сравнения языков требуется согласование пространств.</a:t>
            </a:r>
          </a:p>
        </p:txBody>
      </p:sp>
    </p:spTree>
    <p:extLst>
      <p:ext uri="{BB962C8B-B14F-4D97-AF65-F5344CB8AC3E}">
        <p14:creationId xmlns:p14="http://schemas.microsoft.com/office/powerpoint/2010/main" val="1339157956"/>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94CCFFFE-C38B-4341-A036-0847B01C700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2A989F40-4CED-49F3-B89F-7802A2CF874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4E183CC5-BE54-4262-8598-A8DB5D6A47B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D8632C4D-135F-41CC-9849-ED6576D5BD9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Ограничения embedding space</a:t>
            </a:r>
          </a:p>
        </p:txBody>
      </p:sp>
      <p:sp>
        <p:nvSpPr>
          <p:cNvPr id="16" name="lecture2-4">
            <a:extLst xmlns:a="http://schemas.openxmlformats.org/drawingml/2006/main">
              <a:ext uri="{FF2B5EF4-FFF2-40B4-BE49-F238E27FC236}">
                <a16:creationId xmlns:a16="http://schemas.microsoft.com/office/drawing/2014/main" id="{93B193CE-7B4A-409C-B87B-2F38C43D241F}"/>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Corpus и устойчивость</a:t>
            </a:r>
          </a:p>
        </p:txBody>
      </p:sp>
      <p:sp>
        <p:nvSpPr>
          <p:cNvPr id="17" name="lecture2-5">
            <a:extLst xmlns:a="http://schemas.openxmlformats.org/drawingml/2006/main">
              <a:ext uri="{FF2B5EF4-FFF2-40B4-BE49-F238E27FC236}">
                <a16:creationId xmlns:a16="http://schemas.microsoft.com/office/drawing/2014/main" id="{5C339489-8586-4575-9767-347CD7080E09}"/>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Representations зависят от источников, времени и языка corpus. Для частых слов доступны многочисленные контексты; для редких слов оценки менее устойчивы. В пространстве могут отражаться стереотипы и перекосы данных. Оценивать embeddings только по нескольким красивым примерам опасно: нужны систематические проверки на выбранной задаче.</a:t>
            </a:r>
          </a:p>
        </p:txBody>
      </p:sp>
      <p:sp>
        <p:nvSpPr>
          <p:cNvPr id="18" name="lecture2-6">
            <a:extLst xmlns:a="http://schemas.openxmlformats.org/drawingml/2006/main">
              <a:ext uri="{FF2B5EF4-FFF2-40B4-BE49-F238E27FC236}">
                <a16:creationId xmlns:a16="http://schemas.microsoft.com/office/drawing/2014/main" id="{57219215-516A-4F4A-9DCB-7D4463926635}"/>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Визуализация и выводы</a:t>
            </a:r>
          </a:p>
        </p:txBody>
      </p:sp>
      <p:sp>
        <p:nvSpPr>
          <p:cNvPr id="19" name="lecture2-7">
            <a:extLst xmlns:a="http://schemas.openxmlformats.org/drawingml/2006/main">
              <a:ext uri="{FF2B5EF4-FFF2-40B4-BE49-F238E27FC236}">
                <a16:creationId xmlns:a16="http://schemas.microsoft.com/office/drawing/2014/main" id="{C6B66E57-8C12-401F-A57D-36C77B5FBAC6}"/>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Проекция в две координаты удобна для обзора, но искажает часть расстояний и отношений. Cluster на картинке не является доказательством отдельной смысловой категории. Анализ должен учитывать исходную similarity measure и настройки проекции. Особенно осторожно интерпретируют большие расстояния и направление осей в t-SNE-подобных визуализациях.</a:t>
            </a:r>
          </a:p>
        </p:txBody>
      </p:sp>
    </p:spTree>
    <p:extLst>
      <p:ext uri="{BB962C8B-B14F-4D97-AF65-F5344CB8AC3E}">
        <p14:creationId xmlns:p14="http://schemas.microsoft.com/office/powerpoint/2010/main" val="1771092886"/>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E95F5BE5-D301-4A32-B7A1-F918DD887B1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40CBFE68-78CD-42A6-A828-DB07C07E3D9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24</a:t>
            </a:r>
          </a:p>
        </p:txBody>
      </p:sp>
      <p:sp>
        <p:nvSpPr>
          <p:cNvPr id="3" name="">
            <a:extLst xmlns:a="http://schemas.openxmlformats.org/drawingml/2006/main">
              <a:ext uri="{FF2B5EF4-FFF2-40B4-BE49-F238E27FC236}">
                <a16:creationId xmlns:a16="http://schemas.microsoft.com/office/drawing/2014/main" id="{900D6702-AD46-4AC9-850B-D6E1000E78C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C369F3E3-EE0C-46FA-9C74-3BFCD91F576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Word2Vec</a:t>
            </a:r>
          </a:p>
        </p:txBody>
      </p:sp>
      <p:sp>
        <p:nvSpPr>
          <p:cNvPr id="9" name="lecture2-4">
            <a:extLst xmlns:a="http://schemas.openxmlformats.org/drawingml/2006/main">
              <a:ext uri="{FF2B5EF4-FFF2-40B4-BE49-F238E27FC236}">
                <a16:creationId xmlns:a16="http://schemas.microsoft.com/office/drawing/2014/main" id="{36EAA5D8-63B8-4179-B895-334F8F913FD5}"/>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Prediction-based representation</a:t>
            </a:r>
          </a:p>
        </p:txBody>
      </p:sp>
      <p:sp>
        <p:nvSpPr>
          <p:cNvPr id="10" name="lecture2-5">
            <a:extLst xmlns:a="http://schemas.openxmlformats.org/drawingml/2006/main">
              <a:ext uri="{FF2B5EF4-FFF2-40B4-BE49-F238E27FC236}">
                <a16:creationId xmlns:a16="http://schemas.microsoft.com/office/drawing/2014/main" id="{11A90EA5-9C47-4C5E-809E-5A4B600229CF}"/>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Word2Vec обучает word vectors через задачу предсказания слов по контексту или контекста по слову. Размеченные class labels для каждого документа не требуются: обучающие пары получают из последовательности tokens. Цель обучения заставляет vectors отражать регулярности окружения. Итоговые representations затем применяют в другой задаче.</a:t>
            </a:r>
          </a:p>
        </p:txBody>
      </p:sp>
      <p:sp>
        <p:nvSpPr>
          <p:cNvPr id="11" name="lecture2-6">
            <a:extLst xmlns:a="http://schemas.openxmlformats.org/drawingml/2006/main">
              <a:ext uri="{FF2B5EF4-FFF2-40B4-BE49-F238E27FC236}">
                <a16:creationId xmlns:a16="http://schemas.microsoft.com/office/drawing/2014/main" id="{D472F84C-27D9-418F-81E6-B95C0F84738D}"/>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Что остаётся после обучения</a:t>
            </a:r>
          </a:p>
        </p:txBody>
      </p:sp>
      <p:sp>
        <p:nvSpPr>
          <p:cNvPr id="12" name="lecture2-7">
            <a:extLst xmlns:a="http://schemas.openxmlformats.org/drawingml/2006/main">
              <a:ext uri="{FF2B5EF4-FFF2-40B4-BE49-F238E27FC236}">
                <a16:creationId xmlns:a16="http://schemas.microsoft.com/office/drawing/2014/main" id="{335E4552-E902-4223-BA7B-6EB716565D0C}"/>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Для каждого слова из vocabulary сохраняется static vector. В обычном Word2Vec разные употребления одной словоформы получают один и тот же vector. Это делает lookup быстрым, но объединяет разные значения слова. Обучающая задача Word2Vec и конечная задача, например classification отзывов, обычно не совпадают.</a:t>
            </a:r>
          </a:p>
        </p:txBody>
      </p:sp>
    </p:spTree>
    <p:extLst>
      <p:ext uri="{BB962C8B-B14F-4D97-AF65-F5344CB8AC3E}">
        <p14:creationId xmlns:p14="http://schemas.microsoft.com/office/powerpoint/2010/main" val="248101505"/>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1F0323B9-8122-4583-909C-5ABBE84B09E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399E57F5-44B5-4836-ACC6-4E8F51C8419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25</a:t>
            </a:r>
          </a:p>
        </p:txBody>
      </p:sp>
      <p:sp>
        <p:nvSpPr>
          <p:cNvPr id="3" name="">
            <a:extLst xmlns:a="http://schemas.openxmlformats.org/drawingml/2006/main">
              <a:ext uri="{FF2B5EF4-FFF2-40B4-BE49-F238E27FC236}">
                <a16:creationId xmlns:a16="http://schemas.microsoft.com/office/drawing/2014/main" id="{B873DCD4-29F8-4B29-A8C0-1562D49C210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2F02FFE5-6B05-4CFB-B72C-062A377EB03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Skip-gram</a:t>
            </a:r>
          </a:p>
        </p:txBody>
      </p:sp>
      <p:pic>
        <p:nvPicPr>
          <p:cNvPr id="9" name="">
            <a:extLst xmlns:a="http://schemas.openxmlformats.org/drawingml/2006/main">
              <a:ext uri="{FF2B5EF4-FFF2-40B4-BE49-F238E27FC236}">
                <a16:creationId xmlns:a16="http://schemas.microsoft.com/office/drawing/2014/main" id="{17E3237E-F78A-45AA-96F8-29C5340954BB}"/>
              </a:ext>
            </a:extLst>
          </p:cNvPr>
          <p:cNvPicPr>
            <a:picLocks xmlns:a="http://schemas.openxmlformats.org/drawingml/2006/main" noChangeAspect="1"/>
          </p:cNvPicPr>
          <p:nvPr/>
        </p:nvPicPr>
        <p:blipFill>
          <a:blip xmlns:r="http://schemas.openxmlformats.org/officeDocument/2006/relationships" xmlns:a="http://schemas.openxmlformats.org/drawingml/2006/main" r:embed="R5d54f3a6add941e4"/>
          <a:stretch xmlns:a="http://schemas.openxmlformats.org/drawingml/2006/main"/>
        </p:blipFill>
        <p:spPr>
          <a:xfrm xmlns:a="http://schemas.openxmlformats.org/drawingml/2006/main">
            <a:off x="2430639" y="2000250"/>
            <a:ext cx="7330722" cy="2381250"/>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1D5034DF-89B4-49BF-8B18-59C0BB8F12EC}"/>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Skip-gram использует central word для предсказания context words в выбранном window. Одно положение окна даёт несколько обучающих пар. По мере перемещения окна разные слова становятся центральными и получают сигналы от своих окружений. На схеме изображён один фрагмент этого процесса; модель не получает словарного определения слова, а учится по повторяющимся контекстам.</a:t>
            </a:r>
          </a:p>
        </p:txBody>
      </p:sp>
    </p:spTree>
    <p:extLst>
      <p:ext uri="{BB962C8B-B14F-4D97-AF65-F5344CB8AC3E}">
        <p14:creationId xmlns:p14="http://schemas.microsoft.com/office/powerpoint/2010/main" val="769315289"/>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DCCC007-2B7A-4AF6-8BD2-72AD6481322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48F7BAD3-BAF4-4D5E-A800-16C6E579904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26</a:t>
            </a:r>
          </a:p>
        </p:txBody>
      </p:sp>
      <p:sp>
        <p:nvSpPr>
          <p:cNvPr id="3" name="">
            <a:extLst xmlns:a="http://schemas.openxmlformats.org/drawingml/2006/main">
              <a:ext uri="{FF2B5EF4-FFF2-40B4-BE49-F238E27FC236}">
                <a16:creationId xmlns:a16="http://schemas.microsoft.com/office/drawing/2014/main" id="{255FE339-3E7F-4B60-8368-BB2DDC40327E}"/>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CF40AE97-7FC4-4394-8595-3EEA3DCBFB2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Обучающие пары для Skip-gram</a:t>
            </a:r>
          </a:p>
        </p:txBody>
      </p:sp>
      <p:sp>
        <p:nvSpPr>
          <p:cNvPr id="9" name="lecture2-4">
            <a:extLst xmlns:a="http://schemas.openxmlformats.org/drawingml/2006/main">
              <a:ext uri="{FF2B5EF4-FFF2-40B4-BE49-F238E27FC236}">
                <a16:creationId xmlns:a16="http://schemas.microsoft.com/office/drawing/2014/main" id="{CF13B12B-D8FA-4A3C-8CC7-380D6DA72376}"/>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Учебный пример: «студент читает полезную книгу». Central word — «читает»; window содержит по одному соседу с каждой стороны.</a:t>
            </a:r>
          </a:p>
        </p:txBody>
      </p:sp>
      <p:graphicFrame>
        <p:nvGraphicFramePr>
          <p:cNvPr id="10" name="">
            <a:extLst xmlns:a="http://schemas.openxmlformats.org/drawingml/2006/main">
              <a:ext uri="{FF2B5EF4-FFF2-40B4-BE49-F238E27FC236}">
                <a16:creationId xmlns:a16="http://schemas.microsoft.com/office/drawing/2014/main" id="{C044F804-80EA-4519-92B3-1E9B860846E9}"/>
              </a:ext>
            </a:extLst>
          </p:cNvPr>
          <p:cNvGraphicFramePr/>
          <p:nvPr/>
        </p:nvGraphicFramePr>
        <p:xfrm>
          <a:off xmlns:a="http://schemas.openxmlformats.org/drawingml/2006/main" x="685800" y="2847975"/>
          <a:ext xmlns:a="http://schemas.openxmlformats.org/drawingml/2006/main" cx="10820400" cy="2000250"/>
        </p:xfrm>
        <a:graphic xmlns:a="http://schemas.openxmlformats.org/drawingml/2006/main">
          <a:graphicData uri="http://schemas.openxmlformats.org/drawingml/2006/table">
            <a:tbl>
              <a:tblPr/>
              <a:tblGrid>
                <a:gridCol w="2857500"/>
                <a:gridCol w="3143250"/>
                <a:gridCol w="4819650"/>
              </a:tblGrid>
              <a:tr h="666750">
                <a:tc>
                  <a:txBody>
                    <a:bodyPr lIns="114300" tIns="57150" rIns="114300" bIns="57150"/>
                    <a:lstStyle/>
                    <a:p>
                      <a:r>
                        <a:rPr sz="1725" b="1">
                          <a:solidFill>
                            <a:srgbClr val="98989F"/>
                          </a:solidFill>
                          <a:latin typeface="Helvetica Neue"/>
                          <a:ea typeface="Helvetica Neue"/>
                          <a:cs typeface="Helvetica Neue"/>
                        </a:rPr>
                        <a:t>Central word</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Context word</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Наблюдение</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читает</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студент</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Сосед слева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читает</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полезную</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Сосед справа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1" name="lecture2-5">
            <a:extLst xmlns:a="http://schemas.openxmlformats.org/drawingml/2006/main">
              <a:ext uri="{FF2B5EF4-FFF2-40B4-BE49-F238E27FC236}">
                <a16:creationId xmlns:a16="http://schemas.microsoft.com/office/drawing/2014/main" id="{81FAD018-D3AD-4FCE-B1BB-CFD4ACD6D23F}"/>
              </a:ext>
            </a:extLst>
          </p:cNvPr>
          <p:cNvSpPr>
            <a:spLocks xmlns:a="http://schemas.openxmlformats.org/drawingml/2006/main" noGrp="1"/>
          </p:cNvSpPr>
          <p:nvPr/>
        </p:nvSpPr>
        <p:spPr>
          <a:xfrm xmlns:a="http://schemas.openxmlformats.org/drawingml/2006/main">
            <a:off x="685800" y="5353050"/>
            <a:ext cx="10820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При следующем положении window изменятся central word и пары. Здесь показана только организация данных, без расчёта probabilities и обновления weights.</a:t>
            </a:r>
          </a:p>
        </p:txBody>
      </p:sp>
    </p:spTree>
    <p:extLst>
      <p:ext uri="{BB962C8B-B14F-4D97-AF65-F5344CB8AC3E}">
        <p14:creationId xmlns:p14="http://schemas.microsoft.com/office/powerpoint/2010/main" val="495339415"/>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A1BF737B-575D-477C-9D07-084937F5C12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0A67C9C9-4D56-4F57-BBB0-689846E9207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27</a:t>
            </a:r>
          </a:p>
        </p:txBody>
      </p:sp>
      <p:sp>
        <p:nvSpPr>
          <p:cNvPr id="3" name="">
            <a:extLst xmlns:a="http://schemas.openxmlformats.org/drawingml/2006/main">
              <a:ext uri="{FF2B5EF4-FFF2-40B4-BE49-F238E27FC236}">
                <a16:creationId xmlns:a16="http://schemas.microsoft.com/office/drawing/2014/main" id="{E6AF1991-A525-4267-934C-884AC0AC34C6}"/>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D3EE2B3-A9E4-4C25-8CDD-B8E4A39A2DDF}"/>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CBOW и Skip-gram</a:t>
            </a:r>
          </a:p>
        </p:txBody>
      </p:sp>
      <p:pic>
        <p:nvPicPr>
          <p:cNvPr id="9" name="">
            <a:extLst xmlns:a="http://schemas.openxmlformats.org/drawingml/2006/main">
              <a:ext uri="{FF2B5EF4-FFF2-40B4-BE49-F238E27FC236}">
                <a16:creationId xmlns:a16="http://schemas.microsoft.com/office/drawing/2014/main" id="{D547B2D6-AF41-4810-B652-402C6E35794E}"/>
              </a:ext>
            </a:extLst>
          </p:cNvPr>
          <p:cNvPicPr>
            <a:picLocks xmlns:a="http://schemas.openxmlformats.org/drawingml/2006/main" noChangeAspect="1"/>
          </p:cNvPicPr>
          <p:nvPr/>
        </p:nvPicPr>
        <p:blipFill>
          <a:blip xmlns:r="http://schemas.openxmlformats.org/officeDocument/2006/relationships" xmlns:a="http://schemas.openxmlformats.org/drawingml/2006/main" r:embed="R5acf6fc0f40f40b9"/>
          <a:stretch xmlns:a="http://schemas.openxmlformats.org/drawingml/2006/main"/>
        </p:blipFill>
        <p:spPr>
          <a:xfrm xmlns:a="http://schemas.openxmlformats.org/drawingml/2006/main">
            <a:off x="2493350" y="2000250"/>
            <a:ext cx="7205300" cy="3905250"/>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14A4A718-FA88-4EBC-84EE-6D0708244C2C}"/>
              </a:ext>
            </a:extLst>
          </p:cNvPr>
          <p:cNvSpPr>
            <a:spLocks xmlns:a="http://schemas.openxmlformats.org/drawingml/2006/main" noGrp="1"/>
          </p:cNvSpPr>
          <p:nvPr/>
        </p:nvSpPr>
        <p:spPr>
          <a:xfrm xmlns:a="http://schemas.openxmlformats.org/drawingml/2006/main">
            <a:off x="685800" y="60864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Skip-gram предсказывает context words по central word; CBOW предсказывает central word по его окружению.</a:t>
            </a:r>
          </a:p>
        </p:txBody>
      </p:sp>
    </p:spTree>
    <p:extLst>
      <p:ext uri="{BB962C8B-B14F-4D97-AF65-F5344CB8AC3E}">
        <p14:creationId xmlns:p14="http://schemas.microsoft.com/office/powerpoint/2010/main" val="1246241813"/>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8EBFD85B-2CB5-441B-9F6B-55FB3ED855B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EB2A5FA7-34B1-41C1-B341-DDF99DB6948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28</a:t>
            </a:r>
          </a:p>
        </p:txBody>
      </p:sp>
      <p:sp>
        <p:nvSpPr>
          <p:cNvPr id="3" name="">
            <a:extLst xmlns:a="http://schemas.openxmlformats.org/drawingml/2006/main">
              <a:ext uri="{FF2B5EF4-FFF2-40B4-BE49-F238E27FC236}">
                <a16:creationId xmlns:a16="http://schemas.microsoft.com/office/drawing/2014/main" id="{A2546440-800A-4AE7-803E-76B8238954C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31623CB-2737-4FC2-B920-05BFBE95DF8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 и context embeddings</a:t>
            </a:r>
          </a:p>
        </p:txBody>
      </p:sp>
      <p:pic>
        <p:nvPicPr>
          <p:cNvPr id="27" name="">
            <a:extLst xmlns:a="http://schemas.openxmlformats.org/drawingml/2006/main">
              <a:ext uri="{FF2B5EF4-FFF2-40B4-BE49-F238E27FC236}">
                <a16:creationId xmlns:a16="http://schemas.microsoft.com/office/drawing/2014/main" id="{BAEDCFB5-37D0-4E83-A7A8-ABEE97B616A7}"/>
              </a:ext>
            </a:extLst>
          </p:cNvPr>
          <p:cNvPicPr>
            <a:picLocks xmlns:a="http://schemas.openxmlformats.org/drawingml/2006/main" noChangeAspect="1"/>
          </p:cNvPicPr>
          <p:nvPr/>
        </p:nvPicPr>
        <p:blipFill>
          <a:blip xmlns:r="http://schemas.openxmlformats.org/officeDocument/2006/relationships" xmlns:a="http://schemas.openxmlformats.org/drawingml/2006/main" r:embed="R3f4fb1c62aef45c5"/>
          <a:stretch xmlns:a="http://schemas.openxmlformats.org/drawingml/2006/main"/>
        </p:blipFill>
        <p:spPr>
          <a:xfrm xmlns:a="http://schemas.openxmlformats.org/drawingml/2006/main">
            <a:off x="1288398" y="2095500"/>
            <a:ext cx="4986054" cy="3905250"/>
          </a:xfrm>
          <a:prstGeom xmlns:a="http://schemas.openxmlformats.org/drawingml/2006/main" prst="rect">
            <a:avLst/>
          </a:prstGeom>
        </p:spPr>
      </p:pic>
      <p:sp>
        <p:nvSpPr>
          <p:cNvPr id="28" name="lecture2-4">
            <a:extLst xmlns:a="http://schemas.openxmlformats.org/drawingml/2006/main">
              <a:ext uri="{FF2B5EF4-FFF2-40B4-BE49-F238E27FC236}">
                <a16:creationId xmlns:a16="http://schemas.microsoft.com/office/drawing/2014/main" id="{F64CD48C-1BC4-44EF-9504-CE699490DD73}"/>
              </a:ext>
            </a:extLst>
          </p:cNvPr>
          <p:cNvSpPr>
            <a:spLocks xmlns:a="http://schemas.openxmlformats.org/drawingml/2006/main" noGrp="1"/>
          </p:cNvSpPr>
          <p:nvPr/>
        </p:nvSpPr>
        <p:spPr>
          <a:xfrm xmlns:a="http://schemas.openxmlformats.org/drawingml/2006/main">
            <a:off x="7239000" y="2076450"/>
            <a:ext cx="4267200" cy="427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В стандартном обучении Word2Vec различаются роли слова как входа и как context target. Для этих ролей используются два набора обучаемых vectors. На схеме курса показаны две соответствующие таблицы. При выгрузке pretrained embeddings часто сохраняют только один набор. Поэтому формат готового файла может содержать меньше информации, чем полная обучаемая модель.</a:t>
            </a:r>
          </a:p>
        </p:txBody>
      </p:sp>
    </p:spTree>
    <p:extLst>
      <p:ext uri="{BB962C8B-B14F-4D97-AF65-F5344CB8AC3E}">
        <p14:creationId xmlns:p14="http://schemas.microsoft.com/office/powerpoint/2010/main" val="1795742933"/>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C4A6250-AC21-42B2-96CB-6132243E09D8}"/>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F920C70A-A5C9-415D-9690-E846F3C247E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29</a:t>
            </a:r>
          </a:p>
        </p:txBody>
      </p:sp>
      <p:sp>
        <p:nvSpPr>
          <p:cNvPr id="3" name="">
            <a:extLst xmlns:a="http://schemas.openxmlformats.org/drawingml/2006/main">
              <a:ext uri="{FF2B5EF4-FFF2-40B4-BE49-F238E27FC236}">
                <a16:creationId xmlns:a16="http://schemas.microsoft.com/office/drawing/2014/main" id="{1C9EE93E-EE7F-428A-A18C-2ED2603D8CC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27A014F-9EDA-49FB-B55C-8675A960C51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Negative sampling</a:t>
            </a:r>
          </a:p>
        </p:txBody>
      </p:sp>
      <p:sp>
        <p:nvSpPr>
          <p:cNvPr id="15" name="lecture2-4">
            <a:extLst xmlns:a="http://schemas.openxmlformats.org/drawingml/2006/main">
              <a:ext uri="{FF2B5EF4-FFF2-40B4-BE49-F238E27FC236}">
                <a16:creationId xmlns:a16="http://schemas.microsoft.com/office/drawing/2014/main" id="{639B9F57-2ACF-48C4-B404-F9750693F269}"/>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Вместо полного перебора vocabulary модель сопоставляет наблюдаемую пару с небольшим набором sampled alternatives. Ниже — условный пример организации данных.</a:t>
            </a:r>
          </a:p>
        </p:txBody>
      </p:sp>
      <p:graphicFrame>
        <p:nvGraphicFramePr>
          <p:cNvPr id="16" name="">
            <a:extLst xmlns:a="http://schemas.openxmlformats.org/drawingml/2006/main">
              <a:ext uri="{FF2B5EF4-FFF2-40B4-BE49-F238E27FC236}">
                <a16:creationId xmlns:a16="http://schemas.microsoft.com/office/drawing/2014/main" id="{A5A3E0F8-184A-4496-BC6D-3C82E9F5D552}"/>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857500"/>
                <a:gridCol w="3429000"/>
                <a:gridCol w="4533900"/>
              </a:tblGrid>
              <a:tr h="666750">
                <a:tc>
                  <a:txBody>
                    <a:bodyPr lIns="114300" tIns="57150" rIns="114300" bIns="57150"/>
                    <a:lstStyle/>
                    <a:p>
                      <a:r>
                        <a:rPr sz="1725" b="1">
                          <a:solidFill>
                            <a:srgbClr val="98989F"/>
                          </a:solidFill>
                          <a:latin typeface="Helvetica Neue"/>
                          <a:ea typeface="Helvetica Neue"/>
                          <a:cs typeface="Helvetica Neue"/>
                        </a:rPr>
                        <a:t>Central word</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Context candidate</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Источник пары</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cat</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cute</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Наблюдение в window</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cat</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invoice</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Sampled negative</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cat</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station</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Sampled negative</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7" name="lecture2-5">
            <a:extLst xmlns:a="http://schemas.openxmlformats.org/drawingml/2006/main">
              <a:ext uri="{FF2B5EF4-FFF2-40B4-BE49-F238E27FC236}">
                <a16:creationId xmlns:a16="http://schemas.microsoft.com/office/drawing/2014/main" id="{09C99F5A-5F91-4A05-8C73-8C837492490F}"/>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Negative означает выбор процедурой sampling, а не доказанную невозможность контекста. Число и распределение sampled words влияют на обучающий сигнал.</a:t>
            </a:r>
          </a:p>
        </p:txBody>
      </p:sp>
    </p:spTree>
    <p:extLst>
      <p:ext uri="{BB962C8B-B14F-4D97-AF65-F5344CB8AC3E}">
        <p14:creationId xmlns:p14="http://schemas.microsoft.com/office/powerpoint/2010/main" val="496289646"/>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075DBDA0-07F6-4A73-BDE5-991EFF72755A}"/>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8E840876-F531-4C80-9AA2-2BDBA4DC1AA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30</a:t>
            </a:r>
          </a:p>
        </p:txBody>
      </p:sp>
      <p:sp>
        <p:nvSpPr>
          <p:cNvPr id="3" name="">
            <a:extLst xmlns:a="http://schemas.openxmlformats.org/drawingml/2006/main">
              <a:ext uri="{FF2B5EF4-FFF2-40B4-BE49-F238E27FC236}">
                <a16:creationId xmlns:a16="http://schemas.microsoft.com/office/drawing/2014/main" id="{9DA43F3A-80AF-4C9E-AE01-98C100D8CC9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C3C39837-36D3-441F-9E8D-751BEED7993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Corpus для Word2Vec</a:t>
            </a:r>
          </a:p>
        </p:txBody>
      </p:sp>
      <p:sp>
        <p:nvSpPr>
          <p:cNvPr id="10" name="lecture2-4">
            <a:extLst xmlns:a="http://schemas.openxmlformats.org/drawingml/2006/main">
              <a:ext uri="{FF2B5EF4-FFF2-40B4-BE49-F238E27FC236}">
                <a16:creationId xmlns:a16="http://schemas.microsoft.com/office/drawing/2014/main" id="{37FE760C-C22F-4318-9265-1BE92B9637BF}"/>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Подготовка наблюдений</a:t>
            </a:r>
          </a:p>
        </p:txBody>
      </p:sp>
      <p:sp>
        <p:nvSpPr>
          <p:cNvPr id="11" name="lecture2-5">
            <a:extLst xmlns:a="http://schemas.openxmlformats.org/drawingml/2006/main">
              <a:ext uri="{FF2B5EF4-FFF2-40B4-BE49-F238E27FC236}">
                <a16:creationId xmlns:a16="http://schemas.microsoft.com/office/drawing/2014/main" id="{EA8C98D1-E0D9-42A1-B03D-272A4F34FD3B}"/>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Corpus определяет доступные значения слов и типичные контексты. Сохраняются границы документов и согласованные правила tokenization. Нормализация регистра, обработка punctuation и исключение редких слов меняют vocabulary и обучающие пары. Важно заранее решить, должны ли имена, числа, сокращения и специальные tokens сохраняться как самостоятельные элементы.</a:t>
            </a:r>
          </a:p>
        </p:txBody>
      </p:sp>
      <p:sp>
        <p:nvSpPr>
          <p:cNvPr id="12" name="lecture2-6">
            <a:extLst xmlns:a="http://schemas.openxmlformats.org/drawingml/2006/main">
              <a:ext uri="{FF2B5EF4-FFF2-40B4-BE49-F238E27FC236}">
                <a16:creationId xmlns:a16="http://schemas.microsoft.com/office/drawing/2014/main" id="{AFA665B4-B22F-4597-B726-B7871875BE1C}"/>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Данные и задача применения</a:t>
            </a:r>
          </a:p>
        </p:txBody>
      </p:sp>
      <p:sp>
        <p:nvSpPr>
          <p:cNvPr id="13" name="lecture2-7">
            <a:extLst xmlns:a="http://schemas.openxmlformats.org/drawingml/2006/main">
              <a:ext uri="{FF2B5EF4-FFF2-40B4-BE49-F238E27FC236}">
                <a16:creationId xmlns:a16="http://schemas.microsoft.com/office/drawing/2014/main" id="{D9BD4A31-6D94-45CA-A9CD-E9B93AB075FB}"/>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Большой corpus общего назначения не обязательно лучше небольшой специализированной коллекции для узкой терминологии. Но маленькая коллекция может не дать достаточно наблюдений для устойчивых word vectors. Поэтому часто начинают с pretrained embeddings и проверяют их coverage и качество. Обучение с нуля имеет смысл, когда данные и цель такого эксперимента определены.</a:t>
            </a:r>
          </a:p>
        </p:txBody>
      </p:sp>
    </p:spTree>
    <p:extLst>
      <p:ext uri="{BB962C8B-B14F-4D97-AF65-F5344CB8AC3E}">
        <p14:creationId xmlns:p14="http://schemas.microsoft.com/office/powerpoint/2010/main" val="2112131776"/>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8F148602-5F50-459A-A544-0CFD1143CAB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A920D217-1AF2-4A44-80D8-6D527CA4C93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31</a:t>
            </a:r>
          </a:p>
        </p:txBody>
      </p:sp>
      <p:sp>
        <p:nvSpPr>
          <p:cNvPr id="3" name="">
            <a:extLst xmlns:a="http://schemas.openxmlformats.org/drawingml/2006/main">
              <a:ext uri="{FF2B5EF4-FFF2-40B4-BE49-F238E27FC236}">
                <a16:creationId xmlns:a16="http://schemas.microsoft.com/office/drawing/2014/main" id="{E6D97851-45F4-424A-B1C8-2BFF6F4E6B5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003175FE-B7F5-4663-AF2F-1EEE6F0FF87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Параметры Word2Vec</a:t>
            </a:r>
          </a:p>
        </p:txBody>
      </p:sp>
      <p:sp>
        <p:nvSpPr>
          <p:cNvPr id="9" name="lecture2-4">
            <a:extLst xmlns:a="http://schemas.openxmlformats.org/drawingml/2006/main">
              <a:ext uri="{FF2B5EF4-FFF2-40B4-BE49-F238E27FC236}">
                <a16:creationId xmlns:a16="http://schemas.microsoft.com/office/drawing/2014/main" id="{26B16CD9-429D-4A0A-8F54-CF42417B6F8E}"/>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Параметры меняют доступные наблюдения, ёмкость representation и процедуру обучения. Их выбирают под данные и downstream evaluation.</a:t>
            </a:r>
          </a:p>
        </p:txBody>
      </p:sp>
      <p:graphicFrame>
        <p:nvGraphicFramePr>
          <p:cNvPr id="10" name="">
            <a:extLst xmlns:a="http://schemas.openxmlformats.org/drawingml/2006/main">
              <a:ext uri="{FF2B5EF4-FFF2-40B4-BE49-F238E27FC236}">
                <a16:creationId xmlns:a16="http://schemas.microsoft.com/office/drawing/2014/main" id="{C6B67437-19AE-4427-A379-0CF3ACDD680E}"/>
              </a:ext>
            </a:extLst>
          </p:cNvPr>
          <p:cNvGraphicFramePr/>
          <p:nvPr/>
        </p:nvGraphicFramePr>
        <p:xfrm>
          <a:off xmlns:a="http://schemas.openxmlformats.org/drawingml/2006/main" x="685800" y="2847975"/>
          <a:ext xmlns:a="http://schemas.openxmlformats.org/drawingml/2006/main" cx="10820400" cy="2952750"/>
        </p:xfrm>
        <a:graphic xmlns:a="http://schemas.openxmlformats.org/drawingml/2006/main">
          <a:graphicData uri="http://schemas.openxmlformats.org/drawingml/2006/table">
            <a:tbl>
              <a:tblPr/>
              <a:tblGrid>
                <a:gridCol w="2857500"/>
                <a:gridCol w="4000500"/>
                <a:gridCol w="3962400"/>
              </a:tblGrid>
              <a:tr h="590550">
                <a:tc>
                  <a:txBody>
                    <a:bodyPr lIns="114300" tIns="57150" rIns="114300" bIns="57150"/>
                    <a:lstStyle/>
                    <a:p>
                      <a:r>
                        <a:rPr sz="1725" b="1">
                          <a:solidFill>
                            <a:srgbClr val="98989F"/>
                          </a:solidFill>
                          <a:latin typeface="Helvetica Neue"/>
                          <a:ea typeface="Helvetica Neue"/>
                          <a:cs typeface="Helvetica Neue"/>
                        </a:rPr>
                        <a:t>Параметр</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Что меняется</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Что проверять</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590550">
                <a:tc>
                  <a:txBody>
                    <a:bodyPr lIns="114300" tIns="57150" rIns="114300" bIns="57150"/>
                    <a:lstStyle/>
                    <a:p>
                      <a:r>
                        <a:rPr sz="1725" b="0">
                          <a:solidFill>
                            <a:srgbClr val="F5F5F7"/>
                          </a:solidFill>
                          <a:latin typeface="Helvetica Neue"/>
                          <a:ea typeface="Helvetica Neue"/>
                          <a:cs typeface="Helvetica Neue"/>
                        </a:rPr>
                        <a:t>Window size</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Доступный контекст</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Локальные связи и темы</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90550">
                <a:tc>
                  <a:txBody>
                    <a:bodyPr lIns="114300" tIns="57150" rIns="114300" bIns="57150"/>
                    <a:lstStyle/>
                    <a:p>
                      <a:r>
                        <a:rPr sz="1725" b="0">
                          <a:solidFill>
                            <a:srgbClr val="F5F5F7"/>
                          </a:solidFill>
                          <a:latin typeface="Helvetica Neue"/>
                          <a:ea typeface="Helvetica Neue"/>
                          <a:cs typeface="Helvetica Neue"/>
                        </a:rPr>
                        <a:t>Embedding dimension</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Размер vector</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Качество и затраты памяти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90550">
                <a:tc>
                  <a:txBody>
                    <a:bodyPr lIns="114300" tIns="57150" rIns="114300" bIns="57150"/>
                    <a:lstStyle/>
                    <a:p>
                      <a:r>
                        <a:rPr sz="1725" b="0">
                          <a:solidFill>
                            <a:srgbClr val="F5F5F7"/>
                          </a:solidFill>
                          <a:latin typeface="Helvetica Neue"/>
                          <a:ea typeface="Helvetica Neue"/>
                          <a:cs typeface="Helvetica Neue"/>
                        </a:rPr>
                        <a:t>Min count</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Состав vocabulary</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Coverage редких слов</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90550">
                <a:tc>
                  <a:txBody>
                    <a:bodyPr lIns="114300" tIns="57150" rIns="114300" bIns="57150"/>
                    <a:lstStyle/>
                    <a:p>
                      <a:r>
                        <a:rPr sz="1725" b="0">
                          <a:solidFill>
                            <a:srgbClr val="F5F5F7"/>
                          </a:solidFill>
                          <a:latin typeface="Helvetica Neue"/>
                          <a:ea typeface="Helvetica Neue"/>
                          <a:cs typeface="Helvetica Neue"/>
                        </a:rPr>
                        <a:t>Sampling settings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Обучающий сигнал</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Устойчивость результата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1" name="lecture2-5">
            <a:extLst xmlns:a="http://schemas.openxmlformats.org/drawingml/2006/main">
              <a:ext uri="{FF2B5EF4-FFF2-40B4-BE49-F238E27FC236}">
                <a16:creationId xmlns:a16="http://schemas.microsoft.com/office/drawing/2014/main" id="{C4682BD2-ADD6-4C76-A8E6-4CD7B8F47621}"/>
              </a:ext>
            </a:extLst>
          </p:cNvPr>
          <p:cNvSpPr>
            <a:spLocks xmlns:a="http://schemas.openxmlformats.org/drawingml/2006/main" noGrp="1"/>
          </p:cNvSpPr>
          <p:nvPr/>
        </p:nvSpPr>
        <p:spPr>
          <a:xfrm xmlns:a="http://schemas.openxmlformats.org/drawingml/2006/main">
            <a:off x="685800" y="5991225"/>
            <a:ext cx="10820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Большее значение параметра не означает автоматически лучшее representation. Сравнение требует одинаковой процедуры оценки.</a:t>
            </a:r>
          </a:p>
        </p:txBody>
      </p:sp>
    </p:spTree>
    <p:extLst>
      <p:ext uri="{BB962C8B-B14F-4D97-AF65-F5344CB8AC3E}">
        <p14:creationId xmlns:p14="http://schemas.microsoft.com/office/powerpoint/2010/main" val="723079737"/>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739A765F-F95E-43DC-BBB2-CFF20FB0082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18D2880E-73CB-424F-825B-750B7171677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32</a:t>
            </a:r>
          </a:p>
        </p:txBody>
      </p:sp>
      <p:sp>
        <p:nvSpPr>
          <p:cNvPr id="3" name="">
            <a:extLst xmlns:a="http://schemas.openxmlformats.org/drawingml/2006/main">
              <a:ext uri="{FF2B5EF4-FFF2-40B4-BE49-F238E27FC236}">
                <a16:creationId xmlns:a16="http://schemas.microsoft.com/office/drawing/2014/main" id="{5E661193-E7C1-4EEC-91C8-6B020C8A7C65}"/>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30B9ECCB-4F44-4671-B595-E49E9AE7978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Context window и обучаемые отношения</a:t>
            </a:r>
          </a:p>
        </p:txBody>
      </p:sp>
      <p:sp>
        <p:nvSpPr>
          <p:cNvPr id="12" name="lecture2-4">
            <a:extLst xmlns:a="http://schemas.openxmlformats.org/drawingml/2006/main">
              <a:ext uri="{FF2B5EF4-FFF2-40B4-BE49-F238E27FC236}">
                <a16:creationId xmlns:a16="http://schemas.microsoft.com/office/drawing/2014/main" id="{98F6260C-2FE6-4E30-80F2-3273ADDA742E}"/>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Состав обучающих пар</a:t>
            </a:r>
          </a:p>
        </p:txBody>
      </p:sp>
      <p:sp>
        <p:nvSpPr>
          <p:cNvPr id="13" name="lecture2-5">
            <a:extLst xmlns:a="http://schemas.openxmlformats.org/drawingml/2006/main">
              <a:ext uri="{FF2B5EF4-FFF2-40B4-BE49-F238E27FC236}">
                <a16:creationId xmlns:a16="http://schemas.microsoft.com/office/drawing/2014/main" id="{EC3DA1E5-B15C-45A3-AE9B-0DCA462518E3}"/>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Увеличение window добавляет более удалённые context words. Это может усилить тематические связи и одновременно ослабить относительную роль ближайших соседей. Направление и расстояние также можно учитывать отдельно. Изменение window фактически меняет данные, которые модель считает подтверждением связи между словами.</a:t>
            </a:r>
          </a:p>
        </p:txBody>
      </p:sp>
      <p:sp>
        <p:nvSpPr>
          <p:cNvPr id="14" name="lecture2-6">
            <a:extLst xmlns:a="http://schemas.openxmlformats.org/drawingml/2006/main">
              <a:ext uri="{FF2B5EF4-FFF2-40B4-BE49-F238E27FC236}">
                <a16:creationId xmlns:a16="http://schemas.microsoft.com/office/drawing/2014/main" id="{80A1CF24-27F7-478C-B066-A4FDC85AC98E}"/>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Проверка полезности</a:t>
            </a:r>
          </a:p>
        </p:txBody>
      </p:sp>
      <p:sp>
        <p:nvSpPr>
          <p:cNvPr id="15" name="lecture2-7">
            <a:extLst xmlns:a="http://schemas.openxmlformats.org/drawingml/2006/main">
              <a:ext uri="{FF2B5EF4-FFF2-40B4-BE49-F238E27FC236}">
                <a16:creationId xmlns:a16="http://schemas.microsoft.com/office/drawing/2014/main" id="{037F9EC9-72D8-4BEC-B7AA-BEA3836A731A}"/>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Близость в embedding space зависит от этой процедуры. Для одних задач полезнее общая тема, для других — точная роль слова в локальной конструкции. Поэтому размер window не выбирают по одному примеру nearest neighbors. Проверяют несколько классов слов и downstream task, фиксируя остальные настройки и источник corpus.</a:t>
            </a:r>
          </a:p>
        </p:txBody>
      </p:sp>
    </p:spTree>
    <p:extLst>
      <p:ext uri="{BB962C8B-B14F-4D97-AF65-F5344CB8AC3E}">
        <p14:creationId xmlns:p14="http://schemas.microsoft.com/office/powerpoint/2010/main" val="321681128"/>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A5E2140-55C9-4B19-817D-F695C522CCD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DF6302DA-8859-4736-AB12-E31A2D4D6EB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33</a:t>
            </a:r>
          </a:p>
        </p:txBody>
      </p:sp>
      <p:sp>
        <p:nvSpPr>
          <p:cNvPr id="3" name="">
            <a:extLst xmlns:a="http://schemas.openxmlformats.org/drawingml/2006/main">
              <a:ext uri="{FF2B5EF4-FFF2-40B4-BE49-F238E27FC236}">
                <a16:creationId xmlns:a16="http://schemas.microsoft.com/office/drawing/2014/main" id="{1F1D813A-2A31-4ABD-96CF-2E528DDD25A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9DC1864B-BCBC-460C-B8A5-514BE1D86FA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Pretrained word embeddings</a:t>
            </a:r>
          </a:p>
        </p:txBody>
      </p:sp>
      <p:sp>
        <p:nvSpPr>
          <p:cNvPr id="13" name="lecture2-4">
            <a:extLst xmlns:a="http://schemas.openxmlformats.org/drawingml/2006/main">
              <a:ext uri="{FF2B5EF4-FFF2-40B4-BE49-F238E27FC236}">
                <a16:creationId xmlns:a16="http://schemas.microsoft.com/office/drawing/2014/main" id="{9D63B673-7311-4CEB-B349-5D1DBAC4E000}"/>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Повторное использование vectors</a:t>
            </a:r>
          </a:p>
        </p:txBody>
      </p:sp>
      <p:sp>
        <p:nvSpPr>
          <p:cNvPr id="14" name="lecture2-5">
            <a:extLst xmlns:a="http://schemas.openxmlformats.org/drawingml/2006/main">
              <a:ext uri="{FF2B5EF4-FFF2-40B4-BE49-F238E27FC236}">
                <a16:creationId xmlns:a16="http://schemas.microsoft.com/office/drawing/2014/main" id="{D7B98F2D-0C08-4E08-A7A0-C7B467911635}"/>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Готовые word embeddings позволяют начать работу без собственного pretraining. Перед применением проверяют язык, vocabulary, регистр, tokenization и embedding dimension. В Gensim объект KeyedVectors хранит соответствие между ключом и vector и поддерживает поиск похожих элементов. Он не обязательно содержит всё состояние, нужное для продолжения обучения исходной модели.</a:t>
            </a:r>
          </a:p>
        </p:txBody>
      </p:sp>
      <p:sp>
        <p:nvSpPr>
          <p:cNvPr id="15" name="lecture2-6">
            <a:extLst xmlns:a="http://schemas.openxmlformats.org/drawingml/2006/main">
              <a:ext uri="{FF2B5EF4-FFF2-40B4-BE49-F238E27FC236}">
                <a16:creationId xmlns:a16="http://schemas.microsoft.com/office/drawing/2014/main" id="{D17F6F6D-C27D-46C1-AF2D-6F54DE217C0E}"/>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Coverage и воспроизводимость</a:t>
            </a:r>
          </a:p>
        </p:txBody>
      </p:sp>
      <p:sp>
        <p:nvSpPr>
          <p:cNvPr id="16" name="lecture2-7">
            <a:extLst xmlns:a="http://schemas.openxmlformats.org/drawingml/2006/main">
              <a:ext uri="{FF2B5EF4-FFF2-40B4-BE49-F238E27FC236}">
                <a16:creationId xmlns:a16="http://schemas.microsoft.com/office/drawing/2014/main" id="{0BACB51F-A01B-48E0-BA1A-469870B27FA9}"/>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Coverage показывает, какая часть нужных слов представлена в выбранном наборе. Важна не только общая доля, но и пропуски среди имён, терминов и редких классов. Сохраняют источник и версию файла, правила обработки OOV и способ построения document representation. Замена набора vectors меняет пространство и требует повторной оценки.</a:t>
            </a:r>
          </a:p>
        </p:txBody>
      </p:sp>
    </p:spTree>
    <p:extLst>
      <p:ext uri="{BB962C8B-B14F-4D97-AF65-F5344CB8AC3E}">
        <p14:creationId xmlns:p14="http://schemas.microsoft.com/office/powerpoint/2010/main" val="1914800136"/>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3A5FF407-C69D-4252-B508-FB607F998ED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EA242988-7424-4E83-AB78-4CE4AF4D124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34</a:t>
            </a:r>
          </a:p>
        </p:txBody>
      </p:sp>
      <p:sp>
        <p:nvSpPr>
          <p:cNvPr id="3" name="">
            <a:extLst xmlns:a="http://schemas.openxmlformats.org/drawingml/2006/main">
              <a:ext uri="{FF2B5EF4-FFF2-40B4-BE49-F238E27FC236}">
                <a16:creationId xmlns:a16="http://schemas.microsoft.com/office/drawing/2014/main" id="{B56C1140-150F-4A62-A7A0-78C35B2344A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231A315E-0D95-4340-811B-597AD07F41A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GloVe</a:t>
            </a:r>
          </a:p>
        </p:txBody>
      </p:sp>
      <p:pic>
        <p:nvPicPr>
          <p:cNvPr id="10" name="">
            <a:extLst xmlns:a="http://schemas.openxmlformats.org/drawingml/2006/main">
              <a:ext uri="{FF2B5EF4-FFF2-40B4-BE49-F238E27FC236}">
                <a16:creationId xmlns:a16="http://schemas.microsoft.com/office/drawing/2014/main" id="{2F58DD34-647A-4C27-9746-14012332F43E}"/>
              </a:ext>
            </a:extLst>
          </p:cNvPr>
          <p:cNvPicPr>
            <a:picLocks xmlns:a="http://schemas.openxmlformats.org/drawingml/2006/main" noChangeAspect="1"/>
          </p:cNvPicPr>
          <p:nvPr/>
        </p:nvPicPr>
        <p:blipFill>
          <a:blip xmlns:r="http://schemas.openxmlformats.org/officeDocument/2006/relationships" xmlns:a="http://schemas.openxmlformats.org/drawingml/2006/main" r:embed="R881a862e6aa34345"/>
          <a:stretch xmlns:a="http://schemas.openxmlformats.org/drawingml/2006/main"/>
        </p:blipFill>
        <p:spPr>
          <a:xfrm xmlns:a="http://schemas.openxmlformats.org/drawingml/2006/main">
            <a:off x="1752630" y="2000250"/>
            <a:ext cx="8686741" cy="2381250"/>
          </a:xfrm>
          <a:prstGeom xmlns:a="http://schemas.openxmlformats.org/drawingml/2006/main" prst="rect">
            <a:avLst/>
          </a:prstGeom>
        </p:spPr>
      </p:pic>
      <p:sp>
        <p:nvSpPr>
          <p:cNvPr id="11" name="lecture2-4">
            <a:extLst xmlns:a="http://schemas.openxmlformats.org/drawingml/2006/main">
              <a:ext uri="{FF2B5EF4-FFF2-40B4-BE49-F238E27FC236}">
                <a16:creationId xmlns:a16="http://schemas.microsoft.com/office/drawing/2014/main" id="{7E595027-2DCF-4B95-B003-5F7F2C3FC837}"/>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GloVe использует агрегированные word–word co-occurrence statistics. Сначала по corpus собирают совместные появления, затем обучают компактные word vectors, отражающие эти связи. Название означает Global Vectors for Word Representation. В результате получается static representation слова. В отличие от простого хранения строки counts, GloVe обучает более короткий vector по статистике всей коллекции.</a:t>
            </a:r>
          </a:p>
        </p:txBody>
      </p:sp>
    </p:spTree>
    <p:extLst>
      <p:ext uri="{BB962C8B-B14F-4D97-AF65-F5344CB8AC3E}">
        <p14:creationId xmlns:p14="http://schemas.microsoft.com/office/powerpoint/2010/main" val="435679645"/>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C797F054-EDB8-4557-A53D-D39814A9D3D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4A75610C-953F-49B7-8574-1FEE7A3D950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35</a:t>
            </a:r>
          </a:p>
        </p:txBody>
      </p:sp>
      <p:sp>
        <p:nvSpPr>
          <p:cNvPr id="3" name="">
            <a:extLst xmlns:a="http://schemas.openxmlformats.org/drawingml/2006/main">
              <a:ext uri="{FF2B5EF4-FFF2-40B4-BE49-F238E27FC236}">
                <a16:creationId xmlns:a16="http://schemas.microsoft.com/office/drawing/2014/main" id="{926B5D8A-0923-44D0-A2E2-AA5CB87E6BE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18EBBB0-7E3F-4918-86B8-5494605662CD}"/>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Word2Vec и GloVe</a:t>
            </a:r>
          </a:p>
        </p:txBody>
      </p:sp>
      <p:sp>
        <p:nvSpPr>
          <p:cNvPr id="10" name="lecture2-4">
            <a:extLst xmlns:a="http://schemas.openxmlformats.org/drawingml/2006/main">
              <a:ext uri="{FF2B5EF4-FFF2-40B4-BE49-F238E27FC236}">
                <a16:creationId xmlns:a16="http://schemas.microsoft.com/office/drawing/2014/main" id="{D7C146A9-A7A0-4D88-9F8F-DE213363C046}"/>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Оба подхода связывают слово с его контекстами и дают static word vectors. Различается организация обучающего сигнала.</a:t>
            </a:r>
          </a:p>
        </p:txBody>
      </p:sp>
      <p:graphicFrame>
        <p:nvGraphicFramePr>
          <p:cNvPr id="11" name="">
            <a:extLst xmlns:a="http://schemas.openxmlformats.org/drawingml/2006/main">
              <a:ext uri="{FF2B5EF4-FFF2-40B4-BE49-F238E27FC236}">
                <a16:creationId xmlns:a16="http://schemas.microsoft.com/office/drawing/2014/main" id="{EE00712A-B3E4-4BED-8AE9-D28B5CA4D917}"/>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667000"/>
                <a:gridCol w="4076700"/>
                <a:gridCol w="4076700"/>
              </a:tblGrid>
              <a:tr h="666750">
                <a:tc>
                  <a:txBody>
                    <a:bodyPr lIns="114300" tIns="57150" rIns="114300" bIns="57150"/>
                    <a:lstStyle/>
                    <a:p>
                      <a:r>
                        <a:rPr sz="1725" b="1">
                          <a:solidFill>
                            <a:srgbClr val="98989F"/>
                          </a:solidFill>
                          <a:latin typeface="Helvetica Neue"/>
                          <a:ea typeface="Helvetica Neue"/>
                          <a:cs typeface="Helvetica Neue"/>
                        </a:rPr>
                        <a:t>Свойство</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Word2Vec</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GloVe</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Исходные наблюдения</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Word–context pairs</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Co-occurrence statistics</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Основная идея</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Предсказывать окружение</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Согласовать vectors со статистикой</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Результат</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Static word vectors</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Static word vectors</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2" name="lecture2-5">
            <a:extLst xmlns:a="http://schemas.openxmlformats.org/drawingml/2006/main">
              <a:ext uri="{FF2B5EF4-FFF2-40B4-BE49-F238E27FC236}">
                <a16:creationId xmlns:a16="http://schemas.microsoft.com/office/drawing/2014/main" id="{81F57EAE-0EBF-4147-8974-A18C338445AF}"/>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Выбор нельзя обосновать только названием метода. Существенны corpus, vocabulary, dimension, реализация и качество в целевой задаче.</a:t>
            </a:r>
          </a:p>
        </p:txBody>
      </p:sp>
    </p:spTree>
    <p:extLst>
      <p:ext uri="{BB962C8B-B14F-4D97-AF65-F5344CB8AC3E}">
        <p14:creationId xmlns:p14="http://schemas.microsoft.com/office/powerpoint/2010/main" val="290747463"/>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33A4FAE7-9E92-40E8-AA33-2A5891A8644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EAE29B9-3CDF-4BF6-AC2B-85C15D36F3A4}"/>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36</a:t>
            </a:r>
          </a:p>
        </p:txBody>
      </p:sp>
      <p:sp>
        <p:nvSpPr>
          <p:cNvPr id="3" name="">
            <a:extLst xmlns:a="http://schemas.openxmlformats.org/drawingml/2006/main">
              <a:ext uri="{FF2B5EF4-FFF2-40B4-BE49-F238E27FC236}">
                <a16:creationId xmlns:a16="http://schemas.microsoft.com/office/drawing/2014/main" id="{1F251EFF-24E5-42E4-9B6B-1F7B576D3771}"/>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0A456423-F9D0-4D4A-8AE8-387CF45C20E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fastText: subword information</a:t>
            </a:r>
          </a:p>
        </p:txBody>
      </p:sp>
      <p:pic>
        <p:nvPicPr>
          <p:cNvPr id="16" name="">
            <a:extLst xmlns:a="http://schemas.openxmlformats.org/drawingml/2006/main">
              <a:ext uri="{FF2B5EF4-FFF2-40B4-BE49-F238E27FC236}">
                <a16:creationId xmlns:a16="http://schemas.microsoft.com/office/drawing/2014/main" id="{998C626C-A341-42EB-8EEB-53114414238E}"/>
              </a:ext>
            </a:extLst>
          </p:cNvPr>
          <p:cNvPicPr>
            <a:picLocks xmlns:a="http://schemas.openxmlformats.org/drawingml/2006/main" noChangeAspect="1"/>
          </p:cNvPicPr>
          <p:nvPr/>
        </p:nvPicPr>
        <p:blipFill>
          <a:blip xmlns:r="http://schemas.openxmlformats.org/officeDocument/2006/relationships" xmlns:a="http://schemas.openxmlformats.org/drawingml/2006/main" r:embed="Rca777f67c06c41c0"/>
          <a:stretch xmlns:a="http://schemas.openxmlformats.org/drawingml/2006/main"/>
        </p:blipFill>
        <p:spPr>
          <a:xfrm xmlns:a="http://schemas.openxmlformats.org/drawingml/2006/main">
            <a:off x="2871297" y="2000250"/>
            <a:ext cx="6449406" cy="3905250"/>
          </a:xfrm>
          <a:prstGeom xmlns:a="http://schemas.openxmlformats.org/drawingml/2006/main" prst="rect">
            <a:avLst/>
          </a:prstGeom>
        </p:spPr>
      </p:pic>
      <p:sp>
        <p:nvSpPr>
          <p:cNvPr id="17" name="lecture2-4">
            <a:extLst xmlns:a="http://schemas.openxmlformats.org/drawingml/2006/main">
              <a:ext uri="{FF2B5EF4-FFF2-40B4-BE49-F238E27FC236}">
                <a16:creationId xmlns:a16="http://schemas.microsoft.com/office/drawing/2014/main" id="{5092E674-9CC9-4F54-A875-249C02031F37}"/>
              </a:ext>
            </a:extLst>
          </p:cNvPr>
          <p:cNvSpPr>
            <a:spLocks xmlns:a="http://schemas.openxmlformats.org/drawingml/2006/main" noGrp="1"/>
          </p:cNvSpPr>
          <p:nvPr/>
        </p:nvSpPr>
        <p:spPr>
          <a:xfrm xmlns:a="http://schemas.openxmlformats.org/drawingml/2006/main">
            <a:off x="685800" y="60864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В fastText word vector использует character n-grams. Это даёт общий обучающий сигнал для слов с похожей записью.</a:t>
            </a:r>
          </a:p>
        </p:txBody>
      </p:sp>
    </p:spTree>
    <p:extLst>
      <p:ext uri="{BB962C8B-B14F-4D97-AF65-F5344CB8AC3E}">
        <p14:creationId xmlns:p14="http://schemas.microsoft.com/office/powerpoint/2010/main" val="1028343880"/>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285AF79-1867-4762-95CA-545B209DBDD8}"/>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53E846A2-8032-4E49-9FB4-583C340EF81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37</a:t>
            </a:r>
          </a:p>
        </p:txBody>
      </p:sp>
      <p:sp>
        <p:nvSpPr>
          <p:cNvPr id="3" name="">
            <a:extLst xmlns:a="http://schemas.openxmlformats.org/drawingml/2006/main">
              <a:ext uri="{FF2B5EF4-FFF2-40B4-BE49-F238E27FC236}">
                <a16:creationId xmlns:a16="http://schemas.microsoft.com/office/drawing/2014/main" id="{60AAEA5F-3801-4DE6-A9CC-5F5000D7438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2DDBC10C-8A02-46CF-8623-43B34C680B8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fastText и OOV</a:t>
            </a:r>
          </a:p>
        </p:txBody>
      </p:sp>
      <p:sp>
        <p:nvSpPr>
          <p:cNvPr id="8" name="lecture2-4">
            <a:extLst xmlns:a="http://schemas.openxmlformats.org/drawingml/2006/main">
              <a:ext uri="{FF2B5EF4-FFF2-40B4-BE49-F238E27FC236}">
                <a16:creationId xmlns:a16="http://schemas.microsoft.com/office/drawing/2014/main" id="{CC1B1C4C-3611-40B5-888F-12A7A609D830}"/>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Representation нового слова</a:t>
            </a:r>
          </a:p>
        </p:txBody>
      </p:sp>
      <p:sp>
        <p:nvSpPr>
          <p:cNvPr id="9" name="lecture2-5">
            <a:extLst xmlns:a="http://schemas.openxmlformats.org/drawingml/2006/main">
              <a:ext uri="{FF2B5EF4-FFF2-40B4-BE49-F238E27FC236}">
                <a16:creationId xmlns:a16="http://schemas.microsoft.com/office/drawing/2014/main" id="{A2508F5A-6C2E-4461-B1C0-9265D320F28C}"/>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Полная fastText model может построить vector для слова, отсутствовавшего в vocabulary целых слов, используя параметры его character n-grams. Это полезно для новых словоформ и некоторых опечаток. Возможность вычислить vector не означает, что модель знает значение слова: результат зависит от знакомых фрагментов и обучающего corpus.</a:t>
            </a:r>
          </a:p>
        </p:txBody>
      </p:sp>
      <p:sp>
        <p:nvSpPr>
          <p:cNvPr id="10" name="lecture2-6">
            <a:extLst xmlns:a="http://schemas.openxmlformats.org/drawingml/2006/main">
              <a:ext uri="{FF2B5EF4-FFF2-40B4-BE49-F238E27FC236}">
                <a16:creationId xmlns:a16="http://schemas.microsoft.com/office/drawing/2014/main" id="{E775E585-1950-4D1F-8DB4-1A267013E39A}"/>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Формат модели</a:t>
            </a:r>
          </a:p>
        </p:txBody>
      </p:sp>
      <p:sp>
        <p:nvSpPr>
          <p:cNvPr id="11" name="lecture2-7">
            <a:extLst xmlns:a="http://schemas.openxmlformats.org/drawingml/2006/main">
              <a:ext uri="{FF2B5EF4-FFF2-40B4-BE49-F238E27FC236}">
                <a16:creationId xmlns:a16="http://schemas.microsoft.com/office/drawing/2014/main" id="{96868A0D-9511-48C8-BE01-1ECC10537559}"/>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Текстовый файл с готовыми vectors для перечисленных слов обычно не сохраняет все subword parameters. Поэтому простая выгрузка word vectors и полная fastText model дают разные возможности для OOV. При выборе файла проверяют, требуется ли только lookup известных слов или вычисление representations для новых записей.</a:t>
            </a:r>
          </a:p>
        </p:txBody>
      </p:sp>
    </p:spTree>
    <p:extLst>
      <p:ext uri="{BB962C8B-B14F-4D97-AF65-F5344CB8AC3E}">
        <p14:creationId xmlns:p14="http://schemas.microsoft.com/office/powerpoint/2010/main" val="953895150"/>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D41004F7-8C2D-48EA-B6E6-7D9DACE9F00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4DE77156-2B0C-4D50-AC88-FE59A6243A0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38</a:t>
            </a:r>
          </a:p>
        </p:txBody>
      </p:sp>
      <p:sp>
        <p:nvSpPr>
          <p:cNvPr id="3" name="">
            <a:extLst xmlns:a="http://schemas.openxmlformats.org/drawingml/2006/main">
              <a:ext uri="{FF2B5EF4-FFF2-40B4-BE49-F238E27FC236}">
                <a16:creationId xmlns:a16="http://schemas.microsoft.com/office/drawing/2014/main" id="{B5A20A33-2A11-4F67-A0D8-6B1A33CB913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925A644-0E3A-42D6-B5DB-8BE71039527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Subword information: примеры</a:t>
            </a:r>
          </a:p>
        </p:txBody>
      </p:sp>
      <p:sp>
        <p:nvSpPr>
          <p:cNvPr id="9" name="lecture2-4">
            <a:extLst xmlns:a="http://schemas.openxmlformats.org/drawingml/2006/main">
              <a:ext uri="{FF2B5EF4-FFF2-40B4-BE49-F238E27FC236}">
                <a16:creationId xmlns:a16="http://schemas.microsoft.com/office/drawing/2014/main" id="{FE9881ED-8B8E-4C72-BABB-21B2D8C75C90}"/>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Character n-grams связывают слова по записи. Это полезный сигнал, но совпадение написания не является доказательством одинакового значения.</a:t>
            </a:r>
          </a:p>
        </p:txBody>
      </p:sp>
      <p:graphicFrame>
        <p:nvGraphicFramePr>
          <p:cNvPr id="10" name="">
            <a:extLst xmlns:a="http://schemas.openxmlformats.org/drawingml/2006/main">
              <a:ext uri="{FF2B5EF4-FFF2-40B4-BE49-F238E27FC236}">
                <a16:creationId xmlns:a16="http://schemas.microsoft.com/office/drawing/2014/main" id="{658936E7-C061-4B7C-AFD8-D49F7049886C}"/>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857500"/>
                <a:gridCol w="3810000"/>
                <a:gridCol w="4152900"/>
              </a:tblGrid>
              <a:tr h="666750">
                <a:tc>
                  <a:txBody>
                    <a:bodyPr lIns="114300" tIns="57150" rIns="114300" bIns="57150"/>
                    <a:lstStyle/>
                    <a:p>
                      <a:r>
                        <a:rPr sz="1725" b="1">
                          <a:solidFill>
                            <a:srgbClr val="98989F"/>
                          </a:solidFill>
                          <a:latin typeface="Helvetica Neue"/>
                          <a:ea typeface="Helvetica Neue"/>
                          <a:cs typeface="Helvetica Neue"/>
                        </a:rPr>
                        <a:t>Случай</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Что может помочь</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Ограничение</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«книга» / «книги»</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Общие фрагменты словоформ</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Нужные различия могут сохраниться</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Опечатка в длинном слове</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Часть фрагментов остаётся</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Сильное искажение меняет vector</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Новая терминология</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Representation по частям</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Значение может быть неизвестно</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1" name="lecture2-5">
            <a:extLst xmlns:a="http://schemas.openxmlformats.org/drawingml/2006/main">
              <a:ext uri="{FF2B5EF4-FFF2-40B4-BE49-F238E27FC236}">
                <a16:creationId xmlns:a16="http://schemas.microsoft.com/office/drawing/2014/main" id="{08192843-AA3B-405C-9ABC-0A8461017E44}"/>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Для русского текста сравнивают пользу character information с другими решениями на одних данных, а не считают её универсальным исправлением OOV.</a:t>
            </a:r>
          </a:p>
        </p:txBody>
      </p:sp>
    </p:spTree>
    <p:extLst>
      <p:ext uri="{BB962C8B-B14F-4D97-AF65-F5344CB8AC3E}">
        <p14:creationId xmlns:p14="http://schemas.microsoft.com/office/powerpoint/2010/main" val="1438972090"/>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4" name="text-0">
            <a:extLst xmlns:a="http://schemas.openxmlformats.org/drawingml/2006/main">
              <a:ext uri="{FF2B5EF4-FFF2-40B4-BE49-F238E27FC236}">
                <a16:creationId xmlns:a16="http://schemas.microsoft.com/office/drawing/2014/main" id="{3439F50C-B79A-43E3-8C3F-4A9041CD980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8B6991E-17B3-4695-86F8-72F6619D213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39</a:t>
            </a:r>
          </a:p>
        </p:txBody>
      </p:sp>
      <p:sp>
        <p:nvSpPr>
          <p:cNvPr id="3" name="">
            <a:extLst xmlns:a="http://schemas.openxmlformats.org/drawingml/2006/main">
              <a:ext uri="{FF2B5EF4-FFF2-40B4-BE49-F238E27FC236}">
                <a16:creationId xmlns:a16="http://schemas.microsoft.com/office/drawing/2014/main" id="{4304EFAA-82EA-4994-974A-85E5D2AA6B0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6FFD7411-462E-4F7E-8A6C-F6F3F3CD578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Word2Vec, GloVe и fastText</a:t>
            </a:r>
          </a:p>
        </p:txBody>
      </p:sp>
      <p:sp>
        <p:nvSpPr>
          <p:cNvPr id="35" name="lecture2-4">
            <a:extLst xmlns:a="http://schemas.openxmlformats.org/drawingml/2006/main">
              <a:ext uri="{FF2B5EF4-FFF2-40B4-BE49-F238E27FC236}">
                <a16:creationId xmlns:a16="http://schemas.microsoft.com/office/drawing/2014/main" id="{B5313D77-655D-4C39-AEEB-16291C958191}"/>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Все три семейства относятся к static representations, если итоговый word vector не меняется от предложения к предложению.</a:t>
            </a:r>
          </a:p>
        </p:txBody>
      </p:sp>
      <p:graphicFrame>
        <p:nvGraphicFramePr>
          <p:cNvPr id="36" name="">
            <a:extLst xmlns:a="http://schemas.openxmlformats.org/drawingml/2006/main">
              <a:ext uri="{FF2B5EF4-FFF2-40B4-BE49-F238E27FC236}">
                <a16:creationId xmlns:a16="http://schemas.microsoft.com/office/drawing/2014/main" id="{1013F478-06CB-4245-ADB9-C8F0F5D2DF3C}"/>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476500"/>
                <a:gridCol w="4171950"/>
                <a:gridCol w="4171950"/>
              </a:tblGrid>
              <a:tr h="666750">
                <a:tc>
                  <a:txBody>
                    <a:bodyPr lIns="114300" tIns="57150" rIns="114300" bIns="57150"/>
                    <a:lstStyle/>
                    <a:p>
                      <a:r>
                        <a:rPr sz="1725" b="1">
                          <a:solidFill>
                            <a:srgbClr val="98989F"/>
                          </a:solidFill>
                          <a:latin typeface="Helvetica Neue"/>
                          <a:ea typeface="Helvetica Neue"/>
                          <a:cs typeface="Helvetica Neue"/>
                        </a:rPr>
                        <a:t>Метод</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Основной сигнал</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Работа с новой записью</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Word2Vec</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Предсказание контекстов</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Обычно lookup / OOV policy</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GloVe</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Global co-occurrence</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Обычно lookup / OOV policy</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fastText</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Контексты и character n-grams</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Возможен subword composition</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37" name="lecture2-5">
            <a:extLst xmlns:a="http://schemas.openxmlformats.org/drawingml/2006/main">
              <a:ext uri="{FF2B5EF4-FFF2-40B4-BE49-F238E27FC236}">
                <a16:creationId xmlns:a16="http://schemas.microsoft.com/office/drawing/2014/main" id="{A394E125-C9D8-44B3-88E2-9AF90491B43D}"/>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Во всех случаях применение зависит от corpus и формата сохранённой модели. Static representation не различает отдельные значения слова по текущему контексту.</a:t>
            </a:r>
          </a:p>
        </p:txBody>
      </p:sp>
    </p:spTree>
    <p:extLst>
      <p:ext uri="{BB962C8B-B14F-4D97-AF65-F5344CB8AC3E}">
        <p14:creationId xmlns:p14="http://schemas.microsoft.com/office/powerpoint/2010/main" val="202681362"/>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7278AE74-0DB8-4BD8-92CE-99088C14E6C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095A5371-3FA8-4757-83B3-AC8208078FF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40</a:t>
            </a:r>
          </a:p>
        </p:txBody>
      </p:sp>
      <p:sp>
        <p:nvSpPr>
          <p:cNvPr id="3" name="">
            <a:extLst xmlns:a="http://schemas.openxmlformats.org/drawingml/2006/main">
              <a:ext uri="{FF2B5EF4-FFF2-40B4-BE49-F238E27FC236}">
                <a16:creationId xmlns:a16="http://schemas.microsoft.com/office/drawing/2014/main" id="{3933A04A-1DCA-4349-83AE-02D25C02847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0CA3BFFF-3D58-4941-B007-83E8422CAE72}"/>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Static embeddings и polysemy</a:t>
            </a:r>
          </a:p>
        </p:txBody>
      </p:sp>
      <p:sp>
        <p:nvSpPr>
          <p:cNvPr id="16" name="lecture2-4">
            <a:extLst xmlns:a="http://schemas.openxmlformats.org/drawingml/2006/main">
              <a:ext uri="{FF2B5EF4-FFF2-40B4-BE49-F238E27FC236}">
                <a16:creationId xmlns:a16="http://schemas.microsoft.com/office/drawing/2014/main" id="{08B06017-EAF0-4BF0-B29C-E9ACEC38C824}"/>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Один vector для разных употреблений</a:t>
            </a:r>
          </a:p>
        </p:txBody>
      </p:sp>
      <p:sp>
        <p:nvSpPr>
          <p:cNvPr id="17" name="lecture2-5">
            <a:extLst xmlns:a="http://schemas.openxmlformats.org/drawingml/2006/main">
              <a:ext uri="{FF2B5EF4-FFF2-40B4-BE49-F238E27FC236}">
                <a16:creationId xmlns:a16="http://schemas.microsoft.com/office/drawing/2014/main" id="{B39D1101-BD5F-429F-95FC-DB29E52F74C3}"/>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 static lookup слово bank получает одинаковый vector в предложениях о кредите и о берегу реки. Все наблюдавшиеся значения объединяются в одном representation. Если corpus содержит одно значение значительно чаще, оно может сильнее влиять на ближайших соседей. Это ограничение связано с единицей representation, а не только с размером vector.</a:t>
            </a:r>
          </a:p>
        </p:txBody>
      </p:sp>
      <p:sp>
        <p:nvSpPr>
          <p:cNvPr id="18" name="lecture2-6">
            <a:extLst xmlns:a="http://schemas.openxmlformats.org/drawingml/2006/main">
              <a:ext uri="{FF2B5EF4-FFF2-40B4-BE49-F238E27FC236}">
                <a16:creationId xmlns:a16="http://schemas.microsoft.com/office/drawing/2014/main" id="{35E46386-92F1-4E92-B5AF-9DE8C1000A00}"/>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Значение контекста для задачи</a:t>
            </a:r>
          </a:p>
        </p:txBody>
      </p:sp>
      <p:sp>
        <p:nvSpPr>
          <p:cNvPr id="19" name="lecture2-7">
            <a:extLst xmlns:a="http://schemas.openxmlformats.org/drawingml/2006/main">
              <a:ext uri="{FF2B5EF4-FFF2-40B4-BE49-F238E27FC236}">
                <a16:creationId xmlns:a16="http://schemas.microsoft.com/office/drawing/2014/main" id="{87B1FA95-C70F-4FE5-8401-27B0AAF4A49D}"/>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Для некоторых задач усреднённой информации о слове достаточно: контекст может обрабатывать следующая модель. Но для точного сравнения употреблений нужны representations, которые меняются вместе с окружением. Этот переход приводит к contextual embeddings. Перед ним полезно разобраться, как вообще получить один vector для целого документа.</a:t>
            </a:r>
          </a:p>
        </p:txBody>
      </p:sp>
    </p:spTree>
    <p:extLst>
      <p:ext uri="{BB962C8B-B14F-4D97-AF65-F5344CB8AC3E}">
        <p14:creationId xmlns:p14="http://schemas.microsoft.com/office/powerpoint/2010/main" val="411667544"/>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6E1D02E7-F8CC-49F5-B035-A2EAAB293C9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5543BF47-730E-4D2D-A575-6CA3F43E8DC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41</a:t>
            </a:r>
          </a:p>
        </p:txBody>
      </p:sp>
      <p:sp>
        <p:nvSpPr>
          <p:cNvPr id="3" name="">
            <a:extLst xmlns:a="http://schemas.openxmlformats.org/drawingml/2006/main">
              <a:ext uri="{FF2B5EF4-FFF2-40B4-BE49-F238E27FC236}">
                <a16:creationId xmlns:a16="http://schemas.microsoft.com/office/drawing/2014/main" id="{5CE0B588-92EC-4CEB-981E-B65FB823AAAC}"/>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E7FDC632-E0EF-4269-B4B3-EACE36CCFDDD}"/>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Sentence и document representations</a:t>
            </a:r>
          </a:p>
        </p:txBody>
      </p:sp>
      <p:sp>
        <p:nvSpPr>
          <p:cNvPr id="9" name="lecture2-4">
            <a:extLst xmlns:a="http://schemas.openxmlformats.org/drawingml/2006/main">
              <a:ext uri="{FF2B5EF4-FFF2-40B4-BE49-F238E27FC236}">
                <a16:creationId xmlns:a16="http://schemas.microsoft.com/office/drawing/2014/main" id="{7F585B37-3B3E-49FF-B86F-027801E2526C}"/>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Один объект — один vector</a:t>
            </a:r>
          </a:p>
        </p:txBody>
      </p:sp>
      <p:sp>
        <p:nvSpPr>
          <p:cNvPr id="10" name="lecture2-5">
            <a:extLst xmlns:a="http://schemas.openxmlformats.org/drawingml/2006/main">
              <a:ext uri="{FF2B5EF4-FFF2-40B4-BE49-F238E27FC236}">
                <a16:creationId xmlns:a16="http://schemas.microsoft.com/office/drawing/2014/main" id="{215178C4-BDC3-4950-A927-9E2DFB821566}"/>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classification или retrieval часто требуется vector фиксированной длины для текста переменной длины. Он должен сохранять информацию, полезную для сравнения или предсказания class label. Это можно получить из lexical features, через объединение word vectors или с помощью модели, обученной представлять целые тексты.</a:t>
            </a:r>
          </a:p>
        </p:txBody>
      </p:sp>
      <p:sp>
        <p:nvSpPr>
          <p:cNvPr id="11" name="lecture2-6">
            <a:extLst xmlns:a="http://schemas.openxmlformats.org/drawingml/2006/main">
              <a:ext uri="{FF2B5EF4-FFF2-40B4-BE49-F238E27FC236}">
                <a16:creationId xmlns:a16="http://schemas.microsoft.com/office/drawing/2014/main" id="{5CF55B90-09DC-4AFD-95D8-22173104AEED}"/>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Выбор единицы текста</a:t>
            </a:r>
          </a:p>
        </p:txBody>
      </p:sp>
      <p:sp>
        <p:nvSpPr>
          <p:cNvPr id="12" name="lecture2-7">
            <a:extLst xmlns:a="http://schemas.openxmlformats.org/drawingml/2006/main">
              <a:ext uri="{FF2B5EF4-FFF2-40B4-BE49-F238E27FC236}">
                <a16:creationId xmlns:a16="http://schemas.microsoft.com/office/drawing/2014/main" id="{4EC823CF-3E63-4E43-B460-658D42FDD555}"/>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Sentence, passage и document различаются объёмом и структурой. Один длинный документ может содержать несколько тем, поэтому единый vector способен смешивать разные смысловые части. Иногда полезнее представлять отдельные passages и хранить связь с исходным документом. Решение зависит от того, что именно должна возвращать система.</a:t>
            </a:r>
          </a:p>
        </p:txBody>
      </p:sp>
    </p:spTree>
    <p:extLst>
      <p:ext uri="{BB962C8B-B14F-4D97-AF65-F5344CB8AC3E}">
        <p14:creationId xmlns:p14="http://schemas.microsoft.com/office/powerpoint/2010/main" val="1367355614"/>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70BB233-7533-4974-81EC-6DB3D90F1E70}"/>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11C92684-3851-491C-95A9-4AFCF5ECB99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42</a:t>
            </a:r>
          </a:p>
        </p:txBody>
      </p:sp>
      <p:sp>
        <p:nvSpPr>
          <p:cNvPr id="3" name="">
            <a:extLst xmlns:a="http://schemas.openxmlformats.org/drawingml/2006/main">
              <a:ext uri="{FF2B5EF4-FFF2-40B4-BE49-F238E27FC236}">
                <a16:creationId xmlns:a16="http://schemas.microsoft.com/office/drawing/2014/main" id="{24DCE5E3-33AD-499C-8327-B20D0177AFC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6E215771-EF0A-41D2-908A-58B106A7DE7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Bag of Embeddings</a:t>
            </a:r>
          </a:p>
        </p:txBody>
      </p:sp>
      <p:pic>
        <p:nvPicPr>
          <p:cNvPr id="9" name="">
            <a:extLst xmlns:a="http://schemas.openxmlformats.org/drawingml/2006/main">
              <a:ext uri="{FF2B5EF4-FFF2-40B4-BE49-F238E27FC236}">
                <a16:creationId xmlns:a16="http://schemas.microsoft.com/office/drawing/2014/main" id="{5CDD9F32-DC3E-4201-8DF9-CD4913A627EF}"/>
              </a:ext>
            </a:extLst>
          </p:cNvPr>
          <p:cNvPicPr>
            <a:picLocks xmlns:a="http://schemas.openxmlformats.org/drawingml/2006/main" noChangeAspect="1"/>
          </p:cNvPicPr>
          <p:nvPr/>
        </p:nvPicPr>
        <p:blipFill>
          <a:blip xmlns:r="http://schemas.openxmlformats.org/officeDocument/2006/relationships" xmlns:a="http://schemas.openxmlformats.org/drawingml/2006/main" r:embed="R49f85c1e6c464767"/>
          <a:stretch xmlns:a="http://schemas.openxmlformats.org/drawingml/2006/main"/>
        </p:blipFill>
        <p:spPr>
          <a:xfrm xmlns:a="http://schemas.openxmlformats.org/drawingml/2006/main">
            <a:off x="2915906" y="2000250"/>
            <a:ext cx="6360188" cy="2381250"/>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FD1DF6BC-C33A-430F-87D0-A21DE488AB74}"/>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Bag of Embeddings объединяет word vectors, например усредняет их по тексту. Размер результата не зависит от количества слов. Weighted variant меняет вклад отдельных элементов; на схеме показаны оба подхода. Такое representation просто получить, но оно не учитывает порядок слов само по себе. Если два текста содержат одинаковый набор vectors с одинаковыми весами, результат будет одинаковым.</a:t>
            </a:r>
          </a:p>
        </p:txBody>
      </p:sp>
    </p:spTree>
    <p:extLst>
      <p:ext uri="{BB962C8B-B14F-4D97-AF65-F5344CB8AC3E}">
        <p14:creationId xmlns:p14="http://schemas.microsoft.com/office/powerpoint/2010/main" val="1872054261"/>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EB9EFC1-6615-460F-ADE9-72BCC137A2F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18D1E5E9-5F47-4288-9F9F-C32D1370BED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43</a:t>
            </a:r>
          </a:p>
        </p:txBody>
      </p:sp>
      <p:sp>
        <p:nvSpPr>
          <p:cNvPr id="3" name="">
            <a:extLst xmlns:a="http://schemas.openxmlformats.org/drawingml/2006/main">
              <a:ext uri="{FF2B5EF4-FFF2-40B4-BE49-F238E27FC236}">
                <a16:creationId xmlns:a16="http://schemas.microsoft.com/office/drawing/2014/main" id="{8DE3F841-2E9E-47A2-9C3F-7B71DDD44E2E}"/>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78EAE006-1BCE-4446-9864-6CCAB64C3A6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Weighted pooling</a:t>
            </a:r>
          </a:p>
        </p:txBody>
      </p:sp>
      <p:sp>
        <p:nvSpPr>
          <p:cNvPr id="8" name="lecture2-4">
            <a:extLst xmlns:a="http://schemas.openxmlformats.org/drawingml/2006/main">
              <a:ext uri="{FF2B5EF4-FFF2-40B4-BE49-F238E27FC236}">
                <a16:creationId xmlns:a16="http://schemas.microsoft.com/office/drawing/2014/main" id="{F998F6F5-0F79-4192-BCC5-B0A83E9D00C4}"/>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Вклад отдельных слов</a:t>
            </a:r>
          </a:p>
        </p:txBody>
      </p:sp>
      <p:sp>
        <p:nvSpPr>
          <p:cNvPr id="9" name="lecture2-5">
            <a:extLst xmlns:a="http://schemas.openxmlformats.org/drawingml/2006/main">
              <a:ext uri="{FF2B5EF4-FFF2-40B4-BE49-F238E27FC236}">
                <a16:creationId xmlns:a16="http://schemas.microsoft.com/office/drawing/2014/main" id="{09717C8E-814D-4D9D-A7B5-8DB4D1EB6ACE}"/>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weighted pooling одни word vectors влияют на итоговое representation сильнее других. Веса могут задаваться статистикой corpus, например IDF, или обучаться для задачи. Это позволяет уменьшить вклад общего фона и выделить более характерные элементы. Правило выбора весов является частью метода и должно быть зафиксировано.</a:t>
            </a:r>
          </a:p>
        </p:txBody>
      </p:sp>
      <p:sp>
        <p:nvSpPr>
          <p:cNvPr id="10" name="lecture2-6">
            <a:extLst xmlns:a="http://schemas.openxmlformats.org/drawingml/2006/main">
              <a:ext uri="{FF2B5EF4-FFF2-40B4-BE49-F238E27FC236}">
                <a16:creationId xmlns:a16="http://schemas.microsoft.com/office/drawing/2014/main" id="{FE5E1B37-9E23-4837-918C-CC4CF3396D8B}"/>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Ограничения объединения</a:t>
            </a:r>
          </a:p>
        </p:txBody>
      </p:sp>
      <p:sp>
        <p:nvSpPr>
          <p:cNvPr id="11" name="lecture2-7">
            <a:extLst xmlns:a="http://schemas.openxmlformats.org/drawingml/2006/main">
              <a:ext uri="{FF2B5EF4-FFF2-40B4-BE49-F238E27FC236}">
                <a16:creationId xmlns:a16="http://schemas.microsoft.com/office/drawing/2014/main" id="{6C881F8B-605F-402A-BFE8-62235883A6ED}"/>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Weighting не восстанавливает информацию, которую исходные vectors не содержат. Если static embedding объединяет несколько значений слова, одних весов может быть недостаточно для их разделения. Необходимо также определить обработку OOV, пустого текста и normalization результата. Все эти решения проверяют вместе, поскольку они влияют на similarity scores.</a:t>
            </a:r>
          </a:p>
        </p:txBody>
      </p:sp>
    </p:spTree>
    <p:extLst>
      <p:ext uri="{BB962C8B-B14F-4D97-AF65-F5344CB8AC3E}">
        <p14:creationId xmlns:p14="http://schemas.microsoft.com/office/powerpoint/2010/main" val="1867270447"/>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text-0">
            <a:extLst xmlns:a="http://schemas.openxmlformats.org/drawingml/2006/main">
              <a:ext uri="{FF2B5EF4-FFF2-40B4-BE49-F238E27FC236}">
                <a16:creationId xmlns:a16="http://schemas.microsoft.com/office/drawing/2014/main" id="{F58B79F1-F4F5-4C80-9B9C-7569268564C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BEAB7D71-66D6-44B0-A994-0D26D2EF557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44</a:t>
            </a:r>
          </a:p>
        </p:txBody>
      </p:sp>
      <p:sp>
        <p:nvSpPr>
          <p:cNvPr id="3" name="">
            <a:extLst xmlns:a="http://schemas.openxmlformats.org/drawingml/2006/main">
              <a:ext uri="{FF2B5EF4-FFF2-40B4-BE49-F238E27FC236}">
                <a16:creationId xmlns:a16="http://schemas.microsoft.com/office/drawing/2014/main" id="{0B89361A-A252-46EC-9D12-7AC056BD991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773B69B-53D8-4C77-B94B-7805BCBBC49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Потери при простом averaging</a:t>
            </a:r>
          </a:p>
        </p:txBody>
      </p:sp>
      <p:sp>
        <p:nvSpPr>
          <p:cNvPr id="30" name="lecture2-4">
            <a:extLst xmlns:a="http://schemas.openxmlformats.org/drawingml/2006/main">
              <a:ext uri="{FF2B5EF4-FFF2-40B4-BE49-F238E27FC236}">
                <a16:creationId xmlns:a16="http://schemas.microsoft.com/office/drawing/2014/main" id="{7CE4845F-D1E4-41F7-9C38-6F359A7DE2C9}"/>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Пример показывает ограничение representation, которое использует одинаковые word vectors и не учитывает порядок.</a:t>
            </a:r>
          </a:p>
        </p:txBody>
      </p:sp>
      <p:graphicFrame>
        <p:nvGraphicFramePr>
          <p:cNvPr id="31" name="">
            <a:extLst xmlns:a="http://schemas.openxmlformats.org/drawingml/2006/main">
              <a:ext uri="{FF2B5EF4-FFF2-40B4-BE49-F238E27FC236}">
                <a16:creationId xmlns:a16="http://schemas.microsoft.com/office/drawing/2014/main" id="{27DE25AF-8948-4ECC-8414-D1B125FFDBD9}"/>
              </a:ext>
            </a:extLst>
          </p:cNvPr>
          <p:cNvGraphicFramePr/>
          <p:nvPr/>
        </p:nvGraphicFramePr>
        <p:xfrm>
          <a:off xmlns:a="http://schemas.openxmlformats.org/drawingml/2006/main" x="685800" y="2847975"/>
          <a:ext xmlns:a="http://schemas.openxmlformats.org/drawingml/2006/main" cx="10820400" cy="2000250"/>
        </p:xfrm>
        <a:graphic xmlns:a="http://schemas.openxmlformats.org/drawingml/2006/main">
          <a:graphicData uri="http://schemas.openxmlformats.org/drawingml/2006/table">
            <a:tbl>
              <a:tblPr/>
              <a:tblGrid>
                <a:gridCol w="3667125"/>
                <a:gridCol w="3667125"/>
                <a:gridCol w="3486150"/>
              </a:tblGrid>
              <a:tr h="666750">
                <a:tc>
                  <a:txBody>
                    <a:bodyPr lIns="114300" tIns="57150" rIns="114300" bIns="57150"/>
                    <a:lstStyle/>
                    <a:p>
                      <a:r>
                        <a:rPr sz="1725" b="1">
                          <a:solidFill>
                            <a:srgbClr val="98989F"/>
                          </a:solidFill>
                          <a:latin typeface="Helvetica Neue"/>
                          <a:ea typeface="Helvetica Neue"/>
                          <a:cs typeface="Helvetica Neue"/>
                        </a:rPr>
                        <a:t>Текст A</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Текст B</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Что различается</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«Собака укусила человека»</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«Человек укусил собаку»</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Роли участников</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«Товар хороший, сервис плохой»</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«Товар плохой, сервис хороший»</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Объект оценки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32" name="lecture2-5">
            <a:extLst xmlns:a="http://schemas.openxmlformats.org/drawingml/2006/main">
              <a:ext uri="{FF2B5EF4-FFF2-40B4-BE49-F238E27FC236}">
                <a16:creationId xmlns:a16="http://schemas.microsoft.com/office/drawing/2014/main" id="{027673A1-E8DE-475A-B53B-B16CE2B7DF7E}"/>
              </a:ext>
            </a:extLst>
          </p:cNvPr>
          <p:cNvSpPr>
            <a:spLocks xmlns:a="http://schemas.openxmlformats.org/drawingml/2006/main" noGrp="1"/>
          </p:cNvSpPr>
          <p:nvPr/>
        </p:nvSpPr>
        <p:spPr>
          <a:xfrm xmlns:a="http://schemas.openxmlformats.org/drawingml/2006/main">
            <a:off x="685800" y="5353050"/>
            <a:ext cx="10820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После приведения словоформ к общим единицам наборы элементов могут совпасть. Простое averaging не различит порядок и связи, если они не закодированы на предыдущем этапе.</a:t>
            </a:r>
          </a:p>
        </p:txBody>
      </p:sp>
    </p:spTree>
    <p:extLst>
      <p:ext uri="{BB962C8B-B14F-4D97-AF65-F5344CB8AC3E}">
        <p14:creationId xmlns:p14="http://schemas.microsoft.com/office/powerpoint/2010/main" val="148676367"/>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995CB5CE-C254-4C8B-AFFC-AE911958F150}"/>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367A7C85-F1FB-41E4-806D-7218BB1AE5A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45</a:t>
            </a:r>
          </a:p>
        </p:txBody>
      </p:sp>
      <p:sp>
        <p:nvSpPr>
          <p:cNvPr id="3" name="">
            <a:extLst xmlns:a="http://schemas.openxmlformats.org/drawingml/2006/main">
              <a:ext uri="{FF2B5EF4-FFF2-40B4-BE49-F238E27FC236}">
                <a16:creationId xmlns:a16="http://schemas.microsoft.com/office/drawing/2014/main" id="{985AD7EE-CA01-4664-AD0F-3B63E767086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AC849866-F05E-4847-A52A-A2646C9683E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TF-IDF для документов</a:t>
            </a:r>
          </a:p>
        </p:txBody>
      </p:sp>
      <p:sp>
        <p:nvSpPr>
          <p:cNvPr id="9" name="lecture2-4">
            <a:extLst xmlns:a="http://schemas.openxmlformats.org/drawingml/2006/main">
              <a:ext uri="{FF2B5EF4-FFF2-40B4-BE49-F238E27FC236}">
                <a16:creationId xmlns:a16="http://schemas.microsoft.com/office/drawing/2014/main" id="{DCAE4E77-6C31-4A40-B0CB-7765BC4C884F}"/>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Lexical baseline</a:t>
            </a:r>
          </a:p>
        </p:txBody>
      </p:sp>
      <p:sp>
        <p:nvSpPr>
          <p:cNvPr id="10" name="lecture2-5">
            <a:extLst xmlns:a="http://schemas.openxmlformats.org/drawingml/2006/main">
              <a:ext uri="{FF2B5EF4-FFF2-40B4-BE49-F238E27FC236}">
                <a16:creationId xmlns:a16="http://schemas.microsoft.com/office/drawing/2014/main" id="{63CC9FA7-9052-4E01-9C36-30BECFC469A2}"/>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TF-IDF описывает документ через vocabulary corpus. Разные документы могут сравниваться по пересечению взвешенных terms или использоваться как вход classifier. Character и word n-grams расширяют набор наблюдаемых lexical patterns. В отличие от усреднения pretrained vectors, здесь представление непосредственно связано с выбранными единицами текста.</a:t>
            </a:r>
          </a:p>
        </p:txBody>
      </p:sp>
      <p:sp>
        <p:nvSpPr>
          <p:cNvPr id="11" name="lecture2-6">
            <a:extLst xmlns:a="http://schemas.openxmlformats.org/drawingml/2006/main">
              <a:ext uri="{FF2B5EF4-FFF2-40B4-BE49-F238E27FC236}">
                <a16:creationId xmlns:a16="http://schemas.microsoft.com/office/drawing/2014/main" id="{88554956-20D5-4696-8272-400BC9871C66}"/>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Сильные и слабые стороны</a:t>
            </a:r>
          </a:p>
        </p:txBody>
      </p:sp>
      <p:sp>
        <p:nvSpPr>
          <p:cNvPr id="12" name="lecture2-7">
            <a:extLst xmlns:a="http://schemas.openxmlformats.org/drawingml/2006/main">
              <a:ext uri="{FF2B5EF4-FFF2-40B4-BE49-F238E27FC236}">
                <a16:creationId xmlns:a16="http://schemas.microsoft.com/office/drawing/2014/main" id="{FA7B73B1-EB18-4212-A806-7E52A61CA836}"/>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Подход сохраняет точные названия, идентификаторы и редкие сочетания, если они входят в vocabulary. Но одинаковый смысл без общих features может остаться незамеченным. Поэтому TF-IDF полезен и как самостоятельное решение, и как контроль при оценке embeddings. Сравнение должно учитывать качество, время обработки и объём хранения.</a:t>
            </a:r>
          </a:p>
        </p:txBody>
      </p:sp>
    </p:spTree>
    <p:extLst>
      <p:ext uri="{BB962C8B-B14F-4D97-AF65-F5344CB8AC3E}">
        <p14:creationId xmlns:p14="http://schemas.microsoft.com/office/powerpoint/2010/main" val="446426707"/>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96ABA50-DFD7-48BE-9A9E-3F9862B2140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24BF321E-1DAC-40EE-8405-891B183F5E5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46</a:t>
            </a:r>
          </a:p>
        </p:txBody>
      </p:sp>
      <p:sp>
        <p:nvSpPr>
          <p:cNvPr id="3" name="">
            <a:extLst xmlns:a="http://schemas.openxmlformats.org/drawingml/2006/main">
              <a:ext uri="{FF2B5EF4-FFF2-40B4-BE49-F238E27FC236}">
                <a16:creationId xmlns:a16="http://schemas.microsoft.com/office/drawing/2014/main" id="{97886F11-842B-4C58-B19D-15628088A945}"/>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B3838B9E-9C86-419E-8725-D3FA9EFB70C4}"/>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Latent Semantic Analysis</a:t>
            </a:r>
          </a:p>
        </p:txBody>
      </p:sp>
      <p:pic>
        <p:nvPicPr>
          <p:cNvPr id="10" name="">
            <a:extLst xmlns:a="http://schemas.openxmlformats.org/drawingml/2006/main">
              <a:ext uri="{FF2B5EF4-FFF2-40B4-BE49-F238E27FC236}">
                <a16:creationId xmlns:a16="http://schemas.microsoft.com/office/drawing/2014/main" id="{EF3CCEB5-BCDE-4362-9836-B265D0238559}"/>
              </a:ext>
            </a:extLst>
          </p:cNvPr>
          <p:cNvPicPr>
            <a:picLocks xmlns:a="http://schemas.openxmlformats.org/drawingml/2006/main" noChangeAspect="1"/>
          </p:cNvPicPr>
          <p:nvPr/>
        </p:nvPicPr>
        <p:blipFill>
          <a:blip xmlns:r="http://schemas.openxmlformats.org/officeDocument/2006/relationships" xmlns:a="http://schemas.openxmlformats.org/drawingml/2006/main" r:embed="Racf119d82bf64c7e"/>
          <a:stretch xmlns:a="http://schemas.openxmlformats.org/drawingml/2006/main"/>
        </p:blipFill>
        <p:spPr>
          <a:xfrm xmlns:a="http://schemas.openxmlformats.org/drawingml/2006/main">
            <a:off x="3884520" y="2000250"/>
            <a:ext cx="4422960" cy="2381250"/>
          </a:xfrm>
          <a:prstGeom xmlns:a="http://schemas.openxmlformats.org/drawingml/2006/main" prst="rect">
            <a:avLst/>
          </a:prstGeom>
        </p:spPr>
      </p:pic>
      <p:sp>
        <p:nvSpPr>
          <p:cNvPr id="11" name="lecture2-4">
            <a:extLst xmlns:a="http://schemas.openxmlformats.org/drawingml/2006/main">
              <a:ext uri="{FF2B5EF4-FFF2-40B4-BE49-F238E27FC236}">
                <a16:creationId xmlns:a16="http://schemas.microsoft.com/office/drawing/2014/main" id="{4FFC5AE2-351C-42D2-9FBB-6A95E8334737}"/>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LSA строит компактное representation на основе term–document matrix. На схеме показаны TF-IDF weights, которыми можно заполнить исходную матрицу. Затем dimensionality reduction объединяет закономерности совместного употребления слов. Документы получают координаты в новом пространстве общих направлений. Важно различать исходные lexical features и результат этого преобразования; детали matrix factorization здесь не рассматриваются.</a:t>
            </a:r>
          </a:p>
        </p:txBody>
      </p:sp>
    </p:spTree>
    <p:extLst>
      <p:ext uri="{BB962C8B-B14F-4D97-AF65-F5344CB8AC3E}">
        <p14:creationId xmlns:p14="http://schemas.microsoft.com/office/powerpoint/2010/main" val="1798341656"/>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63D52B8B-0E06-49A0-BE97-AF7604CCE64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A17EF396-BD6F-4D2A-A989-616E051F017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47</a:t>
            </a:r>
          </a:p>
        </p:txBody>
      </p:sp>
      <p:sp>
        <p:nvSpPr>
          <p:cNvPr id="3" name="">
            <a:extLst xmlns:a="http://schemas.openxmlformats.org/drawingml/2006/main">
              <a:ext uri="{FF2B5EF4-FFF2-40B4-BE49-F238E27FC236}">
                <a16:creationId xmlns:a16="http://schemas.microsoft.com/office/drawing/2014/main" id="{1EC848CA-A7AC-4F01-A675-73BA78581ED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B72592B0-6AA0-48FF-87E0-9950DBF83C8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doc2vec / Paragraph Vector</a:t>
            </a:r>
          </a:p>
        </p:txBody>
      </p:sp>
      <p:sp>
        <p:nvSpPr>
          <p:cNvPr id="15" name="lecture2-4">
            <a:extLst xmlns:a="http://schemas.openxmlformats.org/drawingml/2006/main">
              <a:ext uri="{FF2B5EF4-FFF2-40B4-BE49-F238E27FC236}">
                <a16:creationId xmlns:a16="http://schemas.microsoft.com/office/drawing/2014/main" id="{DAC67E74-C432-4F59-A9DC-62A86583E3C9}"/>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Representation документа при обучении</a:t>
            </a:r>
          </a:p>
        </p:txBody>
      </p:sp>
      <p:sp>
        <p:nvSpPr>
          <p:cNvPr id="16" name="lecture2-5">
            <a:extLst xmlns:a="http://schemas.openxmlformats.org/drawingml/2006/main">
              <a:ext uri="{FF2B5EF4-FFF2-40B4-BE49-F238E27FC236}">
                <a16:creationId xmlns:a16="http://schemas.microsoft.com/office/drawing/2014/main" id="{8ED943CB-F29C-4E6A-AD77-F30E14240708}"/>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doc2vec дополняет обучение слов представлением документа или paragraph. Document ID используется для выбора обучаемого vector, который помогает предсказывать слова. Тем самым модель учится сохранять информацию, полезную для описания данного текста. ID не является готовым смысловым признаком: значение получают параметры vector, связанные с этим ID.</a:t>
            </a:r>
          </a:p>
        </p:txBody>
      </p:sp>
      <p:sp>
        <p:nvSpPr>
          <p:cNvPr id="17" name="lecture2-6">
            <a:extLst xmlns:a="http://schemas.openxmlformats.org/drawingml/2006/main">
              <a:ext uri="{FF2B5EF4-FFF2-40B4-BE49-F238E27FC236}">
                <a16:creationId xmlns:a16="http://schemas.microsoft.com/office/drawing/2014/main" id="{D6F0C075-6EE4-4B73-8C36-707115EEA0B1}"/>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Семейство методов</a:t>
            </a:r>
          </a:p>
        </p:txBody>
      </p:sp>
      <p:sp>
        <p:nvSpPr>
          <p:cNvPr id="18" name="lecture2-7">
            <a:extLst xmlns:a="http://schemas.openxmlformats.org/drawingml/2006/main">
              <a:ext uri="{FF2B5EF4-FFF2-40B4-BE49-F238E27FC236}">
                <a16:creationId xmlns:a16="http://schemas.microsoft.com/office/drawing/2014/main" id="{1312238E-07EC-4EBF-B7C0-AB3B61D615F4}"/>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 оригинальной работе рассматриваются PV-DM и PV-DBOW. Они различаются тем, как document vector участвует в предсказании слов и используется ли локальный контекст. Название doc2vec обычно обозначает это семейство, а не один универсальный способ получения sentence embeddings. Отдельно необходимо определить обработку новых документов.</a:t>
            </a:r>
          </a:p>
        </p:txBody>
      </p:sp>
    </p:spTree>
    <p:extLst>
      <p:ext uri="{BB962C8B-B14F-4D97-AF65-F5344CB8AC3E}">
        <p14:creationId xmlns:p14="http://schemas.microsoft.com/office/powerpoint/2010/main" val="1271386959"/>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4790CEA6-BDE3-4192-8FA1-FFB688D53B2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62731216-BFD8-44C3-849C-97DDFDE0D37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48</a:t>
            </a:r>
          </a:p>
        </p:txBody>
      </p:sp>
      <p:sp>
        <p:nvSpPr>
          <p:cNvPr id="3" name="">
            <a:extLst xmlns:a="http://schemas.openxmlformats.org/drawingml/2006/main">
              <a:ext uri="{FF2B5EF4-FFF2-40B4-BE49-F238E27FC236}">
                <a16:creationId xmlns:a16="http://schemas.microsoft.com/office/drawing/2014/main" id="{A318F199-4ADB-4B50-ABB9-87AC10E698C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BD17BFAE-71EE-4C0F-8D60-3FEE52CB48A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PV-DM</a:t>
            </a:r>
          </a:p>
        </p:txBody>
      </p:sp>
      <p:sp>
        <p:nvSpPr>
          <p:cNvPr id="9" name="lecture2-4">
            <a:extLst xmlns:a="http://schemas.openxmlformats.org/drawingml/2006/main">
              <a:ext uri="{FF2B5EF4-FFF2-40B4-BE49-F238E27FC236}">
                <a16:creationId xmlns:a16="http://schemas.microsoft.com/office/drawing/2014/main" id="{9F76E58A-BE65-41C3-B238-976BAABE8D1B}"/>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Distributed Memory model использует document vector вместе с контекстом слов. Таблица передаёт смысл компонентов без архитектурных деталей.</a:t>
            </a:r>
          </a:p>
        </p:txBody>
      </p:sp>
      <p:graphicFrame>
        <p:nvGraphicFramePr>
          <p:cNvPr id="10" name="">
            <a:extLst xmlns:a="http://schemas.openxmlformats.org/drawingml/2006/main">
              <a:ext uri="{FF2B5EF4-FFF2-40B4-BE49-F238E27FC236}">
                <a16:creationId xmlns:a16="http://schemas.microsoft.com/office/drawing/2014/main" id="{0BE593AD-A66F-424C-A6E2-21E6E7862AEF}"/>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3524250"/>
                <a:gridCol w="7296150"/>
              </a:tblGrid>
              <a:tr h="666750">
                <a:tc>
                  <a:txBody>
                    <a:bodyPr lIns="114300" tIns="57150" rIns="114300" bIns="57150"/>
                    <a:lstStyle/>
                    <a:p>
                      <a:r>
                        <a:rPr sz="1725" b="1">
                          <a:solidFill>
                            <a:srgbClr val="98989F"/>
                          </a:solidFill>
                          <a:latin typeface="Helvetica Neue"/>
                          <a:ea typeface="Helvetica Neue"/>
                          <a:cs typeface="Helvetica Neue"/>
                        </a:rPr>
                        <a:t>Компонент</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Роль в предсказании</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Document ID</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Выбирает обучаемый document vector</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Context words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Дают локальное окружение позиции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Target word</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Задаёт обучающий ответ</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1" name="lecture2-5">
            <a:extLst xmlns:a="http://schemas.openxmlformats.org/drawingml/2006/main">
              <a:ext uri="{FF2B5EF4-FFF2-40B4-BE49-F238E27FC236}">
                <a16:creationId xmlns:a16="http://schemas.microsoft.com/office/drawing/2014/main" id="{44695CB7-1219-4564-AEAD-992A59ACBE07}"/>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Document vector помогает объяснять содержание, которое не полностью задано коротким локальным контекстом. Он обучается совместно с остальными параметрами.</a:t>
            </a:r>
          </a:p>
        </p:txBody>
      </p:sp>
    </p:spTree>
    <p:extLst>
      <p:ext uri="{BB962C8B-B14F-4D97-AF65-F5344CB8AC3E}">
        <p14:creationId xmlns:p14="http://schemas.microsoft.com/office/powerpoint/2010/main" val="658546195"/>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F72B3907-C547-47A8-B7F3-E8D7A28C638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181BBF7D-158F-4F1C-AFB4-B324778D3BA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49</a:t>
            </a:r>
          </a:p>
        </p:txBody>
      </p:sp>
      <p:sp>
        <p:nvSpPr>
          <p:cNvPr id="3" name="">
            <a:extLst xmlns:a="http://schemas.openxmlformats.org/drawingml/2006/main">
              <a:ext uri="{FF2B5EF4-FFF2-40B4-BE49-F238E27FC236}">
                <a16:creationId xmlns:a16="http://schemas.microsoft.com/office/drawing/2014/main" id="{3F89AFB5-C51D-41CD-A063-2FD8AE544D4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F028964-C73A-4034-8A92-278F4A1C3EBF}"/>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PV-DBOW</a:t>
            </a:r>
          </a:p>
        </p:txBody>
      </p:sp>
      <p:sp>
        <p:nvSpPr>
          <p:cNvPr id="10" name="lecture2-4">
            <a:extLst xmlns:a="http://schemas.openxmlformats.org/drawingml/2006/main">
              <a:ext uri="{FF2B5EF4-FFF2-40B4-BE49-F238E27FC236}">
                <a16:creationId xmlns:a16="http://schemas.microsoft.com/office/drawing/2014/main" id="{BD649A57-A251-478B-BBBF-2C588120B35B}"/>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Предсказание слов документа</a:t>
            </a:r>
          </a:p>
        </p:txBody>
      </p:sp>
      <p:sp>
        <p:nvSpPr>
          <p:cNvPr id="11" name="lecture2-5">
            <a:extLst xmlns:a="http://schemas.openxmlformats.org/drawingml/2006/main">
              <a:ext uri="{FF2B5EF4-FFF2-40B4-BE49-F238E27FC236}">
                <a16:creationId xmlns:a16="http://schemas.microsoft.com/office/drawing/2014/main" id="{45E7C948-0684-42D5-8E95-454C35ADF0BC}"/>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Distributed Bag of Words model использует document vector для предсказания слов, встречающихся в документе. В этой постановке локальное окно соседних слов не является обязательным входом для получения данного сигнала. Представление обучается так, чтобы быть полезным для восстановления информации о содержании документа.</a:t>
            </a:r>
          </a:p>
        </p:txBody>
      </p:sp>
      <p:sp>
        <p:nvSpPr>
          <p:cNvPr id="12" name="lecture2-6">
            <a:extLst xmlns:a="http://schemas.openxmlformats.org/drawingml/2006/main">
              <a:ext uri="{FF2B5EF4-FFF2-40B4-BE49-F238E27FC236}">
                <a16:creationId xmlns:a16="http://schemas.microsoft.com/office/drawing/2014/main" id="{E4B56E3D-8DCD-46CE-BCC9-CBD1BDE4B304}"/>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Что метод сохраняет</a:t>
            </a:r>
          </a:p>
        </p:txBody>
      </p:sp>
      <p:sp>
        <p:nvSpPr>
          <p:cNvPr id="13" name="lecture2-7">
            <a:extLst xmlns:a="http://schemas.openxmlformats.org/drawingml/2006/main">
              <a:ext uri="{FF2B5EF4-FFF2-40B4-BE49-F238E27FC236}">
                <a16:creationId xmlns:a16="http://schemas.microsoft.com/office/drawing/2014/main" id="{7ACA8CF4-D782-48F3-9497-67C6FCF4052A}"/>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Document vector может отражать тему и другие регулярности текста, но не обязан сохранять все факты и порядок высказываний. PV-DBOW и PV-DM оценивают по downstream quality, а не по сходству названий с Word2Vec. Результат зависит от corpus, длины документов, training settings и процедуры inference для новых текстов.</a:t>
            </a:r>
          </a:p>
        </p:txBody>
      </p:sp>
    </p:spTree>
    <p:extLst>
      <p:ext uri="{BB962C8B-B14F-4D97-AF65-F5344CB8AC3E}">
        <p14:creationId xmlns:p14="http://schemas.microsoft.com/office/powerpoint/2010/main" val="880034302"/>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8929B3E-F568-4D4D-83E0-32A1DAE3ABF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FBD41045-A134-435B-AFB1-7FAB0CCF00A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50</a:t>
            </a:r>
          </a:p>
        </p:txBody>
      </p:sp>
      <p:sp>
        <p:nvSpPr>
          <p:cNvPr id="3" name="">
            <a:extLst xmlns:a="http://schemas.openxmlformats.org/drawingml/2006/main">
              <a:ext uri="{FF2B5EF4-FFF2-40B4-BE49-F238E27FC236}">
                <a16:creationId xmlns:a16="http://schemas.microsoft.com/office/drawing/2014/main" id="{0517B006-3EF6-46A3-AE93-DBB5DC6B67D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9101DDDD-747A-4AD6-B8A8-991CD275DFE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doc2vec: inference нового документа</a:t>
            </a:r>
          </a:p>
        </p:txBody>
      </p:sp>
      <p:sp>
        <p:nvSpPr>
          <p:cNvPr id="8" name="lecture2-4">
            <a:extLst xmlns:a="http://schemas.openxmlformats.org/drawingml/2006/main">
              <a:ext uri="{FF2B5EF4-FFF2-40B4-BE49-F238E27FC236}">
                <a16:creationId xmlns:a16="http://schemas.microsoft.com/office/drawing/2014/main" id="{E7AFF899-6883-4719-ADA3-35C5B45D7AF9}"/>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Новый ID не имеет обученного vector</a:t>
            </a:r>
          </a:p>
        </p:txBody>
      </p:sp>
      <p:sp>
        <p:nvSpPr>
          <p:cNvPr id="9" name="lecture2-5">
            <a:extLst xmlns:a="http://schemas.openxmlformats.org/drawingml/2006/main">
              <a:ext uri="{FF2B5EF4-FFF2-40B4-BE49-F238E27FC236}">
                <a16:creationId xmlns:a16="http://schemas.microsoft.com/office/drawing/2014/main" id="{82D97370-C5D8-4F67-9419-E82D5152C054}"/>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 training corpus каждый document ID связан со своим vector. Для нового текста такого обученного элемента ещё нет. Классическая процедура inference фиксирует параметры модели и подбирает representation нового документа по его словам. Это отличается от простого lookup и от одного forward pass типичного sentence encoder.</a:t>
            </a:r>
          </a:p>
        </p:txBody>
      </p:sp>
      <p:sp>
        <p:nvSpPr>
          <p:cNvPr id="10" name="lecture2-6">
            <a:extLst xmlns:a="http://schemas.openxmlformats.org/drawingml/2006/main">
              <a:ext uri="{FF2B5EF4-FFF2-40B4-BE49-F238E27FC236}">
                <a16:creationId xmlns:a16="http://schemas.microsoft.com/office/drawing/2014/main" id="{6A76A51C-DAF6-4DE4-81D9-F98DA2C1C01E}"/>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Практические последствия</a:t>
            </a:r>
          </a:p>
        </p:txBody>
      </p:sp>
      <p:sp>
        <p:nvSpPr>
          <p:cNvPr id="11" name="lecture2-7">
            <a:extLst xmlns:a="http://schemas.openxmlformats.org/drawingml/2006/main">
              <a:ext uri="{FF2B5EF4-FFF2-40B4-BE49-F238E27FC236}">
                <a16:creationId xmlns:a16="http://schemas.microsoft.com/office/drawing/2014/main" id="{A43A93A9-AF3C-4E20-8B9B-93039E26FB22}"/>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Число шагов inference и другие настройки могут влиять на скорость и устойчивость результата. Их нужно фиксировать при сравнении документов. Сходство representations, полученных разными способами, не следует принимать как самоочевидное. В Gensim полезно различать сохранённые vectors training documents и representations, вычисленные для новых текстов.</a:t>
            </a:r>
          </a:p>
        </p:txBody>
      </p:sp>
    </p:spTree>
    <p:extLst>
      <p:ext uri="{BB962C8B-B14F-4D97-AF65-F5344CB8AC3E}">
        <p14:creationId xmlns:p14="http://schemas.microsoft.com/office/powerpoint/2010/main" val="776932637"/>
      </p:ext>
    </p:extLst>
  </p:cSld>
</p:sld>
</file>

<file path=ppt/slides/slide5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16D1588E-3147-454F-8EE5-3892B086F32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6A479260-94D8-4A0D-B2F6-166862E3DB54}"/>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51</a:t>
            </a:r>
          </a:p>
        </p:txBody>
      </p:sp>
      <p:sp>
        <p:nvSpPr>
          <p:cNvPr id="3" name="">
            <a:extLst xmlns:a="http://schemas.openxmlformats.org/drawingml/2006/main">
              <a:ext uri="{FF2B5EF4-FFF2-40B4-BE49-F238E27FC236}">
                <a16:creationId xmlns:a16="http://schemas.microsoft.com/office/drawing/2014/main" id="{4D80E6AF-ADFF-4686-B987-2297CEC0C98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52F4C639-3503-4FA5-815A-E20AF6263948}"/>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Document representations: сравнение</a:t>
            </a:r>
          </a:p>
        </p:txBody>
      </p:sp>
      <p:sp>
        <p:nvSpPr>
          <p:cNvPr id="10" name="lecture2-4">
            <a:extLst xmlns:a="http://schemas.openxmlformats.org/drawingml/2006/main">
              <a:ext uri="{FF2B5EF4-FFF2-40B4-BE49-F238E27FC236}">
                <a16:creationId xmlns:a16="http://schemas.microsoft.com/office/drawing/2014/main" id="{F1DF530A-16F6-41A0-9891-5326FBE1A8EF}"/>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Подходы различаются источником признаков и тем, что требуется для обработки нового текста.</a:t>
            </a:r>
          </a:p>
        </p:txBody>
      </p:sp>
      <p:graphicFrame>
        <p:nvGraphicFramePr>
          <p:cNvPr id="11" name="">
            <a:extLst xmlns:a="http://schemas.openxmlformats.org/drawingml/2006/main">
              <a:ext uri="{FF2B5EF4-FFF2-40B4-BE49-F238E27FC236}">
                <a16:creationId xmlns:a16="http://schemas.microsoft.com/office/drawing/2014/main" id="{28C2668E-4A5E-473E-BED4-6BCDB965E825}"/>
              </a:ext>
            </a:extLst>
          </p:cNvPr>
          <p:cNvGraphicFramePr/>
          <p:nvPr/>
        </p:nvGraphicFramePr>
        <p:xfrm>
          <a:off xmlns:a="http://schemas.openxmlformats.org/drawingml/2006/main" x="685800" y="2847975"/>
          <a:ext xmlns:a="http://schemas.openxmlformats.org/drawingml/2006/main" cx="10820400" cy="2952750"/>
        </p:xfrm>
        <a:graphic xmlns:a="http://schemas.openxmlformats.org/drawingml/2006/main">
          <a:graphicData uri="http://schemas.openxmlformats.org/drawingml/2006/table">
            <a:tbl>
              <a:tblPr/>
              <a:tblGrid>
                <a:gridCol w="2714625"/>
                <a:gridCol w="3905250"/>
                <a:gridCol w="4200525"/>
              </a:tblGrid>
              <a:tr h="590550">
                <a:tc>
                  <a:txBody>
                    <a:bodyPr lIns="114300" tIns="57150" rIns="114300" bIns="57150"/>
                    <a:lstStyle/>
                    <a:p>
                      <a:r>
                        <a:rPr sz="1725" b="1">
                          <a:solidFill>
                            <a:srgbClr val="98989F"/>
                          </a:solidFill>
                          <a:latin typeface="Helvetica Neue"/>
                          <a:ea typeface="Helvetica Neue"/>
                          <a:cs typeface="Helvetica Neue"/>
                        </a:rPr>
                        <a:t>Подход</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Representation</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Новый текст</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590550">
                <a:tc>
                  <a:txBody>
                    <a:bodyPr lIns="114300" tIns="57150" rIns="114300" bIns="57150"/>
                    <a:lstStyle/>
                    <a:p>
                      <a:r>
                        <a:rPr sz="1725" b="0">
                          <a:solidFill>
                            <a:srgbClr val="F5F5F7"/>
                          </a:solidFill>
                          <a:latin typeface="Helvetica Neue"/>
                          <a:ea typeface="Helvetica Neue"/>
                          <a:cs typeface="Helvetica Neue"/>
                        </a:rPr>
                        <a:t>TF-IDF</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Веса lexical features</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Transform по train vocabulary</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90550">
                <a:tc>
                  <a:txBody>
                    <a:bodyPr lIns="114300" tIns="57150" rIns="114300" bIns="57150"/>
                    <a:lstStyle/>
                    <a:p>
                      <a:r>
                        <a:rPr sz="1725" b="0">
                          <a:solidFill>
                            <a:srgbClr val="F5F5F7"/>
                          </a:solidFill>
                          <a:latin typeface="Helvetica Neue"/>
                          <a:ea typeface="Helvetica Neue"/>
                          <a:cs typeface="Helvetica Neue"/>
                        </a:rPr>
                        <a:t>Word-vector pooling</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Объединение word vectors</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Lookup и pooling</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90550">
                <a:tc>
                  <a:txBody>
                    <a:bodyPr lIns="114300" tIns="57150" rIns="114300" bIns="57150"/>
                    <a:lstStyle/>
                    <a:p>
                      <a:r>
                        <a:rPr sz="1725" b="0">
                          <a:solidFill>
                            <a:srgbClr val="F5F5F7"/>
                          </a:solidFill>
                          <a:latin typeface="Helvetica Neue"/>
                          <a:ea typeface="Helvetica Neue"/>
                          <a:cs typeface="Helvetica Neue"/>
                        </a:rPr>
                        <a:t>doc2vec</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Обученный document vector</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Отдельная inference procedure</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90550">
                <a:tc>
                  <a:txBody>
                    <a:bodyPr lIns="114300" tIns="57150" rIns="114300" bIns="57150"/>
                    <a:lstStyle/>
                    <a:p>
                      <a:r>
                        <a:rPr sz="1725" b="0">
                          <a:solidFill>
                            <a:srgbClr val="F5F5F7"/>
                          </a:solidFill>
                          <a:latin typeface="Helvetica Neue"/>
                          <a:ea typeface="Helvetica Neue"/>
                          <a:cs typeface="Helvetica Neue"/>
                        </a:rPr>
                        <a:t>Sentence encoder</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Vector целого текста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Forward pass модели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2" name="lecture2-5">
            <a:extLst xmlns:a="http://schemas.openxmlformats.org/drawingml/2006/main">
              <a:ext uri="{FF2B5EF4-FFF2-40B4-BE49-F238E27FC236}">
                <a16:creationId xmlns:a16="http://schemas.microsoft.com/office/drawing/2014/main" id="{1BDD307E-F52A-4288-8D87-32DFD6574919}"/>
              </a:ext>
            </a:extLst>
          </p:cNvPr>
          <p:cNvSpPr>
            <a:spLocks xmlns:a="http://schemas.openxmlformats.org/drawingml/2006/main" noGrp="1"/>
          </p:cNvSpPr>
          <p:nvPr/>
        </p:nvSpPr>
        <p:spPr>
          <a:xfrm xmlns:a="http://schemas.openxmlformats.org/drawingml/2006/main">
            <a:off x="685800" y="5991225"/>
            <a:ext cx="10820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Сравнение проводят на одной задаче и с одинаковым доступом к данным. При оценке учитывают не только размер vector, но и качество и стоимость его получения.</a:t>
            </a:r>
          </a:p>
        </p:txBody>
      </p:sp>
    </p:spTree>
    <p:extLst>
      <p:ext uri="{BB962C8B-B14F-4D97-AF65-F5344CB8AC3E}">
        <p14:creationId xmlns:p14="http://schemas.microsoft.com/office/powerpoint/2010/main" val="1526063574"/>
      </p:ext>
    </p:extLst>
  </p:cSld>
</p:sld>
</file>

<file path=ppt/slides/slide5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879C6E60-23D4-476B-9B4A-4511FBF002C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4EAB5D63-1DD0-4E7C-8E10-FD7733E3643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52</a:t>
            </a:r>
          </a:p>
        </p:txBody>
      </p:sp>
      <p:sp>
        <p:nvSpPr>
          <p:cNvPr id="3" name="">
            <a:extLst xmlns:a="http://schemas.openxmlformats.org/drawingml/2006/main">
              <a:ext uri="{FF2B5EF4-FFF2-40B4-BE49-F238E27FC236}">
                <a16:creationId xmlns:a16="http://schemas.microsoft.com/office/drawing/2014/main" id="{70858B28-F9B8-4ED5-8F49-841AA118F7A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6C29C19B-B9DC-4A6E-B642-544A111F658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Intrinsic evaluation</a:t>
            </a:r>
          </a:p>
        </p:txBody>
      </p:sp>
      <p:pic>
        <p:nvPicPr>
          <p:cNvPr id="9" name="">
            <a:extLst xmlns:a="http://schemas.openxmlformats.org/drawingml/2006/main">
              <a:ext uri="{FF2B5EF4-FFF2-40B4-BE49-F238E27FC236}">
                <a16:creationId xmlns:a16="http://schemas.microsoft.com/office/drawing/2014/main" id="{68822945-C163-4CB3-8A50-C15B1AEB97C3}"/>
              </a:ext>
            </a:extLst>
          </p:cNvPr>
          <p:cNvPicPr>
            <a:picLocks xmlns:a="http://schemas.openxmlformats.org/drawingml/2006/main" noChangeAspect="1"/>
          </p:cNvPicPr>
          <p:nvPr/>
        </p:nvPicPr>
        <p:blipFill>
          <a:blip xmlns:r="http://schemas.openxmlformats.org/officeDocument/2006/relationships" xmlns:a="http://schemas.openxmlformats.org/drawingml/2006/main" r:embed="Rff8ed4f388644cce"/>
          <a:stretch xmlns:a="http://schemas.openxmlformats.org/drawingml/2006/main"/>
        </p:blipFill>
        <p:spPr>
          <a:xfrm xmlns:a="http://schemas.openxmlformats.org/drawingml/2006/main">
            <a:off x="2996980" y="2000250"/>
            <a:ext cx="6198040" cy="2381250"/>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076A8DCF-965D-4B43-BC54-33D29F620328}"/>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Intrinsic evaluation оценивает свойства representations через отдельную проверочную задачу: например, сходство слов или analogies. Она удобна для анализа пространства и сравнений на заранее определённом benchmark. Однако результат зависит от устройства benchmark и не всегда предсказывает качество конкретного приложения. Высокий score здесь не заменяет проверку retrieval или classification.</a:t>
            </a:r>
          </a:p>
        </p:txBody>
      </p:sp>
    </p:spTree>
    <p:extLst>
      <p:ext uri="{BB962C8B-B14F-4D97-AF65-F5344CB8AC3E}">
        <p14:creationId xmlns:p14="http://schemas.microsoft.com/office/powerpoint/2010/main" val="335467540"/>
      </p:ext>
    </p:extLst>
  </p:cSld>
</p:sld>
</file>

<file path=ppt/slides/slide5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FACF7A50-2F00-48EF-9A70-587D7C64813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9480E1EC-391A-4BF6-B3BD-EC40F30ADE9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53</a:t>
            </a:r>
          </a:p>
        </p:txBody>
      </p:sp>
      <p:sp>
        <p:nvSpPr>
          <p:cNvPr id="3" name="">
            <a:extLst xmlns:a="http://schemas.openxmlformats.org/drawingml/2006/main">
              <a:ext uri="{FF2B5EF4-FFF2-40B4-BE49-F238E27FC236}">
                <a16:creationId xmlns:a16="http://schemas.microsoft.com/office/drawing/2014/main" id="{B86FB0F8-ED18-4D3D-979B-3792E4E0D9AE}"/>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90222AE-367C-4DC2-B625-0C31D17658A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Extrinsic evaluation</a:t>
            </a:r>
          </a:p>
        </p:txBody>
      </p:sp>
      <p:pic>
        <p:nvPicPr>
          <p:cNvPr id="14" name="">
            <a:extLst xmlns:a="http://schemas.openxmlformats.org/drawingml/2006/main">
              <a:ext uri="{FF2B5EF4-FFF2-40B4-BE49-F238E27FC236}">
                <a16:creationId xmlns:a16="http://schemas.microsoft.com/office/drawing/2014/main" id="{DC0F88BD-D3C1-4294-875F-7D4B8870BB24}"/>
              </a:ext>
            </a:extLst>
          </p:cNvPr>
          <p:cNvPicPr>
            <a:picLocks xmlns:a="http://schemas.openxmlformats.org/drawingml/2006/main" noChangeAspect="1"/>
          </p:cNvPicPr>
          <p:nvPr/>
        </p:nvPicPr>
        <p:blipFill>
          <a:blip xmlns:r="http://schemas.openxmlformats.org/officeDocument/2006/relationships" xmlns:a="http://schemas.openxmlformats.org/drawingml/2006/main" r:embed="R9180460b18814d4b"/>
          <a:stretch xmlns:a="http://schemas.openxmlformats.org/drawingml/2006/main"/>
        </p:blipFill>
        <p:spPr>
          <a:xfrm xmlns:a="http://schemas.openxmlformats.org/drawingml/2006/main">
            <a:off x="3525892" y="2000250"/>
            <a:ext cx="5140216" cy="2381250"/>
          </a:xfrm>
          <a:prstGeom xmlns:a="http://schemas.openxmlformats.org/drawingml/2006/main" prst="rect">
            <a:avLst/>
          </a:prstGeom>
        </p:spPr>
      </p:pic>
      <p:sp>
        <p:nvSpPr>
          <p:cNvPr id="15" name="lecture2-4">
            <a:extLst xmlns:a="http://schemas.openxmlformats.org/drawingml/2006/main">
              <a:ext uri="{FF2B5EF4-FFF2-40B4-BE49-F238E27FC236}">
                <a16:creationId xmlns:a16="http://schemas.microsoft.com/office/drawing/2014/main" id="{4AD8BBFD-E782-4F3D-B436-FA5E42CFD6CC}"/>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Extrinsic evaluation проверяет, помогают ли representations решать downstream task. Например, embeddings используются как вход classifier, после чего оценивается качество его ответов. Сравнение требует одинаковых данных и согласованной процедуры обучения. Иначе изменение результата может объясняться другим classifier, дополнительным corpus или настройками, а не самими representations.</a:t>
            </a:r>
          </a:p>
        </p:txBody>
      </p:sp>
    </p:spTree>
    <p:extLst>
      <p:ext uri="{BB962C8B-B14F-4D97-AF65-F5344CB8AC3E}">
        <p14:creationId xmlns:p14="http://schemas.microsoft.com/office/powerpoint/2010/main" val="1763343896"/>
      </p:ext>
    </p:extLst>
  </p:cSld>
</p:sld>
</file>

<file path=ppt/slides/slide5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7" name="text-0">
            <a:extLst xmlns:a="http://schemas.openxmlformats.org/drawingml/2006/main">
              <a:ext uri="{FF2B5EF4-FFF2-40B4-BE49-F238E27FC236}">
                <a16:creationId xmlns:a16="http://schemas.microsoft.com/office/drawing/2014/main" id="{5C19F941-6118-40FE-A629-0C38E0C1F53A}"/>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C6E33831-AB6F-4C71-ADE3-ACBDD96D1B2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54</a:t>
            </a:r>
          </a:p>
        </p:txBody>
      </p:sp>
      <p:sp>
        <p:nvSpPr>
          <p:cNvPr id="3" name="">
            <a:extLst xmlns:a="http://schemas.openxmlformats.org/drawingml/2006/main">
              <a:ext uri="{FF2B5EF4-FFF2-40B4-BE49-F238E27FC236}">
                <a16:creationId xmlns:a16="http://schemas.microsoft.com/office/drawing/2014/main" id="{3FDF05DE-5C17-42F7-AB39-3C4EE5A1374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689385D4-D2EE-444C-94A6-F034E6C499D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Evaluation representations</a:t>
            </a:r>
          </a:p>
        </p:txBody>
      </p:sp>
      <p:sp>
        <p:nvSpPr>
          <p:cNvPr id="28" name="lecture2-4">
            <a:extLst xmlns:a="http://schemas.openxmlformats.org/drawingml/2006/main">
              <a:ext uri="{FF2B5EF4-FFF2-40B4-BE49-F238E27FC236}">
                <a16:creationId xmlns:a16="http://schemas.microsoft.com/office/drawing/2014/main" id="{4FD11B04-57C6-4793-94B6-E5E175FC24A7}"/>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Сопоставимые условия</a:t>
            </a:r>
          </a:p>
        </p:txBody>
      </p:sp>
      <p:sp>
        <p:nvSpPr>
          <p:cNvPr id="29" name="lecture2-5">
            <a:extLst xmlns:a="http://schemas.openxmlformats.org/drawingml/2006/main">
              <a:ext uri="{FF2B5EF4-FFF2-40B4-BE49-F238E27FC236}">
                <a16:creationId xmlns:a16="http://schemas.microsoft.com/office/drawing/2014/main" id="{EE44DA24-60B8-4341-AA3F-D44F70C6E0B1}"/>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Фиксируют train/dev/test split, labels, preprocessing и критерии качества. При сравнении static embeddings проверяют coverage; при сравнении sentence encoders — truncation и способы encoding. Если меняются сразу representation, classifier и training data, отдельный эффект embeddings определить трудно. Полезно изменять компоненты последовательно.</a:t>
            </a:r>
          </a:p>
        </p:txBody>
      </p:sp>
      <p:sp>
        <p:nvSpPr>
          <p:cNvPr id="30" name="lecture2-6">
            <a:extLst xmlns:a="http://schemas.openxmlformats.org/drawingml/2006/main">
              <a:ext uri="{FF2B5EF4-FFF2-40B4-BE49-F238E27FC236}">
                <a16:creationId xmlns:a16="http://schemas.microsoft.com/office/drawing/2014/main" id="{FD424DE1-21DC-4D0A-BE8F-8A7ECCCAAFA0}"/>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Качество и затраты</a:t>
            </a:r>
          </a:p>
        </p:txBody>
      </p:sp>
      <p:sp>
        <p:nvSpPr>
          <p:cNvPr id="31" name="lecture2-7">
            <a:extLst xmlns:a="http://schemas.openxmlformats.org/drawingml/2006/main">
              <a:ext uri="{FF2B5EF4-FFF2-40B4-BE49-F238E27FC236}">
                <a16:creationId xmlns:a16="http://schemas.microsoft.com/office/drawing/2014/main" id="{A9CCDAD8-1C69-419E-95D5-0D4004B890E3}"/>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Помимо итоговой metric учитывают время получения vectors, объём памяти и скорость поиска. На редких терминах, длинных документах и разных языках качество может различаться. Анализ по группам примеров дополняет средний score. Независимый test используют после выбора конфигурации; многочисленные попытки подбора по test искажают итоговую оценку.</a:t>
            </a:r>
          </a:p>
        </p:txBody>
      </p:sp>
    </p:spTree>
    <p:extLst>
      <p:ext uri="{BB962C8B-B14F-4D97-AF65-F5344CB8AC3E}">
        <p14:creationId xmlns:p14="http://schemas.microsoft.com/office/powerpoint/2010/main" val="949824255"/>
      </p:ext>
    </p:extLst>
  </p:cSld>
</p:sld>
</file>

<file path=ppt/slides/slide5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D8EF42EB-4804-4489-A0D0-1A052F0B740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C5144A96-5F0B-49C6-BE19-6E6537DA001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55</a:t>
            </a:r>
          </a:p>
        </p:txBody>
      </p:sp>
      <p:sp>
        <p:nvSpPr>
          <p:cNvPr id="3" name="">
            <a:extLst xmlns:a="http://schemas.openxmlformats.org/drawingml/2006/main">
              <a:ext uri="{FF2B5EF4-FFF2-40B4-BE49-F238E27FC236}">
                <a16:creationId xmlns:a16="http://schemas.microsoft.com/office/drawing/2014/main" id="{3EE800AB-3D47-4117-B4DE-7F0C8151BD8C}"/>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64A2A4CB-6FB8-49B6-92B0-D87080E48654}"/>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Corpus и semantic change</a:t>
            </a:r>
          </a:p>
        </p:txBody>
      </p:sp>
      <p:pic>
        <p:nvPicPr>
          <p:cNvPr id="9" name="">
            <a:extLst xmlns:a="http://schemas.openxmlformats.org/drawingml/2006/main">
              <a:ext uri="{FF2B5EF4-FFF2-40B4-BE49-F238E27FC236}">
                <a16:creationId xmlns:a16="http://schemas.microsoft.com/office/drawing/2014/main" id="{00BC0CA4-C40A-43F4-AA00-38BB4A5DC9B7}"/>
              </a:ext>
            </a:extLst>
          </p:cNvPr>
          <p:cNvPicPr>
            <a:picLocks xmlns:a="http://schemas.openxmlformats.org/drawingml/2006/main" noChangeAspect="1"/>
          </p:cNvPicPr>
          <p:nvPr/>
        </p:nvPicPr>
        <p:blipFill>
          <a:blip xmlns:r="http://schemas.openxmlformats.org/officeDocument/2006/relationships" xmlns:a="http://schemas.openxmlformats.org/drawingml/2006/main" r:embed="Rea7b921a082a4830"/>
          <a:stretch xmlns:a="http://schemas.openxmlformats.org/drawingml/2006/main"/>
        </p:blipFill>
        <p:spPr>
          <a:xfrm xmlns:a="http://schemas.openxmlformats.org/drawingml/2006/main">
            <a:off x="756048" y="2095500"/>
            <a:ext cx="6050754" cy="3905250"/>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FE944290-3FEC-4BE7-BBAF-20A3041BDE02}"/>
              </a:ext>
            </a:extLst>
          </p:cNvPr>
          <p:cNvSpPr>
            <a:spLocks xmlns:a="http://schemas.openxmlformats.org/drawingml/2006/main" noGrp="1"/>
          </p:cNvSpPr>
          <p:nvPr/>
        </p:nvSpPr>
        <p:spPr>
          <a:xfrm xmlns:a="http://schemas.openxmlformats.org/drawingml/2006/main">
            <a:off x="7239000" y="2076450"/>
            <a:ext cx="4267200" cy="427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Значения и контексты слов меняются со временем. На примере из курса показана идея анализа таких изменений через representations, обученные на разных периодах. Прямое сравнение координат требует согласования пространств; различие соседей также может зависеть от объёма и состава данных. Для прикладной системы это означает необходимость проверять embeddings на актуальном языке и терминологии.</a:t>
            </a:r>
          </a:p>
        </p:txBody>
      </p:sp>
    </p:spTree>
    <p:extLst>
      <p:ext uri="{BB962C8B-B14F-4D97-AF65-F5344CB8AC3E}">
        <p14:creationId xmlns:p14="http://schemas.microsoft.com/office/powerpoint/2010/main" val="1133215608"/>
      </p:ext>
    </p:extLst>
  </p:cSld>
</p:sld>
</file>

<file path=ppt/slides/slide5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CE42CABC-BEE9-4B7C-9A27-2911BDA1104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9C43F06-DEBD-4D96-8E10-0017CCBC54C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56</a:t>
            </a:r>
          </a:p>
        </p:txBody>
      </p:sp>
      <p:sp>
        <p:nvSpPr>
          <p:cNvPr id="3" name="">
            <a:extLst xmlns:a="http://schemas.openxmlformats.org/drawingml/2006/main">
              <a:ext uri="{FF2B5EF4-FFF2-40B4-BE49-F238E27FC236}">
                <a16:creationId xmlns:a16="http://schemas.microsoft.com/office/drawing/2014/main" id="{FC7050A8-9E72-42E8-BAC7-2515700F711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5D47CD1D-4939-4F8A-9543-12FD70D1284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Static и contextual embeddings</a:t>
            </a:r>
          </a:p>
        </p:txBody>
      </p:sp>
      <p:sp>
        <p:nvSpPr>
          <p:cNvPr id="12" name="lecture2-4">
            <a:extLst xmlns:a="http://schemas.openxmlformats.org/drawingml/2006/main">
              <a:ext uri="{FF2B5EF4-FFF2-40B4-BE49-F238E27FC236}">
                <a16:creationId xmlns:a16="http://schemas.microsoft.com/office/drawing/2014/main" id="{874674FD-1605-4F59-BE52-30CCA1F84801}"/>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Ключевое различие — зависит ли representation конкретного token от окружающего текста при применении модели.</a:t>
            </a:r>
          </a:p>
        </p:txBody>
      </p:sp>
      <p:graphicFrame>
        <p:nvGraphicFramePr>
          <p:cNvPr id="13" name="">
            <a:extLst xmlns:a="http://schemas.openxmlformats.org/drawingml/2006/main">
              <a:ext uri="{FF2B5EF4-FFF2-40B4-BE49-F238E27FC236}">
                <a16:creationId xmlns:a16="http://schemas.microsoft.com/office/drawing/2014/main" id="{2017398D-ADA8-4774-8003-41ED46FDA932}"/>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857500"/>
                <a:gridCol w="3981450"/>
                <a:gridCol w="3981450"/>
              </a:tblGrid>
              <a:tr h="666750">
                <a:tc>
                  <a:txBody>
                    <a:bodyPr lIns="114300" tIns="57150" rIns="114300" bIns="57150"/>
                    <a:lstStyle/>
                    <a:p>
                      <a:r>
                        <a:rPr sz="1725" b="1">
                          <a:solidFill>
                            <a:srgbClr val="98989F"/>
                          </a:solidFill>
                          <a:latin typeface="Helvetica Neue"/>
                          <a:ea typeface="Helvetica Neue"/>
                          <a:cs typeface="Helvetica Neue"/>
                        </a:rPr>
                        <a:t>Свойство</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Static</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Contextual</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Единица lookup</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Слово из vocabulary</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Употребление в последовательности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Одна запись в разных фразах</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Один word vector</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Разные hidden states</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Примеры</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Word2Vec, GloVe, fastText</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ELMo, BERT</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4" name="lecture2-5">
            <a:extLst xmlns:a="http://schemas.openxmlformats.org/drawingml/2006/main">
              <a:ext uri="{FF2B5EF4-FFF2-40B4-BE49-F238E27FC236}">
                <a16:creationId xmlns:a16="http://schemas.microsoft.com/office/drawing/2014/main" id="{DA9E91A8-A4EE-4548-A0A0-ED2A028596EF}"/>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Contextual representation не гарантирует правильную интерпретацию каждого случая, но позволяет модели учитывать окружение непосредственно при вычислении vector.</a:t>
            </a:r>
          </a:p>
        </p:txBody>
      </p:sp>
    </p:spTree>
    <p:extLst>
      <p:ext uri="{BB962C8B-B14F-4D97-AF65-F5344CB8AC3E}">
        <p14:creationId xmlns:p14="http://schemas.microsoft.com/office/powerpoint/2010/main" val="1003386502"/>
      </p:ext>
    </p:extLst>
  </p:cSld>
</p:sld>
</file>

<file path=ppt/slides/slide5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4CBF4A3B-53E9-4B1C-B94D-67F3323DF4B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FB99BDCE-DAE7-42BD-8197-A163CA7861E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57</a:t>
            </a:r>
          </a:p>
        </p:txBody>
      </p:sp>
      <p:sp>
        <p:nvSpPr>
          <p:cNvPr id="3" name="">
            <a:extLst xmlns:a="http://schemas.openxmlformats.org/drawingml/2006/main">
              <a:ext uri="{FF2B5EF4-FFF2-40B4-BE49-F238E27FC236}">
                <a16:creationId xmlns:a16="http://schemas.microsoft.com/office/drawing/2014/main" id="{38175B4E-CCC3-49D6-BBBF-7F855CA49C3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BEB2F56F-B1F6-4F7D-8D5A-5CDD279DC09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Context: пример слова bank</a:t>
            </a:r>
          </a:p>
        </p:txBody>
      </p:sp>
      <p:sp>
        <p:nvSpPr>
          <p:cNvPr id="14" name="lecture2-4">
            <a:extLst xmlns:a="http://schemas.openxmlformats.org/drawingml/2006/main">
              <a:ext uri="{FF2B5EF4-FFF2-40B4-BE49-F238E27FC236}">
                <a16:creationId xmlns:a16="http://schemas.microsoft.com/office/drawing/2014/main" id="{1FD707EE-89A1-4F09-A0E9-F832E834A870}"/>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Одинаковая запись употребляется в разных контекстах. Пример иллюстрирует задачу различения значений, а не измеренный результат конкретной модели.</a:t>
            </a:r>
          </a:p>
        </p:txBody>
      </p:sp>
      <p:graphicFrame>
        <p:nvGraphicFramePr>
          <p:cNvPr id="15" name="">
            <a:extLst xmlns:a="http://schemas.openxmlformats.org/drawingml/2006/main">
              <a:ext uri="{FF2B5EF4-FFF2-40B4-BE49-F238E27FC236}">
                <a16:creationId xmlns:a16="http://schemas.microsoft.com/office/drawing/2014/main" id="{165E774C-B4AC-4A51-B263-B06735045A4E}"/>
              </a:ext>
            </a:extLst>
          </p:cNvPr>
          <p:cNvGraphicFramePr/>
          <p:nvPr/>
        </p:nvGraphicFramePr>
        <p:xfrm>
          <a:off xmlns:a="http://schemas.openxmlformats.org/drawingml/2006/main" x="685800" y="2847975"/>
          <a:ext xmlns:a="http://schemas.openxmlformats.org/drawingml/2006/main" cx="10820400" cy="2000250"/>
        </p:xfrm>
        <a:graphic xmlns:a="http://schemas.openxmlformats.org/drawingml/2006/main">
          <a:graphicData uri="http://schemas.openxmlformats.org/drawingml/2006/table">
            <a:tbl>
              <a:tblPr/>
              <a:tblGrid>
                <a:gridCol w="4572000"/>
                <a:gridCol w="2762250"/>
                <a:gridCol w="3486150"/>
              </a:tblGrid>
              <a:tr h="666750">
                <a:tc>
                  <a:txBody>
                    <a:bodyPr lIns="114300" tIns="57150" rIns="114300" bIns="57150"/>
                    <a:lstStyle/>
                    <a:p>
                      <a:r>
                        <a:rPr sz="1725" b="1">
                          <a:solidFill>
                            <a:srgbClr val="98989F"/>
                          </a:solidFill>
                          <a:latin typeface="Helvetica Neue"/>
                          <a:ea typeface="Helvetica Neue"/>
                          <a:cs typeface="Helvetica Neue"/>
                        </a:rPr>
                        <a:t>Контекст</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Употребление bank</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Что требуется от representation</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The bank approved a loan.</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Финансовая организация</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Учесть approved и loan</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They sat on the river bank.</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Берег реки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Учесть river и sat</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6" name="lecture2-5">
            <a:extLst xmlns:a="http://schemas.openxmlformats.org/drawingml/2006/main">
              <a:ext uri="{FF2B5EF4-FFF2-40B4-BE49-F238E27FC236}">
                <a16:creationId xmlns:a16="http://schemas.microsoft.com/office/drawing/2014/main" id="{A569E3F3-85E3-4EC3-8521-D0B02FDDE4DE}"/>
              </a:ext>
            </a:extLst>
          </p:cNvPr>
          <p:cNvSpPr>
            <a:spLocks xmlns:a="http://schemas.openxmlformats.org/drawingml/2006/main" noGrp="1"/>
          </p:cNvSpPr>
          <p:nvPr/>
        </p:nvSpPr>
        <p:spPr>
          <a:xfrm xmlns:a="http://schemas.openxmlformats.org/drawingml/2006/main">
            <a:off x="685800" y="5353050"/>
            <a:ext cx="10820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Static lookup возвращает одинаковый word vector. Contextual encoder может вычислить разные representations для этих двух вхождений.</a:t>
            </a:r>
          </a:p>
        </p:txBody>
      </p:sp>
    </p:spTree>
    <p:extLst>
      <p:ext uri="{BB962C8B-B14F-4D97-AF65-F5344CB8AC3E}">
        <p14:creationId xmlns:p14="http://schemas.microsoft.com/office/powerpoint/2010/main" val="1713363822"/>
      </p:ext>
    </p:extLst>
  </p:cSld>
</p:sld>
</file>

<file path=ppt/slides/slide5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840F350E-2ABC-4D03-9BEF-A89883BC3C4A}"/>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2F483477-9DEA-43EF-9829-FF17F55FA84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58</a:t>
            </a:r>
          </a:p>
        </p:txBody>
      </p:sp>
      <p:sp>
        <p:nvSpPr>
          <p:cNvPr id="3" name="">
            <a:extLst xmlns:a="http://schemas.openxmlformats.org/drawingml/2006/main">
              <a:ext uri="{FF2B5EF4-FFF2-40B4-BE49-F238E27FC236}">
                <a16:creationId xmlns:a16="http://schemas.microsoft.com/office/drawing/2014/main" id="{81629F83-6815-44CC-ABF3-2018547ACA9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DCA24B7C-CDE0-4702-B7C6-EA645EE499B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Words-in-context</a:t>
            </a:r>
          </a:p>
        </p:txBody>
      </p:sp>
      <p:pic>
        <p:nvPicPr>
          <p:cNvPr id="10" name="">
            <a:extLst xmlns:a="http://schemas.openxmlformats.org/drawingml/2006/main">
              <a:ext uri="{FF2B5EF4-FFF2-40B4-BE49-F238E27FC236}">
                <a16:creationId xmlns:a16="http://schemas.microsoft.com/office/drawing/2014/main" id="{71027DE0-F50A-40A0-84E2-5CFA474B7609}"/>
              </a:ext>
            </a:extLst>
          </p:cNvPr>
          <p:cNvPicPr>
            <a:picLocks xmlns:a="http://schemas.openxmlformats.org/drawingml/2006/main" noChangeAspect="1"/>
          </p:cNvPicPr>
          <p:nvPr/>
        </p:nvPicPr>
        <p:blipFill>
          <a:blip xmlns:r="http://schemas.openxmlformats.org/officeDocument/2006/relationships" xmlns:a="http://schemas.openxmlformats.org/drawingml/2006/main" r:embed="Ra71039935ea9424b"/>
          <a:stretch xmlns:a="http://schemas.openxmlformats.org/drawingml/2006/main"/>
        </p:blipFill>
        <p:spPr>
          <a:xfrm xmlns:a="http://schemas.openxmlformats.org/drawingml/2006/main">
            <a:off x="3064316" y="2000250"/>
            <a:ext cx="6063368" cy="2381250"/>
          </a:xfrm>
          <a:prstGeom xmlns:a="http://schemas.openxmlformats.org/drawingml/2006/main" prst="rect">
            <a:avLst/>
          </a:prstGeom>
        </p:spPr>
      </p:pic>
      <p:sp>
        <p:nvSpPr>
          <p:cNvPr id="11" name="lecture2-4">
            <a:extLst xmlns:a="http://schemas.openxmlformats.org/drawingml/2006/main">
              <a:ext uri="{FF2B5EF4-FFF2-40B4-BE49-F238E27FC236}">
                <a16:creationId xmlns:a16="http://schemas.microsoft.com/office/drawing/2014/main" id="{21F016E3-1822-4773-A40B-C3D863507749}"/>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Contextual model получает всю доступную последовательность и строит representation для каждой её позиции. Входные token embeddings ещё могут быть одинаковыми для одной записи, но последующие hidden states учитывают окружение. На схеме курса этот переход отделён от простого word lookup. В результате объектом анализа становится употребление слова, а не только его тип в vocabulary.</a:t>
            </a:r>
          </a:p>
        </p:txBody>
      </p:sp>
    </p:spTree>
    <p:extLst>
      <p:ext uri="{BB962C8B-B14F-4D97-AF65-F5344CB8AC3E}">
        <p14:creationId xmlns:p14="http://schemas.microsoft.com/office/powerpoint/2010/main" val="371734052"/>
      </p:ext>
    </p:extLst>
  </p:cSld>
</p:sld>
</file>

<file path=ppt/slides/slide5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24A56B73-A020-4704-AD73-C73C38315EC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841CA9F4-71A5-41EC-8265-6D0BE7361FD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59</a:t>
            </a:r>
          </a:p>
        </p:txBody>
      </p:sp>
      <p:sp>
        <p:nvSpPr>
          <p:cNvPr id="3" name="">
            <a:extLst xmlns:a="http://schemas.openxmlformats.org/drawingml/2006/main">
              <a:ext uri="{FF2B5EF4-FFF2-40B4-BE49-F238E27FC236}">
                <a16:creationId xmlns:a16="http://schemas.microsoft.com/office/drawing/2014/main" id="{33F01C85-0A7B-4329-B882-8E0CFBBCC39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397F15FA-8D7E-4163-B397-C5B0847C0AF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ELMo</a:t>
            </a:r>
          </a:p>
        </p:txBody>
      </p:sp>
      <p:pic>
        <p:nvPicPr>
          <p:cNvPr id="10" name="">
            <a:extLst xmlns:a="http://schemas.openxmlformats.org/drawingml/2006/main">
              <a:ext uri="{FF2B5EF4-FFF2-40B4-BE49-F238E27FC236}">
                <a16:creationId xmlns:a16="http://schemas.microsoft.com/office/drawing/2014/main" id="{A8F5FC59-58A3-4371-8748-5DB46B76F50B}"/>
              </a:ext>
            </a:extLst>
          </p:cNvPr>
          <p:cNvPicPr>
            <a:picLocks xmlns:a="http://schemas.openxmlformats.org/drawingml/2006/main" noChangeAspect="1"/>
          </p:cNvPicPr>
          <p:nvPr/>
        </p:nvPicPr>
        <p:blipFill>
          <a:blip xmlns:r="http://schemas.openxmlformats.org/officeDocument/2006/relationships" xmlns:a="http://schemas.openxmlformats.org/drawingml/2006/main" r:embed="R8edd016439154fc8"/>
          <a:stretch xmlns:a="http://schemas.openxmlformats.org/drawingml/2006/main"/>
        </p:blipFill>
        <p:spPr>
          <a:xfrm xmlns:a="http://schemas.openxmlformats.org/drawingml/2006/main">
            <a:off x="2137087" y="2000250"/>
            <a:ext cx="7917825" cy="3905250"/>
          </a:xfrm>
          <a:prstGeom xmlns:a="http://schemas.openxmlformats.org/drawingml/2006/main" prst="rect">
            <a:avLst/>
          </a:prstGeom>
        </p:spPr>
      </p:pic>
      <p:sp>
        <p:nvSpPr>
          <p:cNvPr id="11" name="lecture2-4">
            <a:extLst xmlns:a="http://schemas.openxmlformats.org/drawingml/2006/main">
              <a:ext uri="{FF2B5EF4-FFF2-40B4-BE49-F238E27FC236}">
                <a16:creationId xmlns:a16="http://schemas.microsoft.com/office/drawing/2014/main" id="{C127F3DA-C848-4838-9B9A-71DED452AD33}"/>
              </a:ext>
            </a:extLst>
          </p:cNvPr>
          <p:cNvSpPr>
            <a:spLocks xmlns:a="http://schemas.openxmlformats.org/drawingml/2006/main" noGrp="1"/>
          </p:cNvSpPr>
          <p:nvPr/>
        </p:nvSpPr>
        <p:spPr>
          <a:xfrm xmlns:a="http://schemas.openxmlformats.org/drawingml/2006/main">
            <a:off x="685800" y="60864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ELMo — Embeddings from Language Models. Forward и backward LM дают representations с учётом разных сторон контекста.</a:t>
            </a:r>
          </a:p>
        </p:txBody>
      </p:sp>
    </p:spTree>
    <p:extLst>
      <p:ext uri="{BB962C8B-B14F-4D97-AF65-F5344CB8AC3E}">
        <p14:creationId xmlns:p14="http://schemas.microsoft.com/office/powerpoint/2010/main" val="748579006"/>
      </p:ext>
    </p:extLst>
  </p:cSld>
</p:sld>
</file>

<file path=ppt/slides/slide6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F9DE0AE2-E33E-486E-A94A-1936853BE2E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98E007BF-C813-44A3-983A-22FCDD1068C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60</a:t>
            </a:r>
          </a:p>
        </p:txBody>
      </p:sp>
      <p:sp>
        <p:nvSpPr>
          <p:cNvPr id="3" name="">
            <a:extLst xmlns:a="http://schemas.openxmlformats.org/drawingml/2006/main">
              <a:ext uri="{FF2B5EF4-FFF2-40B4-BE49-F238E27FC236}">
                <a16:creationId xmlns:a16="http://schemas.microsoft.com/office/drawing/2014/main" id="{110A83A3-2DCF-404D-9D62-3A9119A5BF0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96B14FA6-E661-4589-BE37-8D91C39EDE5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ELMo: representations разных слоёв</a:t>
            </a:r>
          </a:p>
        </p:txBody>
      </p:sp>
      <p:pic>
        <p:nvPicPr>
          <p:cNvPr id="10" name="">
            <a:extLst xmlns:a="http://schemas.openxmlformats.org/drawingml/2006/main">
              <a:ext uri="{FF2B5EF4-FFF2-40B4-BE49-F238E27FC236}">
                <a16:creationId xmlns:a16="http://schemas.microsoft.com/office/drawing/2014/main" id="{6C2D2609-0207-43AD-9968-43F3F6C710BF}"/>
              </a:ext>
            </a:extLst>
          </p:cNvPr>
          <p:cNvPicPr>
            <a:picLocks xmlns:a="http://schemas.openxmlformats.org/drawingml/2006/main" noChangeAspect="1"/>
          </p:cNvPicPr>
          <p:nvPr/>
        </p:nvPicPr>
        <p:blipFill>
          <a:blip xmlns:r="http://schemas.openxmlformats.org/officeDocument/2006/relationships" xmlns:a="http://schemas.openxmlformats.org/drawingml/2006/main" r:embed="R8b62f09ba1984e56"/>
          <a:stretch xmlns:a="http://schemas.openxmlformats.org/drawingml/2006/main"/>
        </p:blipFill>
        <p:spPr>
          <a:xfrm xmlns:a="http://schemas.openxmlformats.org/drawingml/2006/main">
            <a:off x="1830161" y="2000250"/>
            <a:ext cx="8531679" cy="3905250"/>
          </a:xfrm>
          <a:prstGeom xmlns:a="http://schemas.openxmlformats.org/drawingml/2006/main" prst="rect">
            <a:avLst/>
          </a:prstGeom>
        </p:spPr>
      </p:pic>
      <p:sp>
        <p:nvSpPr>
          <p:cNvPr id="11" name="lecture2-4">
            <a:extLst xmlns:a="http://schemas.openxmlformats.org/drawingml/2006/main">
              <a:ext uri="{FF2B5EF4-FFF2-40B4-BE49-F238E27FC236}">
                <a16:creationId xmlns:a16="http://schemas.microsoft.com/office/drawing/2014/main" id="{182845AB-A07B-410A-B4F2-26A5599BABC8}"/>
              </a:ext>
            </a:extLst>
          </p:cNvPr>
          <p:cNvSpPr>
            <a:spLocks xmlns:a="http://schemas.openxmlformats.org/drawingml/2006/main" noGrp="1"/>
          </p:cNvSpPr>
          <p:nvPr/>
        </p:nvSpPr>
        <p:spPr>
          <a:xfrm xmlns:a="http://schemas.openxmlformats.org/drawingml/2006/main">
            <a:off x="685800" y="60864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ELMo объединяет representations нескольких слоёв. Веса их сочетания можно обучать для downstream task.</a:t>
            </a:r>
          </a:p>
        </p:txBody>
      </p:sp>
    </p:spTree>
    <p:extLst>
      <p:ext uri="{BB962C8B-B14F-4D97-AF65-F5344CB8AC3E}">
        <p14:creationId xmlns:p14="http://schemas.microsoft.com/office/powerpoint/2010/main" val="1682208859"/>
      </p:ext>
    </p:extLst>
  </p:cSld>
</p:sld>
</file>

<file path=ppt/slides/slide6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39C0C4F4-CFCD-4E91-8A47-1750CBCF249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FC1FDABC-9EEE-4803-A555-CDD20AF4DCA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61</a:t>
            </a:r>
          </a:p>
        </p:txBody>
      </p:sp>
      <p:sp>
        <p:nvSpPr>
          <p:cNvPr id="3" name="">
            <a:extLst xmlns:a="http://schemas.openxmlformats.org/drawingml/2006/main">
              <a:ext uri="{FF2B5EF4-FFF2-40B4-BE49-F238E27FC236}">
                <a16:creationId xmlns:a16="http://schemas.microsoft.com/office/drawing/2014/main" id="{C8DA0457-25A6-4B67-9529-FB3C9141207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52B8B13F-E528-4C05-A0C5-9D1C12829508}"/>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ELMo в downstream task</a:t>
            </a:r>
          </a:p>
        </p:txBody>
      </p:sp>
      <p:pic>
        <p:nvPicPr>
          <p:cNvPr id="9" name="">
            <a:extLst xmlns:a="http://schemas.openxmlformats.org/drawingml/2006/main">
              <a:ext uri="{FF2B5EF4-FFF2-40B4-BE49-F238E27FC236}">
                <a16:creationId xmlns:a16="http://schemas.microsoft.com/office/drawing/2014/main" id="{159CFB62-FC25-4CA3-BAFF-51B4C74BA8AD}"/>
              </a:ext>
            </a:extLst>
          </p:cNvPr>
          <p:cNvPicPr>
            <a:picLocks xmlns:a="http://schemas.openxmlformats.org/drawingml/2006/main" noChangeAspect="1"/>
          </p:cNvPicPr>
          <p:nvPr/>
        </p:nvPicPr>
        <p:blipFill>
          <a:blip xmlns:r="http://schemas.openxmlformats.org/officeDocument/2006/relationships" xmlns:a="http://schemas.openxmlformats.org/drawingml/2006/main" r:embed="Rde3b3a40197148dc"/>
          <a:stretch xmlns:a="http://schemas.openxmlformats.org/drawingml/2006/main"/>
        </p:blipFill>
        <p:spPr>
          <a:xfrm xmlns:a="http://schemas.openxmlformats.org/drawingml/2006/main">
            <a:off x="1696983" y="2000250"/>
            <a:ext cx="8798034" cy="3905250"/>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D49E7D99-54B4-4D05-AC61-FEB92D77EB84}"/>
              </a:ext>
            </a:extLst>
          </p:cNvPr>
          <p:cNvSpPr>
            <a:spLocks xmlns:a="http://schemas.openxmlformats.org/drawingml/2006/main" noGrp="1"/>
          </p:cNvSpPr>
          <p:nvPr/>
        </p:nvSpPr>
        <p:spPr>
          <a:xfrm xmlns:a="http://schemas.openxmlformats.org/drawingml/2006/main">
            <a:off x="685800" y="60864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Contextual representations передаются модели downstream task. Переносится способ описания текста, а labels задаются новой задачей.</a:t>
            </a:r>
          </a:p>
        </p:txBody>
      </p:sp>
    </p:spTree>
    <p:extLst>
      <p:ext uri="{BB962C8B-B14F-4D97-AF65-F5344CB8AC3E}">
        <p14:creationId xmlns:p14="http://schemas.microsoft.com/office/powerpoint/2010/main" val="63208448"/>
      </p:ext>
    </p:extLst>
  </p:cSld>
</p:sld>
</file>

<file path=ppt/slides/slide6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D3381096-664B-43B0-9B39-DE1CC8EDFE2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F1284F8C-870D-47B3-AC7E-A467D94C9E8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62</a:t>
            </a:r>
          </a:p>
        </p:txBody>
      </p:sp>
      <p:sp>
        <p:nvSpPr>
          <p:cNvPr id="3" name="">
            <a:extLst xmlns:a="http://schemas.openxmlformats.org/drawingml/2006/main">
              <a:ext uri="{FF2B5EF4-FFF2-40B4-BE49-F238E27FC236}">
                <a16:creationId xmlns:a16="http://schemas.microsoft.com/office/drawing/2014/main" id="{81EAF16A-8902-44F9-B3F6-BE4F74BCC4A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351E3B5D-447E-40F2-AF3F-89079B43BBA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BERT</a:t>
            </a:r>
          </a:p>
        </p:txBody>
      </p:sp>
      <p:pic>
        <p:nvPicPr>
          <p:cNvPr id="16" name="">
            <a:extLst xmlns:a="http://schemas.openxmlformats.org/drawingml/2006/main">
              <a:ext uri="{FF2B5EF4-FFF2-40B4-BE49-F238E27FC236}">
                <a16:creationId xmlns:a16="http://schemas.microsoft.com/office/drawing/2014/main" id="{D1704D48-7E3D-4269-B439-625112560DF3}"/>
              </a:ext>
            </a:extLst>
          </p:cNvPr>
          <p:cNvPicPr>
            <a:picLocks xmlns:a="http://schemas.openxmlformats.org/drawingml/2006/main" noChangeAspect="1"/>
          </p:cNvPicPr>
          <p:nvPr/>
        </p:nvPicPr>
        <p:blipFill>
          <a:blip xmlns:r="http://schemas.openxmlformats.org/officeDocument/2006/relationships" xmlns:a="http://schemas.openxmlformats.org/drawingml/2006/main" r:embed="R6b11cb4361754a4b"/>
          <a:stretch xmlns:a="http://schemas.openxmlformats.org/drawingml/2006/main"/>
        </p:blipFill>
        <p:spPr>
          <a:xfrm xmlns:a="http://schemas.openxmlformats.org/drawingml/2006/main">
            <a:off x="2903506" y="2000250"/>
            <a:ext cx="6384989" cy="2381250"/>
          </a:xfrm>
          <a:prstGeom xmlns:a="http://schemas.openxmlformats.org/drawingml/2006/main" prst="rect">
            <a:avLst/>
          </a:prstGeom>
        </p:spPr>
      </p:pic>
      <p:sp>
        <p:nvSpPr>
          <p:cNvPr id="17" name="lecture2-4">
            <a:extLst xmlns:a="http://schemas.openxmlformats.org/drawingml/2006/main">
              <a:ext uri="{FF2B5EF4-FFF2-40B4-BE49-F238E27FC236}">
                <a16:creationId xmlns:a16="http://schemas.microsoft.com/office/drawing/2014/main" id="{CE8764A6-8259-4614-AF5F-21099F9B5E9F}"/>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BERT использует Transformer encoder для вычисления representations с учётом контекста с обеих сторон. Одна pretrained model затем может адаптироваться к разным downstream tasks. Это отличается от идеи переносить только таблицу static word embeddings. В этом блоке достаточно понимать данный принцип; устройство attention и архитектурные детали рассматриваются далее в курсе.</a:t>
            </a:r>
          </a:p>
        </p:txBody>
      </p:sp>
    </p:spTree>
    <p:extLst>
      <p:ext uri="{BB962C8B-B14F-4D97-AF65-F5344CB8AC3E}">
        <p14:creationId xmlns:p14="http://schemas.microsoft.com/office/powerpoint/2010/main" val="1961368698"/>
      </p:ext>
    </p:extLst>
  </p:cSld>
</p:sld>
</file>

<file path=ppt/slides/slide6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8A5DD433-B483-4969-A9D7-B383CCB8E79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8640D774-6615-4A7C-B13B-7FDC6B3F0CD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63</a:t>
            </a:r>
          </a:p>
        </p:txBody>
      </p:sp>
      <p:sp>
        <p:nvSpPr>
          <p:cNvPr id="3" name="">
            <a:extLst xmlns:a="http://schemas.openxmlformats.org/drawingml/2006/main">
              <a:ext uri="{FF2B5EF4-FFF2-40B4-BE49-F238E27FC236}">
                <a16:creationId xmlns:a16="http://schemas.microsoft.com/office/drawing/2014/main" id="{3D99E04E-4238-4336-9294-34AF7A15F12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56C399BE-C371-47AA-901F-86A90A9FF11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Masked Language Modeling</a:t>
            </a:r>
          </a:p>
        </p:txBody>
      </p:sp>
      <p:pic>
        <p:nvPicPr>
          <p:cNvPr id="10" name="">
            <a:extLst xmlns:a="http://schemas.openxmlformats.org/drawingml/2006/main">
              <a:ext uri="{FF2B5EF4-FFF2-40B4-BE49-F238E27FC236}">
                <a16:creationId xmlns:a16="http://schemas.microsoft.com/office/drawing/2014/main" id="{2EB3F6E1-8422-4472-87EB-48985265A14C}"/>
              </a:ext>
            </a:extLst>
          </p:cNvPr>
          <p:cNvPicPr>
            <a:picLocks xmlns:a="http://schemas.openxmlformats.org/drawingml/2006/main" noChangeAspect="1"/>
          </p:cNvPicPr>
          <p:nvPr/>
        </p:nvPicPr>
        <p:blipFill>
          <a:blip xmlns:r="http://schemas.openxmlformats.org/officeDocument/2006/relationships" xmlns:a="http://schemas.openxmlformats.org/drawingml/2006/main" r:embed="R3616f35999c7412a"/>
          <a:stretch xmlns:a="http://schemas.openxmlformats.org/drawingml/2006/main"/>
        </p:blipFill>
        <p:spPr>
          <a:xfrm xmlns:a="http://schemas.openxmlformats.org/drawingml/2006/main">
            <a:off x="2822957" y="2000250"/>
            <a:ext cx="6546085" cy="3905250"/>
          </a:xfrm>
          <a:prstGeom xmlns:a="http://schemas.openxmlformats.org/drawingml/2006/main" prst="rect">
            <a:avLst/>
          </a:prstGeom>
        </p:spPr>
      </p:pic>
      <p:sp>
        <p:nvSpPr>
          <p:cNvPr id="11" name="lecture2-4">
            <a:extLst xmlns:a="http://schemas.openxmlformats.org/drawingml/2006/main">
              <a:ext uri="{FF2B5EF4-FFF2-40B4-BE49-F238E27FC236}">
                <a16:creationId xmlns:a16="http://schemas.microsoft.com/office/drawing/2014/main" id="{9880A748-3723-413F-B749-FCF27729A248}"/>
              </a:ext>
            </a:extLst>
          </p:cNvPr>
          <p:cNvSpPr>
            <a:spLocks xmlns:a="http://schemas.openxmlformats.org/drawingml/2006/main" noGrp="1"/>
          </p:cNvSpPr>
          <p:nvPr/>
        </p:nvSpPr>
        <p:spPr>
          <a:xfrm xmlns:a="http://schemas.openxmlformats.org/drawingml/2006/main">
            <a:off x="685800" y="60864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MLM восстанавливает выбранные tokens по контексту. На схеме — процедура pretraining оригинального BERT.</a:t>
            </a:r>
          </a:p>
        </p:txBody>
      </p:sp>
    </p:spTree>
    <p:extLst>
      <p:ext uri="{BB962C8B-B14F-4D97-AF65-F5344CB8AC3E}">
        <p14:creationId xmlns:p14="http://schemas.microsoft.com/office/powerpoint/2010/main" val="1742085512"/>
      </p:ext>
    </p:extLst>
  </p:cSld>
</p:sld>
</file>

<file path=ppt/slides/slide6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anded-0">
            <a:extLst xmlns:a="http://schemas.openxmlformats.org/drawingml/2006/main">
              <a:ext uri="{FF2B5EF4-FFF2-40B4-BE49-F238E27FC236}">
                <a16:creationId xmlns:a16="http://schemas.microsoft.com/office/drawing/2014/main" id="{252C38C0-986D-4514-9FE2-A66282693C2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30FC9FFB-050B-4EE3-BC2C-6D969D68ED2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64</a:t>
            </a:r>
          </a:p>
        </p:txBody>
      </p:sp>
      <p:sp>
        <p:nvSpPr>
          <p:cNvPr id="3" name="">
            <a:extLst xmlns:a="http://schemas.openxmlformats.org/drawingml/2006/main">
              <a:ext uri="{FF2B5EF4-FFF2-40B4-BE49-F238E27FC236}">
                <a16:creationId xmlns:a16="http://schemas.microsoft.com/office/drawing/2014/main" id="{1170645B-08DA-4D3F-9E76-2BDF2B29883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52C58E11-759F-4E67-A70B-7D388BC75E0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Tokenizer и вход BERT</a:t>
            </a:r>
          </a:p>
        </p:txBody>
      </p:sp>
      <p:pic>
        <p:nvPicPr>
          <p:cNvPr id="9" name="">
            <a:extLst xmlns:a="http://schemas.openxmlformats.org/drawingml/2006/main">
              <a:ext uri="{FF2B5EF4-FFF2-40B4-BE49-F238E27FC236}">
                <a16:creationId xmlns:a16="http://schemas.microsoft.com/office/drawing/2014/main" id="{6FC5DEE2-5902-4D4B-A9D8-DDCE5EDF61C7}"/>
              </a:ext>
            </a:extLst>
          </p:cNvPr>
          <p:cNvPicPr>
            <a:picLocks xmlns:a="http://schemas.openxmlformats.org/drawingml/2006/main" noChangeAspect="1"/>
          </p:cNvPicPr>
          <p:nvPr/>
        </p:nvPicPr>
        <p:blipFill>
          <a:blip xmlns:r="http://schemas.openxmlformats.org/officeDocument/2006/relationships" xmlns:a="http://schemas.openxmlformats.org/drawingml/2006/main" r:embed="R61433e1ca011463d"/>
          <a:stretch xmlns:a="http://schemas.openxmlformats.org/drawingml/2006/main"/>
        </p:blipFill>
        <p:spPr>
          <a:xfrm xmlns:a="http://schemas.openxmlformats.org/drawingml/2006/main">
            <a:off x="2401063" y="2000250"/>
            <a:ext cx="7389874" cy="2381250"/>
          </a:xfrm>
          <a:prstGeom xmlns:a="http://schemas.openxmlformats.org/drawingml/2006/main" prst="rect">
            <a:avLst/>
          </a:prstGeom>
        </p:spPr>
      </p:pic>
      <p:sp>
        <p:nvSpPr>
          <p:cNvPr id="10" name="lecture2-4">
            <a:extLst xmlns:a="http://schemas.openxmlformats.org/drawingml/2006/main">
              <a:ext uri="{FF2B5EF4-FFF2-40B4-BE49-F238E27FC236}">
                <a16:creationId xmlns:a16="http://schemas.microsoft.com/office/drawing/2014/main" id="{C991C205-509B-4F34-BF20-7772D3079A2F}"/>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Tokenizer переводит текст в token IDs и добавляет специальные элементы, предусмотренные моделью. В оригинальном BERT используются WordPiece и tokens вроде CLS и SEP. Одно слово может занимать несколько позиций. Поэтому vector отдельного token не всегда является representation целого слова. Tokenizer, vocabulary и pretrained weights должны соответствовать друг другу.</a:t>
            </a:r>
          </a:p>
        </p:txBody>
      </p:sp>
    </p:spTree>
    <p:extLst>
      <p:ext uri="{BB962C8B-B14F-4D97-AF65-F5344CB8AC3E}">
        <p14:creationId xmlns:p14="http://schemas.microsoft.com/office/powerpoint/2010/main" val="1808281916"/>
      </p:ext>
    </p:extLst>
  </p:cSld>
</p:sld>
</file>

<file path=ppt/slides/slide6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text-0">
            <a:extLst xmlns:a="http://schemas.openxmlformats.org/drawingml/2006/main">
              <a:ext uri="{FF2B5EF4-FFF2-40B4-BE49-F238E27FC236}">
                <a16:creationId xmlns:a16="http://schemas.microsoft.com/office/drawing/2014/main" id="{D5C28512-76A8-469C-A038-6FA70CD579F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D00E6AF2-9424-42B2-9579-BBD4861D8EF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65</a:t>
            </a:r>
          </a:p>
        </p:txBody>
      </p:sp>
      <p:sp>
        <p:nvSpPr>
          <p:cNvPr id="3" name="">
            <a:extLst xmlns:a="http://schemas.openxmlformats.org/drawingml/2006/main">
              <a:ext uri="{FF2B5EF4-FFF2-40B4-BE49-F238E27FC236}">
                <a16:creationId xmlns:a16="http://schemas.microsoft.com/office/drawing/2014/main" id="{AFF7E7A9-8DCC-4D81-9BA1-F73EF619DA9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186CF05-18A9-43FE-8B49-6AFB70E9972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Hidden states и pooling</a:t>
            </a:r>
          </a:p>
        </p:txBody>
      </p:sp>
      <p:sp>
        <p:nvSpPr>
          <p:cNvPr id="30" name="lecture2-4">
            <a:extLst xmlns:a="http://schemas.openxmlformats.org/drawingml/2006/main">
              <a:ext uri="{FF2B5EF4-FFF2-40B4-BE49-F238E27FC236}">
                <a16:creationId xmlns:a16="http://schemas.microsoft.com/office/drawing/2014/main" id="{0BDE315C-7D66-45C3-8218-522E25A7DECF}"/>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Token-level выход</a:t>
            </a:r>
          </a:p>
        </p:txBody>
      </p:sp>
      <p:sp>
        <p:nvSpPr>
          <p:cNvPr id="31" name="lecture2-5">
            <a:extLst xmlns:a="http://schemas.openxmlformats.org/drawingml/2006/main">
              <a:ext uri="{FF2B5EF4-FFF2-40B4-BE49-F238E27FC236}">
                <a16:creationId xmlns:a16="http://schemas.microsoft.com/office/drawing/2014/main" id="{5876EC5B-23B4-4B32-9964-DB19CA59BAF9}"/>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Encoder возвращает hidden states для позиций входной последовательности. Они отражают текущий контекст и могут использоваться в sequence labeling или других задачах на уровне tokens. Длина последовательности и embedding dimension — разные оси результата. При работе со словами, разбитыми на несколько subwords, требуется определить правило объединения позиций.</a:t>
            </a:r>
          </a:p>
        </p:txBody>
      </p:sp>
      <p:sp>
        <p:nvSpPr>
          <p:cNvPr id="32" name="lecture2-6">
            <a:extLst xmlns:a="http://schemas.openxmlformats.org/drawingml/2006/main">
              <a:ext uri="{FF2B5EF4-FFF2-40B4-BE49-F238E27FC236}">
                <a16:creationId xmlns:a16="http://schemas.microsoft.com/office/drawing/2014/main" id="{3F3781EA-3670-4FFA-8665-3FAE803F56BD}"/>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Sentence-level выход</a:t>
            </a:r>
          </a:p>
        </p:txBody>
      </p:sp>
      <p:sp>
        <p:nvSpPr>
          <p:cNvPr id="33" name="lecture2-7">
            <a:extLst xmlns:a="http://schemas.openxmlformats.org/drawingml/2006/main">
              <a:ext uri="{FF2B5EF4-FFF2-40B4-BE49-F238E27FC236}">
                <a16:creationId xmlns:a16="http://schemas.microsoft.com/office/drawing/2014/main" id="{6679FB1C-C294-4065-A40D-EE80F8BADB7F}"/>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Чтобы получить один vector для текста, используют pooling или специально обученный output. Возможны mean pooling, CLS representation и другие варианты. Выбор должен соответствовать training recipe модели. Нельзя считать любой vector первого token универсальным representation предложения: полезность определяется обучением и evaluation на нужной задаче.</a:t>
            </a:r>
          </a:p>
        </p:txBody>
      </p:sp>
    </p:spTree>
    <p:extLst>
      <p:ext uri="{BB962C8B-B14F-4D97-AF65-F5344CB8AC3E}">
        <p14:creationId xmlns:p14="http://schemas.microsoft.com/office/powerpoint/2010/main" val="1731132147"/>
      </p:ext>
    </p:extLst>
  </p:cSld>
</p:sld>
</file>

<file path=ppt/slides/slide6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141D46CE-917D-47FC-838A-3A2BC3F23D42}"/>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FE473D4B-7EB6-4642-AA1B-FFFFCFCACB8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66</a:t>
            </a:r>
          </a:p>
        </p:txBody>
      </p:sp>
      <p:sp>
        <p:nvSpPr>
          <p:cNvPr id="3" name="">
            <a:extLst xmlns:a="http://schemas.openxmlformats.org/drawingml/2006/main">
              <a:ext uri="{FF2B5EF4-FFF2-40B4-BE49-F238E27FC236}">
                <a16:creationId xmlns:a16="http://schemas.microsoft.com/office/drawing/2014/main" id="{323528C6-E77A-4082-8D5C-C99D60CF794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EC78492C-1A88-4E5C-BC77-98EE50E1111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BERT и sentence embeddings</a:t>
            </a:r>
          </a:p>
        </p:txBody>
      </p:sp>
      <p:sp>
        <p:nvSpPr>
          <p:cNvPr id="10" name="lecture2-4">
            <a:extLst xmlns:a="http://schemas.openxmlformats.org/drawingml/2006/main">
              <a:ext uri="{FF2B5EF4-FFF2-40B4-BE49-F238E27FC236}">
                <a16:creationId xmlns:a16="http://schemas.microsoft.com/office/drawing/2014/main" id="{C6827A21-461D-4EC1-BDDE-6BD779333BB6}"/>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Pretraining не задаёт готовую similarity metric</a:t>
            </a:r>
          </a:p>
        </p:txBody>
      </p:sp>
      <p:sp>
        <p:nvSpPr>
          <p:cNvPr id="11" name="lecture2-5">
            <a:extLst xmlns:a="http://schemas.openxmlformats.org/drawingml/2006/main">
              <a:ext uri="{FF2B5EF4-FFF2-40B4-BE49-F238E27FC236}">
                <a16:creationId xmlns:a16="http://schemas.microsoft.com/office/drawing/2014/main" id="{746A228B-EA2C-49B7-B243-A22372AD363B}"/>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BERT обучается прежде всего строить representations, полезные для pretraining objectives и последующей адаптации. Это не означает, что cosine similarity между любыми pooled outputs сразу хорошо измеряет близость предложений. Устройство пространства зависит от обучения; representation для token prediction и representation для semantic retrieval требуют разных проверок.</a:t>
            </a:r>
          </a:p>
        </p:txBody>
      </p:sp>
      <p:sp>
        <p:nvSpPr>
          <p:cNvPr id="12" name="lecture2-6">
            <a:extLst xmlns:a="http://schemas.openxmlformats.org/drawingml/2006/main">
              <a:ext uri="{FF2B5EF4-FFF2-40B4-BE49-F238E27FC236}">
                <a16:creationId xmlns:a16="http://schemas.microsoft.com/office/drawing/2014/main" id="{728EA04A-800E-484A-A47A-9FFDA1E55B51}"/>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Специализированный sentence encoder</a:t>
            </a:r>
          </a:p>
        </p:txBody>
      </p:sp>
      <p:sp>
        <p:nvSpPr>
          <p:cNvPr id="13" name="lecture2-7">
            <a:extLst xmlns:a="http://schemas.openxmlformats.org/drawingml/2006/main">
              <a:ext uri="{FF2B5EF4-FFF2-40B4-BE49-F238E27FC236}">
                <a16:creationId xmlns:a16="http://schemas.microsoft.com/office/drawing/2014/main" id="{150EC281-8DB3-4B4B-9EC9-879CB4B20DC2}"/>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Sentence embedding model дополнительно обучают сопоставлять целые тексты. Обычно для этого используются пары, relevance labels, similarity data или contrastive objectives. Поэтому сравнение «TF-IDF против BERT» слишком неопределённо: необходимо указать checkpoint, pooling, normalization, способ адаптации и downstream evaluation.</a:t>
            </a:r>
          </a:p>
        </p:txBody>
      </p:sp>
    </p:spTree>
    <p:extLst>
      <p:ext uri="{BB962C8B-B14F-4D97-AF65-F5344CB8AC3E}">
        <p14:creationId xmlns:p14="http://schemas.microsoft.com/office/powerpoint/2010/main" val="1614551391"/>
      </p:ext>
    </p:extLst>
  </p:cSld>
</p:sld>
</file>

<file path=ppt/slides/slide6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C72A2E12-FB26-4EAA-8270-7D7495C1470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C436E958-3263-43D7-92D6-8EF99E79BFB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67</a:t>
            </a:r>
          </a:p>
        </p:txBody>
      </p:sp>
      <p:sp>
        <p:nvSpPr>
          <p:cNvPr id="3" name="">
            <a:extLst xmlns:a="http://schemas.openxmlformats.org/drawingml/2006/main">
              <a:ext uri="{FF2B5EF4-FFF2-40B4-BE49-F238E27FC236}">
                <a16:creationId xmlns:a16="http://schemas.microsoft.com/office/drawing/2014/main" id="{08830293-C524-47F4-A6E8-8C858072DE5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01F232F8-B556-4ADD-9211-E674DF9EE3E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Pretraining и downstream adaptation</a:t>
            </a:r>
          </a:p>
        </p:txBody>
      </p:sp>
      <p:pic>
        <p:nvPicPr>
          <p:cNvPr id="12" name="">
            <a:extLst xmlns:a="http://schemas.openxmlformats.org/drawingml/2006/main">
              <a:ext uri="{FF2B5EF4-FFF2-40B4-BE49-F238E27FC236}">
                <a16:creationId xmlns:a16="http://schemas.microsoft.com/office/drawing/2014/main" id="{DE481302-F7DF-4CA8-9D13-F7C2E520CE6C}"/>
              </a:ext>
            </a:extLst>
          </p:cNvPr>
          <p:cNvPicPr>
            <a:picLocks xmlns:a="http://schemas.openxmlformats.org/drawingml/2006/main" noChangeAspect="1"/>
          </p:cNvPicPr>
          <p:nvPr/>
        </p:nvPicPr>
        <p:blipFill>
          <a:blip xmlns:r="http://schemas.openxmlformats.org/officeDocument/2006/relationships" xmlns:a="http://schemas.openxmlformats.org/drawingml/2006/main" r:embed="Rfd16ba3f223f4489"/>
          <a:stretch xmlns:a="http://schemas.openxmlformats.org/drawingml/2006/main"/>
        </p:blipFill>
        <p:spPr>
          <a:xfrm xmlns:a="http://schemas.openxmlformats.org/drawingml/2006/main">
            <a:off x="685800" y="2079297"/>
            <a:ext cx="10820400" cy="2223157"/>
          </a:xfrm>
          <a:prstGeom xmlns:a="http://schemas.openxmlformats.org/drawingml/2006/main" prst="rect">
            <a:avLst/>
          </a:prstGeom>
        </p:spPr>
      </p:pic>
      <p:sp>
        <p:nvSpPr>
          <p:cNvPr id="13" name="lecture2-4">
            <a:extLst xmlns:a="http://schemas.openxmlformats.org/drawingml/2006/main">
              <a:ext uri="{FF2B5EF4-FFF2-40B4-BE49-F238E27FC236}">
                <a16:creationId xmlns:a16="http://schemas.microsoft.com/office/drawing/2014/main" id="{98464167-8CC4-4C39-B75F-760DC9F06E16}"/>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Transfer learning использует параметры, полученные на source task или corpus, при решении target task. Pretraining формирует общие representations; дальнейшее обучение может адаптировать их к новым labels или домену. На схеме показан перенос знаний между задачами. Польза такого переноса зависит от совместимости данных и того, какую информацию сохранила pretrained model.</a:t>
            </a:r>
          </a:p>
        </p:txBody>
      </p:sp>
    </p:spTree>
    <p:extLst>
      <p:ext uri="{BB962C8B-B14F-4D97-AF65-F5344CB8AC3E}">
        <p14:creationId xmlns:p14="http://schemas.microsoft.com/office/powerpoint/2010/main" val="1698691229"/>
      </p:ext>
    </p:extLst>
  </p:cSld>
</p:sld>
</file>

<file path=ppt/slides/slide6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expanded-0">
            <a:extLst xmlns:a="http://schemas.openxmlformats.org/drawingml/2006/main">
              <a:ext uri="{FF2B5EF4-FFF2-40B4-BE49-F238E27FC236}">
                <a16:creationId xmlns:a16="http://schemas.microsoft.com/office/drawing/2014/main" id="{EF634DF4-03E8-4414-A155-31A3DA30528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CD72398-EB71-474D-B39B-A9122BEF94C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68</a:t>
            </a:r>
          </a:p>
        </p:txBody>
      </p:sp>
      <p:sp>
        <p:nvSpPr>
          <p:cNvPr id="3" name="">
            <a:extLst xmlns:a="http://schemas.openxmlformats.org/drawingml/2006/main">
              <a:ext uri="{FF2B5EF4-FFF2-40B4-BE49-F238E27FC236}">
                <a16:creationId xmlns:a16="http://schemas.microsoft.com/office/drawing/2014/main" id="{31C0AE2E-6CED-4CC4-A81F-44B963B75BA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35DA2224-9AEC-4108-A9F7-6D86535EC07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Feature extraction и fine-tuning</a:t>
            </a:r>
          </a:p>
        </p:txBody>
      </p:sp>
      <p:sp>
        <p:nvSpPr>
          <p:cNvPr id="30" name="lecture2-4">
            <a:extLst xmlns:a="http://schemas.openxmlformats.org/drawingml/2006/main">
              <a:ext uri="{FF2B5EF4-FFF2-40B4-BE49-F238E27FC236}">
                <a16:creationId xmlns:a16="http://schemas.microsoft.com/office/drawing/2014/main" id="{ABE1B140-3691-462E-A83E-2A61DDFEA5EC}"/>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Frozen encoder</a:t>
            </a:r>
          </a:p>
        </p:txBody>
      </p:sp>
      <p:sp>
        <p:nvSpPr>
          <p:cNvPr id="31" name="lecture2-5">
            <a:extLst xmlns:a="http://schemas.openxmlformats.org/drawingml/2006/main">
              <a:ext uri="{FF2B5EF4-FFF2-40B4-BE49-F238E27FC236}">
                <a16:creationId xmlns:a16="http://schemas.microsoft.com/office/drawing/2014/main" id="{CD3EABB6-D77A-4FDD-A33D-F74093994E75}"/>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feature extraction pretrained encoder фиксируют и используют для вычисления representations. Затем обучают небольшой classifier или применяют similarity search. Это упрощает эксперимент и позволяет заранее сохранить vectors. Однако encoder не адаптируется к особенностям целевой задачи; качество ограничено исходным representation и выбранным pooling.</a:t>
            </a:r>
          </a:p>
        </p:txBody>
      </p:sp>
      <p:sp>
        <p:nvSpPr>
          <p:cNvPr id="32" name="lecture2-6">
            <a:extLst xmlns:a="http://schemas.openxmlformats.org/drawingml/2006/main">
              <a:ext uri="{FF2B5EF4-FFF2-40B4-BE49-F238E27FC236}">
                <a16:creationId xmlns:a16="http://schemas.microsoft.com/office/drawing/2014/main" id="{B7207918-D88E-471B-AAD7-383F69EF5ED2}"/>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Fine-tuning</a:t>
            </a:r>
          </a:p>
        </p:txBody>
      </p:sp>
      <p:sp>
        <p:nvSpPr>
          <p:cNvPr id="33" name="lecture2-7">
            <a:extLst xmlns:a="http://schemas.openxmlformats.org/drawingml/2006/main">
              <a:ext uri="{FF2B5EF4-FFF2-40B4-BE49-F238E27FC236}">
                <a16:creationId xmlns:a16="http://schemas.microsoft.com/office/drawing/2014/main" id="{7E2E21A6-701E-4FF8-BA53-65B3B0848720}"/>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fine-tuning часть или все параметры модели изменяются по целевым данным. Это может улучшить качество, но требует корректного split и осторожного подбора training settings. После изменения encoder ранее сохранённые vectors обычно нужно пересчитать. Сравнение frozen и fine-tuned вариантов должно учитывать стоимость обучения и риск overfitting.</a:t>
            </a:r>
          </a:p>
        </p:txBody>
      </p:sp>
    </p:spTree>
    <p:extLst>
      <p:ext uri="{BB962C8B-B14F-4D97-AF65-F5344CB8AC3E}">
        <p14:creationId xmlns:p14="http://schemas.microsoft.com/office/powerpoint/2010/main" val="2022892171"/>
      </p:ext>
    </p:extLst>
  </p:cSld>
</p:sld>
</file>

<file path=ppt/slides/slide6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B8A9AECE-9806-4B00-9D5F-584DEDFA22D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B2FB0F96-4947-4F5E-A39B-E61417926E7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69</a:t>
            </a:r>
          </a:p>
        </p:txBody>
      </p:sp>
      <p:sp>
        <p:nvSpPr>
          <p:cNvPr id="3" name="">
            <a:extLst xmlns:a="http://schemas.openxmlformats.org/drawingml/2006/main">
              <a:ext uri="{FF2B5EF4-FFF2-40B4-BE49-F238E27FC236}">
                <a16:creationId xmlns:a16="http://schemas.microsoft.com/office/drawing/2014/main" id="{AEE2E530-97EF-466F-BD21-41D4F895D68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6DF1239B-F545-46B4-82A0-8C18EE6D84E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Backbone и task head</a:t>
            </a:r>
          </a:p>
        </p:txBody>
      </p:sp>
      <p:pic>
        <p:nvPicPr>
          <p:cNvPr id="10" name="">
            <a:extLst xmlns:a="http://schemas.openxmlformats.org/drawingml/2006/main">
              <a:ext uri="{FF2B5EF4-FFF2-40B4-BE49-F238E27FC236}">
                <a16:creationId xmlns:a16="http://schemas.microsoft.com/office/drawing/2014/main" id="{F7CFF437-BA4C-4795-AF58-4D1BA71C5FEF}"/>
              </a:ext>
            </a:extLst>
          </p:cNvPr>
          <p:cNvPicPr>
            <a:picLocks xmlns:a="http://schemas.openxmlformats.org/drawingml/2006/main" noChangeAspect="1"/>
          </p:cNvPicPr>
          <p:nvPr/>
        </p:nvPicPr>
        <p:blipFill>
          <a:blip xmlns:r="http://schemas.openxmlformats.org/officeDocument/2006/relationships" xmlns:a="http://schemas.openxmlformats.org/drawingml/2006/main" r:embed="R15bccd2257934d78"/>
          <a:stretch xmlns:a="http://schemas.openxmlformats.org/drawingml/2006/main"/>
        </p:blipFill>
        <p:spPr>
          <a:xfrm xmlns:a="http://schemas.openxmlformats.org/drawingml/2006/main">
            <a:off x="2222443" y="2095500"/>
            <a:ext cx="3117964" cy="3905250"/>
          </a:xfrm>
          <a:prstGeom xmlns:a="http://schemas.openxmlformats.org/drawingml/2006/main" prst="rect">
            <a:avLst/>
          </a:prstGeom>
        </p:spPr>
      </p:pic>
      <p:sp>
        <p:nvSpPr>
          <p:cNvPr id="11" name="lecture2-4">
            <a:extLst xmlns:a="http://schemas.openxmlformats.org/drawingml/2006/main">
              <a:ext uri="{FF2B5EF4-FFF2-40B4-BE49-F238E27FC236}">
                <a16:creationId xmlns:a16="http://schemas.microsoft.com/office/drawing/2014/main" id="{D86D90C4-3AF3-4831-9148-E26BDFD5E802}"/>
              </a:ext>
            </a:extLst>
          </p:cNvPr>
          <p:cNvSpPr>
            <a:spLocks xmlns:a="http://schemas.openxmlformats.org/drawingml/2006/main" noGrp="1"/>
          </p:cNvSpPr>
          <p:nvPr/>
        </p:nvSpPr>
        <p:spPr>
          <a:xfrm xmlns:a="http://schemas.openxmlformats.org/drawingml/2006/main">
            <a:off x="7239000" y="2076450"/>
            <a:ext cx="4267200" cy="427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Pretrained backbone строит contextual representations. Task head преобразует их в ответ конкретной задачи, например class probabilities. На схеме курса показан вариант BERT для sentence classification. При переносе между задачами backbone можно использовать повторно, а head выбирается под новый формат ответа. Его выход не следует путать с embedding: score класса и representation текста выполняют разные функции.</a:t>
            </a:r>
          </a:p>
        </p:txBody>
      </p:sp>
    </p:spTree>
    <p:extLst>
      <p:ext uri="{BB962C8B-B14F-4D97-AF65-F5344CB8AC3E}">
        <p14:creationId xmlns:p14="http://schemas.microsoft.com/office/powerpoint/2010/main" val="2019350078"/>
      </p:ext>
    </p:extLst>
  </p:cSld>
</p:sld>
</file>

<file path=ppt/slides/slide7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DB8791D7-D24F-4EB3-9805-922301F9D2F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F47555ED-052D-4203-A286-D0ED46F7E3D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70</a:t>
            </a:r>
          </a:p>
        </p:txBody>
      </p:sp>
      <p:sp>
        <p:nvSpPr>
          <p:cNvPr id="3" name="">
            <a:extLst xmlns:a="http://schemas.openxmlformats.org/drawingml/2006/main">
              <a:ext uri="{FF2B5EF4-FFF2-40B4-BE49-F238E27FC236}">
                <a16:creationId xmlns:a16="http://schemas.microsoft.com/office/drawing/2014/main" id="{AA9E06C9-7544-4DCA-B3D7-31950ABF6476}"/>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BEA6A711-2E97-4E99-A8F4-66C1F19CE9C8}"/>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Domain adaptation</a:t>
            </a:r>
          </a:p>
        </p:txBody>
      </p:sp>
      <p:sp>
        <p:nvSpPr>
          <p:cNvPr id="9" name="lecture2-4">
            <a:extLst xmlns:a="http://schemas.openxmlformats.org/drawingml/2006/main">
              <a:ext uri="{FF2B5EF4-FFF2-40B4-BE49-F238E27FC236}">
                <a16:creationId xmlns:a16="http://schemas.microsoft.com/office/drawing/2014/main" id="{808D65FB-1D9E-40BF-AF2B-FB0E697C9B6F}"/>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Несоответствие данных</a:t>
            </a:r>
          </a:p>
        </p:txBody>
      </p:sp>
      <p:sp>
        <p:nvSpPr>
          <p:cNvPr id="10" name="lecture2-5">
            <a:extLst xmlns:a="http://schemas.openxmlformats.org/drawingml/2006/main">
              <a:ext uri="{FF2B5EF4-FFF2-40B4-BE49-F238E27FC236}">
                <a16:creationId xmlns:a16="http://schemas.microsoft.com/office/drawing/2014/main" id="{0C9C0D32-0EDC-48F3-8A7F-05E9D194FF26}"/>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Model может быть обучена на новостях или Wikipedia, а применяться к юридическим документам, переписке или описаниям товаров. Меняются vocabulary, жанр и распределение смыслов. Поэтому высокий benchmark score на общей задаче не гарантирует подходящего representation в новом домене. Важны реальные тексты и характерные поисковые запросы.</a:t>
            </a:r>
          </a:p>
        </p:txBody>
      </p:sp>
      <p:sp>
        <p:nvSpPr>
          <p:cNvPr id="11" name="lecture2-6">
            <a:extLst xmlns:a="http://schemas.openxmlformats.org/drawingml/2006/main">
              <a:ext uri="{FF2B5EF4-FFF2-40B4-BE49-F238E27FC236}">
                <a16:creationId xmlns:a16="http://schemas.microsoft.com/office/drawing/2014/main" id="{9D2AB17B-5990-4422-8A97-C55DC58104EC}"/>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Выбор адаптации</a:t>
            </a:r>
          </a:p>
        </p:txBody>
      </p:sp>
      <p:sp>
        <p:nvSpPr>
          <p:cNvPr id="12" name="lecture2-7">
            <a:extLst xmlns:a="http://schemas.openxmlformats.org/drawingml/2006/main">
              <a:ext uri="{FF2B5EF4-FFF2-40B4-BE49-F238E27FC236}">
                <a16:creationId xmlns:a16="http://schemas.microsoft.com/office/drawing/2014/main" id="{B74CB132-877E-4774-A666-68E4AEC005C2}"/>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Сначала проверяют pretrained baseline и анализируют ошибки. Затем рассматривают дополнительное обучение на доменных текстах или на размеченных парах нужной задачи. Эти варианты используют разный сигнал и могут давать разные результаты. Evaluation должна показывать, улучшилось ли целевое поведение, а не только насколько модель приспособилась к training corpus.</a:t>
            </a:r>
          </a:p>
        </p:txBody>
      </p:sp>
    </p:spTree>
    <p:extLst>
      <p:ext uri="{BB962C8B-B14F-4D97-AF65-F5344CB8AC3E}">
        <p14:creationId xmlns:p14="http://schemas.microsoft.com/office/powerpoint/2010/main" val="345829341"/>
      </p:ext>
    </p:extLst>
  </p:cSld>
</p:sld>
</file>

<file path=ppt/slides/slide7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3C3A3308-35B0-45A3-A5A8-5862AEA499B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CFF7ED37-C3EE-4854-B4FF-57530310253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71</a:t>
            </a:r>
          </a:p>
        </p:txBody>
      </p:sp>
      <p:sp>
        <p:nvSpPr>
          <p:cNvPr id="3" name="">
            <a:extLst xmlns:a="http://schemas.openxmlformats.org/drawingml/2006/main">
              <a:ext uri="{FF2B5EF4-FFF2-40B4-BE49-F238E27FC236}">
                <a16:creationId xmlns:a16="http://schemas.microsoft.com/office/drawing/2014/main" id="{9112DE1E-239B-4EFE-ACE0-D34B31D53C5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C15B0E1B-D942-477D-B55A-C52BBF319AE4}"/>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Sentence-BERT и Siamese architecture</a:t>
            </a:r>
          </a:p>
        </p:txBody>
      </p:sp>
      <p:pic>
        <p:nvPicPr>
          <p:cNvPr id="12" name="">
            <a:extLst xmlns:a="http://schemas.openxmlformats.org/drawingml/2006/main">
              <a:ext uri="{FF2B5EF4-FFF2-40B4-BE49-F238E27FC236}">
                <a16:creationId xmlns:a16="http://schemas.microsoft.com/office/drawing/2014/main" id="{750A3982-E06C-4FDF-B379-7F08A15B973E}"/>
              </a:ext>
            </a:extLst>
          </p:cNvPr>
          <p:cNvPicPr>
            <a:picLocks xmlns:a="http://schemas.openxmlformats.org/drawingml/2006/main" noChangeAspect="1"/>
          </p:cNvPicPr>
          <p:nvPr/>
        </p:nvPicPr>
        <p:blipFill>
          <a:blip xmlns:r="http://schemas.openxmlformats.org/officeDocument/2006/relationships" xmlns:a="http://schemas.openxmlformats.org/drawingml/2006/main" r:embed="R95139150d6cc4038"/>
          <a:stretch xmlns:a="http://schemas.openxmlformats.org/drawingml/2006/main"/>
        </p:blipFill>
        <p:spPr>
          <a:xfrm xmlns:a="http://schemas.openxmlformats.org/drawingml/2006/main">
            <a:off x="1842873" y="2095500"/>
            <a:ext cx="3877104" cy="3905250"/>
          </a:xfrm>
          <a:prstGeom xmlns:a="http://schemas.openxmlformats.org/drawingml/2006/main" prst="rect">
            <a:avLst/>
          </a:prstGeom>
        </p:spPr>
      </p:pic>
      <p:sp>
        <p:nvSpPr>
          <p:cNvPr id="13" name="lecture2-4">
            <a:extLst xmlns:a="http://schemas.openxmlformats.org/drawingml/2006/main">
              <a:ext uri="{FF2B5EF4-FFF2-40B4-BE49-F238E27FC236}">
                <a16:creationId xmlns:a16="http://schemas.microsoft.com/office/drawing/2014/main" id="{44783368-763C-4C24-A830-CF7CC4B06D16}"/>
              </a:ext>
            </a:extLst>
          </p:cNvPr>
          <p:cNvSpPr>
            <a:spLocks xmlns:a="http://schemas.openxmlformats.org/drawingml/2006/main" noGrp="1"/>
          </p:cNvSpPr>
          <p:nvPr/>
        </p:nvSpPr>
        <p:spPr>
          <a:xfrm xmlns:a="http://schemas.openxmlformats.org/drawingml/2006/main">
            <a:off x="7239000" y="2076450"/>
            <a:ext cx="4267200" cy="427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Sentence-BERT обучает representations целых предложений с помощью общей encoder architecture для разных текстов. Shared weights означают, что сравниваемые тексты обрабатываются согласованным способом. Полученные vectors можно сохранять и повторно использовать. Это отличается от обработки каждой пары совместной моделью, где representation одного текста зависит от конкретного второго текста.</a:t>
            </a:r>
          </a:p>
        </p:txBody>
      </p:sp>
      <p:sp>
        <p:nvSpPr>
          <p:cNvPr id="14" name="lecture2-5">
            <a:extLst xmlns:a="http://schemas.openxmlformats.org/drawingml/2006/main">
              <a:ext uri="{FF2B5EF4-FFF2-40B4-BE49-F238E27FC236}">
                <a16:creationId xmlns:a16="http://schemas.microsoft.com/office/drawing/2014/main" id="{CDDC4D78-6E1A-47D2-ABEC-17751378134A}"/>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defRPr sz="1163" b="0">
                <a:solidFill>
                  <a:srgbClr val="98989F"/>
                </a:solidFill>
                <a:latin typeface="Helvetica Neue"/>
                <a:ea typeface="Helvetica Neue"/>
                <a:cs typeface="Helvetica Neue"/>
              </a:defRPr>
            </a:lvl1pPr>
            <a:lvl2pPr>
              <a:defRPr sz="1163" b="0">
                <a:solidFill>
                  <a:srgbClr val="98989F"/>
                </a:solidFill>
                <a:latin typeface="Helvetica Neue"/>
                <a:ea typeface="Helvetica Neue"/>
                <a:cs typeface="Helvetica Neue"/>
              </a:defRPr>
            </a:lvl2pPr>
            <a:lvl3pPr>
              <a:defRPr sz="1163" b="0">
                <a:solidFill>
                  <a:srgbClr val="98989F"/>
                </a:solidFill>
                <a:latin typeface="Helvetica Neue"/>
                <a:ea typeface="Helvetica Neue"/>
                <a:cs typeface="Helvetica Neue"/>
              </a:defRPr>
            </a:lvl3pPr>
            <a:lvl4pPr>
              <a:defRPr sz="1163" b="0">
                <a:solidFill>
                  <a:srgbClr val="98989F"/>
                </a:solidFill>
                <a:latin typeface="Helvetica Neue"/>
                <a:ea typeface="Helvetica Neue"/>
                <a:cs typeface="Helvetica Neue"/>
              </a:defRPr>
            </a:lvl4pPr>
            <a:lvl5pPr>
              <a:defRPr sz="1163" b="0">
                <a:solidFill>
                  <a:srgbClr val="98989F"/>
                </a:solidFill>
                <a:latin typeface="Helvetica Neue"/>
                <a:ea typeface="Helvetica Neue"/>
                <a:cs typeface="Helvetica Neue"/>
              </a:defRPr>
            </a:lvl5pPr>
            <a:lvl6pPr>
              <a:defRPr sz="1163" b="0">
                <a:solidFill>
                  <a:srgbClr val="98989F"/>
                </a:solidFill>
                <a:latin typeface="Helvetica Neue"/>
                <a:ea typeface="Helvetica Neue"/>
                <a:cs typeface="Helvetica Neue"/>
              </a:defRPr>
            </a:lvl6pPr>
            <a:lvl7pPr>
              <a:defRPr sz="1163" b="0">
                <a:solidFill>
                  <a:srgbClr val="98989F"/>
                </a:solidFill>
                <a:latin typeface="Helvetica Neue"/>
                <a:ea typeface="Helvetica Neue"/>
                <a:cs typeface="Helvetica Neue"/>
              </a:defRPr>
            </a:lvl7pPr>
            <a:lvl8pPr>
              <a:defRPr sz="1163" b="0">
                <a:solidFill>
                  <a:srgbClr val="98989F"/>
                </a:solidFill>
                <a:latin typeface="Helvetica Neue"/>
                <a:ea typeface="Helvetica Neue"/>
                <a:cs typeface="Helvetica Neue"/>
              </a:defRPr>
            </a:lvl8pPr>
            <a:lvl9pPr>
              <a:defRPr sz="1163" b="0">
                <a:solidFill>
                  <a:srgbClr val="98989F"/>
                </a:solidFill>
                <a:latin typeface="Helvetica Neue"/>
                <a:ea typeface="Helvetica Neue"/>
                <a:cs typeface="Helvetica Neue"/>
              </a:defRPr>
            </a:lvl9pPr>
          </a:lstStyle>
          <a:p xmlns:a="http://schemas.openxmlformats.org/drawingml/2006/main">
            <a:pPr>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47c55e032e2b4e03"/>
              </a:rPr>
              <a:t>Источник: Sentence Transformers</a:t>
            </a:r>
          </a:p>
        </p:txBody>
      </p:sp>
    </p:spTree>
    <p:extLst>
      <p:ext uri="{BB962C8B-B14F-4D97-AF65-F5344CB8AC3E}">
        <p14:creationId xmlns:p14="http://schemas.microsoft.com/office/powerpoint/2010/main" val="762401882"/>
      </p:ext>
    </p:extLst>
  </p:cSld>
</p:sld>
</file>

<file path=ppt/slides/slide7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08B5B529-2DDE-49EA-B8D8-FF40CBBC5AA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2CBFDAD8-B921-4DF7-839A-D27852AE1F7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72</a:t>
            </a:r>
          </a:p>
        </p:txBody>
      </p:sp>
      <p:sp>
        <p:nvSpPr>
          <p:cNvPr id="3" name="">
            <a:extLst xmlns:a="http://schemas.openxmlformats.org/drawingml/2006/main">
              <a:ext uri="{FF2B5EF4-FFF2-40B4-BE49-F238E27FC236}">
                <a16:creationId xmlns:a16="http://schemas.microsoft.com/office/drawing/2014/main" id="{25012837-10A2-4802-BFA1-90EB8E68937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5F2B5BDD-65FB-4620-8849-59438982498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Обучающие пары для sentence embeddings</a:t>
            </a:r>
          </a:p>
        </p:txBody>
      </p:sp>
      <p:sp>
        <p:nvSpPr>
          <p:cNvPr id="10" name="lecture2-4">
            <a:extLst xmlns:a="http://schemas.openxmlformats.org/drawingml/2006/main">
              <a:ext uri="{FF2B5EF4-FFF2-40B4-BE49-F238E27FC236}">
                <a16:creationId xmlns:a16="http://schemas.microsoft.com/office/drawing/2014/main" id="{D254EA52-C74F-426D-BEF0-16BBF0DD9D6E}"/>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Учебные примеры показывают требуемое отношение между текстами. Конкретная loss function может использовать пары, labels или группы candidates.</a:t>
            </a:r>
          </a:p>
        </p:txBody>
      </p:sp>
      <p:graphicFrame>
        <p:nvGraphicFramePr>
          <p:cNvPr id="11" name="">
            <a:extLst xmlns:a="http://schemas.openxmlformats.org/drawingml/2006/main">
              <a:ext uri="{FF2B5EF4-FFF2-40B4-BE49-F238E27FC236}">
                <a16:creationId xmlns:a16="http://schemas.microsoft.com/office/drawing/2014/main" id="{269B1633-9F24-4FBF-A26D-8DFC00458601}"/>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3524250"/>
                <a:gridCol w="4476750"/>
                <a:gridCol w="2819400"/>
              </a:tblGrid>
              <a:tr h="666750">
                <a:tc>
                  <a:txBody>
                    <a:bodyPr lIns="114300" tIns="57150" rIns="114300" bIns="57150"/>
                    <a:lstStyle/>
                    <a:p>
                      <a:r>
                        <a:rPr sz="1725" b="1">
                          <a:solidFill>
                            <a:srgbClr val="98989F"/>
                          </a:solidFill>
                          <a:latin typeface="Helvetica Neue"/>
                          <a:ea typeface="Helvetica Neue"/>
                          <a:cs typeface="Helvetica Neue"/>
                        </a:rPr>
                        <a:t>Текст / query</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Связанный текст</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Обучающий сигнал</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«Как вернуть заказ?»</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«Инструкция по возврату товара»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Positive pair</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«Как вернуть заказ?»</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«Условия рассрочки»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Negative pair</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«Отмена подписки»</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«Как отключить автопродление»</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Positive pair</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2" name="lecture2-5">
            <a:extLst xmlns:a="http://schemas.openxmlformats.org/drawingml/2006/main">
              <a:ext uri="{FF2B5EF4-FFF2-40B4-BE49-F238E27FC236}">
                <a16:creationId xmlns:a16="http://schemas.microsoft.com/office/drawing/2014/main" id="{34DAA1E6-4B62-4607-ABA9-C73408EA3E61}"/>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Negatives должны отражать реальные сложности задачи. Слишком простые negatives не учат различать близкие по теме, но нерелевантные ответы.</a:t>
            </a:r>
          </a:p>
        </p:txBody>
      </p:sp>
    </p:spTree>
    <p:extLst>
      <p:ext uri="{BB962C8B-B14F-4D97-AF65-F5344CB8AC3E}">
        <p14:creationId xmlns:p14="http://schemas.microsoft.com/office/powerpoint/2010/main" val="1629038294"/>
      </p:ext>
    </p:extLst>
  </p:cSld>
</p:sld>
</file>

<file path=ppt/slides/slide7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CF1F6B93-BEF0-477E-8D44-17107CBB441A}"/>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544BC848-D6FA-43B3-9D02-CD3FD5E1968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73</a:t>
            </a:r>
          </a:p>
        </p:txBody>
      </p:sp>
      <p:sp>
        <p:nvSpPr>
          <p:cNvPr id="3" name="">
            <a:extLst xmlns:a="http://schemas.openxmlformats.org/drawingml/2006/main">
              <a:ext uri="{FF2B5EF4-FFF2-40B4-BE49-F238E27FC236}">
                <a16:creationId xmlns:a16="http://schemas.microsoft.com/office/drawing/2014/main" id="{F9D41F24-6EA7-47E4-8594-0EF28867067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8FDB4E1B-DA74-49CE-9D4B-E95AC602C15D}"/>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Pooling для sentence representation</a:t>
            </a:r>
          </a:p>
        </p:txBody>
      </p:sp>
      <p:sp>
        <p:nvSpPr>
          <p:cNvPr id="10" name="lecture2-4">
            <a:extLst xmlns:a="http://schemas.openxmlformats.org/drawingml/2006/main">
              <a:ext uri="{FF2B5EF4-FFF2-40B4-BE49-F238E27FC236}">
                <a16:creationId xmlns:a16="http://schemas.microsoft.com/office/drawing/2014/main" id="{480C9884-4866-4745-BE29-404220AB4C74}"/>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Pooling превращает набор token representations в один vector. Выбранная операция должна соответствовать обучению модели.</a:t>
            </a:r>
          </a:p>
        </p:txBody>
      </p:sp>
      <p:graphicFrame>
        <p:nvGraphicFramePr>
          <p:cNvPr id="11" name="">
            <a:extLst xmlns:a="http://schemas.openxmlformats.org/drawingml/2006/main">
              <a:ext uri="{FF2B5EF4-FFF2-40B4-BE49-F238E27FC236}">
                <a16:creationId xmlns:a16="http://schemas.microsoft.com/office/drawing/2014/main" id="{274DAE93-3DFB-48FE-A4C0-A3FBE9242FFD}"/>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667000"/>
                <a:gridCol w="3810000"/>
                <a:gridCol w="4343400"/>
              </a:tblGrid>
              <a:tr h="666750">
                <a:tc>
                  <a:txBody>
                    <a:bodyPr lIns="114300" tIns="57150" rIns="114300" bIns="57150"/>
                    <a:lstStyle/>
                    <a:p>
                      <a:r>
                        <a:rPr sz="1725" b="1">
                          <a:solidFill>
                            <a:srgbClr val="98989F"/>
                          </a:solidFill>
                          <a:latin typeface="Helvetica Neue"/>
                          <a:ea typeface="Helvetica Neue"/>
                          <a:cs typeface="Helvetica Neue"/>
                        </a:rPr>
                        <a:t>Способ</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Принцип</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Условие применения</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Mean pooling</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Усреднение нужных позиций</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Padding исключается по mask</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CLS pooling</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Использование специальной позиции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Модель обучена использовать её</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Learned pooling</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Обучаемое объединение</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Нужны соответствующие weights</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2" name="lecture2-5">
            <a:extLst xmlns:a="http://schemas.openxmlformats.org/drawingml/2006/main">
              <a:ext uri="{FF2B5EF4-FFF2-40B4-BE49-F238E27FC236}">
                <a16:creationId xmlns:a16="http://schemas.microsoft.com/office/drawing/2014/main" id="{F720E2C4-496C-4F33-9E0D-E78DBF9D9064}"/>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Произвольная смена pooling может ухудшить embeddings. Одинаковая размерность результата не делает разные способы взаимозаменяемыми.</a:t>
            </a:r>
          </a:p>
        </p:txBody>
      </p:sp>
    </p:spTree>
    <p:extLst>
      <p:ext uri="{BB962C8B-B14F-4D97-AF65-F5344CB8AC3E}">
        <p14:creationId xmlns:p14="http://schemas.microsoft.com/office/powerpoint/2010/main" val="1599786550"/>
      </p:ext>
    </p:extLst>
  </p:cSld>
</p:sld>
</file>

<file path=ppt/slides/slide7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expanded-0">
            <a:extLst xmlns:a="http://schemas.openxmlformats.org/drawingml/2006/main">
              <a:ext uri="{FF2B5EF4-FFF2-40B4-BE49-F238E27FC236}">
                <a16:creationId xmlns:a16="http://schemas.microsoft.com/office/drawing/2014/main" id="{44005B2F-FE8B-416C-B2B6-74D821E4CE4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FDF1BCE7-A0C0-46DD-B928-D54186A513F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74</a:t>
            </a:r>
          </a:p>
        </p:txBody>
      </p:sp>
      <p:sp>
        <p:nvSpPr>
          <p:cNvPr id="3" name="">
            <a:extLst xmlns:a="http://schemas.openxmlformats.org/drawingml/2006/main">
              <a:ext uri="{FF2B5EF4-FFF2-40B4-BE49-F238E27FC236}">
                <a16:creationId xmlns:a16="http://schemas.microsoft.com/office/drawing/2014/main" id="{C2C17C0E-A16D-4D9F-AB80-534E394A86C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11AEC545-54E1-4595-AD16-374B61D09DB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Encoding нового текста</a:t>
            </a:r>
          </a:p>
        </p:txBody>
      </p:sp>
      <p:sp>
        <p:nvSpPr>
          <p:cNvPr id="32" name="lecture2-4">
            <a:extLst xmlns:a="http://schemas.openxmlformats.org/drawingml/2006/main">
              <a:ext uri="{FF2B5EF4-FFF2-40B4-BE49-F238E27FC236}">
                <a16:creationId xmlns:a16="http://schemas.microsoft.com/office/drawing/2014/main" id="{0CBCFD5A-55E9-4260-847F-B9DC57D27B84}"/>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Согласованные этапы</a:t>
            </a:r>
          </a:p>
        </p:txBody>
      </p:sp>
      <p:sp>
        <p:nvSpPr>
          <p:cNvPr id="33" name="lecture2-5">
            <a:extLst xmlns:a="http://schemas.openxmlformats.org/drawingml/2006/main">
              <a:ext uri="{FF2B5EF4-FFF2-40B4-BE49-F238E27FC236}">
                <a16:creationId xmlns:a16="http://schemas.microsoft.com/office/drawing/2014/main" id="{98E5F99C-B035-4C16-8515-67296D1BDBE0}"/>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Encoder получает tokens, attention mask и другие входы, предусмотренные моделью. Затем вычисляются hidden states, pooling и, если необходимо, normalization. В типичном sentence encoder один forward pass возвращает vector фиксированной длины. Внешний API может скрывать эти этапы, но их настройки продолжают влиять на результат.</a:t>
            </a:r>
          </a:p>
        </p:txBody>
      </p:sp>
      <p:sp>
        <p:nvSpPr>
          <p:cNvPr id="34" name="lecture2-6">
            <a:extLst xmlns:a="http://schemas.openxmlformats.org/drawingml/2006/main">
              <a:ext uri="{FF2B5EF4-FFF2-40B4-BE49-F238E27FC236}">
                <a16:creationId xmlns:a16="http://schemas.microsoft.com/office/drawing/2014/main" id="{9B78ED0E-62A8-4106-967C-ED46AE4E9D31}"/>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Что фиксируется вместе с vector</a:t>
            </a:r>
          </a:p>
        </p:txBody>
      </p:sp>
      <p:sp>
        <p:nvSpPr>
          <p:cNvPr id="35" name="lecture2-7">
            <a:extLst xmlns:a="http://schemas.openxmlformats.org/drawingml/2006/main">
              <a:ext uri="{FF2B5EF4-FFF2-40B4-BE49-F238E27FC236}">
                <a16:creationId xmlns:a16="http://schemas.microsoft.com/office/drawing/2014/main" id="{290CA521-090E-4D44-A9E5-F50725A17900}"/>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Для воспроизводимости сохраняют model identifier, revision, tokenizer, pooling, max length и normalization. При asymmetric retrieval дополнительно фиксируют query/document mode или prompt. Batch size обычно относится к организации вычислений, но truncation меняет сам доступный текст. Векторы без сведений об их происхождении трудно безопасно переиспользовать.</a:t>
            </a:r>
          </a:p>
        </p:txBody>
      </p:sp>
    </p:spTree>
    <p:extLst>
      <p:ext uri="{BB962C8B-B14F-4D97-AF65-F5344CB8AC3E}">
        <p14:creationId xmlns:p14="http://schemas.microsoft.com/office/powerpoint/2010/main" val="1725034603"/>
      </p:ext>
    </p:extLst>
  </p:cSld>
</p:sld>
</file>

<file path=ppt/slides/slide7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expanded-0">
            <a:extLst xmlns:a="http://schemas.openxmlformats.org/drawingml/2006/main">
              <a:ext uri="{FF2B5EF4-FFF2-40B4-BE49-F238E27FC236}">
                <a16:creationId xmlns:a16="http://schemas.microsoft.com/office/drawing/2014/main" id="{5FA4C248-9568-43EF-A0E9-A9213054AB8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B194AD1D-B9D6-4AF9-AD6B-8B6679308EB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75</a:t>
            </a:r>
          </a:p>
        </p:txBody>
      </p:sp>
      <p:sp>
        <p:nvSpPr>
          <p:cNvPr id="3" name="">
            <a:extLst xmlns:a="http://schemas.openxmlformats.org/drawingml/2006/main">
              <a:ext uri="{FF2B5EF4-FFF2-40B4-BE49-F238E27FC236}">
                <a16:creationId xmlns:a16="http://schemas.microsoft.com/office/drawing/2014/main" id="{32348CB1-20DF-476D-86F6-851F040BF9F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AD260A7D-FBB2-4045-BE88-9FD23E1A694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Similarity score и решение</a:t>
            </a:r>
          </a:p>
        </p:txBody>
      </p:sp>
      <p:sp>
        <p:nvSpPr>
          <p:cNvPr id="30" name="lecture2-4">
            <a:extLst xmlns:a="http://schemas.openxmlformats.org/drawingml/2006/main">
              <a:ext uri="{FF2B5EF4-FFF2-40B4-BE49-F238E27FC236}">
                <a16:creationId xmlns:a16="http://schemas.microsoft.com/office/drawing/2014/main" id="{F12E044A-AE5F-4E54-BD43-2CAE1D20219E}"/>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Score зависит от пространства</a:t>
            </a:r>
          </a:p>
        </p:txBody>
      </p:sp>
      <p:sp>
        <p:nvSpPr>
          <p:cNvPr id="31" name="lecture2-5">
            <a:extLst xmlns:a="http://schemas.openxmlformats.org/drawingml/2006/main">
              <a:ext uri="{FF2B5EF4-FFF2-40B4-BE49-F238E27FC236}">
                <a16:creationId xmlns:a16="http://schemas.microsoft.com/office/drawing/2014/main" id="{DD466756-F25E-4B44-AABB-CD5029189E26}"/>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Similarity function сравнивает vectors, но её значение не является универсальной шкалой смысла. Одни модели используют cosine similarity, другие обучаются для dot product или иной меры. Normalization может менять связь между этими способами сравнения. Поэтому similarity function выбирается по документации конкретного checkpoint и проверяется на данных задачи.</a:t>
            </a:r>
          </a:p>
        </p:txBody>
      </p:sp>
      <p:sp>
        <p:nvSpPr>
          <p:cNvPr id="32" name="lecture2-6">
            <a:extLst xmlns:a="http://schemas.openxmlformats.org/drawingml/2006/main">
              <a:ext uri="{FF2B5EF4-FFF2-40B4-BE49-F238E27FC236}">
                <a16:creationId xmlns:a16="http://schemas.microsoft.com/office/drawing/2014/main" id="{1C929ED7-3EA9-4CFC-A869-A0C43C2D5CDD}"/>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Threshold и ranking</a:t>
            </a:r>
          </a:p>
        </p:txBody>
      </p:sp>
      <p:sp>
        <p:nvSpPr>
          <p:cNvPr id="33" name="lecture2-7">
            <a:extLst xmlns:a="http://schemas.openxmlformats.org/drawingml/2006/main">
              <a:ext uri="{FF2B5EF4-FFF2-40B4-BE49-F238E27FC236}">
                <a16:creationId xmlns:a16="http://schemas.microsoft.com/office/drawing/2014/main" id="{1C39CEFE-7AEC-4445-8091-446D50FDB256}"/>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Ranking выбирает наиболее подходящие candidates относительно друг друга. Threshold дополнительно решает, достаточно ли высок score для принятия результата. Порог нельзя переносить между моделями без проверки. Для случаев без релевантного документа нужны отдельные примеры: наличие nearest neighbor не означает, что система нашла правильный ответ.</a:t>
            </a:r>
          </a:p>
        </p:txBody>
      </p:sp>
    </p:spTree>
    <p:extLst>
      <p:ext uri="{BB962C8B-B14F-4D97-AF65-F5344CB8AC3E}">
        <p14:creationId xmlns:p14="http://schemas.microsoft.com/office/powerpoint/2010/main" val="512402259"/>
      </p:ext>
    </p:extLst>
  </p:cSld>
</p:sld>
</file>

<file path=ppt/slides/slide7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D9DB58B5-0FEF-496A-9583-FC71E2616FC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1F64D195-E3AB-440B-ADF4-27C0611EBF0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76</a:t>
            </a:r>
          </a:p>
        </p:txBody>
      </p:sp>
      <p:sp>
        <p:nvSpPr>
          <p:cNvPr id="3" name="">
            <a:extLst xmlns:a="http://schemas.openxmlformats.org/drawingml/2006/main">
              <a:ext uri="{FF2B5EF4-FFF2-40B4-BE49-F238E27FC236}">
                <a16:creationId xmlns:a16="http://schemas.microsoft.com/office/drawing/2014/main" id="{16E31E3C-11B2-48C8-8A89-5EA7C7D6021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8B243A3E-5FE4-4A08-8484-D8669ACD77C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Bi-encoder retrieval</a:t>
            </a:r>
          </a:p>
        </p:txBody>
      </p:sp>
      <p:pic>
        <p:nvPicPr>
          <p:cNvPr id="12" name="">
            <a:extLst xmlns:a="http://schemas.openxmlformats.org/drawingml/2006/main">
              <a:ext uri="{FF2B5EF4-FFF2-40B4-BE49-F238E27FC236}">
                <a16:creationId xmlns:a16="http://schemas.microsoft.com/office/drawing/2014/main" id="{F0BB0886-7E40-4738-801B-ABAD4D7BA8E0}"/>
              </a:ext>
            </a:extLst>
          </p:cNvPr>
          <p:cNvPicPr>
            <a:picLocks xmlns:a="http://schemas.openxmlformats.org/drawingml/2006/main" noChangeAspect="1"/>
          </p:cNvPicPr>
          <p:nvPr/>
        </p:nvPicPr>
        <p:blipFill>
          <a:blip xmlns:r="http://schemas.openxmlformats.org/officeDocument/2006/relationships" xmlns:a="http://schemas.openxmlformats.org/drawingml/2006/main" r:embed="R55abd5ffa048426b"/>
          <a:stretch xmlns:a="http://schemas.openxmlformats.org/drawingml/2006/main"/>
        </p:blipFill>
        <p:spPr>
          <a:xfrm xmlns:a="http://schemas.openxmlformats.org/drawingml/2006/main">
            <a:off x="1862759" y="2095500"/>
            <a:ext cx="3837333" cy="3905250"/>
          </a:xfrm>
          <a:prstGeom xmlns:a="http://schemas.openxmlformats.org/drawingml/2006/main" prst="rect">
            <a:avLst/>
          </a:prstGeom>
        </p:spPr>
      </p:pic>
      <p:sp>
        <p:nvSpPr>
          <p:cNvPr id="13" name="lecture2-4">
            <a:extLst xmlns:a="http://schemas.openxmlformats.org/drawingml/2006/main">
              <a:ext uri="{FF2B5EF4-FFF2-40B4-BE49-F238E27FC236}">
                <a16:creationId xmlns:a16="http://schemas.microsoft.com/office/drawing/2014/main" id="{B9FD4DBC-44B9-49F9-803C-C4482CA9AA99}"/>
              </a:ext>
            </a:extLst>
          </p:cNvPr>
          <p:cNvSpPr>
            <a:spLocks xmlns:a="http://schemas.openxmlformats.org/drawingml/2006/main" noGrp="1"/>
          </p:cNvSpPr>
          <p:nvPr/>
        </p:nvSpPr>
        <p:spPr>
          <a:xfrm xmlns:a="http://schemas.openxmlformats.org/drawingml/2006/main">
            <a:off x="7239000" y="2076450"/>
            <a:ext cx="4267200" cy="427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Bi-encoder вычисляет representation query и representation document раздельно. Document vectors можно подготовить заранее и хранить в index. Для нового query вычисляется один vector, который сравнивается с candidates. На схеме query и documents находятся в общем embedding space. Независимый encoding делает retrieval эффективным, но ограничивает взаимодействие между query и document сравнением готовых vectors.</a:t>
            </a:r>
          </a:p>
        </p:txBody>
      </p:sp>
      <p:sp>
        <p:nvSpPr>
          <p:cNvPr id="14" name="lecture2-5">
            <a:extLst xmlns:a="http://schemas.openxmlformats.org/drawingml/2006/main">
              <a:ext uri="{FF2B5EF4-FFF2-40B4-BE49-F238E27FC236}">
                <a16:creationId xmlns:a16="http://schemas.microsoft.com/office/drawing/2014/main" id="{0FAC9B27-92D2-453E-A4C6-A1DD8CFA4A79}"/>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defRPr sz="1163" b="0">
                <a:solidFill>
                  <a:srgbClr val="98989F"/>
                </a:solidFill>
                <a:latin typeface="Helvetica Neue"/>
                <a:ea typeface="Helvetica Neue"/>
                <a:cs typeface="Helvetica Neue"/>
              </a:defRPr>
            </a:lvl1pPr>
            <a:lvl2pPr>
              <a:defRPr sz="1163" b="0">
                <a:solidFill>
                  <a:srgbClr val="98989F"/>
                </a:solidFill>
                <a:latin typeface="Helvetica Neue"/>
                <a:ea typeface="Helvetica Neue"/>
                <a:cs typeface="Helvetica Neue"/>
              </a:defRPr>
            </a:lvl2pPr>
            <a:lvl3pPr>
              <a:defRPr sz="1163" b="0">
                <a:solidFill>
                  <a:srgbClr val="98989F"/>
                </a:solidFill>
                <a:latin typeface="Helvetica Neue"/>
                <a:ea typeface="Helvetica Neue"/>
                <a:cs typeface="Helvetica Neue"/>
              </a:defRPr>
            </a:lvl3pPr>
            <a:lvl4pPr>
              <a:defRPr sz="1163" b="0">
                <a:solidFill>
                  <a:srgbClr val="98989F"/>
                </a:solidFill>
                <a:latin typeface="Helvetica Neue"/>
                <a:ea typeface="Helvetica Neue"/>
                <a:cs typeface="Helvetica Neue"/>
              </a:defRPr>
            </a:lvl4pPr>
            <a:lvl5pPr>
              <a:defRPr sz="1163" b="0">
                <a:solidFill>
                  <a:srgbClr val="98989F"/>
                </a:solidFill>
                <a:latin typeface="Helvetica Neue"/>
                <a:ea typeface="Helvetica Neue"/>
                <a:cs typeface="Helvetica Neue"/>
              </a:defRPr>
            </a:lvl5pPr>
            <a:lvl6pPr>
              <a:defRPr sz="1163" b="0">
                <a:solidFill>
                  <a:srgbClr val="98989F"/>
                </a:solidFill>
                <a:latin typeface="Helvetica Neue"/>
                <a:ea typeface="Helvetica Neue"/>
                <a:cs typeface="Helvetica Neue"/>
              </a:defRPr>
            </a:lvl6pPr>
            <a:lvl7pPr>
              <a:defRPr sz="1163" b="0">
                <a:solidFill>
                  <a:srgbClr val="98989F"/>
                </a:solidFill>
                <a:latin typeface="Helvetica Neue"/>
                <a:ea typeface="Helvetica Neue"/>
                <a:cs typeface="Helvetica Neue"/>
              </a:defRPr>
            </a:lvl7pPr>
            <a:lvl8pPr>
              <a:defRPr sz="1163" b="0">
                <a:solidFill>
                  <a:srgbClr val="98989F"/>
                </a:solidFill>
                <a:latin typeface="Helvetica Neue"/>
                <a:ea typeface="Helvetica Neue"/>
                <a:cs typeface="Helvetica Neue"/>
              </a:defRPr>
            </a:lvl8pPr>
            <a:lvl9pPr>
              <a:defRPr sz="1163" b="0">
                <a:solidFill>
                  <a:srgbClr val="98989F"/>
                </a:solidFill>
                <a:latin typeface="Helvetica Neue"/>
                <a:ea typeface="Helvetica Neue"/>
                <a:cs typeface="Helvetica Neue"/>
              </a:defRPr>
            </a:lvl9pPr>
          </a:lstStyle>
          <a:p xmlns:a="http://schemas.openxmlformats.org/drawingml/2006/main">
            <a:pPr>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d05db3e4faf44aff"/>
              </a:rPr>
              <a:t>Источник: Sentence Transformers</a:t>
            </a:r>
          </a:p>
        </p:txBody>
      </p:sp>
    </p:spTree>
    <p:extLst>
      <p:ext uri="{BB962C8B-B14F-4D97-AF65-F5344CB8AC3E}">
        <p14:creationId xmlns:p14="http://schemas.microsoft.com/office/powerpoint/2010/main" val="941401563"/>
      </p:ext>
    </p:extLst>
  </p:cSld>
</p:sld>
</file>

<file path=ppt/slides/slide7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expanded-0">
            <a:extLst xmlns:a="http://schemas.openxmlformats.org/drawingml/2006/main">
              <a:ext uri="{FF2B5EF4-FFF2-40B4-BE49-F238E27FC236}">
                <a16:creationId xmlns:a16="http://schemas.microsoft.com/office/drawing/2014/main" id="{093F1457-F5DE-474C-82F9-7CCC4C06383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FDB7153-141B-4015-B16E-96F924BE8C2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77</a:t>
            </a:r>
          </a:p>
        </p:txBody>
      </p:sp>
      <p:sp>
        <p:nvSpPr>
          <p:cNvPr id="3" name="">
            <a:extLst xmlns:a="http://schemas.openxmlformats.org/drawingml/2006/main">
              <a:ext uri="{FF2B5EF4-FFF2-40B4-BE49-F238E27FC236}">
                <a16:creationId xmlns:a16="http://schemas.microsoft.com/office/drawing/2014/main" id="{2EAFD0DB-C8DE-4818-83A5-5EF191A1A8F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025420FA-4FB6-48D5-A2EF-4B8BB31241A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Retrieval pipeline</a:t>
            </a:r>
          </a:p>
        </p:txBody>
      </p:sp>
      <p:pic>
        <p:nvPicPr>
          <p:cNvPr id="30" name="">
            <a:extLst xmlns:a="http://schemas.openxmlformats.org/drawingml/2006/main">
              <a:ext uri="{FF2B5EF4-FFF2-40B4-BE49-F238E27FC236}">
                <a16:creationId xmlns:a16="http://schemas.microsoft.com/office/drawing/2014/main" id="{E7B72EC7-6A87-41A8-973E-4B1722382689}"/>
              </a:ext>
            </a:extLst>
          </p:cNvPr>
          <p:cNvPicPr>
            <a:picLocks xmlns:a="http://schemas.openxmlformats.org/drawingml/2006/main" noChangeAspect="1"/>
          </p:cNvPicPr>
          <p:nvPr/>
        </p:nvPicPr>
        <p:blipFill>
          <a:blip xmlns:r="http://schemas.openxmlformats.org/officeDocument/2006/relationships" xmlns:a="http://schemas.openxmlformats.org/drawingml/2006/main" r:embed="R3ace612af5f14101"/>
          <a:stretch xmlns:a="http://schemas.openxmlformats.org/drawingml/2006/main"/>
        </p:blipFill>
        <p:spPr>
          <a:xfrm xmlns:a="http://schemas.openxmlformats.org/drawingml/2006/main">
            <a:off x="2063238" y="2000250"/>
            <a:ext cx="8065524" cy="2381250"/>
          </a:xfrm>
          <a:prstGeom xmlns:a="http://schemas.openxmlformats.org/drawingml/2006/main" prst="rect">
            <a:avLst/>
          </a:prstGeom>
        </p:spPr>
      </p:pic>
      <p:sp>
        <p:nvSpPr>
          <p:cNvPr id="31" name="lecture2-4">
            <a:extLst xmlns:a="http://schemas.openxmlformats.org/drawingml/2006/main">
              <a:ext uri="{FF2B5EF4-FFF2-40B4-BE49-F238E27FC236}">
                <a16:creationId xmlns:a16="http://schemas.microsoft.com/office/drawing/2014/main" id="{BF871C4A-57D1-4048-ABB6-67AAAB178993}"/>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В большом corpus сначала получают небольшое множество candidates, затем при необходимости уточняют их порядок. На схеме Sentence Transformers retrieval и re-ranking представлены как разные этапы. Embedding model влияет на то, какие документы попадут в candidates. Если нужного документа нет на первом этапе, последующий re-ranker не сможет вернуть его без дополнительного поиска.</a:t>
            </a:r>
          </a:p>
        </p:txBody>
      </p:sp>
      <p:sp>
        <p:nvSpPr>
          <p:cNvPr id="32" name="lecture2-5">
            <a:extLst xmlns:a="http://schemas.openxmlformats.org/drawingml/2006/main">
              <a:ext uri="{FF2B5EF4-FFF2-40B4-BE49-F238E27FC236}">
                <a16:creationId xmlns:a16="http://schemas.microsoft.com/office/drawing/2014/main" id="{423AAA98-BC0B-4E69-8C7B-64AB8E4B877B}"/>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defRPr sz="1163" b="0">
                <a:solidFill>
                  <a:srgbClr val="98989F"/>
                </a:solidFill>
                <a:latin typeface="Helvetica Neue"/>
                <a:ea typeface="Helvetica Neue"/>
                <a:cs typeface="Helvetica Neue"/>
              </a:defRPr>
            </a:lvl1pPr>
            <a:lvl2pPr>
              <a:defRPr sz="1163" b="0">
                <a:solidFill>
                  <a:srgbClr val="98989F"/>
                </a:solidFill>
                <a:latin typeface="Helvetica Neue"/>
                <a:ea typeface="Helvetica Neue"/>
                <a:cs typeface="Helvetica Neue"/>
              </a:defRPr>
            </a:lvl2pPr>
            <a:lvl3pPr>
              <a:defRPr sz="1163" b="0">
                <a:solidFill>
                  <a:srgbClr val="98989F"/>
                </a:solidFill>
                <a:latin typeface="Helvetica Neue"/>
                <a:ea typeface="Helvetica Neue"/>
                <a:cs typeface="Helvetica Neue"/>
              </a:defRPr>
            </a:lvl3pPr>
            <a:lvl4pPr>
              <a:defRPr sz="1163" b="0">
                <a:solidFill>
                  <a:srgbClr val="98989F"/>
                </a:solidFill>
                <a:latin typeface="Helvetica Neue"/>
                <a:ea typeface="Helvetica Neue"/>
                <a:cs typeface="Helvetica Neue"/>
              </a:defRPr>
            </a:lvl4pPr>
            <a:lvl5pPr>
              <a:defRPr sz="1163" b="0">
                <a:solidFill>
                  <a:srgbClr val="98989F"/>
                </a:solidFill>
                <a:latin typeface="Helvetica Neue"/>
                <a:ea typeface="Helvetica Neue"/>
                <a:cs typeface="Helvetica Neue"/>
              </a:defRPr>
            </a:lvl5pPr>
            <a:lvl6pPr>
              <a:defRPr sz="1163" b="0">
                <a:solidFill>
                  <a:srgbClr val="98989F"/>
                </a:solidFill>
                <a:latin typeface="Helvetica Neue"/>
                <a:ea typeface="Helvetica Neue"/>
                <a:cs typeface="Helvetica Neue"/>
              </a:defRPr>
            </a:lvl6pPr>
            <a:lvl7pPr>
              <a:defRPr sz="1163" b="0">
                <a:solidFill>
                  <a:srgbClr val="98989F"/>
                </a:solidFill>
                <a:latin typeface="Helvetica Neue"/>
                <a:ea typeface="Helvetica Neue"/>
                <a:cs typeface="Helvetica Neue"/>
              </a:defRPr>
            </a:lvl7pPr>
            <a:lvl8pPr>
              <a:defRPr sz="1163" b="0">
                <a:solidFill>
                  <a:srgbClr val="98989F"/>
                </a:solidFill>
                <a:latin typeface="Helvetica Neue"/>
                <a:ea typeface="Helvetica Neue"/>
                <a:cs typeface="Helvetica Neue"/>
              </a:defRPr>
            </a:lvl8pPr>
            <a:lvl9pPr>
              <a:defRPr sz="1163" b="0">
                <a:solidFill>
                  <a:srgbClr val="98989F"/>
                </a:solidFill>
                <a:latin typeface="Helvetica Neue"/>
                <a:ea typeface="Helvetica Neue"/>
                <a:cs typeface="Helvetica Neue"/>
              </a:defRPr>
            </a:lvl9pPr>
          </a:lstStyle>
          <a:p xmlns:a="http://schemas.openxmlformats.org/drawingml/2006/main">
            <a:pPr>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1152dc4f10f24d0d"/>
              </a:rPr>
              <a:t>Источник: Sentence Transformers</a:t>
            </a:r>
          </a:p>
        </p:txBody>
      </p:sp>
    </p:spTree>
    <p:extLst>
      <p:ext uri="{BB962C8B-B14F-4D97-AF65-F5344CB8AC3E}">
        <p14:creationId xmlns:p14="http://schemas.microsoft.com/office/powerpoint/2010/main" val="1299681974"/>
      </p:ext>
    </p:extLst>
  </p:cSld>
</p:sld>
</file>

<file path=ppt/slides/slide7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8C42625D-F111-4E5E-941F-A41CDDE3952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BD75C896-F0CB-4DAF-9728-E867C4400C6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78</a:t>
            </a:r>
          </a:p>
        </p:txBody>
      </p:sp>
      <p:sp>
        <p:nvSpPr>
          <p:cNvPr id="3" name="">
            <a:extLst xmlns:a="http://schemas.openxmlformats.org/drawingml/2006/main">
              <a:ext uri="{FF2B5EF4-FFF2-40B4-BE49-F238E27FC236}">
                <a16:creationId xmlns:a16="http://schemas.microsoft.com/office/drawing/2014/main" id="{9369D39E-8A7D-4C11-A1BA-10C259BDF93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470910BC-A4CC-4D83-8921-C24E2DDEFF5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Symmetric и asymmetric search</a:t>
            </a:r>
          </a:p>
        </p:txBody>
      </p:sp>
      <p:sp>
        <p:nvSpPr>
          <p:cNvPr id="12" name="lecture2-4">
            <a:extLst xmlns:a="http://schemas.openxmlformats.org/drawingml/2006/main">
              <a:ext uri="{FF2B5EF4-FFF2-40B4-BE49-F238E27FC236}">
                <a16:creationId xmlns:a16="http://schemas.microsoft.com/office/drawing/2014/main" id="{B5471855-5ED9-4EA9-BD0A-BD13F582B294}"/>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Разные роли текстов</a:t>
            </a:r>
          </a:p>
        </p:txBody>
      </p:sp>
      <p:sp>
        <p:nvSpPr>
          <p:cNvPr id="13" name="lecture2-5">
            <a:extLst xmlns:a="http://schemas.openxmlformats.org/drawingml/2006/main">
              <a:ext uri="{FF2B5EF4-FFF2-40B4-BE49-F238E27FC236}">
                <a16:creationId xmlns:a16="http://schemas.microsoft.com/office/drawing/2014/main" id="{6366DEBB-B9CD-4001-B749-FAD037038FB7}"/>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symmetric search сравниваются похожие по роли и длине объекты: например, две формулировки вопроса. При asymmetric search короткий query сопоставляется с более длинным passage, содержащим ответ. Требуемое отношение между ними не сводится к одинаковой формулировке: хороший ответ может содержать другие слова и иметь другую структуру.</a:t>
            </a:r>
          </a:p>
        </p:txBody>
      </p:sp>
      <p:sp>
        <p:nvSpPr>
          <p:cNvPr id="14" name="lecture2-6">
            <a:extLst xmlns:a="http://schemas.openxmlformats.org/drawingml/2006/main">
              <a:ext uri="{FF2B5EF4-FFF2-40B4-BE49-F238E27FC236}">
                <a16:creationId xmlns:a16="http://schemas.microsoft.com/office/drawing/2014/main" id="{C86D9834-3645-495D-8F2C-B6CCDB526A93}"/>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Query и document encoding</a:t>
            </a:r>
          </a:p>
        </p:txBody>
      </p:sp>
      <p:sp>
        <p:nvSpPr>
          <p:cNvPr id="15" name="lecture2-7">
            <a:extLst xmlns:a="http://schemas.openxmlformats.org/drawingml/2006/main">
              <a:ext uri="{FF2B5EF4-FFF2-40B4-BE49-F238E27FC236}">
                <a16:creationId xmlns:a16="http://schemas.microsoft.com/office/drawing/2014/main" id="{7CBAD65D-CC47-4E5D-AE64-2A6B2804C5E6}"/>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Некоторые модели используют разные instructions или специальные modes для query и document. Поэтому один и тот же универсальный вызов без нужного prompt может не соответствовать training recipe. Выбор encoder и способ encoding проверяют на характерных парах. Для multilingual search дополнительно оценивают сочетания языков query и документов.</a:t>
            </a:r>
          </a:p>
        </p:txBody>
      </p:sp>
    </p:spTree>
    <p:extLst>
      <p:ext uri="{BB962C8B-B14F-4D97-AF65-F5344CB8AC3E}">
        <p14:creationId xmlns:p14="http://schemas.microsoft.com/office/powerpoint/2010/main" val="772953183"/>
      </p:ext>
    </p:extLst>
  </p:cSld>
</p:sld>
</file>

<file path=ppt/slides/slide7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11A5BCE9-4DFF-45DF-AD12-D115561EA1C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B75F1465-8528-4347-B409-E019DAC1F18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79</a:t>
            </a:r>
          </a:p>
        </p:txBody>
      </p:sp>
      <p:sp>
        <p:nvSpPr>
          <p:cNvPr id="3" name="">
            <a:extLst xmlns:a="http://schemas.openxmlformats.org/drawingml/2006/main">
              <a:ext uri="{FF2B5EF4-FFF2-40B4-BE49-F238E27FC236}">
                <a16:creationId xmlns:a16="http://schemas.microsoft.com/office/drawing/2014/main" id="{C17E2BA0-BC03-467C-BBD1-29997672DB5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8E6F6A4D-ED76-47A3-A09D-C4652037DB9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Chunking документов</a:t>
            </a:r>
          </a:p>
        </p:txBody>
      </p:sp>
      <p:sp>
        <p:nvSpPr>
          <p:cNvPr id="12" name="lecture2-4">
            <a:extLst xmlns:a="http://schemas.openxmlformats.org/drawingml/2006/main">
              <a:ext uri="{FF2B5EF4-FFF2-40B4-BE49-F238E27FC236}">
                <a16:creationId xmlns:a16="http://schemas.microsoft.com/office/drawing/2014/main" id="{A1DC8139-1452-491E-A543-ACE2C004C3E1}"/>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Единица retrieval</a:t>
            </a:r>
          </a:p>
        </p:txBody>
      </p:sp>
      <p:sp>
        <p:nvSpPr>
          <p:cNvPr id="13" name="lecture2-5">
            <a:extLst xmlns:a="http://schemas.openxmlformats.org/drawingml/2006/main">
              <a:ext uri="{FF2B5EF4-FFF2-40B4-BE49-F238E27FC236}">
                <a16:creationId xmlns:a16="http://schemas.microsoft.com/office/drawing/2014/main" id="{B0DC330B-66B4-40D9-9317-327932ACA582}"/>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Длинный документ часто разделяют на passages или chunks. Слишком крупный фрагмент может смешивать несколько тем, слишком маленький — терять контекст. Границы желательно согласовывать со структурой: заголовками, абзацами, предложениями. Размер chunk определяется доступным контекстом модели и тем, какой объём материала нужен для ответа.</a:t>
            </a:r>
          </a:p>
        </p:txBody>
      </p:sp>
      <p:sp>
        <p:nvSpPr>
          <p:cNvPr id="14" name="lecture2-6">
            <a:extLst xmlns:a="http://schemas.openxmlformats.org/drawingml/2006/main">
              <a:ext uri="{FF2B5EF4-FFF2-40B4-BE49-F238E27FC236}">
                <a16:creationId xmlns:a16="http://schemas.microsoft.com/office/drawing/2014/main" id="{B70D394E-E41F-4AED-B84E-34736EC58EF1}"/>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Связь с источником</a:t>
            </a:r>
          </a:p>
        </p:txBody>
      </p:sp>
      <p:sp>
        <p:nvSpPr>
          <p:cNvPr id="15" name="lecture2-7">
            <a:extLst xmlns:a="http://schemas.openxmlformats.org/drawingml/2006/main">
              <a:ext uri="{FF2B5EF4-FFF2-40B4-BE49-F238E27FC236}">
                <a16:creationId xmlns:a16="http://schemas.microsoft.com/office/drawing/2014/main" id="{4E713806-AE6F-4709-A0F0-D6AF72B22BFE}"/>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Для каждого chunk сохраняют document ID, положение в документе и полезные metadata. Это позволяет показать источник и восстановить соседние фрагменты. Overlap может помочь на границах, но создаёт близкие candidates и увеличивает объём index. Параметры chunking оценивают вместе с retrieval quality, а не выбирают только по числу tokens.</a:t>
            </a:r>
          </a:p>
        </p:txBody>
      </p:sp>
    </p:spTree>
    <p:extLst>
      <p:ext uri="{BB962C8B-B14F-4D97-AF65-F5344CB8AC3E}">
        <p14:creationId xmlns:p14="http://schemas.microsoft.com/office/powerpoint/2010/main" val="1732596099"/>
      </p:ext>
    </p:extLst>
  </p:cSld>
</p:sld>
</file>

<file path=ppt/slides/slide8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expanded-0">
            <a:extLst xmlns:a="http://schemas.openxmlformats.org/drawingml/2006/main">
              <a:ext uri="{FF2B5EF4-FFF2-40B4-BE49-F238E27FC236}">
                <a16:creationId xmlns:a16="http://schemas.microsoft.com/office/drawing/2014/main" id="{40927934-E26B-46B4-B815-01F0F050F188}"/>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20424473-D284-4787-8A4A-CC3A42F8185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80</a:t>
            </a:r>
          </a:p>
        </p:txBody>
      </p:sp>
      <p:sp>
        <p:nvSpPr>
          <p:cNvPr id="3" name="">
            <a:extLst xmlns:a="http://schemas.openxmlformats.org/drawingml/2006/main">
              <a:ext uri="{FF2B5EF4-FFF2-40B4-BE49-F238E27FC236}">
                <a16:creationId xmlns:a16="http://schemas.microsoft.com/office/drawing/2014/main" id="{1CFB3FAC-5EBA-424F-A9CB-F146D8305245}"/>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F20C4719-31ED-442C-9EB2-4E921C63458D}"/>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Vector index и ANN</a:t>
            </a:r>
          </a:p>
        </p:txBody>
      </p:sp>
      <p:sp>
        <p:nvSpPr>
          <p:cNvPr id="30" name="lecture2-4">
            <a:extLst xmlns:a="http://schemas.openxmlformats.org/drawingml/2006/main">
              <a:ext uri="{FF2B5EF4-FFF2-40B4-BE49-F238E27FC236}">
                <a16:creationId xmlns:a16="http://schemas.microsoft.com/office/drawing/2014/main" id="{F2A58D5F-9BF6-41D0-9247-5819F7511B12}"/>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Поиск по representations</a:t>
            </a:r>
          </a:p>
        </p:txBody>
      </p:sp>
      <p:sp>
        <p:nvSpPr>
          <p:cNvPr id="31" name="lecture2-5">
            <a:extLst xmlns:a="http://schemas.openxmlformats.org/drawingml/2006/main">
              <a:ext uri="{FF2B5EF4-FFF2-40B4-BE49-F238E27FC236}">
                <a16:creationId xmlns:a16="http://schemas.microsoft.com/office/drawing/2014/main" id="{20D1A70C-E92C-4983-8EF5-BBC03DD6370E}"/>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exact search query сравнивается со всеми candidate vectors. Для больших коллекций это может быть дорого. Approximate Nearest Neighbor search использует index, чтобы быстрее находить близкие элементы с возможной потерей части точных соседей. Скорость, память и полнота поиска образуют отдельный инженерный компромисс.</a:t>
            </a:r>
          </a:p>
        </p:txBody>
      </p:sp>
      <p:sp>
        <p:nvSpPr>
          <p:cNvPr id="32" name="lecture2-6">
            <a:extLst xmlns:a="http://schemas.openxmlformats.org/drawingml/2006/main">
              <a:ext uri="{FF2B5EF4-FFF2-40B4-BE49-F238E27FC236}">
                <a16:creationId xmlns:a16="http://schemas.microsoft.com/office/drawing/2014/main" id="{DE2C0D1F-BEC1-4FDE-A80B-015DF4661528}"/>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Разделение источников ошибки</a:t>
            </a:r>
          </a:p>
        </p:txBody>
      </p:sp>
      <p:sp>
        <p:nvSpPr>
          <p:cNvPr id="33" name="lecture2-7">
            <a:extLst xmlns:a="http://schemas.openxmlformats.org/drawingml/2006/main">
              <a:ext uri="{FF2B5EF4-FFF2-40B4-BE49-F238E27FC236}">
                <a16:creationId xmlns:a16="http://schemas.microsoft.com/office/drawing/2014/main" id="{240BE633-F481-4E5C-9EAE-CBC7BF221B34}"/>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Плохой результат может быть вызван encoder, chunking, similarity function или approximation в index. Эти причины нужно различать. Сначала полезно проверить качество representations на небольшой коллекции с exact search, затем оценить потери при переходе к ANN. Обновление encoder обычно требует пересчёта corpus vectors и перестройки соответствующего index.</a:t>
            </a:r>
          </a:p>
        </p:txBody>
      </p:sp>
    </p:spTree>
    <p:extLst>
      <p:ext uri="{BB962C8B-B14F-4D97-AF65-F5344CB8AC3E}">
        <p14:creationId xmlns:p14="http://schemas.microsoft.com/office/powerpoint/2010/main" val="4368665"/>
      </p:ext>
    </p:extLst>
  </p:cSld>
</p:sld>
</file>

<file path=ppt/slides/slide8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11A13429-AF8B-4F14-908D-243A22404DF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E0A80DF9-3DCC-450B-9314-B9BEC8DEBF7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81</a:t>
            </a:r>
          </a:p>
        </p:txBody>
      </p:sp>
      <p:sp>
        <p:nvSpPr>
          <p:cNvPr id="3" name="">
            <a:extLst xmlns:a="http://schemas.openxmlformats.org/drawingml/2006/main">
              <a:ext uri="{FF2B5EF4-FFF2-40B4-BE49-F238E27FC236}">
                <a16:creationId xmlns:a16="http://schemas.microsoft.com/office/drawing/2014/main" id="{65FF3388-4376-462A-8027-3B72E1BD3D8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6DDA53F4-76B4-4D0A-BB14-0CBD07CC2E52}"/>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Lexical, dense и hybrid retrieval</a:t>
            </a:r>
          </a:p>
        </p:txBody>
      </p:sp>
      <p:sp>
        <p:nvSpPr>
          <p:cNvPr id="12" name="lecture2-4">
            <a:extLst xmlns:a="http://schemas.openxmlformats.org/drawingml/2006/main">
              <a:ext uri="{FF2B5EF4-FFF2-40B4-BE49-F238E27FC236}">
                <a16:creationId xmlns:a16="http://schemas.microsoft.com/office/drawing/2014/main" id="{19B5000A-32F2-4C33-A443-16CDCB598FD2}"/>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Разные способы retrieval выделяют разные связи между query и документом. Hybrid approach сочетает несколько сигналов.</a:t>
            </a:r>
          </a:p>
        </p:txBody>
      </p:sp>
      <p:graphicFrame>
        <p:nvGraphicFramePr>
          <p:cNvPr id="13" name="">
            <a:extLst xmlns:a="http://schemas.openxmlformats.org/drawingml/2006/main">
              <a:ext uri="{FF2B5EF4-FFF2-40B4-BE49-F238E27FC236}">
                <a16:creationId xmlns:a16="http://schemas.microsoft.com/office/drawing/2014/main" id="{02444EFA-1F61-46D3-9438-2D332B686B6E}"/>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619375"/>
                <a:gridCol w="4143375"/>
                <a:gridCol w="4057650"/>
              </a:tblGrid>
              <a:tr h="666750">
                <a:tc>
                  <a:txBody>
                    <a:bodyPr lIns="114300" tIns="57150" rIns="114300" bIns="57150"/>
                    <a:lstStyle/>
                    <a:p>
                      <a:r>
                        <a:rPr sz="1725" b="1">
                          <a:solidFill>
                            <a:srgbClr val="98989F"/>
                          </a:solidFill>
                          <a:latin typeface="Helvetica Neue"/>
                          <a:ea typeface="Helvetica Neue"/>
                          <a:cs typeface="Helvetica Neue"/>
                        </a:rPr>
                        <a:t>Подход</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Что хорошо сохраняет</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Типичный риск</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Lexical</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Точные terms и identifiers</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Нет совпадающих формулировок</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Dense</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Связи между разными выражениями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Потеря точных деталей</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Hybrid</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Несколько видов evidence</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Нужна настройка объединения</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4" name="lecture2-5">
            <a:extLst xmlns:a="http://schemas.openxmlformats.org/drawingml/2006/main">
              <a:ext uri="{FF2B5EF4-FFF2-40B4-BE49-F238E27FC236}">
                <a16:creationId xmlns:a16="http://schemas.microsoft.com/office/drawing/2014/main" id="{4A03C417-1118-49D5-A2B0-E2056D1EE778}"/>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TF-IDF или BM25 могут быть полезны рядом с embeddings. Выбор и объединение candidates проверяют по relevance labels и эксплуатационным ограничениям.</a:t>
            </a:r>
          </a:p>
        </p:txBody>
      </p:sp>
    </p:spTree>
    <p:extLst>
      <p:ext uri="{BB962C8B-B14F-4D97-AF65-F5344CB8AC3E}">
        <p14:creationId xmlns:p14="http://schemas.microsoft.com/office/powerpoint/2010/main" val="352836108"/>
      </p:ext>
    </p:extLst>
  </p:cSld>
</p:sld>
</file>

<file path=ppt/slides/slide8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05C3F9B3-6A96-406D-BE56-DF65C168461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4A57EA5-00DF-4905-837A-0ABD710AD8E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82</a:t>
            </a:r>
          </a:p>
        </p:txBody>
      </p:sp>
      <p:sp>
        <p:nvSpPr>
          <p:cNvPr id="3" name="">
            <a:extLst xmlns:a="http://schemas.openxmlformats.org/drawingml/2006/main">
              <a:ext uri="{FF2B5EF4-FFF2-40B4-BE49-F238E27FC236}">
                <a16:creationId xmlns:a16="http://schemas.microsoft.com/office/drawing/2014/main" id="{2A502460-7DAF-45E2-BE06-5B98AC22FA61}"/>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E528DA3F-709F-4B58-BD94-8D3B84DF499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Cross-encoder и re-ranking</a:t>
            </a:r>
          </a:p>
        </p:txBody>
      </p:sp>
      <p:pic>
        <p:nvPicPr>
          <p:cNvPr id="12" name="">
            <a:extLst xmlns:a="http://schemas.openxmlformats.org/drawingml/2006/main">
              <a:ext uri="{FF2B5EF4-FFF2-40B4-BE49-F238E27FC236}">
                <a16:creationId xmlns:a16="http://schemas.microsoft.com/office/drawing/2014/main" id="{F5AEA4D2-866F-4438-B4BB-7D7AC07410C8}"/>
              </a:ext>
            </a:extLst>
          </p:cNvPr>
          <p:cNvPicPr>
            <a:picLocks xmlns:a="http://schemas.openxmlformats.org/drawingml/2006/main" noChangeAspect="1"/>
          </p:cNvPicPr>
          <p:nvPr/>
        </p:nvPicPr>
        <p:blipFill>
          <a:blip xmlns:r="http://schemas.openxmlformats.org/officeDocument/2006/relationships" xmlns:a="http://schemas.openxmlformats.org/drawingml/2006/main" r:embed="R69cb7aa98fb04346"/>
          <a:stretch xmlns:a="http://schemas.openxmlformats.org/drawingml/2006/main"/>
        </p:blipFill>
        <p:spPr>
          <a:xfrm xmlns:a="http://schemas.openxmlformats.org/drawingml/2006/main">
            <a:off x="2419510" y="2095500"/>
            <a:ext cx="2723830" cy="3905250"/>
          </a:xfrm>
          <a:prstGeom xmlns:a="http://schemas.openxmlformats.org/drawingml/2006/main" prst="rect">
            <a:avLst/>
          </a:prstGeom>
        </p:spPr>
      </p:pic>
      <p:sp>
        <p:nvSpPr>
          <p:cNvPr id="13" name="lecture2-4">
            <a:extLst xmlns:a="http://schemas.openxmlformats.org/drawingml/2006/main">
              <a:ext uri="{FF2B5EF4-FFF2-40B4-BE49-F238E27FC236}">
                <a16:creationId xmlns:a16="http://schemas.microsoft.com/office/drawing/2014/main" id="{5B9E4D26-FC05-4641-8160-62397D17C1E6}"/>
              </a:ext>
            </a:extLst>
          </p:cNvPr>
          <p:cNvSpPr>
            <a:spLocks xmlns:a="http://schemas.openxmlformats.org/drawingml/2006/main" noGrp="1"/>
          </p:cNvSpPr>
          <p:nvPr/>
        </p:nvSpPr>
        <p:spPr>
          <a:xfrm xmlns:a="http://schemas.openxmlformats.org/drawingml/2006/main">
            <a:off x="7239000" y="2076450"/>
            <a:ext cx="4267200" cy="427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Cross-encoder получает query и document совместно и оценивает их связь с учётом взаимодействия между tokens. На схеме показана обработка пары текстов одним BERT; task head можно обучить предсказывать relevance. Выход используется как score пары, а не как независимо сохраняемый document embedding. Такая обработка дороже для большого числа пар, поэтому модель часто применяется к небольшому набору candidates после retrieval.</a:t>
            </a:r>
          </a:p>
        </p:txBody>
      </p:sp>
    </p:spTree>
    <p:extLst>
      <p:ext uri="{BB962C8B-B14F-4D97-AF65-F5344CB8AC3E}">
        <p14:creationId xmlns:p14="http://schemas.microsoft.com/office/powerpoint/2010/main" val="20690958"/>
      </p:ext>
    </p:extLst>
  </p:cSld>
</p:sld>
</file>

<file path=ppt/slides/slide8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expanded-0">
            <a:extLst xmlns:a="http://schemas.openxmlformats.org/drawingml/2006/main">
              <a:ext uri="{FF2B5EF4-FFF2-40B4-BE49-F238E27FC236}">
                <a16:creationId xmlns:a16="http://schemas.microsoft.com/office/drawing/2014/main" id="{B095C10D-7EC4-4818-B069-2AA2F3ECED8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7CCC94A-6DC2-4FFB-8F25-18908A8DBBE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83</a:t>
            </a:r>
          </a:p>
        </p:txBody>
      </p:sp>
      <p:sp>
        <p:nvSpPr>
          <p:cNvPr id="3" name="">
            <a:extLst xmlns:a="http://schemas.openxmlformats.org/drawingml/2006/main">
              <a:ext uri="{FF2B5EF4-FFF2-40B4-BE49-F238E27FC236}">
                <a16:creationId xmlns:a16="http://schemas.microsoft.com/office/drawing/2014/main" id="{B5B02172-E64A-4002-81BF-E6A8DCC66E6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428B55B7-4797-4D9B-9C73-663AE810D25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Retrieval evaluation</a:t>
            </a:r>
          </a:p>
        </p:txBody>
      </p:sp>
      <p:sp>
        <p:nvSpPr>
          <p:cNvPr id="32" name="lecture2-4">
            <a:extLst xmlns:a="http://schemas.openxmlformats.org/drawingml/2006/main">
              <a:ext uri="{FF2B5EF4-FFF2-40B4-BE49-F238E27FC236}">
                <a16:creationId xmlns:a16="http://schemas.microsoft.com/office/drawing/2014/main" id="{FFA46ECA-41B3-4377-899F-B441EB3EEBC5}"/>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Учебный пример: для query существуют два релевантных документа, A и B. Система вернула следующий top-3.</a:t>
            </a:r>
          </a:p>
        </p:txBody>
      </p:sp>
      <p:graphicFrame>
        <p:nvGraphicFramePr>
          <p:cNvPr id="33" name="">
            <a:extLst xmlns:a="http://schemas.openxmlformats.org/drawingml/2006/main">
              <a:ext uri="{FF2B5EF4-FFF2-40B4-BE49-F238E27FC236}">
                <a16:creationId xmlns:a16="http://schemas.microsoft.com/office/drawing/2014/main" id="{D87A5F5C-B109-4C44-82AC-619E4E944418}"/>
              </a:ext>
            </a:extLst>
          </p:cNvPr>
          <p:cNvGraphicFramePr/>
          <p:nvPr/>
        </p:nvGraphicFramePr>
        <p:xfrm>
          <a:off xmlns:a="http://schemas.openxmlformats.org/drawingml/2006/main" x="685800" y="2847975"/>
          <a:ext xmlns:a="http://schemas.openxmlformats.org/drawingml/2006/main" cx="10820400" cy="2667000"/>
        </p:xfrm>
        <a:graphic xmlns:a="http://schemas.openxmlformats.org/drawingml/2006/main">
          <a:graphicData uri="http://schemas.openxmlformats.org/drawingml/2006/table">
            <a:tbl>
              <a:tblPr/>
              <a:tblGrid>
                <a:gridCol w="2190750"/>
                <a:gridCol w="4095750"/>
                <a:gridCol w="4533900"/>
              </a:tblGrid>
              <a:tr h="666750">
                <a:tc>
                  <a:txBody>
                    <a:bodyPr lIns="114300" tIns="57150" rIns="114300" bIns="57150"/>
                    <a:lstStyle/>
                    <a:p>
                      <a:r>
                        <a:rPr sz="1725" b="1">
                          <a:solidFill>
                            <a:srgbClr val="98989F"/>
                          </a:solidFill>
                          <a:latin typeface="Helvetica Neue"/>
                          <a:ea typeface="Helvetica Neue"/>
                          <a:cs typeface="Helvetica Neue"/>
                        </a:rPr>
                        <a:t>Rank</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Document</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Relevance</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66750">
                <a:tc>
                  <a:txBody>
                    <a:bodyPr lIns="114300" tIns="57150" rIns="114300" bIns="57150"/>
                    <a:lstStyle/>
                    <a:p>
                      <a:r>
                        <a:rPr sz="1725" b="0">
                          <a:solidFill>
                            <a:srgbClr val="F5F5F7"/>
                          </a:solidFill>
                          <a:latin typeface="Helvetica Neue"/>
                          <a:ea typeface="Helvetica Neue"/>
                          <a:cs typeface="Helvetica Neue"/>
                        </a:rPr>
                        <a:t>1</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C</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Нет</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2</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A</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Да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66750">
                <a:tc>
                  <a:txBody>
                    <a:bodyPr lIns="114300" tIns="57150" rIns="114300" bIns="57150"/>
                    <a:lstStyle/>
                    <a:p>
                      <a:r>
                        <a:rPr sz="1725" b="0">
                          <a:solidFill>
                            <a:srgbClr val="F5F5F7"/>
                          </a:solidFill>
                          <a:latin typeface="Helvetica Neue"/>
                          <a:ea typeface="Helvetica Neue"/>
                          <a:cs typeface="Helvetica Neue"/>
                        </a:rPr>
                        <a:t>3</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D</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Нет</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34" name="lecture2-5">
            <a:extLst xmlns:a="http://schemas.openxmlformats.org/drawingml/2006/main">
              <a:ext uri="{FF2B5EF4-FFF2-40B4-BE49-F238E27FC236}">
                <a16:creationId xmlns:a16="http://schemas.microsoft.com/office/drawing/2014/main" id="{CE323C7A-245F-468C-A0E3-5FFBAD0F13E0}"/>
              </a:ext>
            </a:extLst>
          </p:cNvPr>
          <p:cNvSpPr>
            <a:spLocks xmlns:a="http://schemas.openxmlformats.org/drawingml/2006/main" noGrp="1"/>
          </p:cNvSpPr>
          <p:nvPr/>
        </p:nvSpPr>
        <p:spPr>
          <a:xfrm xmlns:a="http://schemas.openxmlformats.org/drawingml/2006/main">
            <a:off x="685800" y="5705475"/>
            <a:ext cx="10820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Recall@3 = 1/2: найден один из двух релевантных документов. Reciprocal Rank = 1/2: первый релевантный ответ стоит на втором месте. MRR — среднее Reciprocal Rank по всем queries.</a:t>
            </a:r>
          </a:p>
        </p:txBody>
      </p:sp>
    </p:spTree>
    <p:extLst>
      <p:ext uri="{BB962C8B-B14F-4D97-AF65-F5344CB8AC3E}">
        <p14:creationId xmlns:p14="http://schemas.microsoft.com/office/powerpoint/2010/main" val="1371808651"/>
      </p:ext>
    </p:extLst>
  </p:cSld>
</p:sld>
</file>

<file path=ppt/slides/slide8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7755EF8A-BBCC-48AC-B474-BDE99B7DF01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7BC335D4-B444-497B-B3BF-4C903DD3E9E4}"/>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84</a:t>
            </a:r>
          </a:p>
        </p:txBody>
      </p:sp>
      <p:sp>
        <p:nvSpPr>
          <p:cNvPr id="3" name="">
            <a:extLst xmlns:a="http://schemas.openxmlformats.org/drawingml/2006/main">
              <a:ext uri="{FF2B5EF4-FFF2-40B4-BE49-F238E27FC236}">
                <a16:creationId xmlns:a16="http://schemas.microsoft.com/office/drawing/2014/main" id="{C3E44DCC-DABC-44D6-948F-7A96DCFC327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3140CF00-D42A-476A-A57F-5DF4A43432A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Embeddings в RAG</a:t>
            </a:r>
          </a:p>
        </p:txBody>
      </p:sp>
      <p:pic>
        <p:nvPicPr>
          <p:cNvPr id="12" name="">
            <a:extLst xmlns:a="http://schemas.openxmlformats.org/drawingml/2006/main">
              <a:ext uri="{FF2B5EF4-FFF2-40B4-BE49-F238E27FC236}">
                <a16:creationId xmlns:a16="http://schemas.microsoft.com/office/drawing/2014/main" id="{DD7D5376-E550-4578-AF9B-5AC3D856F67E}"/>
              </a:ext>
            </a:extLst>
          </p:cNvPr>
          <p:cNvPicPr>
            <a:picLocks xmlns:a="http://schemas.openxmlformats.org/drawingml/2006/main" noChangeAspect="1"/>
          </p:cNvPicPr>
          <p:nvPr/>
        </p:nvPicPr>
        <p:blipFill>
          <a:blip xmlns:r="http://schemas.openxmlformats.org/officeDocument/2006/relationships" xmlns:a="http://schemas.openxmlformats.org/drawingml/2006/main" r:embed="R108c916e356c46e8"/>
          <a:stretch xmlns:a="http://schemas.openxmlformats.org/drawingml/2006/main"/>
        </p:blipFill>
        <p:spPr>
          <a:xfrm xmlns:a="http://schemas.openxmlformats.org/drawingml/2006/main">
            <a:off x="2013857" y="2000250"/>
            <a:ext cx="8164286" cy="2381250"/>
          </a:xfrm>
          <a:prstGeom xmlns:a="http://schemas.openxmlformats.org/drawingml/2006/main" prst="rect">
            <a:avLst/>
          </a:prstGeom>
        </p:spPr>
      </p:pic>
      <p:sp>
        <p:nvSpPr>
          <p:cNvPr id="13" name="lecture2-4">
            <a:extLst xmlns:a="http://schemas.openxmlformats.org/drawingml/2006/main">
              <a:ext uri="{FF2B5EF4-FFF2-40B4-BE49-F238E27FC236}">
                <a16:creationId xmlns:a16="http://schemas.microsoft.com/office/drawing/2014/main" id="{4CFDD0E2-1215-4F4F-9449-16F7F5FCC5FC}"/>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В оригинальной схеме RAG retriever находит документы по representation query, а generator использует найденное содержание для ответа. Схема Lewis et al. показывает конкретную исследовательскую модель; современные системы могут организовывать обучение иначе. Общая роль embeddings остаётся прикладной: помочь получить релевантные внешние материалы. Сам vector не является ответом и не содержит проверяемой ссылки на факт.</a:t>
            </a:r>
          </a:p>
        </p:txBody>
      </p:sp>
      <p:sp>
        <p:nvSpPr>
          <p:cNvPr id="14" name="lecture2-5">
            <a:extLst xmlns:a="http://schemas.openxmlformats.org/drawingml/2006/main">
              <a:ext uri="{FF2B5EF4-FFF2-40B4-BE49-F238E27FC236}">
                <a16:creationId xmlns:a16="http://schemas.microsoft.com/office/drawing/2014/main" id="{CF8B3BA8-B93D-478C-A692-F83374410156}"/>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defRPr sz="1163" b="0">
                <a:solidFill>
                  <a:srgbClr val="98989F"/>
                </a:solidFill>
                <a:latin typeface="Helvetica Neue"/>
                <a:ea typeface="Helvetica Neue"/>
                <a:cs typeface="Helvetica Neue"/>
              </a:defRPr>
            </a:lvl1pPr>
            <a:lvl2pPr>
              <a:defRPr sz="1163" b="0">
                <a:solidFill>
                  <a:srgbClr val="98989F"/>
                </a:solidFill>
                <a:latin typeface="Helvetica Neue"/>
                <a:ea typeface="Helvetica Neue"/>
                <a:cs typeface="Helvetica Neue"/>
              </a:defRPr>
            </a:lvl2pPr>
            <a:lvl3pPr>
              <a:defRPr sz="1163" b="0">
                <a:solidFill>
                  <a:srgbClr val="98989F"/>
                </a:solidFill>
                <a:latin typeface="Helvetica Neue"/>
                <a:ea typeface="Helvetica Neue"/>
                <a:cs typeface="Helvetica Neue"/>
              </a:defRPr>
            </a:lvl3pPr>
            <a:lvl4pPr>
              <a:defRPr sz="1163" b="0">
                <a:solidFill>
                  <a:srgbClr val="98989F"/>
                </a:solidFill>
                <a:latin typeface="Helvetica Neue"/>
                <a:ea typeface="Helvetica Neue"/>
                <a:cs typeface="Helvetica Neue"/>
              </a:defRPr>
            </a:lvl4pPr>
            <a:lvl5pPr>
              <a:defRPr sz="1163" b="0">
                <a:solidFill>
                  <a:srgbClr val="98989F"/>
                </a:solidFill>
                <a:latin typeface="Helvetica Neue"/>
                <a:ea typeface="Helvetica Neue"/>
                <a:cs typeface="Helvetica Neue"/>
              </a:defRPr>
            </a:lvl5pPr>
            <a:lvl6pPr>
              <a:defRPr sz="1163" b="0">
                <a:solidFill>
                  <a:srgbClr val="98989F"/>
                </a:solidFill>
                <a:latin typeface="Helvetica Neue"/>
                <a:ea typeface="Helvetica Neue"/>
                <a:cs typeface="Helvetica Neue"/>
              </a:defRPr>
            </a:lvl6pPr>
            <a:lvl7pPr>
              <a:defRPr sz="1163" b="0">
                <a:solidFill>
                  <a:srgbClr val="98989F"/>
                </a:solidFill>
                <a:latin typeface="Helvetica Neue"/>
                <a:ea typeface="Helvetica Neue"/>
                <a:cs typeface="Helvetica Neue"/>
              </a:defRPr>
            </a:lvl7pPr>
            <a:lvl8pPr>
              <a:defRPr sz="1163" b="0">
                <a:solidFill>
                  <a:srgbClr val="98989F"/>
                </a:solidFill>
                <a:latin typeface="Helvetica Neue"/>
                <a:ea typeface="Helvetica Neue"/>
                <a:cs typeface="Helvetica Neue"/>
              </a:defRPr>
            </a:lvl8pPr>
            <a:lvl9pPr>
              <a:defRPr sz="1163" b="0">
                <a:solidFill>
                  <a:srgbClr val="98989F"/>
                </a:solidFill>
                <a:latin typeface="Helvetica Neue"/>
                <a:ea typeface="Helvetica Neue"/>
                <a:cs typeface="Helvetica Neue"/>
              </a:defRPr>
            </a:lvl9pPr>
          </a:lstStyle>
          <a:p xmlns:a="http://schemas.openxmlformats.org/drawingml/2006/main">
            <a:pPr>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32de91c51a574032"/>
              </a:rPr>
              <a:t>Источник: Lewis et al., 2020 · Figure 1</a:t>
            </a:r>
          </a:p>
        </p:txBody>
      </p:sp>
    </p:spTree>
    <p:extLst>
      <p:ext uri="{BB962C8B-B14F-4D97-AF65-F5344CB8AC3E}">
        <p14:creationId xmlns:p14="http://schemas.microsoft.com/office/powerpoint/2010/main" val="992175420"/>
      </p:ext>
    </p:extLst>
  </p:cSld>
</p:sld>
</file>

<file path=ppt/slides/slide8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FF6554B4-80F6-4419-B9CC-085CE353DD2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CD45C872-2796-45C8-B4EC-32CF47AB676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85</a:t>
            </a:r>
          </a:p>
        </p:txBody>
      </p:sp>
      <p:sp>
        <p:nvSpPr>
          <p:cNvPr id="3" name="">
            <a:extLst xmlns:a="http://schemas.openxmlformats.org/drawingml/2006/main">
              <a:ext uri="{FF2B5EF4-FFF2-40B4-BE49-F238E27FC236}">
                <a16:creationId xmlns:a16="http://schemas.microsoft.com/office/drawing/2014/main" id="{61E68EA7-AB15-4872-A75C-FD3A2580FCE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B8B5D1F5-803A-4D74-B61E-0C929E65D8A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Retrieval и grounded generation</a:t>
            </a:r>
          </a:p>
        </p:txBody>
      </p:sp>
      <p:sp>
        <p:nvSpPr>
          <p:cNvPr id="12" name="lecture2-4">
            <a:extLst xmlns:a="http://schemas.openxmlformats.org/drawingml/2006/main">
              <a:ext uri="{FF2B5EF4-FFF2-40B4-BE49-F238E27FC236}">
                <a16:creationId xmlns:a16="http://schemas.microsoft.com/office/drawing/2014/main" id="{5FFDBD1F-4702-4153-947D-3C06B3FDF8CF}"/>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Качество evidence</a:t>
            </a:r>
          </a:p>
        </p:txBody>
      </p:sp>
      <p:sp>
        <p:nvSpPr>
          <p:cNvPr id="13" name="lecture2-5">
            <a:extLst xmlns:a="http://schemas.openxmlformats.org/drawingml/2006/main">
              <a:ext uri="{FF2B5EF4-FFF2-40B4-BE49-F238E27FC236}">
                <a16:creationId xmlns:a16="http://schemas.microsoft.com/office/drawing/2014/main" id="{DF34AE99-146A-4FB1-81A2-D4174294BA14}"/>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Даже корректно работающий generator ограничен найденными материалами. Если retriever вернул устаревший или нерелевантный passage, ответ может оказаться неверным. Поэтому качество RAG оценивают по этапам: были ли найдены нужные документы, поддерживают ли они ответ и корректно ли использованы при generation. Один общий показатель может скрывать причину ошибки.</a:t>
            </a:r>
          </a:p>
        </p:txBody>
      </p:sp>
      <p:sp>
        <p:nvSpPr>
          <p:cNvPr id="14" name="lecture2-6">
            <a:extLst xmlns:a="http://schemas.openxmlformats.org/drawingml/2006/main">
              <a:ext uri="{FF2B5EF4-FFF2-40B4-BE49-F238E27FC236}">
                <a16:creationId xmlns:a16="http://schemas.microsoft.com/office/drawing/2014/main" id="{17484DB1-39B0-4FAA-9244-00337B275A6A}"/>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Источники и обновление данных</a:t>
            </a:r>
          </a:p>
        </p:txBody>
      </p:sp>
      <p:sp>
        <p:nvSpPr>
          <p:cNvPr id="15" name="lecture2-7">
            <a:extLst xmlns:a="http://schemas.openxmlformats.org/drawingml/2006/main">
              <a:ext uri="{FF2B5EF4-FFF2-40B4-BE49-F238E27FC236}">
                <a16:creationId xmlns:a16="http://schemas.microsoft.com/office/drawing/2014/main" id="{F639E37D-4B88-47A6-9F67-D2F18FA41477}"/>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Система должна сохранять связь chunk с исходным документом и учитывать актуальность и доступность материалов. Обновление corpus не равно обновлению encoder: это разные операции. Embeddings помогают выбирать содержание, но не гарантируют его истинность. Для ответа без достаточного evidence требуется отдельная логика, а не обязательный выбор ближайшего passage.</a:t>
            </a:r>
          </a:p>
        </p:txBody>
      </p:sp>
    </p:spTree>
    <p:extLst>
      <p:ext uri="{BB962C8B-B14F-4D97-AF65-F5344CB8AC3E}">
        <p14:creationId xmlns:p14="http://schemas.microsoft.com/office/powerpoint/2010/main" val="509765450"/>
      </p:ext>
    </p:extLst>
  </p:cSld>
</p:sld>
</file>

<file path=ppt/slides/slide8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FDB51B7C-F0F5-4F0C-8092-A50336B54A0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6E49B10E-83D1-4735-BDDE-366F7AB1EAF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86</a:t>
            </a:r>
          </a:p>
        </p:txBody>
      </p:sp>
      <p:sp>
        <p:nvSpPr>
          <p:cNvPr id="3" name="">
            <a:extLst xmlns:a="http://schemas.openxmlformats.org/drawingml/2006/main">
              <a:ext uri="{FF2B5EF4-FFF2-40B4-BE49-F238E27FC236}">
                <a16:creationId xmlns:a16="http://schemas.microsoft.com/office/drawing/2014/main" id="{A9CD1A17-A419-4A60-864B-FC2B1234CA5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97C3A3D1-91B5-4132-B88C-17BE3E2DFD3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Сравнение на семинаре</a:t>
            </a:r>
          </a:p>
        </p:txBody>
      </p:sp>
      <p:sp>
        <p:nvSpPr>
          <p:cNvPr id="12" name="lecture2-4">
            <a:extLst xmlns:a="http://schemas.openxmlformats.org/drawingml/2006/main">
              <a:ext uri="{FF2B5EF4-FFF2-40B4-BE49-F238E27FC236}">
                <a16:creationId xmlns:a16="http://schemas.microsoft.com/office/drawing/2014/main" id="{022CFF0E-6C02-4C29-B10A-EF9BBDABEA38}"/>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TF-IDF baseline</a:t>
            </a:r>
          </a:p>
        </p:txBody>
      </p:sp>
      <p:sp>
        <p:nvSpPr>
          <p:cNvPr id="13" name="lecture2-5">
            <a:extLst xmlns:a="http://schemas.openxmlformats.org/drawingml/2006/main">
              <a:ext uri="{FF2B5EF4-FFF2-40B4-BE49-F238E27FC236}">
                <a16:creationId xmlns:a16="http://schemas.microsoft.com/office/drawing/2014/main" id="{867BBCF3-EB94-471C-BB70-CEBC56F90698}"/>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Первое решение строится из TF-IDF и Logistic Regression на подготовленных текстах. Vocabulary и IDF оцениваются только по train. Затем фиксируются evaluation metrics и конкретные ошибки. Такой baseline позволяет проверить данные и получить понятную отправную точку без обучения большой encoder model.</a:t>
            </a:r>
          </a:p>
        </p:txBody>
      </p:sp>
      <p:sp>
        <p:nvSpPr>
          <p:cNvPr id="14" name="lecture2-6">
            <a:extLst xmlns:a="http://schemas.openxmlformats.org/drawingml/2006/main">
              <a:ext uri="{FF2B5EF4-FFF2-40B4-BE49-F238E27FC236}">
                <a16:creationId xmlns:a16="http://schemas.microsoft.com/office/drawing/2014/main" id="{AC72BA61-B5C1-4948-97EE-E68111A35F4D}"/>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Sentence embeddings</a:t>
            </a:r>
          </a:p>
        </p:txBody>
      </p:sp>
      <p:sp>
        <p:nvSpPr>
          <p:cNvPr id="15" name="lecture2-7">
            <a:extLst xmlns:a="http://schemas.openxmlformats.org/drawingml/2006/main">
              <a:ext uri="{FF2B5EF4-FFF2-40B4-BE49-F238E27FC236}">
                <a16:creationId xmlns:a16="http://schemas.microsoft.com/office/drawing/2014/main" id="{27D8D443-1E98-408F-BBEB-289FBF27EE35}"/>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Во втором варианте те же тексты получают representations через pretrained Sentence Transformers. Classifier и split по возможности сохраняют сопоставимыми. Сравнивают quality, время encoding и поведение на разных типах примеров. Код и запуск относятся к семинару; лекция задаёт смысл компонентов и правила интерпретации результата.</a:t>
            </a:r>
          </a:p>
        </p:txBody>
      </p:sp>
    </p:spTree>
    <p:extLst>
      <p:ext uri="{BB962C8B-B14F-4D97-AF65-F5344CB8AC3E}">
        <p14:creationId xmlns:p14="http://schemas.microsoft.com/office/powerpoint/2010/main" val="926196820"/>
      </p:ext>
    </p:extLst>
  </p:cSld>
</p:sld>
</file>

<file path=ppt/slides/slide8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E2FC0A26-24E2-499B-8DAD-1B10D3C497E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BE0E174-ADDF-4917-A190-8D80FCEE745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87</a:t>
            </a:r>
          </a:p>
        </p:txBody>
      </p:sp>
      <p:sp>
        <p:nvSpPr>
          <p:cNvPr id="3" name="">
            <a:extLst xmlns:a="http://schemas.openxmlformats.org/drawingml/2006/main">
              <a:ext uri="{FF2B5EF4-FFF2-40B4-BE49-F238E27FC236}">
                <a16:creationId xmlns:a16="http://schemas.microsoft.com/office/drawing/2014/main" id="{6A98DB9C-4474-4708-A489-38DE7F9F4EA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612EFAAF-80CF-4F8B-83AF-196B0948658F}"/>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Библиотеки и компоненты</a:t>
            </a:r>
          </a:p>
        </p:txBody>
      </p:sp>
      <p:sp>
        <p:nvSpPr>
          <p:cNvPr id="12" name="lecture2-4">
            <a:extLst xmlns:a="http://schemas.openxmlformats.org/drawingml/2006/main">
              <a:ext uri="{FF2B5EF4-FFF2-40B4-BE49-F238E27FC236}">
                <a16:creationId xmlns:a16="http://schemas.microsoft.com/office/drawing/2014/main" id="{1ED00C3E-1A07-4A24-B6A2-A74E3B4E9649}"/>
              </a:ext>
            </a:extLst>
          </p:cNvPr>
          <p:cNvSpPr>
            <a:spLocks xmlns:a="http://schemas.openxmlformats.org/drawingml/2006/main" noGrp="1"/>
          </p:cNvSpPr>
          <p:nvPr/>
        </p:nvSpPr>
        <p:spPr>
          <a:xfrm xmlns:a="http://schemas.openxmlformats.org/drawingml/2006/main">
            <a:off x="685800" y="20097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F5F5F7"/>
                </a:solidFill>
                <a:latin typeface="Helvetica Neue"/>
                <a:ea typeface="Helvetica Neue"/>
                <a:cs typeface="Helvetica Neue"/>
              </a:defRPr>
            </a:defPPr>
            <a:lvl1pPr>
              <a:defRPr sz="1913" b="0">
                <a:solidFill>
                  <a:srgbClr val="F5F5F7"/>
                </a:solidFill>
                <a:latin typeface="Helvetica Neue"/>
                <a:ea typeface="Helvetica Neue"/>
                <a:cs typeface="Helvetica Neue"/>
              </a:defRPr>
            </a:lvl1pPr>
            <a:lvl2pPr>
              <a:defRPr sz="1913" b="0">
                <a:solidFill>
                  <a:srgbClr val="F5F5F7"/>
                </a:solidFill>
                <a:latin typeface="Helvetica Neue"/>
                <a:ea typeface="Helvetica Neue"/>
                <a:cs typeface="Helvetica Neue"/>
              </a:defRPr>
            </a:lvl2pPr>
            <a:lvl3pPr>
              <a:defRPr sz="1913" b="0">
                <a:solidFill>
                  <a:srgbClr val="F5F5F7"/>
                </a:solidFill>
                <a:latin typeface="Helvetica Neue"/>
                <a:ea typeface="Helvetica Neue"/>
                <a:cs typeface="Helvetica Neue"/>
              </a:defRPr>
            </a:lvl3pPr>
            <a:lvl4pPr>
              <a:defRPr sz="1913" b="0">
                <a:solidFill>
                  <a:srgbClr val="F5F5F7"/>
                </a:solidFill>
                <a:latin typeface="Helvetica Neue"/>
                <a:ea typeface="Helvetica Neue"/>
                <a:cs typeface="Helvetica Neue"/>
              </a:defRPr>
            </a:lvl4pPr>
            <a:lvl5pPr>
              <a:defRPr sz="1913" b="0">
                <a:solidFill>
                  <a:srgbClr val="F5F5F7"/>
                </a:solidFill>
                <a:latin typeface="Helvetica Neue"/>
                <a:ea typeface="Helvetica Neue"/>
                <a:cs typeface="Helvetica Neue"/>
              </a:defRPr>
            </a:lvl5pPr>
            <a:lvl6pPr>
              <a:defRPr sz="1913" b="0">
                <a:solidFill>
                  <a:srgbClr val="F5F5F7"/>
                </a:solidFill>
                <a:latin typeface="Helvetica Neue"/>
                <a:ea typeface="Helvetica Neue"/>
                <a:cs typeface="Helvetica Neue"/>
              </a:defRPr>
            </a:lvl6pPr>
            <a:lvl7pPr>
              <a:defRPr sz="1913" b="0">
                <a:solidFill>
                  <a:srgbClr val="F5F5F7"/>
                </a:solidFill>
                <a:latin typeface="Helvetica Neue"/>
                <a:ea typeface="Helvetica Neue"/>
                <a:cs typeface="Helvetica Neue"/>
              </a:defRPr>
            </a:lvl7pPr>
            <a:lvl8pPr>
              <a:defRPr sz="1913" b="0">
                <a:solidFill>
                  <a:srgbClr val="F5F5F7"/>
                </a:solidFill>
                <a:latin typeface="Helvetica Neue"/>
                <a:ea typeface="Helvetica Neue"/>
                <a:cs typeface="Helvetica Neue"/>
              </a:defRPr>
            </a:lvl8pPr>
            <a:lvl9pPr>
              <a:defRPr sz="1913" b="0">
                <a:solidFill>
                  <a:srgbClr val="F5F5F7"/>
                </a:solidFill>
                <a:latin typeface="Helvetica Neue"/>
                <a:ea typeface="Helvetica Neue"/>
                <a:cs typeface="Helvetica Neue"/>
              </a:defRPr>
            </a:lvl9pPr>
          </a:lstStyle>
          <a:p xmlns:a="http://schemas.openxmlformats.org/drawingml/2006/main">
            <a:pPr>
              <a:defRPr sz="1913" b="0">
                <a:solidFill>
                  <a:srgbClr val="F5F5F7"/>
                </a:solidFill>
                <a:latin typeface="Helvetica Neue"/>
                <a:ea typeface="Helvetica Neue"/>
                <a:cs typeface="Helvetica Neue"/>
              </a:defRPr>
            </a:pPr>
            <a:r>
              <a:rPr sz="1913" b="0">
                <a:solidFill>
                  <a:srgbClr val="F5F5F7"/>
                </a:solidFill>
                <a:latin typeface="Helvetica Neue"/>
                <a:ea typeface="Helvetica Neue"/>
                <a:cs typeface="Helvetica Neue"/>
              </a:rPr>
              <a:t>Инструменты выбирают по операции. Наличие готового API не отменяет проверки данных, формата representation и настроек модели.</a:t>
            </a:r>
          </a:p>
        </p:txBody>
      </p:sp>
      <p:graphicFrame>
        <p:nvGraphicFramePr>
          <p:cNvPr id="13" name="">
            <a:extLst xmlns:a="http://schemas.openxmlformats.org/drawingml/2006/main">
              <a:ext uri="{FF2B5EF4-FFF2-40B4-BE49-F238E27FC236}">
                <a16:creationId xmlns:a16="http://schemas.microsoft.com/office/drawing/2014/main" id="{23EB04E8-6E45-4359-9F87-F8D876F3396C}"/>
              </a:ext>
            </a:extLst>
          </p:cNvPr>
          <p:cNvGraphicFramePr/>
          <p:nvPr/>
        </p:nvGraphicFramePr>
        <p:xfrm>
          <a:off xmlns:a="http://schemas.openxmlformats.org/drawingml/2006/main" x="685800" y="2847975"/>
          <a:ext xmlns:a="http://schemas.openxmlformats.org/drawingml/2006/main" cx="10820400" cy="2952750"/>
        </p:xfrm>
        <a:graphic xmlns:a="http://schemas.openxmlformats.org/drawingml/2006/main">
          <a:graphicData uri="http://schemas.openxmlformats.org/drawingml/2006/table">
            <a:tbl>
              <a:tblPr/>
              <a:tblGrid>
                <a:gridCol w="3524250"/>
                <a:gridCol w="7296150"/>
              </a:tblGrid>
              <a:tr h="590550">
                <a:tc>
                  <a:txBody>
                    <a:bodyPr lIns="114300" tIns="57150" rIns="114300" bIns="57150"/>
                    <a:lstStyle/>
                    <a:p>
                      <a:r>
                        <a:rPr sz="1725" b="1">
                          <a:solidFill>
                            <a:srgbClr val="98989F"/>
                          </a:solidFill>
                          <a:latin typeface="Helvetica Neue"/>
                          <a:ea typeface="Helvetica Neue"/>
                          <a:cs typeface="Helvetica Neue"/>
                        </a:rPr>
                        <a:t>Инструмент</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14300" tIns="57150" rIns="114300" bIns="57150"/>
                    <a:lstStyle/>
                    <a:p>
                      <a:r>
                        <a:rPr sz="1725" b="1">
                          <a:solidFill>
                            <a:srgbClr val="98989F"/>
                          </a:solidFill>
                          <a:latin typeface="Helvetica Neue"/>
                          <a:ea typeface="Helvetica Neue"/>
                          <a:cs typeface="Helvetica Neue"/>
                        </a:rPr>
                        <a:t>Назначение</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590550">
                <a:tc>
                  <a:txBody>
                    <a:bodyPr lIns="114300" tIns="57150" rIns="114300" bIns="57150"/>
                    <a:lstStyle/>
                    <a:p>
                      <a:r>
                        <a:rPr sz="1725" b="0">
                          <a:solidFill>
                            <a:srgbClr val="F5F5F7"/>
                          </a:solidFill>
                          <a:latin typeface="Helvetica Neue"/>
                          <a:ea typeface="Helvetica Neue"/>
                          <a:cs typeface="Helvetica Neue"/>
                        </a:rPr>
                        <a:t>scikit-learn</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TF-IDF, classifiers, metrics, Pipeline</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90550">
                <a:tc>
                  <a:txBody>
                    <a:bodyPr lIns="114300" tIns="57150" rIns="114300" bIns="57150"/>
                    <a:lstStyle/>
                    <a:p>
                      <a:r>
                        <a:rPr sz="1725" b="0">
                          <a:solidFill>
                            <a:srgbClr val="F5F5F7"/>
                          </a:solidFill>
                          <a:latin typeface="Helvetica Neue"/>
                          <a:ea typeface="Helvetica Neue"/>
                          <a:cs typeface="Helvetica Neue"/>
                        </a:rPr>
                        <a:t>Gensim</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Word vectors, Word2Vec, FastText, doc2vec</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90550">
                <a:tc>
                  <a:txBody>
                    <a:bodyPr lIns="114300" tIns="57150" rIns="114300" bIns="57150"/>
                    <a:lstStyle/>
                    <a:p>
                      <a:r>
                        <a:rPr sz="1725" b="0">
                          <a:solidFill>
                            <a:srgbClr val="F5F5F7"/>
                          </a:solidFill>
                          <a:latin typeface="Helvetica Neue"/>
                          <a:ea typeface="Helvetica Neue"/>
                          <a:cs typeface="Helvetica Neue"/>
                        </a:rPr>
                        <a:t>Hugging Face Transformers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Tokenizer, pretrained encoder, hidden states</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90550">
                <a:tc>
                  <a:txBody>
                    <a:bodyPr lIns="114300" tIns="57150" rIns="114300" bIns="57150"/>
                    <a:lstStyle/>
                    <a:p>
                      <a:r>
                        <a:rPr sz="1725" b="0">
                          <a:solidFill>
                            <a:srgbClr val="F5F5F7"/>
                          </a:solidFill>
                          <a:latin typeface="Helvetica Neue"/>
                          <a:ea typeface="Helvetica Neue"/>
                          <a:cs typeface="Helvetica Neue"/>
                        </a:rPr>
                        <a:t>Sentence Transformers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14300" tIns="57150" rIns="114300" bIns="57150"/>
                    <a:lstStyle/>
                    <a:p>
                      <a:r>
                        <a:rPr sz="1725" b="0">
                          <a:solidFill>
                            <a:srgbClr val="F5F5F7"/>
                          </a:solidFill>
                          <a:latin typeface="Helvetica Neue"/>
                          <a:ea typeface="Helvetica Neue"/>
                          <a:cs typeface="Helvetica Neue"/>
                        </a:rPr>
                        <a:t>Text embeddings, similarity, retrieval</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4" name="lecture2-5">
            <a:extLst xmlns:a="http://schemas.openxmlformats.org/drawingml/2006/main">
              <a:ext uri="{FF2B5EF4-FFF2-40B4-BE49-F238E27FC236}">
                <a16:creationId xmlns:a16="http://schemas.microsoft.com/office/drawing/2014/main" id="{F8F9909A-EE30-4445-B777-DA20B15DDB30}"/>
              </a:ext>
            </a:extLst>
          </p:cNvPr>
          <p:cNvSpPr>
            <a:spLocks xmlns:a="http://schemas.openxmlformats.org/drawingml/2006/main" noGrp="1"/>
          </p:cNvSpPr>
          <p:nvPr/>
        </p:nvSpPr>
        <p:spPr>
          <a:xfrm xmlns:a="http://schemas.openxmlformats.org/drawingml/2006/main">
            <a:off x="685800" y="5991225"/>
            <a:ext cx="10820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Для поиска также нужен способ хранения vectors и index. Модель, tokenizer, pooling и версия данных фиксируются как части одного решения.</a:t>
            </a:r>
          </a:p>
        </p:txBody>
      </p:sp>
    </p:spTree>
    <p:extLst>
      <p:ext uri="{BB962C8B-B14F-4D97-AF65-F5344CB8AC3E}">
        <p14:creationId xmlns:p14="http://schemas.microsoft.com/office/powerpoint/2010/main" val="208176775"/>
      </p:ext>
    </p:extLst>
  </p:cSld>
</p:sld>
</file>

<file path=ppt/slides/slide8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2D3C9AF6-31FF-4F91-AD18-8D5AC0666700}"/>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72EB10ED-A632-4404-8FC8-2F0A0405A4B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88</a:t>
            </a:r>
          </a:p>
        </p:txBody>
      </p:sp>
      <p:sp>
        <p:nvSpPr>
          <p:cNvPr id="3" name="">
            <a:extLst xmlns:a="http://schemas.openxmlformats.org/drawingml/2006/main">
              <a:ext uri="{FF2B5EF4-FFF2-40B4-BE49-F238E27FC236}">
                <a16:creationId xmlns:a16="http://schemas.microsoft.com/office/drawing/2014/main" id="{95F6A054-ED86-49B3-B568-17FAD5FD828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05E76031-6A30-4763-AB7F-44EDC334904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Выбор pretrained model</a:t>
            </a:r>
          </a:p>
        </p:txBody>
      </p:sp>
      <p:sp>
        <p:nvSpPr>
          <p:cNvPr id="17" name="lecture2-4">
            <a:extLst xmlns:a="http://schemas.openxmlformats.org/drawingml/2006/main">
              <a:ext uri="{FF2B5EF4-FFF2-40B4-BE49-F238E27FC236}">
                <a16:creationId xmlns:a16="http://schemas.microsoft.com/office/drawing/2014/main" id="{9A839A36-A2AE-457E-9738-31F2986CDFAD}"/>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Model card и назначение</a:t>
            </a:r>
          </a:p>
        </p:txBody>
      </p:sp>
      <p:sp>
        <p:nvSpPr>
          <p:cNvPr id="18" name="lecture2-5">
            <a:extLst xmlns:a="http://schemas.openxmlformats.org/drawingml/2006/main">
              <a:ext uri="{FF2B5EF4-FFF2-40B4-BE49-F238E27FC236}">
                <a16:creationId xmlns:a16="http://schemas.microsoft.com/office/drawing/2014/main" id="{C89418CE-4B9F-49CD-8928-4B5F6B92C9D2}"/>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Проверяют supported languages, training objective и тип рекомендуемой задачи. Модель для коротких paraphrases может не подходить для поиска длинных passages. Важны license, model revision, max sequence length, embedding dimension и ожидаемый query/document format. Размер checkpoint или популярность не заменяют evaluation на собственных примерах.</a:t>
            </a:r>
          </a:p>
        </p:txBody>
      </p:sp>
      <p:sp>
        <p:nvSpPr>
          <p:cNvPr id="19" name="lecture2-6">
            <a:extLst xmlns:a="http://schemas.openxmlformats.org/drawingml/2006/main">
              <a:ext uri="{FF2B5EF4-FFF2-40B4-BE49-F238E27FC236}">
                <a16:creationId xmlns:a16="http://schemas.microsoft.com/office/drawing/2014/main" id="{E9736381-2A9C-4791-AD3F-CDBB36F69C1F}"/>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Ограничения применения</a:t>
            </a:r>
          </a:p>
        </p:txBody>
      </p:sp>
      <p:sp>
        <p:nvSpPr>
          <p:cNvPr id="20" name="lecture2-7">
            <a:extLst xmlns:a="http://schemas.openxmlformats.org/drawingml/2006/main">
              <a:ext uri="{FF2B5EF4-FFF2-40B4-BE49-F238E27FC236}">
                <a16:creationId xmlns:a16="http://schemas.microsoft.com/office/drawing/2014/main" id="{E2577E0E-E331-44D1-A1AF-4B091DBB99D0}"/>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Truncation удаляет часть длинного текста; normalization и prompts меняют representations. Для новых языков и доменов качество может существенно отличаться от заявленных benchmark results. Выбор подтверждают небольшим размеченным набором, затем проверяют скорость и память. При смене модели пересматривают thresholds и совместимость существующего index.</a:t>
            </a:r>
          </a:p>
        </p:txBody>
      </p:sp>
    </p:spTree>
    <p:extLst>
      <p:ext uri="{BB962C8B-B14F-4D97-AF65-F5344CB8AC3E}">
        <p14:creationId xmlns:p14="http://schemas.microsoft.com/office/powerpoint/2010/main" val="499649307"/>
      </p:ext>
    </p:extLst>
  </p:cSld>
</p:sld>
</file>

<file path=ppt/slides/slide8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5A17CE14-EC40-429F-9AE1-65CA4066EEB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03438765-B38B-49D1-935D-17D90CA83A9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89</a:t>
            </a:r>
          </a:p>
        </p:txBody>
      </p:sp>
      <p:sp>
        <p:nvSpPr>
          <p:cNvPr id="3" name="">
            <a:extLst xmlns:a="http://schemas.openxmlformats.org/drawingml/2006/main">
              <a:ext uri="{FF2B5EF4-FFF2-40B4-BE49-F238E27FC236}">
                <a16:creationId xmlns:a16="http://schemas.microsoft.com/office/drawing/2014/main" id="{AEE94292-84B1-4B2C-84CB-32F5FEE2E23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B8140D8-52BA-4616-AEB8-CCB8131E458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Результаты лекции</a:t>
            </a:r>
          </a:p>
        </p:txBody>
      </p:sp>
      <p:sp>
        <p:nvSpPr>
          <p:cNvPr id="17" name="lecture2-4">
            <a:extLst xmlns:a="http://schemas.openxmlformats.org/drawingml/2006/main">
              <a:ext uri="{FF2B5EF4-FFF2-40B4-BE49-F238E27FC236}">
                <a16:creationId xmlns:a16="http://schemas.microsoft.com/office/drawing/2014/main" id="{912969C8-4B78-4BBE-9DB1-624702406E14}"/>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Основные различия</a:t>
            </a:r>
          </a:p>
        </p:txBody>
      </p:sp>
      <p:sp>
        <p:nvSpPr>
          <p:cNvPr id="18" name="lecture2-5">
            <a:extLst xmlns:a="http://schemas.openxmlformats.org/drawingml/2006/main">
              <a:ext uri="{FF2B5EF4-FFF2-40B4-BE49-F238E27FC236}">
                <a16:creationId xmlns:a16="http://schemas.microsoft.com/office/drawing/2014/main" id="{60636B4F-A517-42E7-B9EB-8507D8C706DF}"/>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Static embeddings связывают слово с одним vector; contextual embeddings описывают его употребление. Sentence и document representations требуют определённого способа объединения информации или отдельного обучения. Pretraining и fine-tuning используют разные данные и цели. В retrieval качество зависит одновременно от encoder, corpus, chunking и способа поиска.</a:t>
            </a:r>
          </a:p>
        </p:txBody>
      </p:sp>
      <p:sp>
        <p:nvSpPr>
          <p:cNvPr id="19" name="lecture2-6">
            <a:extLst xmlns:a="http://schemas.openxmlformats.org/drawingml/2006/main">
              <a:ext uri="{FF2B5EF4-FFF2-40B4-BE49-F238E27FC236}">
                <a16:creationId xmlns:a16="http://schemas.microsoft.com/office/drawing/2014/main" id="{E774443A-2B08-4BF6-8304-5AAEA4598751}"/>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Контрольные вопросы</a:t>
            </a:r>
          </a:p>
        </p:txBody>
      </p:sp>
      <p:sp>
        <p:nvSpPr>
          <p:cNvPr id="20" name="lecture2-7">
            <a:extLst xmlns:a="http://schemas.openxmlformats.org/drawingml/2006/main">
              <a:ext uri="{FF2B5EF4-FFF2-40B4-BE49-F238E27FC236}">
                <a16:creationId xmlns:a16="http://schemas.microsoft.com/office/drawing/2014/main" id="{B8A566E7-4963-4192-ADAA-B34F662C9DB0}"/>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Почему одинаковая dimension не означает совместимость пространств? Чем fastText OOV отличается от обычного lookup? Как получают representation нового документа в doc2vec? Почему pooled BERT не всегда является хорошим sentence encoder? Когда нужны разные query/document modes? Какие ошибки RAG невозможно исправить только заменой generator?</a:t>
            </a:r>
          </a:p>
        </p:txBody>
      </p:sp>
    </p:spTree>
    <p:extLst>
      <p:ext uri="{BB962C8B-B14F-4D97-AF65-F5344CB8AC3E}">
        <p14:creationId xmlns:p14="http://schemas.microsoft.com/office/powerpoint/2010/main" val="2044607749"/>
      </p:ext>
    </p:extLst>
  </p:cSld>
</p:sld>
</file>

<file path=ppt/slides/slide9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CEB98F0-6755-4DEC-9E28-04F957CF138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D8A55AC4-C58D-4AB7-8182-B53A805FD0B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90</a:t>
            </a:r>
          </a:p>
        </p:txBody>
      </p:sp>
      <p:sp>
        <p:nvSpPr>
          <p:cNvPr id="3" name="">
            <a:extLst xmlns:a="http://schemas.openxmlformats.org/drawingml/2006/main">
              <a:ext uri="{FF2B5EF4-FFF2-40B4-BE49-F238E27FC236}">
                <a16:creationId xmlns:a16="http://schemas.microsoft.com/office/drawing/2014/main" id="{19AEF263-5F09-41C7-8B7D-34AA2DB89F3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324881D0-0DF4-42D9-8E06-1F39FE0A099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Материалы и источники</a:t>
            </a:r>
          </a:p>
        </p:txBody>
      </p:sp>
      <p:sp>
        <p:nvSpPr>
          <p:cNvPr id="12" name="lecture2-5">
            <a:extLst xmlns:a="http://schemas.openxmlformats.org/drawingml/2006/main">
              <a:ext uri="{FF2B5EF4-FFF2-40B4-BE49-F238E27FC236}">
                <a16:creationId xmlns:a16="http://schemas.microsoft.com/office/drawing/2014/main" id="{9E42F397-7CB2-43A5-8CF2-F39ADF79E308}"/>
              </a:ext>
            </a:extLst>
          </p:cNvPr>
          <p:cNvSpPr>
            <a:spLocks xmlns:a="http://schemas.openxmlformats.org/drawingml/2006/main" noGrp="1"/>
          </p:cNvSpPr>
          <p:nvPr/>
        </p:nvSpPr>
        <p:spPr>
          <a:xfrm xmlns:a="http://schemas.openxmlformats.org/drawingml/2006/main">
            <a:off x="685800" y="3162300"/>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5620c761eeff4a1e"/>
              </a:rPr>
              <a:t>Elena Voita · NLP Course For You</a:t>
            </a:r>
          </a:p>
        </p:txBody>
      </p:sp>
      <p:sp>
        <p:nvSpPr>
          <p:cNvPr id="13" name="lecture2-6">
            <a:extLst xmlns:a="http://schemas.openxmlformats.org/drawingml/2006/main">
              <a:ext uri="{FF2B5EF4-FFF2-40B4-BE49-F238E27FC236}">
                <a16:creationId xmlns:a16="http://schemas.microsoft.com/office/drawing/2014/main" id="{936BF0FC-4A51-40AF-A5B2-CEB8B41DF0E0}"/>
              </a:ext>
            </a:extLst>
          </p:cNvPr>
          <p:cNvSpPr>
            <a:spLocks xmlns:a="http://schemas.openxmlformats.org/drawingml/2006/main" noGrp="1"/>
          </p:cNvSpPr>
          <p:nvPr/>
        </p:nvSpPr>
        <p:spPr>
          <a:xfrm xmlns:a="http://schemas.openxmlformats.org/drawingml/2006/main">
            <a:off x="685800" y="3552825"/>
            <a:ext cx="5086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Word Embeddings и Transfer Learning.</a:t>
            </a:r>
          </a:p>
        </p:txBody>
      </p:sp>
      <p:sp>
        <p:nvSpPr>
          <p:cNvPr id="14" name="lecture2-7">
            <a:extLst xmlns:a="http://schemas.openxmlformats.org/drawingml/2006/main">
              <a:ext uri="{FF2B5EF4-FFF2-40B4-BE49-F238E27FC236}">
                <a16:creationId xmlns:a16="http://schemas.microsoft.com/office/drawing/2014/main" id="{CD22D0E0-3165-444E-B44A-424E5B241F12}"/>
              </a:ext>
            </a:extLst>
          </p:cNvPr>
          <p:cNvSpPr>
            <a:spLocks xmlns:a="http://schemas.openxmlformats.org/drawingml/2006/main" noGrp="1"/>
          </p:cNvSpPr>
          <p:nvPr/>
        </p:nvSpPr>
        <p:spPr>
          <a:xfrm xmlns:a="http://schemas.openxmlformats.org/drawingml/2006/main">
            <a:off x="685800" y="4114800"/>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7b31a8a3f77a4e52"/>
              </a:rPr>
              <a:t>Word2Vec · GloVe · fastText</a:t>
            </a:r>
          </a:p>
        </p:txBody>
      </p:sp>
      <p:sp>
        <p:nvSpPr>
          <p:cNvPr id="15" name="lecture2-8">
            <a:extLst xmlns:a="http://schemas.openxmlformats.org/drawingml/2006/main">
              <a:ext uri="{FF2B5EF4-FFF2-40B4-BE49-F238E27FC236}">
                <a16:creationId xmlns:a16="http://schemas.microsoft.com/office/drawing/2014/main" id="{7F99A1DC-5256-423D-87B4-97622FFCFE7A}"/>
              </a:ext>
            </a:extLst>
          </p:cNvPr>
          <p:cNvSpPr>
            <a:spLocks xmlns:a="http://schemas.openxmlformats.org/drawingml/2006/main" noGrp="1"/>
          </p:cNvSpPr>
          <p:nvPr/>
        </p:nvSpPr>
        <p:spPr>
          <a:xfrm xmlns:a="http://schemas.openxmlformats.org/drawingml/2006/main">
            <a:off x="685800" y="4505325"/>
            <a:ext cx="5086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Mikolov et al.; Pennington et al.; Bojanowski et al.</a:t>
            </a:r>
          </a:p>
        </p:txBody>
      </p:sp>
      <p:sp>
        <p:nvSpPr>
          <p:cNvPr id="16" name="lecture2-9">
            <a:extLst xmlns:a="http://schemas.openxmlformats.org/drawingml/2006/main">
              <a:ext uri="{FF2B5EF4-FFF2-40B4-BE49-F238E27FC236}">
                <a16:creationId xmlns:a16="http://schemas.microsoft.com/office/drawing/2014/main" id="{CAB229A5-1A01-46BB-AA0E-7C82CE951176}"/>
              </a:ext>
            </a:extLst>
          </p:cNvPr>
          <p:cNvSpPr>
            <a:spLocks xmlns:a="http://schemas.openxmlformats.org/drawingml/2006/main" noGrp="1"/>
          </p:cNvSpPr>
          <p:nvPr/>
        </p:nvSpPr>
        <p:spPr>
          <a:xfrm xmlns:a="http://schemas.openxmlformats.org/drawingml/2006/main">
            <a:off x="685800" y="5067300"/>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ab125c6db1ab49cc"/>
              </a:rPr>
              <a:t>Paragraph Vector / doc2vec</a:t>
            </a:r>
          </a:p>
        </p:txBody>
      </p:sp>
      <p:sp>
        <p:nvSpPr>
          <p:cNvPr id="17" name="lecture2-10">
            <a:extLst xmlns:a="http://schemas.openxmlformats.org/drawingml/2006/main">
              <a:ext uri="{FF2B5EF4-FFF2-40B4-BE49-F238E27FC236}">
                <a16:creationId xmlns:a16="http://schemas.microsoft.com/office/drawing/2014/main" id="{67A1522C-FFA0-4402-B6AE-DEAC527B7E49}"/>
              </a:ext>
            </a:extLst>
          </p:cNvPr>
          <p:cNvSpPr>
            <a:spLocks xmlns:a="http://schemas.openxmlformats.org/drawingml/2006/main" noGrp="1"/>
          </p:cNvSpPr>
          <p:nvPr/>
        </p:nvSpPr>
        <p:spPr>
          <a:xfrm xmlns:a="http://schemas.openxmlformats.org/drawingml/2006/main">
            <a:off x="685800" y="5457825"/>
            <a:ext cx="5086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Le &amp; Mikolov, 2014.</a:t>
            </a:r>
          </a:p>
        </p:txBody>
      </p:sp>
      <p:sp>
        <p:nvSpPr>
          <p:cNvPr id="18" name="lecture2-11">
            <a:extLst xmlns:a="http://schemas.openxmlformats.org/drawingml/2006/main">
              <a:ext uri="{FF2B5EF4-FFF2-40B4-BE49-F238E27FC236}">
                <a16:creationId xmlns:a16="http://schemas.microsoft.com/office/drawing/2014/main" id="{AE5ED19D-2312-4ADA-A95F-0BA36BD07C0B}"/>
              </a:ext>
            </a:extLst>
          </p:cNvPr>
          <p:cNvSpPr>
            <a:spLocks xmlns:a="http://schemas.openxmlformats.org/drawingml/2006/main" noGrp="1"/>
          </p:cNvSpPr>
          <p:nvPr/>
        </p:nvSpPr>
        <p:spPr>
          <a:xfrm xmlns:a="http://schemas.openxmlformats.org/drawingml/2006/main">
            <a:off x="6419850" y="3162300"/>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e53caafa629f4818"/>
              </a:rPr>
              <a:t>ELMo · BERT</a:t>
            </a:r>
          </a:p>
        </p:txBody>
      </p:sp>
      <p:sp>
        <p:nvSpPr>
          <p:cNvPr id="19" name="lecture2-12">
            <a:extLst xmlns:a="http://schemas.openxmlformats.org/drawingml/2006/main">
              <a:ext uri="{FF2B5EF4-FFF2-40B4-BE49-F238E27FC236}">
                <a16:creationId xmlns:a16="http://schemas.microsoft.com/office/drawing/2014/main" id="{00D937BB-FF4A-40CD-A908-7383354A7E91}"/>
              </a:ext>
            </a:extLst>
          </p:cNvPr>
          <p:cNvSpPr>
            <a:spLocks xmlns:a="http://schemas.openxmlformats.org/drawingml/2006/main" noGrp="1"/>
          </p:cNvSpPr>
          <p:nvPr/>
        </p:nvSpPr>
        <p:spPr>
          <a:xfrm xmlns:a="http://schemas.openxmlformats.org/drawingml/2006/main">
            <a:off x="6419850" y="3552825"/>
            <a:ext cx="5086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Peters et al., 2018; Devlin et al., 2019.</a:t>
            </a:r>
          </a:p>
        </p:txBody>
      </p:sp>
      <p:sp>
        <p:nvSpPr>
          <p:cNvPr id="20" name="lecture2-13">
            <a:extLst xmlns:a="http://schemas.openxmlformats.org/drawingml/2006/main">
              <a:ext uri="{FF2B5EF4-FFF2-40B4-BE49-F238E27FC236}">
                <a16:creationId xmlns:a16="http://schemas.microsoft.com/office/drawing/2014/main" id="{E9AF3888-AD82-40E2-A394-C19ACA3E6B10}"/>
              </a:ext>
            </a:extLst>
          </p:cNvPr>
          <p:cNvSpPr>
            <a:spLocks xmlns:a="http://schemas.openxmlformats.org/drawingml/2006/main" noGrp="1"/>
          </p:cNvSpPr>
          <p:nvPr/>
        </p:nvSpPr>
        <p:spPr>
          <a:xfrm xmlns:a="http://schemas.openxmlformats.org/drawingml/2006/main">
            <a:off x="6419850" y="4114800"/>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903c0d8a10654a24"/>
              </a:rPr>
              <a:t>Sentence-BERT</a:t>
            </a:r>
          </a:p>
        </p:txBody>
      </p:sp>
      <p:sp>
        <p:nvSpPr>
          <p:cNvPr id="21" name="lecture2-14">
            <a:extLst xmlns:a="http://schemas.openxmlformats.org/drawingml/2006/main">
              <a:ext uri="{FF2B5EF4-FFF2-40B4-BE49-F238E27FC236}">
                <a16:creationId xmlns:a16="http://schemas.microsoft.com/office/drawing/2014/main" id="{2CF95B01-1A18-4DA6-9FF6-B42648F9E2C9}"/>
              </a:ext>
            </a:extLst>
          </p:cNvPr>
          <p:cNvSpPr>
            <a:spLocks xmlns:a="http://schemas.openxmlformats.org/drawingml/2006/main" noGrp="1"/>
          </p:cNvSpPr>
          <p:nvPr/>
        </p:nvSpPr>
        <p:spPr>
          <a:xfrm xmlns:a="http://schemas.openxmlformats.org/drawingml/2006/main">
            <a:off x="6419850" y="4505325"/>
            <a:ext cx="5086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Reimers &amp; Gurevych, 2019; Sentence Transformers.</a:t>
            </a:r>
          </a:p>
        </p:txBody>
      </p:sp>
      <p:sp>
        <p:nvSpPr>
          <p:cNvPr id="22" name="lecture2-15">
            <a:extLst xmlns:a="http://schemas.openxmlformats.org/drawingml/2006/main">
              <a:ext uri="{FF2B5EF4-FFF2-40B4-BE49-F238E27FC236}">
                <a16:creationId xmlns:a16="http://schemas.microsoft.com/office/drawing/2014/main" id="{745B6977-BE2D-4254-9A79-0763E4323242}"/>
              </a:ext>
            </a:extLst>
          </p:cNvPr>
          <p:cNvSpPr>
            <a:spLocks xmlns:a="http://schemas.openxmlformats.org/drawingml/2006/main" noGrp="1"/>
          </p:cNvSpPr>
          <p:nvPr/>
        </p:nvSpPr>
        <p:spPr>
          <a:xfrm xmlns:a="http://schemas.openxmlformats.org/drawingml/2006/main">
            <a:off x="6419850" y="5067300"/>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5cd06f3e80944b51"/>
              </a:rPr>
              <a:t>Retrieval-Augmented Generation</a:t>
            </a:r>
          </a:p>
        </p:txBody>
      </p:sp>
      <p:sp>
        <p:nvSpPr>
          <p:cNvPr id="23" name="lecture2-16">
            <a:extLst xmlns:a="http://schemas.openxmlformats.org/drawingml/2006/main">
              <a:ext uri="{FF2B5EF4-FFF2-40B4-BE49-F238E27FC236}">
                <a16:creationId xmlns:a16="http://schemas.microsoft.com/office/drawing/2014/main" id="{D42F6596-84E0-49D1-9DB9-F39E2BE80C6D}"/>
              </a:ext>
            </a:extLst>
          </p:cNvPr>
          <p:cNvSpPr>
            <a:spLocks xmlns:a="http://schemas.openxmlformats.org/drawingml/2006/main" noGrp="1"/>
          </p:cNvSpPr>
          <p:nvPr/>
        </p:nvSpPr>
        <p:spPr>
          <a:xfrm xmlns:a="http://schemas.openxmlformats.org/drawingml/2006/main">
            <a:off x="6419850" y="5457825"/>
            <a:ext cx="5086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Lewis et al., 2020.</a:t>
            </a:r>
          </a:p>
        </p:txBody>
      </p:sp>
      <p:sp>
        <p:nvSpPr>
          <p:cNvPr id="24" name="lecture2-17">
            <a:extLst xmlns:a="http://schemas.openxmlformats.org/drawingml/2006/main">
              <a:ext uri="{FF2B5EF4-FFF2-40B4-BE49-F238E27FC236}">
                <a16:creationId xmlns:a16="http://schemas.microsoft.com/office/drawing/2014/main" id="{6617ED6B-C3A9-4F7A-B2F5-E6A8FA66C37A}"/>
              </a:ext>
            </a:extLst>
          </p:cNvPr>
          <p:cNvSpPr>
            <a:spLocks xmlns:a="http://schemas.openxmlformats.org/drawingml/2006/main" noGrp="1"/>
          </p:cNvSpPr>
          <p:nvPr/>
        </p:nvSpPr>
        <p:spPr>
          <a:xfrm xmlns:a="http://schemas.openxmlformats.org/drawingml/2006/main">
            <a:off x="685800" y="62103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98989F"/>
                </a:solidFill>
                <a:latin typeface="Helvetica Neue"/>
                <a:ea typeface="Helvetica Neue"/>
                <a:cs typeface="Helvetica Neue"/>
              </a:defRPr>
            </a:defPPr>
            <a:lvl1pPr>
              <a:defRPr sz="1575" b="0">
                <a:solidFill>
                  <a:srgbClr val="98989F"/>
                </a:solidFill>
                <a:latin typeface="Helvetica Neue"/>
                <a:ea typeface="Helvetica Neue"/>
                <a:cs typeface="Helvetica Neue"/>
              </a:defRPr>
            </a:lvl1pPr>
            <a:lvl2pPr>
              <a:defRPr sz="1575" b="0">
                <a:solidFill>
                  <a:srgbClr val="98989F"/>
                </a:solidFill>
                <a:latin typeface="Helvetica Neue"/>
                <a:ea typeface="Helvetica Neue"/>
                <a:cs typeface="Helvetica Neue"/>
              </a:defRPr>
            </a:lvl2pPr>
            <a:lvl3pPr>
              <a:defRPr sz="1575" b="0">
                <a:solidFill>
                  <a:srgbClr val="98989F"/>
                </a:solidFill>
                <a:latin typeface="Helvetica Neue"/>
                <a:ea typeface="Helvetica Neue"/>
                <a:cs typeface="Helvetica Neue"/>
              </a:defRPr>
            </a:lvl3pPr>
            <a:lvl4pPr>
              <a:defRPr sz="1575" b="0">
                <a:solidFill>
                  <a:srgbClr val="98989F"/>
                </a:solidFill>
                <a:latin typeface="Helvetica Neue"/>
                <a:ea typeface="Helvetica Neue"/>
                <a:cs typeface="Helvetica Neue"/>
              </a:defRPr>
            </a:lvl4pPr>
            <a:lvl5pPr>
              <a:defRPr sz="1575" b="0">
                <a:solidFill>
                  <a:srgbClr val="98989F"/>
                </a:solidFill>
                <a:latin typeface="Helvetica Neue"/>
                <a:ea typeface="Helvetica Neue"/>
                <a:cs typeface="Helvetica Neue"/>
              </a:defRPr>
            </a:lvl5pPr>
            <a:lvl6pPr>
              <a:defRPr sz="1575" b="0">
                <a:solidFill>
                  <a:srgbClr val="98989F"/>
                </a:solidFill>
                <a:latin typeface="Helvetica Neue"/>
                <a:ea typeface="Helvetica Neue"/>
                <a:cs typeface="Helvetica Neue"/>
              </a:defRPr>
            </a:lvl6pPr>
            <a:lvl7pPr>
              <a:defRPr sz="1575" b="0">
                <a:solidFill>
                  <a:srgbClr val="98989F"/>
                </a:solidFill>
                <a:latin typeface="Helvetica Neue"/>
                <a:ea typeface="Helvetica Neue"/>
                <a:cs typeface="Helvetica Neue"/>
              </a:defRPr>
            </a:lvl7pPr>
            <a:lvl8pPr>
              <a:defRPr sz="1575" b="0">
                <a:solidFill>
                  <a:srgbClr val="98989F"/>
                </a:solidFill>
                <a:latin typeface="Helvetica Neue"/>
                <a:ea typeface="Helvetica Neue"/>
                <a:cs typeface="Helvetica Neue"/>
              </a:defRPr>
            </a:lvl8pPr>
            <a:lvl9pPr>
              <a:defRPr sz="1575" b="0">
                <a:solidFill>
                  <a:srgbClr val="98989F"/>
                </a:solidFill>
                <a:latin typeface="Helvetica Neue"/>
                <a:ea typeface="Helvetica Neue"/>
                <a:cs typeface="Helvetica Neue"/>
              </a:defRPr>
            </a:lvl9pPr>
          </a:lstStyle>
          <a:p xmlns:a="http://schemas.openxmlformats.org/drawingml/2006/main">
            <a:pPr>
              <a:defRPr sz="1575" b="0">
                <a:solidFill>
                  <a:srgbClr val="98989F"/>
                </a:solidFill>
                <a:latin typeface="Helvetica Neue"/>
                <a:ea typeface="Helvetica Neue"/>
                <a:cs typeface="Helvetica Neue"/>
              </a:defRPr>
            </a:pPr>
            <a:r>
              <a:rPr sz="1575" b="0">
                <a:solidFill>
                  <a:srgbClr val="98989F"/>
                </a:solidFill>
                <a:latin typeface="Helvetica Neue"/>
                <a:ea typeface="Helvetica Neue"/>
                <a:cs typeface="Helvetica Neue"/>
              </a:rPr>
              <a:t>Содержание занятия: программа блока «Основы NLP и векторные представления», 24 октября. Практическая реализация — на семинаре.</a:t>
            </a:r>
          </a:p>
        </p:txBody>
      </p:sp>
    </p:spTree>
    <p:extLst>
      <p:ext uri="{BB962C8B-B14F-4D97-AF65-F5344CB8AC3E}">
        <p14:creationId xmlns:p14="http://schemas.microsoft.com/office/powerpoint/2010/main" val="692999578"/>
      </p:ext>
    </p:extLst>
  </p:cSld>
</p:sld>
</file>

<file path=ppt/theme/theme1.xml><?xml version="1.0" encoding="utf-8"?>
<a:theme xmlns:a="http://schemas.openxmlformats.org/drawingml/2006/main" name="ChatGPT">
  <a:themeElements>
    <a:clrScheme name="RLL">
      <a:dk1>
        <a:srgbClr val="000000"/>
      </a:dk1>
      <a:lt1>
        <a:srgbClr val="F5F5F7"/>
      </a:lt1>
      <a:dk2>
        <a:srgbClr val="09090B"/>
      </a:dk2>
      <a:lt2>
        <a:srgbClr val="98989F"/>
      </a:lt2>
      <a:accent1>
        <a:srgbClr val="BD9FE3"/>
      </a:accent1>
      <a:accent2>
        <a:srgbClr val="A0BBA6"/>
      </a:accent2>
      <a:accent3>
        <a:srgbClr val="D1C9DF"/>
      </a:accent3>
      <a:accent4>
        <a:srgbClr val="80808A"/>
      </a:accent4>
      <a:accent5>
        <a:srgbClr val="C5B5F2"/>
      </a:accent5>
      <a:accent6>
        <a:srgbClr val="B4B4BB"/>
      </a:accent6>
      <a:hlink>
        <a:srgbClr val="BD9FE3"/>
      </a:hlink>
      <a:folHlink>
        <a:srgbClr val="BD9FE3"/>
      </a:folHlink>
    </a:clrScheme>
    <a:fontScheme name="">
      <a:majorFont>
        <a:latin typeface="Helvetica Neue"/>
        <a:ea typeface=""/>
        <a:cs typeface=""/>
      </a:majorFont>
      <a:minorFont>
        <a:latin typeface="Helvetica Neue"/>
        <a:ea typeface=""/>
        <a:cs typeface=""/>
      </a:minorFont>
    </a:fontScheme>
    <a:fmtScheme name="RL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2026-10-20T11:08:16.0950000Z</dcterms:created>
  <dcterms:modified xsi:type="dcterms:W3CDTF">2026-10-20T11:08:16.0950000Z</dcterms:modified>
</coreProperties>
</file>