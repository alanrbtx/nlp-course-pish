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slides/charts/chart1.xml" ContentType="application/vnd.openxmlformats-officedocument.drawingml.chart+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c3ea13646524f04" /><Relationship Type="http://schemas.openxmlformats.org/officeDocument/2006/relationships/extended-properties" Target="/docProps/app.xml" Id="R256056a11b534cce" /><Relationship Type="http://schemas.openxmlformats.org/officeDocument/2006/relationships/officeDocument" Target="/ppt/presentation.xml" Id="R92d30114abb44b95" /></Relationships>
</file>

<file path=ppt/presentation.xml><?xml version="1.0" encoding="utf-8"?>
<p:presentation xmlns:p="http://schemas.openxmlformats.org/presentationml/2006/main">
  <p:sldMasterIdLst>
    <p:sldMasterId xmlns:r="http://schemas.openxmlformats.org/officeDocument/2006/relationships" id="2147483648" r:id="R455da925aeb04ea9"/>
  </p:sldMasterIdLst>
  <p:notesMasterIdLst>
    <p:notesMasterId xmlns:r="http://schemas.openxmlformats.org/officeDocument/2006/relationships" r:id="R7a2ef937c0224dac"/>
  </p:notesMasterIdLst>
  <p:sldIdLst>
    <p:sldId xmlns:r="http://schemas.openxmlformats.org/officeDocument/2006/relationships" id="256" r:id="Re84aa2427e8a4343"/>
    <p:sldId xmlns:r="http://schemas.openxmlformats.org/officeDocument/2006/relationships" id="257" r:id="R206cc28715924540"/>
    <p:sldId xmlns:r="http://schemas.openxmlformats.org/officeDocument/2006/relationships" id="258" r:id="R624ff620a4a64863"/>
    <p:sldId xmlns:r="http://schemas.openxmlformats.org/officeDocument/2006/relationships" id="259" r:id="R84802a858ac54c3a"/>
    <p:sldId xmlns:r="http://schemas.openxmlformats.org/officeDocument/2006/relationships" id="260" r:id="R6786467d3ed8444b"/>
    <p:sldId xmlns:r="http://schemas.openxmlformats.org/officeDocument/2006/relationships" id="261" r:id="R92491be1ae46421b"/>
    <p:sldId xmlns:r="http://schemas.openxmlformats.org/officeDocument/2006/relationships" id="262" r:id="Rf9fe8a7692974163"/>
    <p:sldId xmlns:r="http://schemas.openxmlformats.org/officeDocument/2006/relationships" id="263" r:id="R8620131fa6f0476e"/>
    <p:sldId xmlns:r="http://schemas.openxmlformats.org/officeDocument/2006/relationships" id="264" r:id="Rf9d376a1211f424f"/>
    <p:sldId xmlns:r="http://schemas.openxmlformats.org/officeDocument/2006/relationships" id="265" r:id="Rc237f59f824f4c76"/>
    <p:sldId xmlns:r="http://schemas.openxmlformats.org/officeDocument/2006/relationships" id="266" r:id="Rc997b4ebb21a48c4"/>
    <p:sldId xmlns:r="http://schemas.openxmlformats.org/officeDocument/2006/relationships" id="267" r:id="R7864bd47b639433d"/>
    <p:sldId xmlns:r="http://schemas.openxmlformats.org/officeDocument/2006/relationships" id="268" r:id="Rfcee8d6626744e79"/>
    <p:sldId xmlns:r="http://schemas.openxmlformats.org/officeDocument/2006/relationships" id="269" r:id="Rf83b79210fd542a7"/>
    <p:sldId xmlns:r="http://schemas.openxmlformats.org/officeDocument/2006/relationships" id="270" r:id="R45ad996e4c5b4067"/>
    <p:sldId xmlns:r="http://schemas.openxmlformats.org/officeDocument/2006/relationships" id="271" r:id="Rc641b43b171d4c7a"/>
    <p:sldId xmlns:r="http://schemas.openxmlformats.org/officeDocument/2006/relationships" id="272" r:id="Ra070bcc021e84778"/>
    <p:sldId xmlns:r="http://schemas.openxmlformats.org/officeDocument/2006/relationships" id="273" r:id="Rec482f7fed684a5b"/>
    <p:sldId xmlns:r="http://schemas.openxmlformats.org/officeDocument/2006/relationships" id="274" r:id="R998d787db7474247"/>
    <p:sldId xmlns:r="http://schemas.openxmlformats.org/officeDocument/2006/relationships" id="275" r:id="Rb9548371d3b84d7a"/>
    <p:sldId xmlns:r="http://schemas.openxmlformats.org/officeDocument/2006/relationships" id="276" r:id="Rb6b4767062ee42ac"/>
    <p:sldId xmlns:r="http://schemas.openxmlformats.org/officeDocument/2006/relationships" id="277" r:id="R4e4d59db8d974edb"/>
    <p:sldId xmlns:r="http://schemas.openxmlformats.org/officeDocument/2006/relationships" id="278" r:id="Rf634c24e91ce49e8"/>
    <p:sldId xmlns:r="http://schemas.openxmlformats.org/officeDocument/2006/relationships" id="279" r:id="R3b5c336abc464956"/>
    <p:sldId xmlns:r="http://schemas.openxmlformats.org/officeDocument/2006/relationships" id="280" r:id="Re1d977f3a8c04104"/>
    <p:sldId xmlns:r="http://schemas.openxmlformats.org/officeDocument/2006/relationships" id="281" r:id="R138952bcabfe44d9"/>
    <p:sldId xmlns:r="http://schemas.openxmlformats.org/officeDocument/2006/relationships" id="282" r:id="Rb4cce3bbef1b4812"/>
    <p:sldId xmlns:r="http://schemas.openxmlformats.org/officeDocument/2006/relationships" id="283" r:id="R37ee849773be4aba"/>
    <p:sldId xmlns:r="http://schemas.openxmlformats.org/officeDocument/2006/relationships" id="284" r:id="R8ac115ced1354f14"/>
    <p:sldId xmlns:r="http://schemas.openxmlformats.org/officeDocument/2006/relationships" id="285" r:id="R4d8e431cd42b4ef4"/>
    <p:sldId xmlns:r="http://schemas.openxmlformats.org/officeDocument/2006/relationships" id="286" r:id="R860dd6357fa54db7"/>
    <p:sldId xmlns:r="http://schemas.openxmlformats.org/officeDocument/2006/relationships" id="287" r:id="R37933d5c720845b9"/>
    <p:sldId xmlns:r="http://schemas.openxmlformats.org/officeDocument/2006/relationships" id="288" r:id="R2bcdce8df4d44a5e"/>
    <p:sldId xmlns:r="http://schemas.openxmlformats.org/officeDocument/2006/relationships" id="289" r:id="R7866d35c6f4e44c8"/>
    <p:sldId xmlns:r="http://schemas.openxmlformats.org/officeDocument/2006/relationships" id="290" r:id="Rcda3b0decea34a5b"/>
    <p:sldId xmlns:r="http://schemas.openxmlformats.org/officeDocument/2006/relationships" id="291" r:id="R742816e2fea64848"/>
    <p:sldId xmlns:r="http://schemas.openxmlformats.org/officeDocument/2006/relationships" id="292" r:id="Rfd831e5bcc474bf4"/>
    <p:sldId xmlns:r="http://schemas.openxmlformats.org/officeDocument/2006/relationships" id="293" r:id="Rfef0e804535044e7"/>
    <p:sldId xmlns:r="http://schemas.openxmlformats.org/officeDocument/2006/relationships" id="294" r:id="R912ddf625f604ca1"/>
    <p:sldId xmlns:r="http://schemas.openxmlformats.org/officeDocument/2006/relationships" id="295" r:id="R4b77ef64e7d344e4"/>
    <p:sldId xmlns:r="http://schemas.openxmlformats.org/officeDocument/2006/relationships" id="296" r:id="R6be873b05a904734"/>
    <p:sldId xmlns:r="http://schemas.openxmlformats.org/officeDocument/2006/relationships" id="297" r:id="R94f72ea9e5cd41ca"/>
    <p:sldId xmlns:r="http://schemas.openxmlformats.org/officeDocument/2006/relationships" id="298" r:id="R1f87784dcb7043b3"/>
    <p:sldId xmlns:r="http://schemas.openxmlformats.org/officeDocument/2006/relationships" id="299" r:id="R33a5a1e9af964766"/>
    <p:sldId xmlns:r="http://schemas.openxmlformats.org/officeDocument/2006/relationships" id="300" r:id="R16162a01f29e4e71"/>
    <p:sldId xmlns:r="http://schemas.openxmlformats.org/officeDocument/2006/relationships" id="301" r:id="Rf397222b35fb4639"/>
    <p:sldId xmlns:r="http://schemas.openxmlformats.org/officeDocument/2006/relationships" id="302" r:id="R2dc5a5e1dc2945f4"/>
    <p:sldId xmlns:r="http://schemas.openxmlformats.org/officeDocument/2006/relationships" id="303" r:id="Rd275474ed39944ac"/>
    <p:sldId xmlns:r="http://schemas.openxmlformats.org/officeDocument/2006/relationships" id="304" r:id="Rbfdbf639df834848"/>
    <p:sldId xmlns:r="http://schemas.openxmlformats.org/officeDocument/2006/relationships" id="305" r:id="Rd99105c593624673"/>
    <p:sldId xmlns:r="http://schemas.openxmlformats.org/officeDocument/2006/relationships" id="306" r:id="R26701aa09010472f"/>
    <p:sldId xmlns:r="http://schemas.openxmlformats.org/officeDocument/2006/relationships" id="307" r:id="R9136340fc2fe455b"/>
    <p:sldId xmlns:r="http://schemas.openxmlformats.org/officeDocument/2006/relationships" id="308" r:id="R2f0cbc58333f4226"/>
    <p:sldId xmlns:r="http://schemas.openxmlformats.org/officeDocument/2006/relationships" id="309" r:id="Rec7841a5d72a4024"/>
    <p:sldId xmlns:r="http://schemas.openxmlformats.org/officeDocument/2006/relationships" id="310" r:id="R09544a84fc4e442a"/>
    <p:sldId xmlns:r="http://schemas.openxmlformats.org/officeDocument/2006/relationships" id="311" r:id="R684a18cb394b47fc"/>
    <p:sldId xmlns:r="http://schemas.openxmlformats.org/officeDocument/2006/relationships" id="312" r:id="R22328e7606d24af4"/>
    <p:sldId xmlns:r="http://schemas.openxmlformats.org/officeDocument/2006/relationships" id="313" r:id="R79c516634ba94316"/>
    <p:sldId xmlns:r="http://schemas.openxmlformats.org/officeDocument/2006/relationships" id="314" r:id="R891ce06c1c79427c"/>
    <p:sldId xmlns:r="http://schemas.openxmlformats.org/officeDocument/2006/relationships" id="315" r:id="R7658a26663024cfd"/>
    <p:sldId xmlns:r="http://schemas.openxmlformats.org/officeDocument/2006/relationships" id="316" r:id="R7f6751ed22994f39"/>
    <p:sldId xmlns:r="http://schemas.openxmlformats.org/officeDocument/2006/relationships" id="317" r:id="R51ed90dc3b4842db"/>
    <p:sldId xmlns:r="http://schemas.openxmlformats.org/officeDocument/2006/relationships" id="318" r:id="R911837f2f53a4b9a"/>
    <p:sldId xmlns:r="http://schemas.openxmlformats.org/officeDocument/2006/relationships" id="319" r:id="R9357191adcbc45c9"/>
    <p:sldId xmlns:r="http://schemas.openxmlformats.org/officeDocument/2006/relationships" id="320" r:id="R4d30a5f02c23484a"/>
    <p:sldId xmlns:r="http://schemas.openxmlformats.org/officeDocument/2006/relationships" id="321" r:id="R1771b252db0b4dda"/>
    <p:sldId xmlns:r="http://schemas.openxmlformats.org/officeDocument/2006/relationships" id="322" r:id="R00746cdcbdbb48dc"/>
    <p:sldId xmlns:r="http://schemas.openxmlformats.org/officeDocument/2006/relationships" id="323" r:id="R36555e6229cd4d87"/>
    <p:sldId xmlns:r="http://schemas.openxmlformats.org/officeDocument/2006/relationships" id="324" r:id="Re65ff28e690f40db"/>
    <p:sldId xmlns:r="http://schemas.openxmlformats.org/officeDocument/2006/relationships" id="325" r:id="Rc5b356c78705465f"/>
    <p:sldId xmlns:r="http://schemas.openxmlformats.org/officeDocument/2006/relationships" id="326" r:id="R7ac9f33913fb47a8"/>
    <p:sldId xmlns:r="http://schemas.openxmlformats.org/officeDocument/2006/relationships" id="327" r:id="R5f60a4128f9b4e04"/>
    <p:sldId xmlns:r="http://schemas.openxmlformats.org/officeDocument/2006/relationships" id="328" r:id="Ra1dfc5bec95c4e76"/>
    <p:sldId xmlns:r="http://schemas.openxmlformats.org/officeDocument/2006/relationships" id="329" r:id="Rda92f60aeec04b0a"/>
    <p:sldId xmlns:r="http://schemas.openxmlformats.org/officeDocument/2006/relationships" id="330" r:id="Ra59608676e0848b6"/>
    <p:sldId xmlns:r="http://schemas.openxmlformats.org/officeDocument/2006/relationships" id="331" r:id="R03b3c7f37980487e"/>
    <p:sldId xmlns:r="http://schemas.openxmlformats.org/officeDocument/2006/relationships" id="332" r:id="R4abd604e37a046e0"/>
    <p:sldId xmlns:r="http://schemas.openxmlformats.org/officeDocument/2006/relationships" id="333" r:id="R62727738e1984e67"/>
    <p:sldId xmlns:r="http://schemas.openxmlformats.org/officeDocument/2006/relationships" id="334" r:id="Rf07112afb96549e3"/>
    <p:sldId xmlns:r="http://schemas.openxmlformats.org/officeDocument/2006/relationships" id="335" r:id="Rbb2b977efce34e04"/>
    <p:sldId xmlns:r="http://schemas.openxmlformats.org/officeDocument/2006/relationships" id="336" r:id="R73bd53bd293d4084"/>
    <p:sldId xmlns:r="http://schemas.openxmlformats.org/officeDocument/2006/relationships" id="337" r:id="Rfcee4e7546c6428b"/>
    <p:sldId xmlns:r="http://schemas.openxmlformats.org/officeDocument/2006/relationships" id="338" r:id="R34ca87ba5e7b422f"/>
    <p:sldId xmlns:r="http://schemas.openxmlformats.org/officeDocument/2006/relationships" id="339" r:id="R71173fee4b534469"/>
    <p:sldId xmlns:r="http://schemas.openxmlformats.org/officeDocument/2006/relationships" id="340" r:id="R8ca6986af3154386"/>
    <p:sldId xmlns:r="http://schemas.openxmlformats.org/officeDocument/2006/relationships" id="341" r:id="Rb266cea9c628469f"/>
    <p:sldId xmlns:r="http://schemas.openxmlformats.org/officeDocument/2006/relationships" id="342" r:id="Rd4410957731742cf"/>
    <p:sldId xmlns:r="http://schemas.openxmlformats.org/officeDocument/2006/relationships" id="343" r:id="R9c5726160de24743"/>
    <p:sldId xmlns:r="http://schemas.openxmlformats.org/officeDocument/2006/relationships" id="344" r:id="Rc7296cc8d1c44b18"/>
    <p:sldId xmlns:r="http://schemas.openxmlformats.org/officeDocument/2006/relationships" id="345" r:id="Ra3530de466e64eb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8e8466d570d4e77" /><Relationship Type="http://schemas.openxmlformats.org/officeDocument/2006/relationships/slideMaster" Target="/ppt/slideMasters/slideMaster1.xml" Id="R455da925aeb04ea9" /><Relationship Type="http://schemas.openxmlformats.org/officeDocument/2006/relationships/notesMaster" Target="/ppt/notesMasters/notesMaster1.xml" Id="R7a2ef937c0224dac" /><Relationship Type="http://schemas.openxmlformats.org/officeDocument/2006/relationships/presProps" Target="/ppt/presProps.xml" Id="R8f17859f3c1d410d" /><Relationship Type="http://schemas.openxmlformats.org/officeDocument/2006/relationships/tableStyles" Target="/ppt/tableStyles.xml" Id="R896dc3575cc9403b" /><Relationship Type="http://schemas.openxmlformats.org/officeDocument/2006/relationships/slide" Target="/ppt/slides/slide1.xml" Id="Re84aa2427e8a4343" /><Relationship Type="http://schemas.openxmlformats.org/officeDocument/2006/relationships/slide" Target="/ppt/slides/slide2.xml" Id="R206cc28715924540" /><Relationship Type="http://schemas.openxmlformats.org/officeDocument/2006/relationships/slide" Target="/ppt/slides/slide3.xml" Id="R624ff620a4a64863" /><Relationship Type="http://schemas.openxmlformats.org/officeDocument/2006/relationships/slide" Target="/ppt/slides/slide4.xml" Id="R84802a858ac54c3a" /><Relationship Type="http://schemas.openxmlformats.org/officeDocument/2006/relationships/slide" Target="/ppt/slides/slide5.xml" Id="R6786467d3ed8444b" /><Relationship Type="http://schemas.openxmlformats.org/officeDocument/2006/relationships/slide" Target="/ppt/slides/slide6.xml" Id="R92491be1ae46421b" /><Relationship Type="http://schemas.openxmlformats.org/officeDocument/2006/relationships/slide" Target="/ppt/slides/slide7.xml" Id="Rf9fe8a7692974163" /><Relationship Type="http://schemas.openxmlformats.org/officeDocument/2006/relationships/slide" Target="/ppt/slides/slide8.xml" Id="R8620131fa6f0476e" /><Relationship Type="http://schemas.openxmlformats.org/officeDocument/2006/relationships/slide" Target="/ppt/slides/slide9.xml" Id="Rf9d376a1211f424f" /><Relationship Type="http://schemas.openxmlformats.org/officeDocument/2006/relationships/slide" Target="/ppt/slides/slide10.xml" Id="Rc237f59f824f4c76" /><Relationship Type="http://schemas.openxmlformats.org/officeDocument/2006/relationships/slide" Target="/ppt/slides/slide11.xml" Id="Rc997b4ebb21a48c4" /><Relationship Type="http://schemas.openxmlformats.org/officeDocument/2006/relationships/slide" Target="/ppt/slides/slide12.xml" Id="R7864bd47b639433d" /><Relationship Type="http://schemas.openxmlformats.org/officeDocument/2006/relationships/slide" Target="/ppt/slides/slide13.xml" Id="Rfcee8d6626744e79" /><Relationship Type="http://schemas.openxmlformats.org/officeDocument/2006/relationships/slide" Target="/ppt/slides/slide14.xml" Id="Rf83b79210fd542a7" /><Relationship Type="http://schemas.openxmlformats.org/officeDocument/2006/relationships/slide" Target="/ppt/slides/slide15.xml" Id="R45ad996e4c5b4067" /><Relationship Type="http://schemas.openxmlformats.org/officeDocument/2006/relationships/slide" Target="/ppt/slides/slide16.xml" Id="Rc641b43b171d4c7a" /><Relationship Type="http://schemas.openxmlformats.org/officeDocument/2006/relationships/slide" Target="/ppt/slides/slide17.xml" Id="Ra070bcc021e84778" /><Relationship Type="http://schemas.openxmlformats.org/officeDocument/2006/relationships/slide" Target="/ppt/slides/slide18.xml" Id="Rec482f7fed684a5b" /><Relationship Type="http://schemas.openxmlformats.org/officeDocument/2006/relationships/slide" Target="/ppt/slides/slide19.xml" Id="R998d787db7474247" /><Relationship Type="http://schemas.openxmlformats.org/officeDocument/2006/relationships/slide" Target="/ppt/slides/slide20.xml" Id="Rb9548371d3b84d7a" /><Relationship Type="http://schemas.openxmlformats.org/officeDocument/2006/relationships/slide" Target="/ppt/slides/slide21.xml" Id="Rb6b4767062ee42ac" /><Relationship Type="http://schemas.openxmlformats.org/officeDocument/2006/relationships/slide" Target="/ppt/slides/slide22.xml" Id="R4e4d59db8d974edb" /><Relationship Type="http://schemas.openxmlformats.org/officeDocument/2006/relationships/slide" Target="/ppt/slides/slide23.xml" Id="Rf634c24e91ce49e8" /><Relationship Type="http://schemas.openxmlformats.org/officeDocument/2006/relationships/slide" Target="/ppt/slides/slide24.xml" Id="R3b5c336abc464956" /><Relationship Type="http://schemas.openxmlformats.org/officeDocument/2006/relationships/slide" Target="/ppt/slides/slide25.xml" Id="Re1d977f3a8c04104" /><Relationship Type="http://schemas.openxmlformats.org/officeDocument/2006/relationships/slide" Target="/ppt/slides/slide26.xml" Id="R138952bcabfe44d9" /><Relationship Type="http://schemas.openxmlformats.org/officeDocument/2006/relationships/slide" Target="/ppt/slides/slide27.xml" Id="Rb4cce3bbef1b4812" /><Relationship Type="http://schemas.openxmlformats.org/officeDocument/2006/relationships/slide" Target="/ppt/slides/slide28.xml" Id="R37ee849773be4aba" /><Relationship Type="http://schemas.openxmlformats.org/officeDocument/2006/relationships/slide" Target="/ppt/slides/slide29.xml" Id="R8ac115ced1354f14" /><Relationship Type="http://schemas.openxmlformats.org/officeDocument/2006/relationships/slide" Target="/ppt/slides/slide30.xml" Id="R4d8e431cd42b4ef4" /><Relationship Type="http://schemas.openxmlformats.org/officeDocument/2006/relationships/slide" Target="/ppt/slides/slide31.xml" Id="R860dd6357fa54db7" /><Relationship Type="http://schemas.openxmlformats.org/officeDocument/2006/relationships/slide" Target="/ppt/slides/slide32.xml" Id="R37933d5c720845b9" /><Relationship Type="http://schemas.openxmlformats.org/officeDocument/2006/relationships/slide" Target="/ppt/slides/slide33.xml" Id="R2bcdce8df4d44a5e" /><Relationship Type="http://schemas.openxmlformats.org/officeDocument/2006/relationships/slide" Target="/ppt/slides/slide34.xml" Id="R7866d35c6f4e44c8" /><Relationship Type="http://schemas.openxmlformats.org/officeDocument/2006/relationships/slide" Target="/ppt/slides/slide35.xml" Id="Rcda3b0decea34a5b" /><Relationship Type="http://schemas.openxmlformats.org/officeDocument/2006/relationships/slide" Target="/ppt/slides/slide36.xml" Id="R742816e2fea64848" /><Relationship Type="http://schemas.openxmlformats.org/officeDocument/2006/relationships/slide" Target="/ppt/slides/slide37.xml" Id="Rfd831e5bcc474bf4" /><Relationship Type="http://schemas.openxmlformats.org/officeDocument/2006/relationships/slide" Target="/ppt/slides/slide38.xml" Id="Rfef0e804535044e7" /><Relationship Type="http://schemas.openxmlformats.org/officeDocument/2006/relationships/slide" Target="/ppt/slides/slide39.xml" Id="R912ddf625f604ca1" /><Relationship Type="http://schemas.openxmlformats.org/officeDocument/2006/relationships/slide" Target="/ppt/slides/slide40.xml" Id="R4b77ef64e7d344e4" /><Relationship Type="http://schemas.openxmlformats.org/officeDocument/2006/relationships/slide" Target="/ppt/slides/slide41.xml" Id="R6be873b05a904734" /><Relationship Type="http://schemas.openxmlformats.org/officeDocument/2006/relationships/slide" Target="/ppt/slides/slide42.xml" Id="R94f72ea9e5cd41ca" /><Relationship Type="http://schemas.openxmlformats.org/officeDocument/2006/relationships/slide" Target="/ppt/slides/slide43.xml" Id="R1f87784dcb7043b3" /><Relationship Type="http://schemas.openxmlformats.org/officeDocument/2006/relationships/slide" Target="/ppt/slides/slide44.xml" Id="R33a5a1e9af964766" /><Relationship Type="http://schemas.openxmlformats.org/officeDocument/2006/relationships/slide" Target="/ppt/slides/slide45.xml" Id="R16162a01f29e4e71" /><Relationship Type="http://schemas.openxmlformats.org/officeDocument/2006/relationships/slide" Target="/ppt/slides/slide46.xml" Id="Rf397222b35fb4639" /><Relationship Type="http://schemas.openxmlformats.org/officeDocument/2006/relationships/slide" Target="/ppt/slides/slide47.xml" Id="R2dc5a5e1dc2945f4" /><Relationship Type="http://schemas.openxmlformats.org/officeDocument/2006/relationships/slide" Target="/ppt/slides/slide48.xml" Id="Rd275474ed39944ac" /><Relationship Type="http://schemas.openxmlformats.org/officeDocument/2006/relationships/slide" Target="/ppt/slides/slide49.xml" Id="Rbfdbf639df834848" /><Relationship Type="http://schemas.openxmlformats.org/officeDocument/2006/relationships/slide" Target="/ppt/slides/slide50.xml" Id="Rd99105c593624673" /><Relationship Type="http://schemas.openxmlformats.org/officeDocument/2006/relationships/slide" Target="/ppt/slides/slide51.xml" Id="R26701aa09010472f" /><Relationship Type="http://schemas.openxmlformats.org/officeDocument/2006/relationships/slide" Target="/ppt/slides/slide52.xml" Id="R9136340fc2fe455b" /><Relationship Type="http://schemas.openxmlformats.org/officeDocument/2006/relationships/slide" Target="/ppt/slides/slide53.xml" Id="R2f0cbc58333f4226" /><Relationship Type="http://schemas.openxmlformats.org/officeDocument/2006/relationships/slide" Target="/ppt/slides/slide54.xml" Id="Rec7841a5d72a4024" /><Relationship Type="http://schemas.openxmlformats.org/officeDocument/2006/relationships/slide" Target="/ppt/slides/slide55.xml" Id="R09544a84fc4e442a" /><Relationship Type="http://schemas.openxmlformats.org/officeDocument/2006/relationships/slide" Target="/ppt/slides/slide56.xml" Id="R684a18cb394b47fc" /><Relationship Type="http://schemas.openxmlformats.org/officeDocument/2006/relationships/slide" Target="/ppt/slides/slide57.xml" Id="R22328e7606d24af4" /><Relationship Type="http://schemas.openxmlformats.org/officeDocument/2006/relationships/slide" Target="/ppt/slides/slide58.xml" Id="R79c516634ba94316" /><Relationship Type="http://schemas.openxmlformats.org/officeDocument/2006/relationships/slide" Target="/ppt/slides/slide59.xml" Id="R891ce06c1c79427c" /><Relationship Type="http://schemas.openxmlformats.org/officeDocument/2006/relationships/slide" Target="/ppt/slides/slide60.xml" Id="R7658a26663024cfd" /><Relationship Type="http://schemas.openxmlformats.org/officeDocument/2006/relationships/slide" Target="/ppt/slides/slide61.xml" Id="R7f6751ed22994f39" /><Relationship Type="http://schemas.openxmlformats.org/officeDocument/2006/relationships/slide" Target="/ppt/slides/slide62.xml" Id="R51ed90dc3b4842db" /><Relationship Type="http://schemas.openxmlformats.org/officeDocument/2006/relationships/slide" Target="/ppt/slides/slide63.xml" Id="R911837f2f53a4b9a" /><Relationship Type="http://schemas.openxmlformats.org/officeDocument/2006/relationships/slide" Target="/ppt/slides/slide64.xml" Id="R9357191adcbc45c9" /><Relationship Type="http://schemas.openxmlformats.org/officeDocument/2006/relationships/slide" Target="/ppt/slides/slide65.xml" Id="R4d30a5f02c23484a" /><Relationship Type="http://schemas.openxmlformats.org/officeDocument/2006/relationships/slide" Target="/ppt/slides/slide66.xml" Id="R1771b252db0b4dda" /><Relationship Type="http://schemas.openxmlformats.org/officeDocument/2006/relationships/slide" Target="/ppt/slides/slide67.xml" Id="R00746cdcbdbb48dc" /><Relationship Type="http://schemas.openxmlformats.org/officeDocument/2006/relationships/slide" Target="/ppt/slides/slide68.xml" Id="R36555e6229cd4d87" /><Relationship Type="http://schemas.openxmlformats.org/officeDocument/2006/relationships/slide" Target="/ppt/slides/slide69.xml" Id="Re65ff28e690f40db" /><Relationship Type="http://schemas.openxmlformats.org/officeDocument/2006/relationships/slide" Target="/ppt/slides/slide70.xml" Id="Rc5b356c78705465f" /><Relationship Type="http://schemas.openxmlformats.org/officeDocument/2006/relationships/slide" Target="/ppt/slides/slide71.xml" Id="R7ac9f33913fb47a8" /><Relationship Type="http://schemas.openxmlformats.org/officeDocument/2006/relationships/slide" Target="/ppt/slides/slide72.xml" Id="R5f60a4128f9b4e04" /><Relationship Type="http://schemas.openxmlformats.org/officeDocument/2006/relationships/slide" Target="/ppt/slides/slide73.xml" Id="Ra1dfc5bec95c4e76" /><Relationship Type="http://schemas.openxmlformats.org/officeDocument/2006/relationships/slide" Target="/ppt/slides/slide74.xml" Id="Rda92f60aeec04b0a" /><Relationship Type="http://schemas.openxmlformats.org/officeDocument/2006/relationships/slide" Target="/ppt/slides/slide75.xml" Id="Ra59608676e0848b6" /><Relationship Type="http://schemas.openxmlformats.org/officeDocument/2006/relationships/slide" Target="/ppt/slides/slide76.xml" Id="R03b3c7f37980487e" /><Relationship Type="http://schemas.openxmlformats.org/officeDocument/2006/relationships/slide" Target="/ppt/slides/slide77.xml" Id="R4abd604e37a046e0" /><Relationship Type="http://schemas.openxmlformats.org/officeDocument/2006/relationships/slide" Target="/ppt/slides/slide78.xml" Id="R62727738e1984e67" /><Relationship Type="http://schemas.openxmlformats.org/officeDocument/2006/relationships/slide" Target="/ppt/slides/slide79.xml" Id="Rf07112afb96549e3" /><Relationship Type="http://schemas.openxmlformats.org/officeDocument/2006/relationships/slide" Target="/ppt/slides/slide80.xml" Id="Rbb2b977efce34e04" /><Relationship Type="http://schemas.openxmlformats.org/officeDocument/2006/relationships/slide" Target="/ppt/slides/slide81.xml" Id="R73bd53bd293d4084" /><Relationship Type="http://schemas.openxmlformats.org/officeDocument/2006/relationships/slide" Target="/ppt/slides/slide82.xml" Id="Rfcee4e7546c6428b" /><Relationship Type="http://schemas.openxmlformats.org/officeDocument/2006/relationships/slide" Target="/ppt/slides/slide83.xml" Id="R34ca87ba5e7b422f" /><Relationship Type="http://schemas.openxmlformats.org/officeDocument/2006/relationships/slide" Target="/ppt/slides/slide84.xml" Id="R71173fee4b534469" /><Relationship Type="http://schemas.openxmlformats.org/officeDocument/2006/relationships/slide" Target="/ppt/slides/slide85.xml" Id="R8ca6986af3154386" /><Relationship Type="http://schemas.openxmlformats.org/officeDocument/2006/relationships/slide" Target="/ppt/slides/slide86.xml" Id="Rb266cea9c628469f" /><Relationship Type="http://schemas.openxmlformats.org/officeDocument/2006/relationships/slide" Target="/ppt/slides/slide87.xml" Id="Rd4410957731742cf" /><Relationship Type="http://schemas.openxmlformats.org/officeDocument/2006/relationships/slide" Target="/ppt/slides/slide88.xml" Id="R9c5726160de24743" /><Relationship Type="http://schemas.openxmlformats.org/officeDocument/2006/relationships/slide" Target="/ppt/slides/slide89.xml" Id="Rc7296cc8d1c44b18" /><Relationship Type="http://schemas.openxmlformats.org/officeDocument/2006/relationships/slide" Target="/ppt/slides/slide90.xml" Id="Ra3530de466e64eb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8ecc37154534a9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RLL">
      <a:dk1>
        <a:srgbClr val="000000"/>
      </a:dk1>
      <a:lt1>
        <a:srgbClr val="F5F5F7"/>
      </a:lt1>
      <a:dk2>
        <a:srgbClr val="09090B"/>
      </a:dk2>
      <a:lt2>
        <a:srgbClr val="98989F"/>
      </a:lt2>
      <a:accent1>
        <a:srgbClr val="BD9FE3"/>
      </a:accent1>
      <a:accent2>
        <a:srgbClr val="A0BBA6"/>
      </a:accent2>
      <a:accent3>
        <a:srgbClr val="D1C9DF"/>
      </a:accent3>
      <a:accent4>
        <a:srgbClr val="80808A"/>
      </a:accent4>
      <a:accent5>
        <a:srgbClr val="C5B5F2"/>
      </a:accent5>
      <a:accent6>
        <a:srgbClr val="B4B4BB"/>
      </a:accent6>
      <a:hlink>
        <a:srgbClr val="BD9FE3"/>
      </a:hlink>
      <a:folHlink>
        <a:srgbClr val="BD9FE3"/>
      </a:folHlink>
    </a:clrScheme>
    <a:fontScheme name="">
      <a:majorFont>
        <a:latin typeface="Helvetica Neue"/>
        <a:ea typeface=""/>
        <a:cs typeface=""/>
      </a:majorFont>
      <a:minorFont>
        <a:latin typeface="Helvetica Neue"/>
        <a:ea typeface=""/>
        <a:cs typeface=""/>
      </a:minorFont>
    </a:fontScheme>
    <a:fmtScheme name="RLL">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82460861327437e" /><Relationship Type="http://schemas.openxmlformats.org/officeDocument/2006/relationships/notesMaster" Target="/ppt/notesMasters/notesMaster1.xml" Id="R58f6a3db9e37498c" /></Relationships>
</file>

<file path=ppt/notesSlides/_rels/notesSlide2.xml.rels>&#65279;<?xml version="1.0" encoding="utf-8"?><Relationships xmlns="http://schemas.openxmlformats.org/package/2006/relationships"><Relationship Type="http://schemas.openxmlformats.org/officeDocument/2006/relationships/slide" Target="/ppt/slides/slide2.xml" Id="Ra3f742b667b84887" /><Relationship Type="http://schemas.openxmlformats.org/officeDocument/2006/relationships/notesMaster" Target="/ppt/notesMasters/notesMaster1.xml" Id="Rfa125680f1b94f97" /></Relationships>
</file>

<file path=ppt/notesSlides/_rels/notesSlide3.xml.rels>&#65279;<?xml version="1.0" encoding="utf-8"?><Relationships xmlns="http://schemas.openxmlformats.org/package/2006/relationships"><Relationship Type="http://schemas.openxmlformats.org/officeDocument/2006/relationships/slide" Target="/ppt/slides/slide3.xml" Id="Rc3a33f51cfb145ba" /><Relationship Type="http://schemas.openxmlformats.org/officeDocument/2006/relationships/notesMaster" Target="/ppt/notesMasters/notesMaster1.xml" Id="R03e30d356fc74195" /></Relationships>
</file>

<file path=ppt/notesSlides/_rels/notesSlide4.xml.rels>&#65279;<?xml version="1.0" encoding="utf-8"?><Relationships xmlns="http://schemas.openxmlformats.org/package/2006/relationships"><Relationship Type="http://schemas.openxmlformats.org/officeDocument/2006/relationships/slide" Target="/ppt/slides/slide4.xml" Id="R31aebe597e654ef5" /><Relationship Type="http://schemas.openxmlformats.org/officeDocument/2006/relationships/notesMaster" Target="/ppt/notesMasters/notesMaster1.xml" Id="R33c2b35ef2204bcf" /></Relationships>
</file>

<file path=ppt/notesSlides/_rels/notesSlide5.xml.rels>&#65279;<?xml version="1.0" encoding="utf-8"?><Relationships xmlns="http://schemas.openxmlformats.org/package/2006/relationships"><Relationship Type="http://schemas.openxmlformats.org/officeDocument/2006/relationships/slide" Target="/ppt/slides/slide5.xml" Id="R5d4492a6c091492b" /><Relationship Type="http://schemas.openxmlformats.org/officeDocument/2006/relationships/notesMaster" Target="/ppt/notesMasters/notesMaster1.xml" Id="Rbe66eeccc0544316" /></Relationships>
</file>

<file path=ppt/notesSlides/_rels/notesSlide6.xml.rels>&#65279;<?xml version="1.0" encoding="utf-8"?><Relationships xmlns="http://schemas.openxmlformats.org/package/2006/relationships"><Relationship Type="http://schemas.openxmlformats.org/officeDocument/2006/relationships/slide" Target="/ppt/slides/slide6.xml" Id="Rd7fb4b69cba241d0" /><Relationship Type="http://schemas.openxmlformats.org/officeDocument/2006/relationships/notesMaster" Target="/ppt/notesMasters/notesMaster1.xml" Id="R5214f7aa561a4261" /></Relationships>
</file>

<file path=ppt/notesSlides/_rels/notesSlide7.xml.rels>&#65279;<?xml version="1.0" encoding="utf-8"?><Relationships xmlns="http://schemas.openxmlformats.org/package/2006/relationships"><Relationship Type="http://schemas.openxmlformats.org/officeDocument/2006/relationships/slide" Target="/ppt/slides/slide7.xml" Id="R0a53fd0639494817" /><Relationship Type="http://schemas.openxmlformats.org/officeDocument/2006/relationships/notesMaster" Target="/ppt/notesMasters/notesMaster1.xml" Id="Rec9174dae6554e30" /></Relationships>
</file>

<file path=ppt/notesSlides/_rels/notesSlide8.xml.rels>&#65279;<?xml version="1.0" encoding="utf-8"?><Relationships xmlns="http://schemas.openxmlformats.org/package/2006/relationships"><Relationship Type="http://schemas.openxmlformats.org/officeDocument/2006/relationships/slide" Target="/ppt/slides/slide8.xml" Id="R41388a73436042fa" /><Relationship Type="http://schemas.openxmlformats.org/officeDocument/2006/relationships/notesMaster" Target="/ppt/notesMasters/notesMaster1.xml" Id="R76481ef32c624147" /></Relationships>
</file>

<file path=ppt/notesSlides/_rels/notesSlide9.xml.rels>&#65279;<?xml version="1.0" encoding="utf-8"?><Relationships xmlns="http://schemas.openxmlformats.org/package/2006/relationships"><Relationship Type="http://schemas.openxmlformats.org/officeDocument/2006/relationships/slide" Target="/ppt/slides/slide9.xml" Id="R19516ef7b7dd40d4" /><Relationship Type="http://schemas.openxmlformats.org/officeDocument/2006/relationships/notesMaster" Target="/ppt/notesMasters/notesMaster1.xml" Id="R8aa2bf70ed264a3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b8169dfff5644cf" /><Relationship Type="http://schemas.openxmlformats.org/officeDocument/2006/relationships/notesMaster" Target="/ppt/notesMasters/notesMaster1.xml" Id="R5114dce651d94bd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8b9be3e7c8d4166" /><Relationship Type="http://schemas.openxmlformats.org/officeDocument/2006/relationships/notesMaster" Target="/ppt/notesMasters/notesMaster1.xml" Id="R64ed56b4eba24fb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8a2c6741b8d43c8" /><Relationship Type="http://schemas.openxmlformats.org/officeDocument/2006/relationships/notesMaster" Target="/ppt/notesMasters/notesMaster1.xml" Id="R9aa2961a865044d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85e51e10eae4952" /><Relationship Type="http://schemas.openxmlformats.org/officeDocument/2006/relationships/notesMaster" Target="/ppt/notesMasters/notesMaster1.xml" Id="R919d4ac440954d0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9f8a122f37f443f" /><Relationship Type="http://schemas.openxmlformats.org/officeDocument/2006/relationships/notesMaster" Target="/ppt/notesMasters/notesMaster1.xml" Id="R4ded898be9d74dd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900831b2f4845ed" /><Relationship Type="http://schemas.openxmlformats.org/officeDocument/2006/relationships/notesMaster" Target="/ppt/notesMasters/notesMaster1.xml" Id="Rfbb8fcb02ae6414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42a293e443e4cbd" /><Relationship Type="http://schemas.openxmlformats.org/officeDocument/2006/relationships/notesMaster" Target="/ppt/notesMasters/notesMaster1.xml" Id="R2cea72429f9a436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0ceabdf16df4f5d" /><Relationship Type="http://schemas.openxmlformats.org/officeDocument/2006/relationships/notesMaster" Target="/ppt/notesMasters/notesMaster1.xml" Id="Rb9f9a867b0224d0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f9868843e7a4c79" /><Relationship Type="http://schemas.openxmlformats.org/officeDocument/2006/relationships/notesMaster" Target="/ppt/notesMasters/notesMaster1.xml" Id="R3f66bd994a9c44f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93c52b9c593432d" /><Relationship Type="http://schemas.openxmlformats.org/officeDocument/2006/relationships/notesMaster" Target="/ppt/notesMasters/notesMaster1.xml" Id="R707cbad113524d8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4311a17fe944b7a" /><Relationship Type="http://schemas.openxmlformats.org/officeDocument/2006/relationships/notesMaster" Target="/ppt/notesMasters/notesMaster1.xml" Id="R78db9315bb9d493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fdb3b53b9e4419a" /><Relationship Type="http://schemas.openxmlformats.org/officeDocument/2006/relationships/notesMaster" Target="/ppt/notesMasters/notesMaster1.xml" Id="Reee442671fb440e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f22786b262f4818" /><Relationship Type="http://schemas.openxmlformats.org/officeDocument/2006/relationships/notesMaster" Target="/ppt/notesMasters/notesMaster1.xml" Id="R2b5755e2dda544b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0a46651cfe1417a" /><Relationship Type="http://schemas.openxmlformats.org/officeDocument/2006/relationships/notesMaster" Target="/ppt/notesMasters/notesMaster1.xml" Id="R1d3f1e7601514b6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bf6077d0aa24a37" /><Relationship Type="http://schemas.openxmlformats.org/officeDocument/2006/relationships/notesMaster" Target="/ppt/notesMasters/notesMaster1.xml" Id="R66978ddd47764dc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a89ebc0eb07d4f24" /><Relationship Type="http://schemas.openxmlformats.org/officeDocument/2006/relationships/notesMaster" Target="/ppt/notesMasters/notesMaster1.xml" Id="R652b98bf742f4af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fef68d6e075494d" /><Relationship Type="http://schemas.openxmlformats.org/officeDocument/2006/relationships/notesMaster" Target="/ppt/notesMasters/notesMaster1.xml" Id="Rdea06c46d39442b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cc81f41716d4dec" /><Relationship Type="http://schemas.openxmlformats.org/officeDocument/2006/relationships/notesMaster" Target="/ppt/notesMasters/notesMaster1.xml" Id="Rd261d01c68d444c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6bde5dcddda4409c" /><Relationship Type="http://schemas.openxmlformats.org/officeDocument/2006/relationships/notesMaster" Target="/ppt/notesMasters/notesMaster1.xml" Id="R643a44a12a8947c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08250c72954d4d11" /><Relationship Type="http://schemas.openxmlformats.org/officeDocument/2006/relationships/notesMaster" Target="/ppt/notesMasters/notesMaster1.xml" Id="R529b0f29ff9a4b94"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1bcb29ca2af548bc" /><Relationship Type="http://schemas.openxmlformats.org/officeDocument/2006/relationships/notesMaster" Target="/ppt/notesMasters/notesMaster1.xml" Id="R4b244492333343fd"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97fb89f6fc2d41f1" /><Relationship Type="http://schemas.openxmlformats.org/officeDocument/2006/relationships/notesMaster" Target="/ppt/notesMasters/notesMaster1.xml" Id="R4c1759830e56421e"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9835fa495ab3462e" /><Relationship Type="http://schemas.openxmlformats.org/officeDocument/2006/relationships/notesMaster" Target="/ppt/notesMasters/notesMaster1.xml" Id="R2caca17a1c63413b"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89832e1100c1404a" /><Relationship Type="http://schemas.openxmlformats.org/officeDocument/2006/relationships/notesMaster" Target="/ppt/notesMasters/notesMaster1.xml" Id="Rfc1b826cfe27471c"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469bad9d293b4163" /><Relationship Type="http://schemas.openxmlformats.org/officeDocument/2006/relationships/notesMaster" Target="/ppt/notesMasters/notesMaster1.xml" Id="Rc6a00e1d007a4c6c"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2527d2e948a54381" /><Relationship Type="http://schemas.openxmlformats.org/officeDocument/2006/relationships/notesMaster" Target="/ppt/notesMasters/notesMaster1.xml" Id="Rb5249fd5a0794c85"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c847eca5025c421d" /><Relationship Type="http://schemas.openxmlformats.org/officeDocument/2006/relationships/notesMaster" Target="/ppt/notesMasters/notesMaster1.xml" Id="R0193ffb644024321"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50e4e153e50743c6" /><Relationship Type="http://schemas.openxmlformats.org/officeDocument/2006/relationships/notesMaster" Target="/ppt/notesMasters/notesMaster1.xml" Id="Rb9cdc0fead0d4fd9"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04301a6ec9d84099" /><Relationship Type="http://schemas.openxmlformats.org/officeDocument/2006/relationships/notesMaster" Target="/ppt/notesMasters/notesMaster1.xml" Id="R25f92d2606e646b6"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1d86d934d2a64d0b" /><Relationship Type="http://schemas.openxmlformats.org/officeDocument/2006/relationships/notesMaster" Target="/ppt/notesMasters/notesMaster1.xml" Id="Rca32df6aff9b4fb7"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c930d7b18d8643d2" /><Relationship Type="http://schemas.openxmlformats.org/officeDocument/2006/relationships/notesMaster" Target="/ppt/notesMasters/notesMaster1.xml" Id="R3aa98088d5794010"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c04ed456e4584496" /><Relationship Type="http://schemas.openxmlformats.org/officeDocument/2006/relationships/notesMaster" Target="/ppt/notesMasters/notesMaster1.xml" Id="Rd665c3c925c248de"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686d9f7ede654d5f" /><Relationship Type="http://schemas.openxmlformats.org/officeDocument/2006/relationships/notesMaster" Target="/ppt/notesMasters/notesMaster1.xml" Id="R33fbba926d13439b"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3a8bb69a82f54b7c" /><Relationship Type="http://schemas.openxmlformats.org/officeDocument/2006/relationships/notesMaster" Target="/ppt/notesMasters/notesMaster1.xml" Id="R737c32201bdf41af"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d6304ee3af214e75" /><Relationship Type="http://schemas.openxmlformats.org/officeDocument/2006/relationships/notesMaster" Target="/ppt/notesMasters/notesMaster1.xml" Id="Rb448457c835846e9"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17a92829073043a2" /><Relationship Type="http://schemas.openxmlformats.org/officeDocument/2006/relationships/notesMaster" Target="/ppt/notesMasters/notesMaster1.xml" Id="Rf6fdb5dca74044ae"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fce37abca29c4347" /><Relationship Type="http://schemas.openxmlformats.org/officeDocument/2006/relationships/notesMaster" Target="/ppt/notesMasters/notesMaster1.xml" Id="R5bd94b57c9294e41"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b25dc2811afa405b" /><Relationship Type="http://schemas.openxmlformats.org/officeDocument/2006/relationships/notesMaster" Target="/ppt/notesMasters/notesMaster1.xml" Id="R581beaa77c144703"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171fda59a9194ab9" /><Relationship Type="http://schemas.openxmlformats.org/officeDocument/2006/relationships/notesMaster" Target="/ppt/notesMasters/notesMaster1.xml" Id="R4e4e85a7180c4765"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37f0e9ff665b4d9f" /><Relationship Type="http://schemas.openxmlformats.org/officeDocument/2006/relationships/notesMaster" Target="/ppt/notesMasters/notesMaster1.xml" Id="Rb7fb8c2cfe814b35"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ed68fcb4970e4095" /><Relationship Type="http://schemas.openxmlformats.org/officeDocument/2006/relationships/notesMaster" Target="/ppt/notesMasters/notesMaster1.xml" Id="R8974ad75080e4192"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48f7128104dd4130" /><Relationship Type="http://schemas.openxmlformats.org/officeDocument/2006/relationships/notesMaster" Target="/ppt/notesMasters/notesMaster1.xml" Id="R8f17d6559c204eee"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b37d6a8b8fa94e1e" /><Relationship Type="http://schemas.openxmlformats.org/officeDocument/2006/relationships/notesMaster" Target="/ppt/notesMasters/notesMaster1.xml" Id="Rcfebba02c2cc4311"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d55e5861947a41c6" /><Relationship Type="http://schemas.openxmlformats.org/officeDocument/2006/relationships/notesMaster" Target="/ppt/notesMasters/notesMaster1.xml" Id="Rb0e80dc9e24a4a3d"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09952fcbf7c44265" /><Relationship Type="http://schemas.openxmlformats.org/officeDocument/2006/relationships/notesMaster" Target="/ppt/notesMasters/notesMaster1.xml" Id="R3eca267003244ca1"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58c3c2c1d8604ac9" /><Relationship Type="http://schemas.openxmlformats.org/officeDocument/2006/relationships/notesMaster" Target="/ppt/notesMasters/notesMaster1.xml" Id="R56a6bb30c14749a9"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5fbefc9465b24324" /><Relationship Type="http://schemas.openxmlformats.org/officeDocument/2006/relationships/notesMaster" Target="/ppt/notesMasters/notesMaster1.xml" Id="Rb3a44536e44c49fd"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e6ade46097e94677" /><Relationship Type="http://schemas.openxmlformats.org/officeDocument/2006/relationships/notesMaster" Target="/ppt/notesMasters/notesMaster1.xml" Id="R8127a372a2264e62"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6ee1b0901f134f58" /><Relationship Type="http://schemas.openxmlformats.org/officeDocument/2006/relationships/notesMaster" Target="/ppt/notesMasters/notesMaster1.xml" Id="R4fac3e4fecb040a6"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2360ed44e2bb4ab3" /><Relationship Type="http://schemas.openxmlformats.org/officeDocument/2006/relationships/notesMaster" Target="/ppt/notesMasters/notesMaster1.xml" Id="Rde5e2f694e564ddd"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1043151621fe4a5c" /><Relationship Type="http://schemas.openxmlformats.org/officeDocument/2006/relationships/notesMaster" Target="/ppt/notesMasters/notesMaster1.xml" Id="Ra622cb5989734d20"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423323ba1a264423" /><Relationship Type="http://schemas.openxmlformats.org/officeDocument/2006/relationships/notesMaster" Target="/ppt/notesMasters/notesMaster1.xml" Id="R0173bfb503104286"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8de2c14ddad44b70" /><Relationship Type="http://schemas.openxmlformats.org/officeDocument/2006/relationships/notesMaster" Target="/ppt/notesMasters/notesMaster1.xml" Id="R9216b698b8274934"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e74c3b9e67b74e49" /><Relationship Type="http://schemas.openxmlformats.org/officeDocument/2006/relationships/notesMaster" Target="/ppt/notesMasters/notesMaster1.xml" Id="R61281acdb99e445a"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127d543669de4b72" /><Relationship Type="http://schemas.openxmlformats.org/officeDocument/2006/relationships/notesMaster" Target="/ppt/notesMasters/notesMaster1.xml" Id="R8ff83e4a2ce6452b"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1e9457b9ea3943d4" /><Relationship Type="http://schemas.openxmlformats.org/officeDocument/2006/relationships/notesMaster" Target="/ppt/notesMasters/notesMaster1.xml" Id="R27a6faff3abe4c10"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c2d73f396eb6407f" /><Relationship Type="http://schemas.openxmlformats.org/officeDocument/2006/relationships/notesMaster" Target="/ppt/notesMasters/notesMaster1.xml" Id="R8dc921daba404075"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4d930ac15c644aec" /><Relationship Type="http://schemas.openxmlformats.org/officeDocument/2006/relationships/notesMaster" Target="/ppt/notesMasters/notesMaster1.xml" Id="Rbf77b9a3454c46e1"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367eaae120c24eca" /><Relationship Type="http://schemas.openxmlformats.org/officeDocument/2006/relationships/notesMaster" Target="/ppt/notesMasters/notesMaster1.xml" Id="R5b79f054b9d3433c"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d73ac14143a6429d" /><Relationship Type="http://schemas.openxmlformats.org/officeDocument/2006/relationships/notesMaster" Target="/ppt/notesMasters/notesMaster1.xml" Id="Rd0da92f298f94a66"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024b26341c6d4560" /><Relationship Type="http://schemas.openxmlformats.org/officeDocument/2006/relationships/notesMaster" Target="/ppt/notesMasters/notesMaster1.xml" Id="Rcad055787bd245cc"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b45e9f65423040df" /><Relationship Type="http://schemas.openxmlformats.org/officeDocument/2006/relationships/notesMaster" Target="/ppt/notesMasters/notesMaster1.xml" Id="Rb8b62b2c91ad443b"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d6fb714884cc4318" /><Relationship Type="http://schemas.openxmlformats.org/officeDocument/2006/relationships/notesMaster" Target="/ppt/notesMasters/notesMaster1.xml" Id="R71f004f809fa4fc1"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1c2f362bd2a64990" /><Relationship Type="http://schemas.openxmlformats.org/officeDocument/2006/relationships/notesMaster" Target="/ppt/notesMasters/notesMaster1.xml" Id="Re7ee4666c205465d"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63051fc70b6147d3" /><Relationship Type="http://schemas.openxmlformats.org/officeDocument/2006/relationships/notesMaster" Target="/ppt/notesMasters/notesMaster1.xml" Id="R747bcbf72c044ed9"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e2a62241d1fa4212" /><Relationship Type="http://schemas.openxmlformats.org/officeDocument/2006/relationships/notesMaster" Target="/ppt/notesMasters/notesMaster1.xml" Id="R7bfe5cbd52be48af"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cfa78fa2552e4236" /><Relationship Type="http://schemas.openxmlformats.org/officeDocument/2006/relationships/notesMaster" Target="/ppt/notesMasters/notesMaster1.xml" Id="R08475f53e38c4e14"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e3f0df2a6d2c4d2d" /><Relationship Type="http://schemas.openxmlformats.org/officeDocument/2006/relationships/notesMaster" Target="/ppt/notesMasters/notesMaster1.xml" Id="R55de3578566648ae"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c247b04b73db45ed" /><Relationship Type="http://schemas.openxmlformats.org/officeDocument/2006/relationships/notesMaster" Target="/ppt/notesMasters/notesMaster1.xml" Id="Red15d3aecf584b43"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edc1f79a89e44d63" /><Relationship Type="http://schemas.openxmlformats.org/officeDocument/2006/relationships/notesMaster" Target="/ppt/notesMasters/notesMaster1.xml" Id="R3f9933e7c7dd4fad"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522ec1fa98134063" /><Relationship Type="http://schemas.openxmlformats.org/officeDocument/2006/relationships/notesMaster" Target="/ppt/notesMasters/notesMaster1.xml" Id="R5aebd2ded7804038"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ddf843815f1646c7" /><Relationship Type="http://schemas.openxmlformats.org/officeDocument/2006/relationships/notesMaster" Target="/ppt/notesMasters/notesMaster1.xml" Id="Radac94c8dd124dde"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c29de51c58d74d0c" /><Relationship Type="http://schemas.openxmlformats.org/officeDocument/2006/relationships/notesMaster" Target="/ppt/notesMasters/notesMaster1.xml" Id="R8dda48df28ff4210"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376226fabf154659" /><Relationship Type="http://schemas.openxmlformats.org/officeDocument/2006/relationships/notesMaster" Target="/ppt/notesMasters/notesMaster1.xml" Id="Rb94c059f8ec04613"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43ffaa3bac614da7" /><Relationship Type="http://schemas.openxmlformats.org/officeDocument/2006/relationships/notesMaster" Target="/ppt/notesMasters/notesMaster1.xml" Id="Rd6e0228bbbab4345"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5f01dcd219ec4282" /><Relationship Type="http://schemas.openxmlformats.org/officeDocument/2006/relationships/notesMaster" Target="/ppt/notesMasters/notesMaster1.xml" Id="R5c37119be8af4162"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435ac331f3a04550" /><Relationship Type="http://schemas.openxmlformats.org/officeDocument/2006/relationships/notesMaster" Target="/ppt/notesMasters/notesMaster1.xml" Id="R5bdcc2e174e94160"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aceccdc423554d24" /><Relationship Type="http://schemas.openxmlformats.org/officeDocument/2006/relationships/notesMaster" Target="/ppt/notesMasters/notesMaster1.xml" Id="Rbab80cdb39be4048"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17ef29359a774827" /><Relationship Type="http://schemas.openxmlformats.org/officeDocument/2006/relationships/notesMaster" Target="/ppt/notesMasters/notesMaster1.xml" Id="Rc01ae3cf85db45bc"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b6c1f94853dc4070" /><Relationship Type="http://schemas.openxmlformats.org/officeDocument/2006/relationships/notesMaster" Target="/ppt/notesMasters/notesMaster1.xml" Id="R43f0d4aaca5b47d0" /></Relationships>
</file>

<file path=ppt/notesSlides/_rels/notesSlide90.xml.rels>&#65279;<?xml version="1.0" encoding="utf-8"?><Relationships xmlns="http://schemas.openxmlformats.org/package/2006/relationships"><Relationship Type="http://schemas.openxmlformats.org/officeDocument/2006/relationships/slide" Target="/ppt/slides/slide90.xml" Id="R3483b205d3f24669" /><Relationship Type="http://schemas.openxmlformats.org/officeDocument/2006/relationships/notesMaster" Target="/ppt/notesMasters/notesMaster1.xml" Id="R1a6c526b3960405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0–1 мин от начала лекции (1 мин). Темп можно адаптировать к группе.</a:t>
            </a:r>
          </a:p>
          <a:p xmlns:a="http://schemas.openxmlformats.org/drawingml/2006/main">
            <a:r>
              <a:t/>
            </a:r>
          </a:p>
          <a:p xmlns:a="http://schemas.openxmlformats.org/drawingml/2006/main">
            <a:r>
              <a:t>Первая лекция блока «Основы NLP и векторные представления», 24 октября. Алан-Барсаг Газзаев. Темы согласованы с исходной программой. Код и выполнение экспериментов рассматриваются на семинаре.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1–2 мин от начала лекции (1 мин). Темп можно адаптировать к группе.</a:t>
            </a:r>
          </a:p>
          <a:p xmlns:a="http://schemas.openxmlformats.org/drawingml/2006/main">
            <a:r>
              <a:t/>
            </a:r>
          </a:p>
          <a:p xmlns:a="http://schemas.openxmlformats.org/drawingml/2006/main">
            <a:r>
              <a:t>Задачи, данные и preprocessing</a:t>
            </a:r>
          </a:p>
          <a:p xmlns:a="http://schemas.openxmlformats.org/drawingml/2006/main">
            <a:r>
              <a:t>Основные задачи NLP различаются формой ответа: class label, последовательность меток, найденный документ или новый текст. После краткой истории подходов рассматриваются источники данных, annotation и разделение corpus. Затем — tokenization, normalization, lemmatization, stemming и stop words, с примерами того, как эти операции меняют доступную модели информацию.</a:t>
            </a:r>
          </a:p>
          <a:p xmlns:a="http://schemas.openxmlformats.org/drawingml/2006/main">
            <a:r>
              <a:t/>
            </a:r>
          </a:p>
          <a:p xmlns:a="http://schemas.openxmlformats.org/drawingml/2006/main">
            <a:r>
              <a:t>Text representations, classifiers и RNN</a:t>
            </a:r>
          </a:p>
          <a:p xmlns:a="http://schemas.openxmlformats.org/drawingml/2006/main">
            <a:r>
              <a:t>Zipf’s law, n-grams, Bag of Words и TF-IDF вводятся как базовые понятия. Naive Bayes и Logistic Regression рассматриваются на уровне принципа работы и применения. Раздел RNN объясняет обработку последовательности без разбора внутренней архитектуры. Завершают лекцию библиотеки; реализация preprocessing и classification переносится на семинар.</a:t>
            </a:r>
          </a:p>
          <a:p xmlns:a="http://schemas.openxmlformats.org/drawingml/2006/main">
            <a:r>
              <a:t/>
            </a:r>
          </a:p>
          <a:p xmlns:a="http://schemas.openxmlformats.org/drawingml/2006/main">
            <a:r>
              <a:t/>
            </a:r>
          </a:p>
          <a:p xmlns:a="http://schemas.openxmlformats.org/drawingml/2006/main">
            <a:r>
              <a:t>Источник: https://docs.google.com/document/d/1dhTfnnaMGqnamn8odhJQwGDgKYyPB46GE1Q-YxJ3D-U/edit</a:t>
            </a:r>
          </a:p>
          <a:p xmlns:a="http://schemas.openxmlformats.org/drawingml/2006/main">
            <a:r>
              <a:t>Источник: https://lena-voita.github.io/nlp_course/text_classification.html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2–3 мин от начала лекции (1 мин). Темп можно адаптировать к группе.</a:t>
            </a:r>
          </a:p>
          <a:p xmlns:a="http://schemas.openxmlformats.org/drawingml/2006/main">
            <a:r>
              <a:t/>
            </a:r>
          </a:p>
          <a:p xmlns:a="http://schemas.openxmlformats.org/drawingml/2006/main">
            <a:r>
              <a:t>Предмет NLP</a:t>
            </a:r>
          </a:p>
          <a:p xmlns:a="http://schemas.openxmlformats.org/drawingml/2006/main">
            <a:r>
              <a:t>Natural Language Processing объединяет вычислительные методы работы с человеческим языком. Входом может быть сообщение, документ, диалог или пара текстов. Постановка задачи задаёт доступный контекст, единицу анализа и формат ответа. Одна и та же модель не обязана одинаково хорошо решать задачи с разными требованиями к результату.</a:t>
            </a:r>
          </a:p>
          <a:p xmlns:a="http://schemas.openxmlformats.org/drawingml/2006/main">
            <a:r>
              <a:t/>
            </a:r>
          </a:p>
          <a:p xmlns:a="http://schemas.openxmlformats.org/drawingml/2006/main">
            <a:r>
              <a:t>Источники сложности</a:t>
            </a:r>
          </a:p>
          <a:p xmlns:a="http://schemas.openxmlformats.org/drawingml/2006/main">
            <a:r>
              <a:t>Язык содержит неоднозначность: смысл слова зависит от контекста, а одинаковое содержание выражается разными формулировками. Отрицание и порядок слов меняют интерпретацию; опечатки и сокращения меняют наблюдаемую запись. Качество NLP-системы определяется не только алгоритмом, но и данными, правилами annotation и соответствием evaluation реальному применению.</a:t>
            </a:r>
          </a:p>
          <a:p xmlns:a="http://schemas.openxmlformats.org/drawingml/2006/main">
            <a:r>
              <a:t/>
            </a:r>
          </a:p>
          <a:p xmlns:a="http://schemas.openxmlformats.org/drawingml/2006/main">
            <a:r>
              <a:t/>
            </a:r>
          </a:p>
          <a:p xmlns:a="http://schemas.openxmlformats.org/drawingml/2006/main">
            <a:r>
              <a:t>Источник: https://web.stanford.edu/~jurafsky/slp3/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3–5 мин от начала лекции (2 мин). Темп можно адаптировать к группе.</a:t>
            </a:r>
          </a:p>
          <a:p xmlns:a="http://schemas.openxmlformats.org/drawingml/2006/main">
            <a:r>
              <a:t/>
            </a:r>
          </a:p>
          <a:p xmlns:a="http://schemas.openxmlformats.org/drawingml/2006/main">
            <a:r>
              <a:t>Постановки различаются единицей анализа и формой ответа. Это различие определяет состав разметки, требования к модели и способ оценки результата.</a:t>
            </a:r>
          </a:p>
          <a:p xmlns:a="http://schemas.openxmlformats.org/drawingml/2006/main">
            <a:r>
              <a:t/>
            </a:r>
          </a:p>
          <a:p xmlns:a="http://schemas.openxmlformats.org/drawingml/2006/main">
            <a:r>
              <a:t>Например, отзыв можно отнести к классу тональности, выделить в нём название товара или найти по запросу. Для каждой операции требуется собственный целевой ответ и критерий правильности.</a:t>
            </a:r>
          </a:p>
          <a:p xmlns:a="http://schemas.openxmlformats.org/drawingml/2006/main">
            <a:r>
              <a:t/>
            </a:r>
          </a:p>
          <a:p xmlns:a="http://schemas.openxmlformats.org/drawingml/2006/main">
            <a:r>
              <a:t>Источник: https://web.stanford.edu/~jurafsky/slp3/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5–6.5 мин от начала лекции (1.5 мин). Темп можно адаптировать к группе.</a:t>
            </a:r>
          </a:p>
          <a:p xmlns:a="http://schemas.openxmlformats.org/drawingml/2006/main">
            <a:r>
              <a:t/>
            </a:r>
          </a:p>
          <a:p xmlns:a="http://schemas.openxmlformats.org/drawingml/2006/main">
            <a:r>
              <a:t>Постановка задачи</a:t>
            </a:r>
          </a:p>
          <a:p xmlns:a="http://schemas.openxmlformats.org/drawingml/2006/main">
            <a:r>
              <a:t>Text classification сопоставляет документу class label из заранее заданного набора. Документом может быть короткий запрос, отзыв, письмо или целая статья. Примеры — spam detection, topic classification, intent classification и sentiment analysis. До обучения необходимо определить, какое свойство текста должна описывать метка и какой контекст доступен при предсказании.</a:t>
            </a:r>
          </a:p>
          <a:p xmlns:a="http://schemas.openxmlformats.org/drawingml/2006/main">
            <a:r>
              <a:t/>
            </a:r>
          </a:p>
          <a:p xmlns:a="http://schemas.openxmlformats.org/drawingml/2006/main">
            <a:r>
              <a:t>Объект, представление и ответ</a:t>
            </a:r>
          </a:p>
          <a:p xmlns:a="http://schemas.openxmlformats.org/drawingml/2006/main">
            <a:r>
              <a:t>Обозначим исходный документ через x, его feature representation через h, а целевую метку через y. Feature extractor преобразует текст в численный вектор; classifier использует этот вектор для выбора класса. В single-label постановке каждому документу соответствует одна правильная метка. Для multi-label задачи набор допустимых ответов устроен иначе.</a:t>
            </a:r>
          </a:p>
          <a:p xmlns:a="http://schemas.openxmlformats.org/drawingml/2006/main">
            <a:r>
              <a:t/>
            </a:r>
          </a:p>
          <a:p xmlns:a="http://schemas.openxmlformats.org/drawingml/2006/main">
            <a:r>
              <a:t/>
            </a:r>
          </a:p>
          <a:p xmlns:a="http://schemas.openxmlformats.org/drawingml/2006/main">
            <a:r>
              <a:t>Источник: https://lena-voita.github.io/nlp_course/text_classification.html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6.5–8 мин от начала лекции (1.5 мин). Темп можно адаптировать к группе.</a:t>
            </a:r>
          </a:p>
          <a:p xmlns:a="http://schemas.openxmlformats.org/drawingml/2006/main">
            <a:r>
              <a:t/>
            </a:r>
          </a:p>
          <a:p xmlns:a="http://schemas.openxmlformats.org/drawingml/2006/main">
            <a:r>
              <a:t>В single-label classification у объекта одна целевая метка: binary classification задаёт два возможных класса, multi-class — больше двух. В multi-label classification несколько меток могут быть верны одновременно. Например, сообщение может относиться и к доставке, и к оплате. Число классов и число меток у одного объекта — разные характеристики задачи. Это различие влияет на annotation, выход модели и выбор evaluation metrics.</a:t>
            </a:r>
          </a:p>
          <a:p xmlns:a="http://schemas.openxmlformats.org/drawingml/2006/main">
            <a:r>
              <a:t/>
            </a:r>
          </a:p>
          <a:p xmlns:a="http://schemas.openxmlformats.org/drawingml/2006/main">
            <a:r>
              <a:t/>
            </a:r>
          </a:p>
          <a:p xmlns:a="http://schemas.openxmlformats.org/drawingml/2006/main">
            <a:r>
              <a:t>Источник: https://lena-voita.github.io/nlp_course/text_classification.html</a:t>
            </a:r>
          </a:p>
          <a:p xmlns:a="http://schemas.openxmlformats.org/drawingml/2006/main">
            <a:r>
              <a:t>Иллюстрация: https://lena-voita.github.io/resources/lectures/text_clf/intro/example_twitter-min.png</a:t>
            </a:r>
          </a:p>
          <a:p xmlns:a="http://schemas.openxmlformats.org/drawingml/2006/main">
            <a:r>
              <a:t>Источник: https://lena-voita.github.io/nlp_course/text_classification.html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8–9.5 мин от начала лекции (1.5 мин). Темп можно адаптировать к группе.</a:t>
            </a:r>
          </a:p>
          <a:p xmlns:a="http://schemas.openxmlformats.org/drawingml/2006/main">
            <a:r>
              <a:t/>
            </a:r>
          </a:p>
          <a:p xmlns:a="http://schemas.openxmlformats.org/drawingml/2006/main">
            <a:r>
              <a:t>Объект оценки</a:t>
            </a:r>
          </a:p>
          <a:p xmlns:a="http://schemas.openxmlformats.org/drawingml/2006/main">
            <a:r>
              <a:t>Отзыв «Товар отличный, но доставка заняла две недели» содержит оценки разных объектов. Положительное отношение к товару сочетается с недовольством доставкой. Прежде чем назначать метку, необходимо определить, что именно оценивает система: товар, обслуживание, заказ в целом или отдельные аспекты пользовательского опыта.</a:t>
            </a:r>
          </a:p>
          <a:p xmlns:a="http://schemas.openxmlformats.org/drawingml/2006/main">
            <a:r>
              <a:t/>
            </a:r>
          </a:p>
          <a:p xmlns:a="http://schemas.openxmlformats.org/drawingml/2006/main">
            <a:r>
              <a:t>Правила интерпретации</a:t>
            </a:r>
          </a:p>
          <a:p xmlns:a="http://schemas.openxmlformats.org/drawingml/2006/main">
            <a:r>
              <a:t>Одинаковый текст может получать разные допустимые метки в разных постановках. Инструкция должна объяснять, как учитывать смешанные оценки, отсутствие явного мнения, иронию и нейтральные факты. Неоднозначность исходной задачи ограничивает качество модели: дополнительное обучение не заменяет согласованных определений классов и правил разметки.</a:t>
            </a:r>
          </a:p>
          <a:p xmlns:a="http://schemas.openxmlformats.org/drawingml/2006/main">
            <a:r>
              <a:t/>
            </a:r>
          </a:p>
          <a:p xmlns:a="http://schemas.openxmlformats.org/drawingml/2006/main">
            <a:r>
              <a:t>Источник: https://web.stanford.edu/~jurafsky/slp3/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9.5–10.5 мин от начала лекции (1 мин). Темп можно адаптировать к группе.</a:t>
            </a:r>
          </a:p>
          <a:p xmlns:a="http://schemas.openxmlformats.org/drawingml/2006/main">
            <a:r>
              <a:t/>
            </a:r>
          </a:p>
          <a:p xmlns:a="http://schemas.openxmlformats.org/drawingml/2006/main">
            <a:r>
              <a:t>Сущности и их границы</a:t>
            </a:r>
          </a:p>
          <a:p xmlns:a="http://schemas.openxmlformats.org/drawingml/2006/main">
            <a:r>
              <a:t>Распознавание именованных сущностей выделяет фрагменты текста и относит их к заданным категориям: людям, организациям, местам и другим типам. Для фразы «Анна получила заказ в Казани» важны как границы имени и названия города, так и их категории. Набор типов сущностей определяют требования приложения и использованная разметка.</a:t>
            </a:r>
          </a:p>
          <a:p xmlns:a="http://schemas.openxmlformats.org/drawingml/2006/main">
            <a:r>
              <a:t/>
            </a:r>
          </a:p>
          <a:p xmlns:a="http://schemas.openxmlformats.org/drawingml/2006/main">
            <a:r>
              <a:t>Отношения и события</a:t>
            </a:r>
          </a:p>
          <a:p xmlns:a="http://schemas.openxmlformats.org/drawingml/2006/main">
            <a:r>
              <a:t>Information extraction может дополнительно устанавливать связи между сущностями, например место работы человека или участника события. Результат принимает структурированную форму, пригодную для поиска и анализа. Оценка должна учитывать правильность границ, категорий и связей. Успешная классификация всего документа сама по себе не означает правильного извлечения его фактов.</a:t>
            </a:r>
          </a:p>
          <a:p xmlns:a="http://schemas.openxmlformats.org/drawingml/2006/main">
            <a:r>
              <a:t/>
            </a:r>
          </a:p>
          <a:p xmlns:a="http://schemas.openxmlformats.org/drawingml/2006/main">
            <a:r>
              <a:t>Источник: https://web.stanford.edu/~jurafsky/slp3/</a:t>
            </a:r>
          </a:p>
          <a:p xmlns:a="http://schemas.openxmlformats.org/drawingml/2006/main">
            <a:r>
              <a:t>Источник: https://www.nltk.org/book/ch07.html</a:t>
            </a:r>
          </a:p>
          <a:p xmlns:a="http://schemas.openxmlformats.org/drawingml/2006/main">
            <a:r>
              <a:t>Иллюстрация: https://www.nltk.org/images/ie-architecture.png</a:t>
            </a:r>
          </a:p>
          <a:p xmlns:a="http://schemas.openxmlformats.org/drawingml/2006/main">
            <a:r>
              <a:t>Пример последовательного извлечения сущностей и отношений.</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10.5–11.5 мин от начала лекции (1 мин). Темп можно адаптировать к группе.</a:t>
            </a:r>
          </a:p>
          <a:p xmlns:a="http://schemas.openxmlformats.org/drawingml/2006/main">
            <a:r>
              <a:t/>
            </a:r>
          </a:p>
          <a:p xmlns:a="http://schemas.openxmlformats.org/drawingml/2006/main">
            <a:r>
              <a:t>Метка B обозначает начало фрагмента, I обозначает его продолжение, O обозначает токен вне выделенных фрагментов. В примере NP соответствует именной группе. Аналогичный принцип используют для разметки сущностей, добавляя тип фрагмента к каждой метке. Качество зависит от правильности границ и категорий, поэтому ошибочная метка одного токена может изменить интерпретацию всего фрагмента.</a:t>
            </a:r>
          </a:p>
          <a:p xmlns:a="http://schemas.openxmlformats.org/drawingml/2006/main">
            <a:r>
              <a:t/>
            </a:r>
          </a:p>
          <a:p xmlns:a="http://schemas.openxmlformats.org/drawingml/2006/main">
            <a:r>
              <a:t>Пример IOB-разметки из NLTK Book. Именная группа и именованная сущность являются разными понятиями.</a:t>
            </a:r>
          </a:p>
          <a:p xmlns:a="http://schemas.openxmlformats.org/drawingml/2006/main">
            <a:r>
              <a:t/>
            </a:r>
          </a:p>
          <a:p xmlns:a="http://schemas.openxmlformats.org/drawingml/2006/main">
            <a:r>
              <a:t/>
            </a:r>
          </a:p>
          <a:p xmlns:a="http://schemas.openxmlformats.org/drawingml/2006/main">
            <a:r>
              <a:t/>
            </a:r>
          </a:p>
          <a:p xmlns:a="http://schemas.openxmlformats.org/drawingml/2006/main">
            <a:r>
              <a:t>Источник: https://www.nltk.org/book/ch07.html</a:t>
            </a:r>
          </a:p>
          <a:p xmlns:a="http://schemas.openxmlformats.org/drawingml/2006/main">
            <a:r>
              <a:t>Иллюстрация: https://www.nltk.org/images/chunk-tagrep.png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11.5–12.5 мин от начала лекции (1 мин). Темп можно адаптировать к группе.</a:t>
            </a:r>
          </a:p>
          <a:p xmlns:a="http://schemas.openxmlformats.org/drawingml/2006/main">
            <a:r>
              <a:t/>
            </a:r>
          </a:p>
          <a:p xmlns:a="http://schemas.openxmlformats.org/drawingml/2006/main">
            <a:r>
              <a:t>Запрос и коллекция документов</a:t>
            </a:r>
          </a:p>
          <a:p xmlns:a="http://schemas.openxmlformats.org/drawingml/2006/main">
            <a:r>
              <a:t>Поисковая система получает запрос и выбирает из коллекции документы, которые могут удовлетворить информационную потребность пользователя. Запрос и документ часто различаются по длине и формулировке. Для поиска используют лексическое совпадение, числовые представления текста и дополнительные сигналы, связанные с содержанием или условиями поиска.</a:t>
            </a:r>
          </a:p>
          <a:p xmlns:a="http://schemas.openxmlformats.org/drawingml/2006/main">
            <a:r>
              <a:t/>
            </a:r>
          </a:p>
          <a:p xmlns:a="http://schemas.openxmlformats.org/drawingml/2006/main">
            <a:r>
              <a:t>Отбор и ранжирование</a:t>
            </a:r>
          </a:p>
          <a:p xmlns:a="http://schemas.openxmlformats.org/drawingml/2006/main">
            <a:r>
              <a:t>На первом этапе можно быстро сформировать множество кандидатов, затем упорядочить их по ожидаемой релевантности. Пользователь видит ограниченную часть выдачи, поэтому положение подходящего документа имеет значение. Для проверки нужны запросы, коллекция и оценки релевантности. Оценка отдельного текста без учёта запроса не описывает качество поисковой системы.</a:t>
            </a:r>
          </a:p>
          <a:p xmlns:a="http://schemas.openxmlformats.org/drawingml/2006/main">
            <a:r>
              <a:t/>
            </a:r>
          </a:p>
          <a:p xmlns:a="http://schemas.openxmlformats.org/drawingml/2006/main">
            <a:r>
              <a:t>Источник: https://web.stanford.edu/~jurafsky/slp3/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12.5–14 мин от начала лекции (1.5 мин). Темп можно адаптировать к группе.</a:t>
            </a:r>
          </a:p>
          <a:p xmlns:a="http://schemas.openxmlformats.org/drawingml/2006/main">
            <a:r>
              <a:t/>
            </a:r>
          </a:p>
          <a:p xmlns:a="http://schemas.openxmlformats.org/drawingml/2006/main">
            <a:r>
              <a:t>Формирование текста</a:t>
            </a:r>
          </a:p>
          <a:p xmlns:a="http://schemas.openxmlformats.org/drawingml/2006/main">
            <a:r>
              <a:t>Text generation создаёт последовательность tokens. Продолжение текста зависит от предыдущего контекста; ответ в диалоге дополнительно зависит от запроса и истории. В conditional generation исходные данные задают содержание результата, но обычно допускают несколько корректных формулировок. Поэтому точное совпадение с единственным эталоном не исчерпывает evaluation.</a:t>
            </a:r>
          </a:p>
          <a:p xmlns:a="http://schemas.openxmlformats.org/drawingml/2006/main">
            <a:r>
              <a:t/>
            </a:r>
          </a:p>
          <a:p xmlns:a="http://schemas.openxmlformats.org/drawingml/2006/main">
            <a:r>
              <a:t>Summarization</a:t>
            </a:r>
          </a:p>
          <a:p xmlns:a="http://schemas.openxmlformats.org/drawingml/2006/main">
            <a:r>
              <a:t>Summarization сокращает исходный материал, сохраняя существенную информацию. Extractive подход выбирает фрагменты источника, abstractive допускает новые формулировки. Краткость сама по себе не означает качество: важны полнота значимых фактов, связность и отсутствие неподтверждённых утверждений. Language model может создавать грамматичный текст, который не соответствует исходным данным.</a:t>
            </a:r>
          </a:p>
          <a:p xmlns:a="http://schemas.openxmlformats.org/drawingml/2006/main">
            <a:r>
              <a:t/>
            </a:r>
          </a:p>
          <a:p xmlns:a="http://schemas.openxmlformats.org/drawingml/2006/main">
            <a:r>
              <a:t/>
            </a:r>
          </a:p>
          <a:p xmlns:a="http://schemas.openxmlformats.org/drawingml/2006/main">
            <a:r>
              <a:t>Источник: https://web.stanford.edu/~jurafsky/slp3/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14–14.5 мин от начала лекции (0.5 мин). Темп можно адаптировать к группе.</a:t>
            </a:r>
          </a:p>
          <a:p xmlns:a="http://schemas.openxmlformats.org/drawingml/2006/main">
            <a:r>
              <a:t/>
            </a:r>
          </a:p>
          <a:p xmlns:a="http://schemas.openxmlformats.org/drawingml/2006/main">
            <a:r>
              <a:t>Machine translation получает текст на source language и формирует текст на target language. Требуется передать содержание, а порядок слов, длина и способы выражения могут измениться. Encoder–decoder — общий способ организовать conditional generation: encoder строит representation входа, decoder использует его при формировании ответа. Подробный разбор этой архитектуры относится к следующему блоку.</a:t>
            </a:r>
          </a:p>
          <a:p xmlns:a="http://schemas.openxmlformats.org/drawingml/2006/main">
            <a:r>
              <a:t/>
            </a:r>
          </a:p>
          <a:p xmlns:a="http://schemas.openxmlformats.org/drawingml/2006/main">
            <a:r>
              <a:t/>
            </a:r>
          </a:p>
          <a:p xmlns:a="http://schemas.openxmlformats.org/drawingml/2006/main">
            <a:r>
              <a:t>Источник: https://lena-voita.github.io/nlp_course/seq2seq_and_attention.html</a:t>
            </a:r>
          </a:p>
          <a:p xmlns:a="http://schemas.openxmlformats.org/drawingml/2006/main">
            <a:r>
              <a:t>Иллюстрация: https://lena-voita.github.io/resources/lectures/seq2seq/general/enc_dec-min.png</a:t>
            </a:r>
          </a:p>
          <a:p xmlns:a="http://schemas.openxmlformats.org/drawingml/2006/main">
            <a:r>
              <a:t>Источник: https://lena-voita.github.io/nlp_course/seq2seq_and_attention.html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14.5–15.5 мин от начала лекции (1 мин). Темп можно адаптировать к группе.</a:t>
            </a:r>
          </a:p>
          <a:p xmlns:a="http://schemas.openxmlformats.org/drawingml/2006/main">
            <a:r>
              <a:t/>
            </a:r>
          </a:p>
          <a:p xmlns:a="http://schemas.openxmlformats.org/drawingml/2006/main">
            <a:r>
              <a:t>Rule-based NLP</a:t>
            </a:r>
          </a:p>
          <a:p xmlns:a="http://schemas.openxmlformats.org/drawingml/2006/main">
            <a:r>
              <a:t>Ранние прикладные системы широко использовали словари, грамматики и правила, заданные экспертами. Правило может проверять наличие слова, шаблон записи или синтаксическую конструкцию. Такое поведение удобно контролировать в узкой области, но новые формулировки и исключения требуют ручной поддержки. Regex и словари по-прежнему полезны как отдельные компоненты обработки данных.</a:t>
            </a:r>
          </a:p>
          <a:p xmlns:a="http://schemas.openxmlformats.org/drawingml/2006/main">
            <a:r>
              <a:t/>
            </a:r>
          </a:p>
          <a:p xmlns:a="http://schemas.openxmlformats.org/drawingml/2006/main">
            <a:r>
              <a:t>Statistical NLP</a:t>
            </a:r>
          </a:p>
          <a:p xmlns:a="http://schemas.openxmlformats.org/drawingml/2006/main">
            <a:r>
              <a:t>Statistical approaches оценивают закономерности по corpus: частоты слов, совместные появления, параметры classification или language modeling. Важными становятся размер и состав данных, feature engineering и независимая оценка. N-gram language models, Naive Bayes и линейные classifiers относятся к этому этапу. Переход между подходами происходил постепенно; они продолжают использоваться совместно.</a:t>
            </a:r>
          </a:p>
          <a:p xmlns:a="http://schemas.openxmlformats.org/drawingml/2006/main">
            <a:r>
              <a:t/>
            </a:r>
          </a:p>
          <a:p xmlns:a="http://schemas.openxmlformats.org/drawingml/2006/main">
            <a:r>
              <a:t/>
            </a:r>
          </a:p>
          <a:p xmlns:a="http://schemas.openxmlformats.org/drawingml/2006/main">
            <a:r>
              <a:t>Источник: https://web.stanford.edu/~jurafsky/slp3/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15.5–16.5 мин от начала лекции (1 мин). Темп можно адаптировать к группе.</a:t>
            </a:r>
          </a:p>
          <a:p xmlns:a="http://schemas.openxmlformats.org/drawingml/2006/main">
            <a:r>
              <a:t/>
            </a:r>
          </a:p>
          <a:p xmlns:a="http://schemas.openxmlformats.org/drawingml/2006/main">
            <a:r>
              <a:t>Neural NLP</a:t>
            </a:r>
          </a:p>
          <a:p xmlns:a="http://schemas.openxmlformats.org/drawingml/2006/main">
            <a:r>
              <a:t>Neural networks позволяют обучать feature representation по данным. Word embeddings задают численное описание слов, RNN и CNN обрабатывают последовательность и её локальные закономерности. С pretraining часть знаний переносится между задачами: модель сначала обучается на большом corpus, затем адаптируется к конкретному применению. Это уменьшает объём работы, который начинается с нуля.</a:t>
            </a:r>
          </a:p>
          <a:p xmlns:a="http://schemas.openxmlformats.org/drawingml/2006/main">
            <a:r>
              <a:t/>
            </a:r>
          </a:p>
          <a:p xmlns:a="http://schemas.openxmlformats.org/drawingml/2006/main">
            <a:r>
              <a:t>Transformer и LLM</a:t>
            </a:r>
          </a:p>
          <a:p xmlns:a="http://schemas.openxmlformats.org/drawingml/2006/main">
            <a:r>
              <a:t>Transformer использует attention для взаимодействия между позициями последовательности. Масштабирование моделей и данных, pretraining и последующая адаптация привели к широкому применению LLM. Такие модели решают задачи через prompting и fine-tuning, но по-прежнему требуют качественных данных и evaluation. Первая лекция вводит необходимые понятия; архитектуры и способы применения разбираются в следующих блоках.</a:t>
            </a:r>
          </a:p>
          <a:p xmlns:a="http://schemas.openxmlformats.org/drawingml/2006/main">
            <a:r>
              <a:t/>
            </a:r>
          </a:p>
          <a:p xmlns:a="http://schemas.openxmlformats.org/drawingml/2006/main">
            <a:r>
              <a:t/>
            </a:r>
          </a:p>
          <a:p xmlns:a="http://schemas.openxmlformats.org/drawingml/2006/main">
            <a:r>
              <a:t>Источник: https://docs.google.com/document/d/1dhTfnnaMGqnamn8odhJQwGDgKYyPB46GE1Q-YxJ3D-U/edit</a:t>
            </a:r>
          </a:p>
          <a:p xmlns:a="http://schemas.openxmlformats.org/drawingml/2006/main">
            <a:r>
              <a:t>Источник: https://web.stanford.edu/~jurafsky/slp3/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16.5–17.5 мин от начала лекции (1 мин). Темп можно адаптировать к группе.</a:t>
            </a:r>
          </a:p>
          <a:p xmlns:a="http://schemas.openxmlformats.org/drawingml/2006/main">
            <a:r>
              <a:t/>
            </a:r>
          </a:p>
          <a:p xmlns:a="http://schemas.openxmlformats.org/drawingml/2006/main">
            <a:r>
              <a:t>Размеченные примеры</a:t>
            </a:r>
          </a:p>
          <a:p xmlns:a="http://schemas.openxmlformats.org/drawingml/2006/main">
            <a:r>
              <a:t>Обучающая выборка содержит объекты и соответствующие целевые ответы. Для классификации отзывов это тексты и метки тональности. Алгоритм подбирает параметры, уменьшая ошибки на тренировочных примерах. Инструкция разметки определяет смысл целевой переменной, поэтому систематические противоречия в метках могут переноситься в поведение модели.</a:t>
            </a:r>
          </a:p>
          <a:p xmlns:a="http://schemas.openxmlformats.org/drawingml/2006/main">
            <a:r>
              <a:t/>
            </a:r>
          </a:p>
          <a:p xmlns:a="http://schemas.openxmlformats.org/drawingml/2006/main">
            <a:r>
              <a:t>Обобщение на новые данные</a:t>
            </a:r>
          </a:p>
          <a:p xmlns:a="http://schemas.openxmlformats.org/drawingml/2006/main">
            <a:r>
              <a:t>Цель обучения состоит в получении полезных ответов для ранее не встречавшихся объектов. Высокое качество на тренировочных данных не доказывает способность к обобщению. Для проверки выделяют независимые данные, а при настройке используют валидацию. Состав проверочной выборки должен отражать язык, тематику и условия будущего применения модели.</a:t>
            </a:r>
          </a:p>
          <a:p xmlns:a="http://schemas.openxmlformats.org/drawingml/2006/main">
            <a:r>
              <a:t/>
            </a:r>
          </a:p>
          <a:p xmlns:a="http://schemas.openxmlformats.org/drawingml/2006/main">
            <a:r>
              <a:t>Источник: https://web.stanford.edu/~jurafsky/slp3/</a:t>
            </a:r>
          </a:p>
          <a:p xmlns:a="http://schemas.openxmlformats.org/drawingml/2006/main">
            <a:r>
              <a:t>Источник: https://www.nltk.org/book/ch06.html</a:t>
            </a:r>
          </a:p>
          <a:p xmlns:a="http://schemas.openxmlformats.org/drawingml/2006/main">
            <a:r>
              <a:t>Иллюстрация: https://www.nltk.org/images/supervised-classification.png</a:t>
            </a:r>
          </a:p>
          <a:p xmlns:a="http://schemas.openxmlformats.org/drawingml/2006/main">
            <a:r>
              <a:t>Обучение использует размеченные примеры, применение использует сохранённую модель.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17.5–18.5 мин от начала лекции (1 мин). Темп можно адаптировать к группе.</a:t>
            </a:r>
          </a:p>
          <a:p xmlns:a="http://schemas.openxmlformats.org/drawingml/2006/main">
            <a:r>
              <a:t/>
            </a:r>
          </a:p>
          <a:p xmlns:a="http://schemas.openxmlformats.org/drawingml/2006/main">
            <a:r>
              <a:t>Feature extractor получает исходный документ x и строит representation h. Classifier сопоставляет h оценкам классов и итоговому ответу. Разделение этих частей помогает планировать эксперимент: можно заменить TF-IDF на другое representation при сохранении classifier или сравнить classifiers на одинаковых features. Результат зависит от обеих частей и от данных, на которых оценивается качество.</a:t>
            </a:r>
          </a:p>
          <a:p xmlns:a="http://schemas.openxmlformats.org/drawingml/2006/main">
            <a:r>
              <a:t/>
            </a:r>
          </a:p>
          <a:p xmlns:a="http://schemas.openxmlformats.org/drawingml/2006/main">
            <a:r>
              <a:t/>
            </a:r>
          </a:p>
          <a:p xmlns:a="http://schemas.openxmlformats.org/drawingml/2006/main">
            <a:r>
              <a:t>Источник: https://lena-voita.github.io/nlp_course/text_classification.html</a:t>
            </a:r>
          </a:p>
          <a:p xmlns:a="http://schemas.openxmlformats.org/drawingml/2006/main">
            <a:r>
              <a:t>Иллюстрация: https://lena-voita.github.io/resources/lectures/text_clf/general/idea-min.png</a:t>
            </a:r>
          </a:p>
          <a:p xmlns:a="http://schemas.openxmlformats.org/drawingml/2006/main">
            <a:r>
              <a:t>Источник: https://lena-voita.github.io/nlp_course/text_classification.html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18.5–19.5 мин от начала лекции (1 мин). Темп можно адаптировать к группе.</a:t>
            </a:r>
          </a:p>
          <a:p xmlns:a="http://schemas.openxmlformats.org/drawingml/2006/main">
            <a:r>
              <a:t/>
            </a:r>
          </a:p>
          <a:p xmlns:a="http://schemas.openxmlformats.org/drawingml/2006/main">
            <a:r>
              <a:t>В classical pipeline способ построения features задаётся разработчиком: например, Bag of Words или TF-IDF. В neural pipeline representation получается обучаемой сетью из token embeddings. После этого classifier по-прежнему использует вектор текста для выбора класса. Representation learning меняет способ извлечения информации из входа; сама постановка text classification сохраняется.</a:t>
            </a:r>
          </a:p>
          <a:p xmlns:a="http://schemas.openxmlformats.org/drawingml/2006/main">
            <a:r>
              <a:t/>
            </a:r>
          </a:p>
          <a:p xmlns:a="http://schemas.openxmlformats.org/drawingml/2006/main">
            <a:r>
              <a:t/>
            </a:r>
          </a:p>
          <a:p xmlns:a="http://schemas.openxmlformats.org/drawingml/2006/main">
            <a:r>
              <a:t>Источник: https://lena-voita.github.io/nlp_course/text_classification.html</a:t>
            </a:r>
          </a:p>
          <a:p xmlns:a="http://schemas.openxmlformats.org/drawingml/2006/main">
            <a:r>
              <a:t>Иллюстрация: https://lena-voita.github.io/resources/lectures/text_clf/neural/general_vs_nns_linear-min.png</a:t>
            </a:r>
          </a:p>
          <a:p xmlns:a="http://schemas.openxmlformats.org/drawingml/2006/main">
            <a:r>
              <a:t>Источник: https://lena-voita.github.io/nlp_course/text_classification.html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19.5–20.5 мин от начала лекции (1 мин). Темп можно адаптировать к группе.</a:t>
            </a:r>
          </a:p>
          <a:p xmlns:a="http://schemas.openxmlformats.org/drawingml/2006/main">
            <a:r>
              <a:t/>
            </a:r>
          </a:p>
          <a:p xmlns:a="http://schemas.openxmlformats.org/drawingml/2006/main">
            <a:r>
              <a:t>Соответствие будущему применению</a:t>
            </a:r>
          </a:p>
          <a:p xmlns:a="http://schemas.openxmlformats.org/drawingml/2006/main">
            <a:r>
              <a:t>Корпус может состоять из открытых наборов, продуктовых данных или специально собранных текстов. Доступность большого объёма не гарантирует соответствия задаче. Отзывы о фильмах отличаются от жалоб на доставку по лексике, типам оценок и структуре. При выборе данных учитывают язык, источник, период, жанр и правила получения целевых меток.</a:t>
            </a:r>
          </a:p>
          <a:p xmlns:a="http://schemas.openxmlformats.org/drawingml/2006/main">
            <a:r>
              <a:t/>
            </a:r>
          </a:p>
          <a:p xmlns:a="http://schemas.openxmlformats.org/drawingml/2006/main">
            <a:r>
              <a:t>Проверка состава</a:t>
            </a:r>
          </a:p>
          <a:p xmlns:a="http://schemas.openxmlformats.org/drawingml/2006/main">
            <a:r>
              <a:t>До обучения анализируют пропуски, дубликаты, длины текстов и распределение классов. Полезно проверять данные по источникам и времени, чтобы обнаружить перекосы. Если отрицательные и положительные примеры поступили из разных каналов, модель может выучить особенности канала вместо тональности. Такой эффект необходимо отделять от решения исходной задачи.</a:t>
            </a:r>
          </a:p>
          <a:p xmlns:a="http://schemas.openxmlformats.org/drawingml/2006/main">
            <a:r>
              <a:t/>
            </a:r>
          </a:p>
          <a:p xmlns:a="http://schemas.openxmlformats.org/drawingml/2006/main">
            <a:r>
              <a:t>Источник: https://scikit-learn.org/stable/common_pitfalls.html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20.5–21.5 мин от начала лекции (1 мин). Темп можно адаптировать к группе.</a:t>
            </a:r>
          </a:p>
          <a:p xmlns:a="http://schemas.openxmlformats.org/drawingml/2006/main">
            <a:r>
              <a:t/>
            </a:r>
          </a:p>
          <a:p xmlns:a="http://schemas.openxmlformats.org/drawingml/2006/main">
            <a:r>
              <a:t>Документы можно хранить как независимую коллекцию, распределять по категориям, относить сразу к нескольким категориям или упорядочивать во времени. Структура корпуса определяет доступные сравнения и допустимые способы разбиения. Например, пересекающиеся категории соответствуют многометочной постановке, а временной порядок важен при проверке переноса модели на будущие данные.</a:t>
            </a:r>
          </a:p>
          <a:p xmlns:a="http://schemas.openxmlformats.org/drawingml/2006/main">
            <a:r>
              <a:t/>
            </a:r>
          </a:p>
          <a:p xmlns:a="http://schemas.openxmlformats.org/drawingml/2006/main">
            <a:r>
              <a:t>Типы организации корпуса из NLTK Book: isolated, categorized, overlapping и temporal.</a:t>
            </a:r>
          </a:p>
          <a:p xmlns:a="http://schemas.openxmlformats.org/drawingml/2006/main">
            <a:r>
              <a:t/>
            </a:r>
          </a:p>
          <a:p xmlns:a="http://schemas.openxmlformats.org/drawingml/2006/main">
            <a:r>
              <a:t/>
            </a:r>
          </a:p>
          <a:p xmlns:a="http://schemas.openxmlformats.org/drawingml/2006/main">
            <a:r>
              <a:t/>
            </a:r>
          </a:p>
          <a:p xmlns:a="http://schemas.openxmlformats.org/drawingml/2006/main">
            <a:r>
              <a:t>Источник: https://www.nltk.org/book/ch02.html</a:t>
            </a:r>
          </a:p>
          <a:p xmlns:a="http://schemas.openxmlformats.org/drawingml/2006/main">
            <a:r>
              <a:t>Иллюстрация: https://www.nltk.org/images/text-corpus-structure.png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21.5–22.5 мин от начала лекции (1 мин). Темп можно адаптировать к группе.</a:t>
            </a:r>
          </a:p>
          <a:p xmlns:a="http://schemas.openxmlformats.org/drawingml/2006/main">
            <a:r>
              <a:t/>
            </a:r>
          </a:p>
          <a:p xmlns:a="http://schemas.openxmlformats.org/drawingml/2006/main">
            <a:r>
              <a:t>Выбор источника</a:t>
            </a:r>
          </a:p>
          <a:p xmlns:a="http://schemas.openxmlformats.org/drawingml/2006/main">
            <a:r>
              <a:t>Data collection начинается с определения будущего потока данных: кто пишет тексты, на каком языке, в каком жанре и с какой длиной. Источниками могут быть открытые corpora, разрешённые выгрузки из продукта, публичные документы или специально собранные примеры. Доступность коллекции ещё не означает, что она соответствует целевой задаче.</a:t>
            </a:r>
          </a:p>
          <a:p xmlns:a="http://schemas.openxmlformats.org/drawingml/2006/main">
            <a:r>
              <a:t/>
            </a:r>
          </a:p>
          <a:p xmlns:a="http://schemas.openxmlformats.org/drawingml/2006/main">
            <a:r>
              <a:t>Состав и происхождение примеров</a:t>
            </a:r>
          </a:p>
          <a:p xmlns:a="http://schemas.openxmlformats.org/drawingml/2006/main">
            <a:r>
              <a:t>Для каждого документа полезно сохранять source, время, идентификатор автора или объекта и связь с другими документами. Эти поля помогают удалять дубликаты и строить group split или time-based split. Учитываются лицензии, разрешения на использование и наличие персональных данных. Ошибки encoding, пустые тексты и перекосы состава проверяют до annotation и обучения.</a:t>
            </a:r>
          </a:p>
          <a:p xmlns:a="http://schemas.openxmlformats.org/drawingml/2006/main">
            <a:r>
              <a:t/>
            </a:r>
          </a:p>
          <a:p xmlns:a="http://schemas.openxmlformats.org/drawingml/2006/main">
            <a:r>
              <a:t/>
            </a:r>
          </a:p>
          <a:p xmlns:a="http://schemas.openxmlformats.org/drawingml/2006/main">
            <a:r>
              <a:t>Источник: https://web.stanford.edu/~jurafsky/slp3/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22.5–23.5 мин от начала лекции (1 мин). Темп можно адаптировать к группе.</a:t>
            </a:r>
          </a:p>
          <a:p xmlns:a="http://schemas.openxmlformats.org/drawingml/2006/main">
            <a:r>
              <a:t/>
            </a:r>
          </a:p>
          <a:p xmlns:a="http://schemas.openxmlformats.org/drawingml/2006/main">
            <a:r>
              <a:t>Определение классов</a:t>
            </a:r>
          </a:p>
          <a:p xmlns:a="http://schemas.openxmlformats.org/drawingml/2006/main">
            <a:r>
              <a:t>Инструкция должна описывать единицу анализа, значения меток и правила выбора ответа. Для тональности необходимо определить объект оценки и обработку смешанных случаев. Рейтинг, поставленный пользователем, может служить источником метки, но его соответствие содержанию текста требует проверки. Пограничные случаи лучше пояснять конкретными примерами.</a:t>
            </a:r>
          </a:p>
          <a:p xmlns:a="http://schemas.openxmlformats.org/drawingml/2006/main">
            <a:r>
              <a:t/>
            </a:r>
          </a:p>
          <a:p xmlns:a="http://schemas.openxmlformats.org/drawingml/2006/main">
            <a:r>
              <a:t>Согласованность разметки</a:t>
            </a:r>
          </a:p>
          <a:p xmlns:a="http://schemas.openxmlformats.org/drawingml/2006/main">
            <a:r>
              <a:t>Несколько разметчиков могут по-разному интерпретировать иронию, нейтральные факты и противоречивые оценки. Расхождения помогают обнаружить неясные определения классов и ошибки инструкции. После уточнения правил спорные примеры разбирают повторно. Согласованность меток важна для обучения и для того, чтобы ошибки модели имели однозначную интерпретацию.</a:t>
            </a:r>
          </a:p>
          <a:p xmlns:a="http://schemas.openxmlformats.org/drawingml/2006/main">
            <a:r>
              <a:t/>
            </a:r>
          </a:p>
          <a:p xmlns:a="http://schemas.openxmlformats.org/drawingml/2006/main">
            <a:r>
              <a:t>Источник: https://scikit-learn.org/stable/common_pitfalls.html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23.5–24.5 мин от начала лекции (1 мин). Темп можно адаптировать к группе.</a:t>
            </a:r>
          </a:p>
          <a:p xmlns:a="http://schemas.openxmlformats.org/drawingml/2006/main">
            <a:r>
              <a:t/>
            </a:r>
          </a:p>
          <a:p xmlns:a="http://schemas.openxmlformats.org/drawingml/2006/main">
            <a:r>
              <a:t>Примеры из материалов курса ШАД. Dataset определяет задачу и правила работы с метками; готовая коллекция не заменяет анализ собственных данных.</a:t>
            </a:r>
          </a:p>
          <a:p xmlns:a="http://schemas.openxmlformats.org/drawingml/2006/main">
            <a:r>
              <a:t/>
            </a:r>
          </a:p>
          <a:p xmlns:a="http://schemas.openxmlformats.org/drawingml/2006/main">
            <a:r>
              <a:t>Dataset | Задача | Особенность</a:t>
            </a:r>
          </a:p>
          <a:p xmlns:a="http://schemas.openxmlformats.org/drawingml/2006/main">
            <a:r>
              <a:t>SST-2 / SST-5 | Sentiment analysis | Два или пять классов</a:t>
            </a:r>
          </a:p>
          <a:p xmlns:a="http://schemas.openxmlformats.org/drawingml/2006/main">
            <a:r>
              <a:t>IMDb Reviews | Sentiment analysis | Отзывы о фильмах</a:t>
            </a:r>
          </a:p>
          <a:p xmlns:a="http://schemas.openxmlformats.org/drawingml/2006/main">
            <a:r>
              <a:t>AG’s News | Topic classification | Четыре темы новостей</a:t>
            </a:r>
          </a:p>
          <a:p xmlns:a="http://schemas.openxmlformats.org/drawingml/2006/main">
            <a:r>
              <a:t>TREC | Question classification | Тип ожидаемого ответа</a:t>
            </a:r>
          </a:p>
          <a:p xmlns:a="http://schemas.openxmlformats.org/drawingml/2006/main">
            <a:r>
              <a:t/>
            </a:r>
          </a:p>
          <a:p xmlns:a="http://schemas.openxmlformats.org/drawingml/2006/main">
            <a:r>
              <a:t>При выборе dataset проверяют язык, единицу annotation, label space, доступный контекст и официальное разбиение. Числа из разных версий коллекции могут различаться.</a:t>
            </a:r>
          </a:p>
          <a:p xmlns:a="http://schemas.openxmlformats.org/drawingml/2006/main">
            <a:r>
              <a:t/>
            </a:r>
          </a:p>
          <a:p xmlns:a="http://schemas.openxmlformats.org/drawingml/2006/main">
            <a:r>
              <a:t/>
            </a:r>
          </a:p>
          <a:p xmlns:a="http://schemas.openxmlformats.org/drawingml/2006/main">
            <a:r>
              <a:t>Источник: https://lena-voita.github.io/nlp_course/text_classification.html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24.5–25.5 мин от начала лекции (1 мин). Темп можно адаптировать к группе.</a:t>
            </a:r>
          </a:p>
          <a:p xmlns:a="http://schemas.openxmlformats.org/drawingml/2006/main">
            <a:r>
              <a:t/>
            </a:r>
          </a:p>
          <a:p xmlns:a="http://schemas.openxmlformats.org/drawingml/2006/main">
            <a:r>
              <a:t>Назначение частей выборки</a:t>
            </a:r>
          </a:p>
          <a:p xmlns:a="http://schemas.openxmlformats.org/drawingml/2006/main">
            <a:r>
              <a:t>Тренировочная часть служит для оценки параметров преобразований и модели. Валидационная часть помогает выбирать настройки и сравнивать варианты. Итоговый тест используют для оценки выбранного решения. Повторное принятие решений по тестовым результатам постепенно превращает тест в часть процесса настройки и делает оценку менее независимой.</a:t>
            </a:r>
          </a:p>
          <a:p xmlns:a="http://schemas.openxmlformats.org/drawingml/2006/main">
            <a:r>
              <a:t/>
            </a:r>
          </a:p>
          <a:p xmlns:a="http://schemas.openxmlformats.org/drawingml/2006/main">
            <a:r>
              <a:t>Связанные объекты</a:t>
            </a:r>
          </a:p>
          <a:p xmlns:a="http://schemas.openxmlformats.org/drawingml/2006/main">
            <a:r>
              <a:t>Копии одного отзыва и близкие версии документа не должны создавать искусственное преимущество при проверке. В некоторых задачах необходимо разделять объекты по авторам, товарам или времени. Способ разбиения выбирают по сценарию будущего применения. Случайное перемешивание подходит не всегда, даже если доли классов в полученных частях выглядят одинаковыми.</a:t>
            </a:r>
          </a:p>
          <a:p xmlns:a="http://schemas.openxmlformats.org/drawingml/2006/main">
            <a:r>
              <a:t/>
            </a:r>
          </a:p>
          <a:p xmlns:a="http://schemas.openxmlformats.org/drawingml/2006/main">
            <a:r>
              <a:t>Источник: https://scikit-learn.org/stable/common_pitfalls.html</a:t>
            </a:r>
          </a:p>
          <a:p xmlns:a="http://schemas.openxmlformats.org/drawingml/2006/main">
            <a:r>
              <a:t>Источник: https://www.nltk.org/book/ch06.html</a:t>
            </a:r>
          </a:p>
          <a:p xmlns:a="http://schemas.openxmlformats.org/drawingml/2006/main">
            <a:r>
              <a:t>Иллюстрация: https://www.nltk.org/images/corpus-org.png</a:t>
            </a:r>
          </a:p>
          <a:p xmlns:a="http://schemas.openxmlformats.org/drawingml/2006/main">
            <a:r>
              <a:t>Отдельные части корпуса предназначены для обучения, настройки и итоговой проверки.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25.5–26.5 мин от начала лекции (1 мин). Темп можно адаптировать к группе.</a:t>
            </a:r>
          </a:p>
          <a:p xmlns:a="http://schemas.openxmlformats.org/drawingml/2006/main">
            <a:r>
              <a:t/>
            </a:r>
          </a:p>
          <a:p xmlns:a="http://schemas.openxmlformats.org/drawingml/2006/main">
            <a:r>
              <a:t>Каждая строка показывает одно разбиение. Синие позиции входят в обучение, оранжевые позиции входят в проверку. Строка group обозначает принадлежность объектов к группам. Документы одной группы не распределяют между обучением и проверкой внутри одного разбиения. В NLP группой может быть автор, диалог, исходный документ или другой источник зависимости между примерами.</a:t>
            </a:r>
          </a:p>
          <a:p xmlns:a="http://schemas.openxmlformats.org/drawingml/2006/main">
            <a:r>
              <a:t/>
            </a:r>
          </a:p>
          <a:p xmlns:a="http://schemas.openxmlformats.org/drawingml/2006/main">
            <a:r>
              <a:t>GroupKFold из документации scikit-learn. Группировка не гарантирует одинаковые доли классов.</a:t>
            </a:r>
          </a:p>
          <a:p xmlns:a="http://schemas.openxmlformats.org/drawingml/2006/main">
            <a:r>
              <a:t/>
            </a:r>
          </a:p>
          <a:p xmlns:a="http://schemas.openxmlformats.org/drawingml/2006/main">
            <a:r>
              <a:t/>
            </a:r>
          </a:p>
          <a:p xmlns:a="http://schemas.openxmlformats.org/drawingml/2006/main">
            <a:r>
              <a:t/>
            </a:r>
          </a:p>
          <a:p xmlns:a="http://schemas.openxmlformats.org/drawingml/2006/main">
            <a:r>
              <a:t>Источник: https://scikit-learn.org/stable/auto_examples/model_selection/plot_cv_indices.html</a:t>
            </a:r>
          </a:p>
          <a:p xmlns:a="http://schemas.openxmlformats.org/drawingml/2006/main">
            <a:r>
              <a:t>Иллюстрация: https://scikit-learn.org/stable/_images/sphx_glr_plot_cv_indices_007.png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26.5–27.5 мин от начала лекции (1 мин). Темп можно адаптировать к группе.</a:t>
            </a:r>
          </a:p>
          <a:p xmlns:a="http://schemas.openxmlformats.org/drawingml/2006/main">
            <a:r>
              <a:t/>
            </a:r>
          </a:p>
          <a:p xmlns:a="http://schemas.openxmlformats.org/drawingml/2006/main">
            <a:r>
              <a:t>При временном разбиении обучение использует более ранние наблюдения, а проверка использует последующий интервал. На схеме тренировочная часть постепенно расширяется. Такой подход ближе к сценарию, в котором модель обрабатывает будущие сообщения. Необходимо дополнительно учитывать задержку получения меток, дубликаты и события, связывающие тексты по обе стороны границы.</a:t>
            </a:r>
          </a:p>
          <a:p xmlns:a="http://schemas.openxmlformats.org/drawingml/2006/main">
            <a:r>
              <a:t/>
            </a:r>
          </a:p>
          <a:p xmlns:a="http://schemas.openxmlformats.org/drawingml/2006/main">
            <a:r>
              <a:t>TimeSeriesSplit из документации scikit-learn. Порядок объектов должен соответствовать времени наблюдения.</a:t>
            </a:r>
          </a:p>
          <a:p xmlns:a="http://schemas.openxmlformats.org/drawingml/2006/main">
            <a:r>
              <a:t/>
            </a:r>
          </a:p>
          <a:p xmlns:a="http://schemas.openxmlformats.org/drawingml/2006/main">
            <a:r>
              <a:t/>
            </a:r>
          </a:p>
          <a:p xmlns:a="http://schemas.openxmlformats.org/drawingml/2006/main">
            <a:r>
              <a:t/>
            </a:r>
          </a:p>
          <a:p xmlns:a="http://schemas.openxmlformats.org/drawingml/2006/main">
            <a:r>
              <a:t>Источник: https://scikit-learn.org/stable/auto_examples/model_selection/plot_cv_indices.html</a:t>
            </a:r>
          </a:p>
          <a:p xmlns:a="http://schemas.openxmlformats.org/drawingml/2006/main">
            <a:r>
              <a:t>Иллюстрация: https://scikit-learn.org/stable/_images/sphx_glr_plot_cv_indices_013.png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27.5–28.5 мин от начала лекции (1 мин). Темп можно адаптировать к группе.</a:t>
            </a:r>
          </a:p>
          <a:p xmlns:a="http://schemas.openxmlformats.org/drawingml/2006/main">
            <a:r>
              <a:t/>
            </a:r>
          </a:p>
          <a:p xmlns:a="http://schemas.openxmlformats.org/drawingml/2006/main">
            <a:r>
              <a:t>Техническая согласованность</a:t>
            </a:r>
          </a:p>
          <a:p xmlns:a="http://schemas.openxmlformats.org/drawingml/2006/main">
            <a:r>
              <a:t>Preprocessing приводит исходные данные к виду, который допускает выбранный метод. Она может включать обработку пробелов и разметки, выделение предложений и токенов, нормализацию записи и морфологические преобразования. Решения принимают с учётом источника данных: письмо, поисковый запрос и пользовательский отзыв имеют разные особенности.</a:t>
            </a:r>
          </a:p>
          <a:p xmlns:a="http://schemas.openxmlformats.org/drawingml/2006/main">
            <a:r>
              <a:t/>
            </a:r>
          </a:p>
          <a:p xmlns:a="http://schemas.openxmlformats.org/drawingml/2006/main">
            <a:r>
              <a:t>Сохранение значимой информации</a:t>
            </a:r>
          </a:p>
          <a:p xmlns:a="http://schemas.openxmlformats.org/drawingml/2006/main">
            <a:r>
              <a:t>Любое преобразование меняет доступные модели сигналы. Регистр может указывать на название, пунктуация выражать эмоциональность, а отрицание определять смысл оценки. Поэтому максимальное сокращение текста не является самостоятельной целью. Сначала формулируют ожидаемую пользу операции, затем проверяют примеры и влияние на качество решения.</a:t>
            </a:r>
          </a:p>
          <a:p xmlns:a="http://schemas.openxmlformats.org/drawingml/2006/main">
            <a:r>
              <a:t/>
            </a:r>
          </a:p>
          <a:p xmlns:a="http://schemas.openxmlformats.org/drawingml/2006/main">
            <a:r>
              <a:t>Источник: https://www.nltk.org/api/nltk.tokenize.html</a:t>
            </a:r>
          </a:p>
          <a:p xmlns:a="http://schemas.openxmlformats.org/drawingml/2006/main">
            <a:r>
              <a:t>Источник: https://www.nltk.org/data.html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28.5–29.5 мин от начала лекции (1 мин). Темп можно адаптировать к группе.</a:t>
            </a:r>
          </a:p>
          <a:p xmlns:a="http://schemas.openxmlformats.org/drawingml/2006/main">
            <a:r>
              <a:t/>
            </a:r>
          </a:p>
          <a:p xmlns:a="http://schemas.openxmlformats.org/drawingml/2006/main">
            <a:r>
              <a:t>На каждом этапе меняется форма представления данных. Техническая очистка и языковой анализ решают разные задачи.</a:t>
            </a:r>
          </a:p>
          <a:p xmlns:a="http://schemas.openxmlformats.org/drawingml/2006/main">
            <a:r>
              <a:t/>
            </a:r>
          </a:p>
          <a:p xmlns:a="http://schemas.openxmlformats.org/drawingml/2006/main">
            <a:r>
              <a:t>Уровень | Пример результата | Назначение</a:t>
            </a:r>
          </a:p>
          <a:p xmlns:a="http://schemas.openxmlformats.org/drawingml/2006/main">
            <a:r>
              <a:t>Документ | Текст и исходная разметка | Сохранение источника</a:t>
            </a:r>
          </a:p>
          <a:p xmlns:a="http://schemas.openxmlformats.org/drawingml/2006/main">
            <a:r>
              <a:t>Извлечённый текст | Содержимое без навигации сайта | Выбор нужного материала</a:t>
            </a:r>
          </a:p>
          <a:p xmlns:a="http://schemas.openxmlformats.org/drawingml/2006/main">
            <a:r>
              <a:t>Токены | Отдельные элементы текста | Определение единиц анализа</a:t>
            </a:r>
          </a:p>
          <a:p xmlns:a="http://schemas.openxmlformats.org/drawingml/2006/main">
            <a:r>
              <a:t>Признаки | Числа в заданном пространстве | Вход классификатора</a:t>
            </a:r>
          </a:p>
          <a:p xmlns:a="http://schemas.openxmlformats.org/drawingml/2006/main">
            <a:r>
              <a:t/>
            </a:r>
          </a:p>
          <a:p xmlns:a="http://schemas.openxmlformats.org/drawingml/2006/main">
            <a:r>
              <a:t>Перед удалением разметки и служебных частей проверяют, не содержат ли они нужные факты. Исходный документ полезно сохранять для проверки ошибок.</a:t>
            </a:r>
          </a:p>
          <a:p xmlns:a="http://schemas.openxmlformats.org/drawingml/2006/main">
            <a:r>
              <a:t/>
            </a:r>
          </a:p>
          <a:p xmlns:a="http://schemas.openxmlformats.org/drawingml/2006/main">
            <a:r>
              <a:t>Учебный пример, составленный для лекции.</a:t>
            </a:r>
          </a:p>
          <a:p xmlns:a="http://schemas.openxmlformats.org/drawingml/2006/main">
            <a:r>
              <a:t/>
            </a:r>
          </a:p>
          <a:p xmlns:a="http://schemas.openxmlformats.org/drawingml/2006/main">
            <a:r>
              <a:t>Источник терминологии: https://scikit-learn.org/stable/modules/feature_extraction.html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29.5–31 мин от начала лекции (1.5 мин). Темп можно адаптировать к группе.</a:t>
            </a:r>
          </a:p>
          <a:p xmlns:a="http://schemas.openxmlformats.org/drawingml/2006/main">
            <a:r>
              <a:t/>
            </a:r>
          </a:p>
          <a:p xmlns:a="http://schemas.openxmlformats.org/drawingml/2006/main">
            <a:r>
              <a:t>Token и type</a:t>
            </a:r>
          </a:p>
          <a:p xmlns:a="http://schemas.openxmlformats.org/drawingml/2006/main">
            <a:r>
              <a:t>Token — отдельное вхождение элемента в последовательность после tokenization. Type — уникальный элемент выбранного представления. В строке «кот видит кота» при word tokenization получается три tokens и три types. После lemmatization две словоформы могут получить общую lemma. Число вхождений и число различных элементов описывают разные свойства corpus.</a:t>
            </a:r>
          </a:p>
          <a:p xmlns:a="http://schemas.openxmlformats.org/drawingml/2006/main">
            <a:r>
              <a:t/>
            </a:r>
          </a:p>
          <a:p xmlns:a="http://schemas.openxmlformats.org/drawingml/2006/main">
            <a:r>
              <a:t>Vocabulary и OOV</a:t>
            </a:r>
          </a:p>
          <a:p xmlns:a="http://schemas.openxmlformats.org/drawingml/2006/main">
            <a:r>
              <a:t>Vocabulary фиксирует набор допустимых types и их идентификаторы. Для Bag of Words он задаёт координаты вектора; для pretrained neural model — соответствие между token IDs и embeddings. OOV означает элемент вне vocabulary. Его обработка зависит от representation: игнорирование неизвестного слова, специальный token или разбиение на известные subwords.</a:t>
            </a:r>
          </a:p>
          <a:p xmlns:a="http://schemas.openxmlformats.org/drawingml/2006/main">
            <a:r>
              <a:t/>
            </a:r>
          </a:p>
          <a:p xmlns:a="http://schemas.openxmlformats.org/drawingml/2006/main">
            <a:r>
              <a:t/>
            </a:r>
          </a:p>
          <a:p xmlns:a="http://schemas.openxmlformats.org/drawingml/2006/main">
            <a:r>
              <a:t>Источник: https://lena-voita.github.io/nlp_course/word_embeddings.html</a:t>
            </a:r>
          </a:p>
          <a:p xmlns:a="http://schemas.openxmlformats.org/drawingml/2006/main">
            <a:r>
              <a:t>Источник: https://scikit-learn.org/stable/modules/feature_extraction.html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31–32 мин от начала лекции (1 мин). Темп можно адаптировать к группе.</a:t>
            </a:r>
          </a:p>
          <a:p xmlns:a="http://schemas.openxmlformats.org/drawingml/2006/main">
            <a:r>
              <a:t/>
            </a:r>
          </a:p>
          <a:p xmlns:a="http://schemas.openxmlformats.org/drawingml/2006/main">
            <a:r>
              <a:t>Единицы представления</a:t>
            </a:r>
          </a:p>
          <a:p xmlns:a="http://schemas.openxmlformats.org/drawingml/2006/main">
            <a:r>
              <a:t>Tokenization делит последовательность символов на элементы, которые далее обрабатывает система. Токеном может быть слово, часть слова, знак пунктуации или другой фрагмент. Выбор границ определяет словарь признаков и доступные сочетания элементов. Токены являются результатом принятой процедуры, поэтому их границы не обязаны совпадать с бытовым пониманием слова.</a:t>
            </a:r>
          </a:p>
          <a:p xmlns:a="http://schemas.openxmlformats.org/drawingml/2006/main">
            <a:r>
              <a:t/>
            </a:r>
          </a:p>
          <a:p xmlns:a="http://schemas.openxmlformats.org/drawingml/2006/main">
            <a:r>
              <a:t>Неоднозначные границы</a:t>
            </a:r>
          </a:p>
          <a:p xmlns:a="http://schemas.openxmlformats.org/drawingml/2006/main">
            <a:r>
              <a:t>Пробелы дают только приближённое разбиение. Дефисные формы, сокращения, адреса, числа и даты требуют отдельных решений. Например, запись «24.10» может обозначать дату или числовой фрагмент, а точка после сокращения не всегда завершает предложение. Качество tokenization проверяют на реальных конструкциях целевого корпуса.</a:t>
            </a:r>
          </a:p>
          <a:p xmlns:a="http://schemas.openxmlformats.org/drawingml/2006/main">
            <a:r>
              <a:t/>
            </a:r>
          </a:p>
          <a:p xmlns:a="http://schemas.openxmlformats.org/drawingml/2006/main">
            <a:r>
              <a:t>Источник: https://www.nltk.org/api/nltk.tokenize.html</a:t>
            </a:r>
          </a:p>
          <a:p xmlns:a="http://schemas.openxmlformats.org/drawingml/2006/main">
            <a:r>
              <a:t>Источник: https://www.nltk.org/data.html</a:t>
            </a:r>
          </a:p>
          <a:p xmlns:a="http://schemas.openxmlformats.org/drawingml/2006/main">
            <a:r>
              <a:t>Источник: https://huggingface.co/learn/llm-course/en/chapter2/4</a:t>
            </a:r>
          </a:p>
          <a:p xmlns:a="http://schemas.openxmlformats.org/drawingml/2006/main">
            <a:r>
              <a:t>Иллюстрация: https://huggingface.co/datasets/huggingface-course/documentation-images/resolve/main/en/chapter2/word_based_tokenization-dark.svg</a:t>
            </a:r>
          </a:p>
          <a:p xmlns:a="http://schemas.openxmlformats.org/drawingml/2006/main">
            <a:r>
              <a:t>Пример word tokenization англоязычного предложения.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32–33 мин от начала лекции (1 мин). Темп можно адаптировать к группе.</a:t>
            </a:r>
          </a:p>
          <a:p xmlns:a="http://schemas.openxmlformats.org/drawingml/2006/main">
            <a:r>
              <a:t/>
            </a:r>
          </a:p>
          <a:p xmlns:a="http://schemas.openxmlformats.org/drawingml/2006/main">
            <a:r>
              <a:t>spaCy последовательно рассматривает начальные и конечные символы, а также известные исключения. На рисунке отдельно выделяются кавычки и восклицательный знак. Сокращение N.Y. сохраняет внутренние точки.</a:t>
            </a:r>
          </a:p>
          <a:p xmlns:a="http://schemas.openxmlformats.org/drawingml/2006/main">
            <a:r>
              <a:t/>
            </a:r>
          </a:p>
          <a:p xmlns:a="http://schemas.openxmlformats.org/drawingml/2006/main">
            <a:r>
              <a:t>Простого разделения по пробелам недостаточно. Правила должны согласованно обрабатывать сокращения, пунктуацию и устойчивые формы записи.</a:t>
            </a:r>
          </a:p>
          <a:p xmlns:a="http://schemas.openxmlformats.org/drawingml/2006/main">
            <a:r>
              <a:t/>
            </a:r>
          </a:p>
          <a:p xmlns:a="http://schemas.openxmlformats.org/drawingml/2006/main">
            <a:r>
              <a:t>Схема из документации spaCy. Пример относится к английскому языку.</a:t>
            </a:r>
          </a:p>
          <a:p xmlns:a="http://schemas.openxmlformats.org/drawingml/2006/main">
            <a:r>
              <a:t/>
            </a:r>
          </a:p>
          <a:p xmlns:a="http://schemas.openxmlformats.org/drawingml/2006/main">
            <a:r>
              <a:t/>
            </a:r>
          </a:p>
          <a:p xmlns:a="http://schemas.openxmlformats.org/drawingml/2006/main">
            <a:r>
              <a:t/>
            </a:r>
          </a:p>
          <a:p xmlns:a="http://schemas.openxmlformats.org/drawingml/2006/main">
            <a:r>
              <a:t>Источник: https://spacy.io/usage/linguistic-features#tokenization</a:t>
            </a:r>
          </a:p>
          <a:p xmlns:a="http://schemas.openxmlformats.org/drawingml/2006/main">
            <a:r>
              <a:t>Иллюстрация: https://spacy.io/images/tokenization.svg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33–34 мин от начала лекции (1 мин). Темп можно адаптировать к группе.</a:t>
            </a:r>
          </a:p>
          <a:p xmlns:a="http://schemas.openxmlformats.org/drawingml/2006/main">
            <a:r>
              <a:t/>
            </a:r>
          </a:p>
          <a:p xmlns:a="http://schemas.openxmlformats.org/drawingml/2006/main">
            <a:r>
              <a:t>Правильное разбиение зависит от того, какая информация должна сохраняться в последующей задаче.</a:t>
            </a:r>
          </a:p>
          <a:p xmlns:a="http://schemas.openxmlformats.org/drawingml/2006/main">
            <a:r>
              <a:t/>
            </a:r>
          </a:p>
          <a:p xmlns:a="http://schemas.openxmlformats.org/drawingml/2006/main">
            <a:r>
              <a:t>Запись | Существенное свойство | Что требуется проверить</a:t>
            </a:r>
          </a:p>
          <a:p xmlns:a="http://schemas.openxmlformats.org/drawingml/2006/main">
            <a:r>
              <a:t>Санкт-Петербург | Название с дефисом | Границы названия</a:t>
            </a:r>
          </a:p>
          <a:p xmlns:a="http://schemas.openxmlformats.org/drawingml/2006/main">
            <a:r>
              <a:t>24.10.2026 | Единая запись даты | Связь частей даты</a:t>
            </a:r>
          </a:p>
          <a:p xmlns:a="http://schemas.openxmlformats.org/drawingml/2006/main">
            <a:r>
              <a:t>3,5 кг | Число и единица измерения | Десятичный разделитель</a:t>
            </a:r>
          </a:p>
          <a:p xmlns:a="http://schemas.openxmlformats.org/drawingml/2006/main">
            <a:r>
              <a:t>не понравился | Отрицание и оценка | Сохранение соседства</a:t>
            </a:r>
          </a:p>
          <a:p xmlns:a="http://schemas.openxmlformats.org/drawingml/2006/main">
            <a:r>
              <a:t/>
            </a:r>
          </a:p>
          <a:p xmlns:a="http://schemas.openxmlformats.org/drawingml/2006/main">
            <a:r>
              <a:t>Таблица задаёт случаи для проверки. Она не предписывает одинаковое число токенов для всех библиотек и способов представления.</a:t>
            </a:r>
          </a:p>
          <a:p xmlns:a="http://schemas.openxmlformats.org/drawingml/2006/main">
            <a:r>
              <a:t/>
            </a:r>
          </a:p>
          <a:p xmlns:a="http://schemas.openxmlformats.org/drawingml/2006/main">
            <a:r>
              <a:t>Учебный пример, составленный для лекции.</a:t>
            </a:r>
          </a:p>
          <a:p xmlns:a="http://schemas.openxmlformats.org/drawingml/2006/main">
            <a:r>
              <a:t/>
            </a:r>
          </a:p>
          <a:p xmlns:a="http://schemas.openxmlformats.org/drawingml/2006/main">
            <a:r>
              <a:t>Источник терминологии: https://scikit-learn.org/stable/modules/feature_extraction.html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34–35 мин от начала лекции (1 мин). Темп можно адаптировать к группе.</a:t>
            </a:r>
          </a:p>
          <a:p xmlns:a="http://schemas.openxmlformats.org/drawingml/2006/main">
            <a:r>
              <a:t/>
            </a:r>
          </a:p>
          <a:p xmlns:a="http://schemas.openxmlformats.org/drawingml/2006/main">
            <a:r>
              <a:t>Словоформы и неоднозначность</a:t>
            </a:r>
          </a:p>
          <a:p xmlns:a="http://schemas.openxmlformats.org/drawingml/2006/main">
            <a:r>
              <a:t>В русском тексте одна lemma может встречаться во многих формах. Это увеличивает vocabulary при word-level representation. Одновременно одинаковая запись может допускать разные разборы: «стали» соотносится со словом «стать» или «сталь» в зависимости от контекста. Morphological analysis должен учитывать, какие свойства нужны конкретной задаче.</a:t>
            </a:r>
          </a:p>
          <a:p xmlns:a="http://schemas.openxmlformats.org/drawingml/2006/main">
            <a:r>
              <a:t/>
            </a:r>
          </a:p>
          <a:p xmlns:a="http://schemas.openxmlformats.org/drawingml/2006/main">
            <a:r>
              <a:t>Запись и жанр</a:t>
            </a:r>
          </a:p>
          <a:p xmlns:a="http://schemas.openxmlformats.org/drawingml/2006/main">
            <a:r>
              <a:t>Проверяют буквы «е» и «ё», дефисы, сокращения, имена, числительные и смешение кириллицы с латиницей. Сообщения пользователей дополнительно содержат опечатки и нестандартные формы. Нельзя считать любой tokenizer или pretrained model одинаково пригодным для русского языка: важны language support и данные обучения. Проверка на характерных примерах дополняет общую метрику.</a:t>
            </a:r>
          </a:p>
          <a:p xmlns:a="http://schemas.openxmlformats.org/drawingml/2006/main">
            <a:r>
              <a:t/>
            </a:r>
          </a:p>
          <a:p xmlns:a="http://schemas.openxmlformats.org/drawingml/2006/main">
            <a:r>
              <a:t/>
            </a:r>
          </a:p>
          <a:p xmlns:a="http://schemas.openxmlformats.org/drawingml/2006/main">
            <a:r>
              <a:t>Источник: https://spacy.io/usage/linguistic-features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35–36 мин от начала лекции (1 мин). Темп можно адаптировать к группе.</a:t>
            </a:r>
          </a:p>
          <a:p xmlns:a="http://schemas.openxmlformats.org/drawingml/2006/main">
            <a:r>
              <a:t/>
            </a:r>
          </a:p>
          <a:p xmlns:a="http://schemas.openxmlformats.org/drawingml/2006/main">
            <a:r>
              <a:t>Слова и символы</a:t>
            </a:r>
          </a:p>
          <a:p xmlns:a="http://schemas.openxmlformats.org/drawingml/2006/main">
            <a:r>
              <a:t>Word tokenization даёт единицы, которые сравнительно легко интерпретировать и использовать в частотных признаках. Однако словарь растёт из-за новых словоформ, имён и опечаток. Символьное представление использует небольшой набор базовых единиц и сохраняет детали написания, но для описания смысла обычно требует учитывать более длинные последовательности.</a:t>
            </a:r>
          </a:p>
          <a:p xmlns:a="http://schemas.openxmlformats.org/drawingml/2006/main">
            <a:r>
              <a:t/>
            </a:r>
          </a:p>
          <a:p xmlns:a="http://schemas.openxmlformats.org/drawingml/2006/main">
            <a:r>
              <a:t>Subword units</a:t>
            </a:r>
          </a:p>
          <a:p xmlns:a="http://schemas.openxmlformats.org/drawingml/2006/main">
            <a:r>
              <a:t>Subword tokenization делит слова на фрагменты согласно правилам выбранного tokenizer. Она позволяет представить редкую или ранее не встречавшуюся запись через известные части. Полученные фрагменты не обязаны совпадать с морфемами. Для предобученной модели необходимо использовать согласованный с ней tokenizer и словарь.</a:t>
            </a:r>
          </a:p>
          <a:p xmlns:a="http://schemas.openxmlformats.org/drawingml/2006/main">
            <a:r>
              <a:t/>
            </a:r>
          </a:p>
          <a:p xmlns:a="http://schemas.openxmlformats.org/drawingml/2006/main">
            <a:r>
              <a:t>Источник: https://www.nltk.org/api/nltk.tokenize.html</a:t>
            </a:r>
          </a:p>
          <a:p xmlns:a="http://schemas.openxmlformats.org/drawingml/2006/main">
            <a:r>
              <a:t>Источник: https://www.nltk.org/data.html</a:t>
            </a:r>
          </a:p>
          <a:p xmlns:a="http://schemas.openxmlformats.org/drawingml/2006/main">
            <a:r>
              <a:t>Источник: https://huggingface.co/learn/llm-course/en/chapter2/4</a:t>
            </a:r>
          </a:p>
          <a:p xmlns:a="http://schemas.openxmlformats.org/drawingml/2006/main">
            <a:r>
              <a:t>Иллюстрация: https://huggingface.co/datasets/huggingface-course/documentation-images/resolve/main/en/chapter2/bpe_subword-dark.svg</a:t>
            </a:r>
          </a:p>
          <a:p xmlns:a="http://schemas.openxmlformats.org/drawingml/2006/main">
            <a:r>
              <a:t>Subword units позволяют представить слово через несколько фрагментов.</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36–37 мин от начала лекции (1 мин). Темп можно адаптировать к группе.</a:t>
            </a:r>
          </a:p>
          <a:p xmlns:a="http://schemas.openxmlformats.org/drawingml/2006/main">
            <a:r>
              <a:t/>
            </a:r>
          </a:p>
          <a:p xmlns:a="http://schemas.openxmlformats.org/drawingml/2006/main">
            <a:r>
              <a:t>В символьном представлении слово разделяется на отдельные символы. Набор базовых единиц обычно меньше словаря целых слов, а новая словоформа может состоять из знакомых элементов. Последовательности становятся длиннее, и смысловые закономерности необходимо извлекать из сочетаний символов. В классической классификации часто используют character n-grams.</a:t>
            </a:r>
          </a:p>
          <a:p xmlns:a="http://schemas.openxmlformats.org/drawingml/2006/main">
            <a:r>
              <a:t/>
            </a:r>
          </a:p>
          <a:p xmlns:a="http://schemas.openxmlformats.org/drawingml/2006/main">
            <a:r>
              <a:t>Иллюстрация из курса Hugging Face. Правила обработки пробелов зависят от конкретного tokenizer.</a:t>
            </a:r>
          </a:p>
          <a:p xmlns:a="http://schemas.openxmlformats.org/drawingml/2006/main">
            <a:r>
              <a:t/>
            </a:r>
          </a:p>
          <a:p xmlns:a="http://schemas.openxmlformats.org/drawingml/2006/main">
            <a:r>
              <a:t/>
            </a:r>
          </a:p>
          <a:p xmlns:a="http://schemas.openxmlformats.org/drawingml/2006/main">
            <a:r>
              <a:t/>
            </a:r>
          </a:p>
          <a:p xmlns:a="http://schemas.openxmlformats.org/drawingml/2006/main">
            <a:r>
              <a:t>Источник: https://huggingface.co/learn/llm-course/en/chapter2/4</a:t>
            </a:r>
          </a:p>
          <a:p xmlns:a="http://schemas.openxmlformats.org/drawingml/2006/main">
            <a:r>
              <a:t>Иллюстрация: https://huggingface.co/datasets/huggingface-course/documentation-images/resolve/main/en/chapter2/character_based_tokenization.svg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37–38 мин от начала лекции (1 мин). Темп можно адаптировать к группе.</a:t>
            </a:r>
          </a:p>
          <a:p xmlns:a="http://schemas.openxmlformats.org/drawingml/2006/main">
            <a:r>
              <a:t/>
            </a:r>
          </a:p>
          <a:p xmlns:a="http://schemas.openxmlformats.org/drawingml/2006/main">
            <a:r>
              <a:t>Сначала нормализация согласует запись текста. Предварительное разбиение выделяет крупные фрагменты. Модель tokenization делит их на единицы своего словаря, а заключительный этап может добавлять специальные маркеры.</a:t>
            </a:r>
          </a:p>
          <a:p xmlns:a="http://schemas.openxmlformats.org/drawingml/2006/main">
            <a:r>
              <a:t/>
            </a:r>
          </a:p>
          <a:p xmlns:a="http://schemas.openxmlformats.org/drawingml/2006/main">
            <a:r>
              <a:t>Эти операции должны соответствовать требованиям выбранной языковой модели. Замена только одного этапа способна изменить весь набор входных идентификаторов.</a:t>
            </a:r>
          </a:p>
          <a:p xmlns:a="http://schemas.openxmlformats.org/drawingml/2006/main">
            <a:r>
              <a:t/>
            </a:r>
          </a:p>
          <a:p xmlns:a="http://schemas.openxmlformats.org/drawingml/2006/main">
            <a:r>
              <a:t>Схема Hugging Face. Маркеры CLS и SEP показаны для конкретного семейства моделей и не являются универсальными.</a:t>
            </a:r>
          </a:p>
          <a:p xmlns:a="http://schemas.openxmlformats.org/drawingml/2006/main">
            <a:r>
              <a:t/>
            </a:r>
          </a:p>
          <a:p xmlns:a="http://schemas.openxmlformats.org/drawingml/2006/main">
            <a:r>
              <a:t/>
            </a:r>
          </a:p>
          <a:p xmlns:a="http://schemas.openxmlformats.org/drawingml/2006/main">
            <a:r>
              <a:t/>
            </a:r>
          </a:p>
          <a:p xmlns:a="http://schemas.openxmlformats.org/drawingml/2006/main">
            <a:r>
              <a:t>Источник: https://huggingface.co/learn/llm-course/en/chapter6/4</a:t>
            </a:r>
          </a:p>
          <a:p xmlns:a="http://schemas.openxmlformats.org/drawingml/2006/main">
            <a:r>
              <a:t>Иллюстрация: https://huggingface.co/datasets/huggingface-course/documentation-images/resolve/main/en/chapter6/tokenization_pipeline-dark.svg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38–39 мин от начала лекции (1 мин). Темп можно адаптировать к группе.</a:t>
            </a:r>
          </a:p>
          <a:p xmlns:a="http://schemas.openxmlformats.org/drawingml/2006/main">
            <a:r>
              <a:t/>
            </a:r>
          </a:p>
          <a:p xmlns:a="http://schemas.openxmlformats.org/drawingml/2006/main">
            <a:r>
              <a:t>Normalization как выбор представления</a:t>
            </a:r>
          </a:p>
          <a:p xmlns:a="http://schemas.openxmlformats.org/drawingml/2006/main">
            <a:r>
              <a:t>Text normalization приводит варианты записи к выбранному соглашению: например, объединяет эквивалентные Unicode-последовательности или стандартизирует пробелы. Lowercasing уменьшает число различных форм, но может убирать различия между именами и обычными словами. Требуемые операции зависят от задачи и от того, какие сигналы нужно сохранить.</a:t>
            </a:r>
          </a:p>
          <a:p xmlns:a="http://schemas.openxmlformats.org/drawingml/2006/main">
            <a:r>
              <a:t/>
            </a:r>
          </a:p>
          <a:p xmlns:a="http://schemas.openxmlformats.org/drawingml/2006/main">
            <a:r>
              <a:t>Согласованность обработки</a:t>
            </a:r>
          </a:p>
          <a:p xmlns:a="http://schemas.openxmlformats.org/drawingml/2006/main">
            <a:r>
              <a:t>Слишком агрессивная normalization уничтожает информацию: регистр, emoji, повторяющаяся пунктуация или числа могут влиять на class label. Для pretrained models применяют preprocessing, совместимый с их tokenizer. Решения фиксируют и одинаково используют на train, dev, test и новых документах. Пользу дополнительного преобразования проверяют по результатам evaluation.</a:t>
            </a:r>
          </a:p>
          <a:p xmlns:a="http://schemas.openxmlformats.org/drawingml/2006/main">
            <a:r>
              <a:t/>
            </a:r>
          </a:p>
          <a:p xmlns:a="http://schemas.openxmlformats.org/drawingml/2006/main">
            <a:r>
              <a:t/>
            </a:r>
          </a:p>
          <a:p xmlns:a="http://schemas.openxmlformats.org/drawingml/2006/main">
            <a:r>
              <a:t>Источник: https://web.stanford.edu/~jurafsky/slp3/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39–40.5 мин от начала лекции (1.5 мин). Темп можно адаптировать к группе.</a:t>
            </a:r>
          </a:p>
          <a:p xmlns:a="http://schemas.openxmlformats.org/drawingml/2006/main">
            <a:r>
              <a:t/>
            </a:r>
          </a:p>
          <a:p xmlns:a="http://schemas.openxmlformats.org/drawingml/2006/main">
            <a:r>
              <a:t>Оба подхода уменьшают разнообразие словоформ, но используют разные основания. Lemmatization опирается на языковой разбор, а stemming изменяет запись по формальным правилам.</a:t>
            </a:r>
          </a:p>
          <a:p xmlns:a="http://schemas.openxmlformats.org/drawingml/2006/main">
            <a:r>
              <a:t/>
            </a:r>
          </a:p>
          <a:p xmlns:a="http://schemas.openxmlformats.org/drawingml/2006/main">
            <a:r>
              <a:t>Лемма обычно соответствует словарной форме. Стем может быть фрагментом, который не существует как самостоятельное слово. Приведение разных форм к одной записи полезно только при сохранении нужных различий.</a:t>
            </a:r>
          </a:p>
          <a:p xmlns:a="http://schemas.openxmlformats.org/drawingml/2006/main">
            <a:r>
              <a:t/>
            </a:r>
          </a:p>
          <a:p xmlns:a="http://schemas.openxmlformats.org/drawingml/2006/main">
            <a:r>
              <a:t>Источник: https://spacy.io/usage/linguistic-features</a:t>
            </a:r>
          </a:p>
          <a:p xmlns:a="http://schemas.openxmlformats.org/drawingml/2006/main">
            <a:r>
              <a:t>Источник: https://www.nltk.org/api/nltk.stem.snowball.html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40.5–41.5 мин от начала лекции (1 мин). Темп можно адаптировать к группе.</a:t>
            </a:r>
          </a:p>
          <a:p xmlns:a="http://schemas.openxmlformats.org/drawingml/2006/main">
            <a:r>
              <a:t/>
            </a:r>
          </a:p>
          <a:p xmlns:a="http://schemas.openxmlformats.org/drawingml/2006/main">
            <a:r>
              <a:t>Одинаковая запись может соответствовать разным словарным единицам. Контекст помогает различить допустимые разборы.</a:t>
            </a:r>
          </a:p>
          <a:p xmlns:a="http://schemas.openxmlformats.org/drawingml/2006/main">
            <a:r>
              <a:t/>
            </a:r>
          </a:p>
          <a:p xmlns:a="http://schemas.openxmlformats.org/drawingml/2006/main">
            <a:r>
              <a:t>Фрагмент | Словоформа | Интерпретация</a:t>
            </a:r>
          </a:p>
          <a:p xmlns:a="http://schemas.openxmlformats.org/drawingml/2006/main">
            <a:r>
              <a:t>Деталь изготовлена из стали | стали | Существительное «сталь»</a:t>
            </a:r>
          </a:p>
          <a:p xmlns:a="http://schemas.openxmlformats.org/drawingml/2006/main">
            <a:r>
              <a:t>Они стали работать быстрее | стали | Глагол «стать»</a:t>
            </a:r>
          </a:p>
          <a:p xmlns:a="http://schemas.openxmlformats.org/drawingml/2006/main">
            <a:r>
              <a:t>Новое стекло треснуло | стекло | Существительное «стекло»</a:t>
            </a:r>
          </a:p>
          <a:p xmlns:a="http://schemas.openxmlformats.org/drawingml/2006/main">
            <a:r>
              <a:t>Молоко стекло на пол | стекло | Глагол «стечь»</a:t>
            </a:r>
          </a:p>
          <a:p xmlns:a="http://schemas.openxmlformats.org/drawingml/2006/main">
            <a:r>
              <a:t/>
            </a:r>
          </a:p>
          <a:p xmlns:a="http://schemas.openxmlformats.org/drawingml/2006/main">
            <a:r>
              <a:t>Примеры составлены для лекции. Lemmatization требует проверки неоднозначных форм, даже если отдельные распространённые слова обрабатываются правильно.</a:t>
            </a:r>
          </a:p>
          <a:p xmlns:a="http://schemas.openxmlformats.org/drawingml/2006/main">
            <a:r>
              <a:t/>
            </a:r>
          </a:p>
          <a:p xmlns:a="http://schemas.openxmlformats.org/drawingml/2006/main">
            <a:r>
              <a:t>Учебный пример, составленный для лекции.</a:t>
            </a:r>
          </a:p>
          <a:p xmlns:a="http://schemas.openxmlformats.org/drawingml/2006/main">
            <a:r>
              <a:t/>
            </a:r>
          </a:p>
          <a:p xmlns:a="http://schemas.openxmlformats.org/drawingml/2006/main">
            <a:r>
              <a:t>Источник терминологии: https://scikit-learn.org/stable/modules/feature_extraction.html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41.5–43 мин от начала лекции (1.5 мин). Темп можно адаптировать к группе.</a:t>
            </a:r>
          </a:p>
          <a:p xmlns:a="http://schemas.openxmlformats.org/drawingml/2006/main">
            <a:r>
              <a:t/>
            </a:r>
          </a:p>
          <a:p xmlns:a="http://schemas.openxmlformats.org/drawingml/2006/main">
            <a:r>
              <a:t>Lemma и grammatical features</a:t>
            </a:r>
          </a:p>
          <a:p xmlns:a="http://schemas.openxmlformats.org/drawingml/2006/main">
            <a:r>
              <a:t>Morphological analysis определяет возможную lemma, part-of-speech tag и grammatical features: например, число, падеж или время. Это отдельные аннотации текста, а не готовое решение прикладной задачи. Ошибка в выборе lemma может объединить разные слова или разделить употребления одного слова, изменив статистику features.</a:t>
            </a:r>
          </a:p>
          <a:p xmlns:a="http://schemas.openxmlformats.org/drawingml/2006/main">
            <a:r>
              <a:t/>
            </a:r>
          </a:p>
          <a:p xmlns:a="http://schemas.openxmlformats.org/drawingml/2006/main">
            <a:r>
              <a:t>Контекст и инструмент</a:t>
            </a:r>
          </a:p>
          <a:p xmlns:a="http://schemas.openxmlformats.org/drawingml/2006/main">
            <a:r>
              <a:t>Некоторые инструменты перечисляют возможные разборы по словарю, другие выбирают вариант с учётом контекста. Поэтому наличие морфологического словаря и наличие contextual model — разные возможности. Для text classification morphological analysis может быть полезен, но не является обязательным: character n-grams иногда позволяют работать со словоформами без отдельного разбора.</a:t>
            </a:r>
          </a:p>
          <a:p xmlns:a="http://schemas.openxmlformats.org/drawingml/2006/main">
            <a:r>
              <a:t/>
            </a:r>
          </a:p>
          <a:p xmlns:a="http://schemas.openxmlformats.org/drawingml/2006/main">
            <a:r>
              <a:t/>
            </a:r>
          </a:p>
          <a:p xmlns:a="http://schemas.openxmlformats.org/drawingml/2006/main">
            <a:r>
              <a:t>Источник: https://spacy.io/usage/linguistic-features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43–44 мин от начала лекции (1 мин). Темп можно адаптировать к группе.</a:t>
            </a:r>
          </a:p>
          <a:p xmlns:a="http://schemas.openxmlformats.org/drawingml/2006/main">
            <a:r>
              <a:t/>
            </a:r>
          </a:p>
          <a:p xmlns:a="http://schemas.openxmlformats.org/drawingml/2006/main">
            <a:r>
              <a:t>Stop words</a:t>
            </a:r>
          </a:p>
          <a:p xmlns:a="http://schemas.openxmlformats.org/drawingml/2006/main">
            <a:r>
              <a:t>Stop words — заранее выбранные элементы, которые исключаются из representation. Часто это служебные слова, широко представленные в corpus. Универсального списка для всех задач нет: предлоги, местоимения и отрицания могут нести полезную информацию. Например, удаление «не» меняет отличие между «рекомендую» и «не рекомендую».</a:t>
            </a:r>
          </a:p>
          <a:p xmlns:a="http://schemas.openxmlformats.org/drawingml/2006/main">
            <a:r>
              <a:t/>
            </a:r>
          </a:p>
          <a:p xmlns:a="http://schemas.openxmlformats.org/drawingml/2006/main">
            <a:r>
              <a:t>Feature selection по данным</a:t>
            </a:r>
          </a:p>
          <a:p xmlns:a="http://schemas.openxmlformats.org/drawingml/2006/main">
            <a:r>
              <a:t>Параметры min_df и max_df ограничивают vocabulary по document frequency. Они решают другую задачу, чем лингвистический список stop words. Редкий элемент может быть шумом или важным сигналом класса; частый — общим фоном или частью устойчивой конструкции. Параметры выбирают по dev или внутри cross-validation, сохраняя test для итоговой оценки.</a:t>
            </a:r>
          </a:p>
          <a:p xmlns:a="http://schemas.openxmlformats.org/drawingml/2006/main">
            <a:r>
              <a:t/>
            </a:r>
          </a:p>
          <a:p xmlns:a="http://schemas.openxmlformats.org/drawingml/2006/main">
            <a:r>
              <a:t/>
            </a:r>
          </a:p>
          <a:p xmlns:a="http://schemas.openxmlformats.org/drawingml/2006/main">
            <a:r>
              <a:t>Источник: https://scikit-learn.org/stable/modules/feature_extraction.html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44–45 мин от начала лекции (1 мин). Темп можно адаптировать к группе.</a:t>
            </a:r>
          </a:p>
          <a:p xmlns:a="http://schemas.openxmlformats.org/drawingml/2006/main">
            <a:r>
              <a:t/>
            </a:r>
          </a:p>
          <a:p xmlns:a="http://schemas.openxmlformats.org/drawingml/2006/main">
            <a:r>
              <a:t>Удаление частого служебного слова может сделать противоположные оценки неразличимыми для выбранного представления.</a:t>
            </a:r>
          </a:p>
          <a:p xmlns:a="http://schemas.openxmlformats.org/drawingml/2006/main">
            <a:r>
              <a:t/>
            </a:r>
          </a:p>
          <a:p xmlns:a="http://schemas.openxmlformats.org/drawingml/2006/main">
            <a:r>
              <a:t>Исходный текст | После удаления «не» | Смысловой эффект</a:t>
            </a:r>
          </a:p>
          <a:p xmlns:a="http://schemas.openxmlformats.org/drawingml/2006/main">
            <a:r>
              <a:t>Товар понравился | Товар понравился | Положительная оценка</a:t>
            </a:r>
          </a:p>
          <a:p xmlns:a="http://schemas.openxmlformats.org/drawingml/2006/main">
            <a:r>
              <a:t>Товар не понравился | Товар понравился | Отрицание исчезло</a:t>
            </a:r>
          </a:p>
          <a:p xmlns:a="http://schemas.openxmlformats.org/drawingml/2006/main">
            <a:r>
              <a:t>Не могу рекомендовать | Могу рекомендовать | Смысл изменился</a:t>
            </a:r>
          </a:p>
          <a:p xmlns:a="http://schemas.openxmlformats.org/drawingml/2006/main">
            <a:r>
              <a:t>Совсем не плохой товар | Совсем плохой товар | Оценка искажена</a:t>
            </a:r>
          </a:p>
          <a:p xmlns:a="http://schemas.openxmlformats.org/drawingml/2006/main">
            <a:r>
              <a:t/>
            </a:r>
          </a:p>
          <a:p xmlns:a="http://schemas.openxmlformats.org/drawingml/2006/main">
            <a:r>
              <a:t>Список stop words следует оценивать вместе с задачей и представлением текста. Частота элемента не означает, что его можно безопасно удалить.</a:t>
            </a:r>
          </a:p>
          <a:p xmlns:a="http://schemas.openxmlformats.org/drawingml/2006/main">
            <a:r>
              <a:t/>
            </a:r>
          </a:p>
          <a:p xmlns:a="http://schemas.openxmlformats.org/drawingml/2006/main">
            <a:r>
              <a:t>Учебный пример, составленный для лекции.</a:t>
            </a:r>
          </a:p>
          <a:p xmlns:a="http://schemas.openxmlformats.org/drawingml/2006/main">
            <a:r>
              <a:t/>
            </a:r>
          </a:p>
          <a:p xmlns:a="http://schemas.openxmlformats.org/drawingml/2006/main">
            <a:r>
              <a:t>Источник терминологии: https://scikit-learn.org/stable/modules/feature_extraction.html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45–46.5 мин от начала лекции (1.5 мин). Темп можно адаптировать к группе.</a:t>
            </a:r>
          </a:p>
          <a:p xmlns:a="http://schemas.openxmlformats.org/drawingml/2006/main">
            <a:r>
              <a:t/>
            </a:r>
          </a:p>
          <a:p xmlns:a="http://schemas.openxmlformats.org/drawingml/2006/main">
            <a:r>
              <a:t>Сигналы, которые могут исчезнуть</a:t>
            </a:r>
          </a:p>
          <a:p xmlns:a="http://schemas.openxmlformats.org/drawingml/2006/main">
            <a:r>
              <a:t>Удаление пунктуации объединяет вопрос и утверждение, изменение регистра скрывает отдельные названия, а замена чисел общим маркером убирает конкретные значения. Агрессивная очистка может уничтожить информацию о сумме, дате или количестве. В анализе тональности также имеют значение усилители, отрицания и отдельные особенности эмоциональной записи.</a:t>
            </a:r>
          </a:p>
          <a:p xmlns:a="http://schemas.openxmlformats.org/drawingml/2006/main">
            <a:r>
              <a:t/>
            </a:r>
          </a:p>
          <a:p xmlns:a="http://schemas.openxmlformats.org/drawingml/2006/main">
            <a:r>
              <a:t>Проверка допустимости преобразований</a:t>
            </a:r>
          </a:p>
          <a:p xmlns:a="http://schemas.openxmlformats.org/drawingml/2006/main">
            <a:r>
              <a:t>Для каждой операции полезно рассмотреть пары текстов, которые после обработки становятся одинаковыми. Если эти тексты должны получать разные ответы, преобразование удаляет потенциально полезный сигнал. Окончательное решение принимают по качеству задачи и разбору ошибок. Единого универсального набора очистки для классификации, поиска и извлечения фактов не существует.</a:t>
            </a:r>
          </a:p>
          <a:p xmlns:a="http://schemas.openxmlformats.org/drawingml/2006/main">
            <a:r>
              <a:t/>
            </a:r>
          </a:p>
          <a:p xmlns:a="http://schemas.openxmlformats.org/drawingml/2006/main">
            <a:r>
              <a:t>Источник: https://scikit-learn.org/stable/modules/feature_extraction.html#text-feature-extraction</a:t>
            </a:r>
          </a:p>
          <a:p xmlns:a="http://schemas.openxmlformats.org/drawingml/2006/main">
            <a:r>
              <a:t>Источник: https://scikit-learn.org/stable/common_pitfalls.html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46.5–48 мин от начала лекции (1.5 мин). Темп можно адаптировать к группе.</a:t>
            </a:r>
          </a:p>
          <a:p xmlns:a="http://schemas.openxmlformats.org/drawingml/2006/main">
            <a:r>
              <a:t/>
            </a:r>
          </a:p>
          <a:p xmlns:a="http://schemas.openxmlformats.org/drawingml/2006/main">
            <a:r>
              <a:t>Каждую операцию связывают с ожидаемой пользой и возможной потерей информации. Один и тот же шаг может помогать одной задаче и мешать другой.</a:t>
            </a:r>
          </a:p>
          <a:p xmlns:a="http://schemas.openxmlformats.org/drawingml/2006/main">
            <a:r>
              <a:t/>
            </a:r>
          </a:p>
          <a:p xmlns:a="http://schemas.openxmlformats.org/drawingml/2006/main">
            <a:r>
              <a:t>Проверку начинают с характерных примеров, затем сравнивают варианты на неизменном разбиении данных. Несколько преобразований желательно добавлять последовательно, чтобы понимать источник изменения результата.</a:t>
            </a:r>
          </a:p>
          <a:p xmlns:a="http://schemas.openxmlformats.org/drawingml/2006/main">
            <a:r>
              <a:t/>
            </a:r>
          </a:p>
          <a:p xmlns:a="http://schemas.openxmlformats.org/drawingml/2006/main">
            <a:r>
              <a:t>Источник: https://scikit-learn.org/stable/modules/feature_extraction.html#text-feature-extraction</a:t>
            </a:r>
          </a:p>
          <a:p xmlns:a="http://schemas.openxmlformats.org/drawingml/2006/main">
            <a:r>
              <a:t>Источник: https://scikit-learn.org/stable/common_pitfalls.html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48–49 мин от начала лекции (1 мин). Темп можно адаптировать к группе.</a:t>
            </a:r>
          </a:p>
          <a:p xmlns:a="http://schemas.openxmlformats.org/drawingml/2006/main">
            <a:r>
              <a:t/>
            </a:r>
          </a:p>
          <a:p xmlns:a="http://schemas.openxmlformats.org/drawingml/2006/main">
            <a:r>
              <a:t>Частота и документная частота</a:t>
            </a:r>
          </a:p>
          <a:p xmlns:a="http://schemas.openxmlformats.org/drawingml/2006/main">
            <a:r>
              <a:t>Частота токена показывает число его вхождений в выбранном тексте или корпусе. Документная частота показывает число документов, в которых он встретился хотя бы один раз. Например, многократное повторение слова в одном отзыве повышает частоту вхождений, но добавляет только один документ к документной частоте этого слова.</a:t>
            </a:r>
          </a:p>
          <a:p xmlns:a="http://schemas.openxmlformats.org/drawingml/2006/main">
            <a:r>
              <a:t/>
            </a:r>
          </a:p>
          <a:p xmlns:a="http://schemas.openxmlformats.org/drawingml/2006/main">
            <a:r>
              <a:t>Интерпретация распределений</a:t>
            </a:r>
          </a:p>
          <a:p xmlns:a="http://schemas.openxmlformats.org/drawingml/2006/main">
            <a:r>
              <a:t>Частотный анализ помогает обнаруживать характерную лексику, технический шум, дубликаты и особенности источников. Очень частые элементы могут отражать шаблон оформления, а редкие элементы могут быть терминами или опечатками. Полезно сравнивать распределения по классам и источникам, учитывая объём каждой группы и не выводя смысловую значимость только из частоты.</a:t>
            </a:r>
          </a:p>
          <a:p xmlns:a="http://schemas.openxmlformats.org/drawingml/2006/main">
            <a:r>
              <a:t/>
            </a:r>
          </a:p>
          <a:p xmlns:a="http://schemas.openxmlformats.org/drawingml/2006/main">
            <a:r>
              <a:t>Источник: https://scikit-learn.org/stable/modules/feature_extraction.html#text-feature-extraction</a:t>
            </a:r>
          </a:p>
          <a:p xmlns:a="http://schemas.openxmlformats.org/drawingml/2006/main">
            <a:r>
              <a:t>Источник: https://scikit-learn.org/stable/common_pitfalls.html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49–50 мин от начала лекции (1 мин). Темп можно адаптировать к группе.</a:t>
            </a:r>
          </a:p>
          <a:p xmlns:a="http://schemas.openxmlformats.org/drawingml/2006/main">
            <a:r>
              <a:t/>
            </a:r>
          </a:p>
          <a:p xmlns:a="http://schemas.openxmlformats.org/drawingml/2006/main">
            <a:r>
              <a:t>По горизонтали перечислены наиболее частые токены, по вертикали показано суммарное число их вхождений. Каждая новая точка добавляет частоту следующего элемента. Крутой начальный рост означает, что небольшое число элементов занимает значительную часть текста. На рисунке присутствуют и слова, и пунктуация, поэтому результат зависит от выбранной tokenization.</a:t>
            </a:r>
          </a:p>
          <a:p xmlns:a="http://schemas.openxmlformats.org/drawingml/2006/main">
            <a:r>
              <a:t/>
            </a:r>
          </a:p>
          <a:p xmlns:a="http://schemas.openxmlformats.org/drawingml/2006/main">
            <a:r>
              <a:t>Распределение в Moby Dick из NLTK Book. Это пример источника, а не статистика учебных отзывов.</a:t>
            </a:r>
          </a:p>
          <a:p xmlns:a="http://schemas.openxmlformats.org/drawingml/2006/main">
            <a:r>
              <a:t/>
            </a:r>
          </a:p>
          <a:p xmlns:a="http://schemas.openxmlformats.org/drawingml/2006/main">
            <a:r>
              <a:t/>
            </a:r>
          </a:p>
          <a:p xmlns:a="http://schemas.openxmlformats.org/drawingml/2006/main">
            <a:r>
              <a:t/>
            </a:r>
          </a:p>
          <a:p xmlns:a="http://schemas.openxmlformats.org/drawingml/2006/main">
            <a:r>
              <a:t>Источник: https://www.nltk.org/book/ch01.html</a:t>
            </a:r>
          </a:p>
          <a:p xmlns:a="http://schemas.openxmlformats.org/drawingml/2006/main">
            <a:r>
              <a:t>Иллюстрация: https://www.nltk.org/images/fdist-moby.png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50–51 мин от начала лекции (1 мин). Темп можно адаптировать к группе.</a:t>
            </a:r>
          </a:p>
          <a:p xmlns:a="http://schemas.openxmlformats.org/drawingml/2006/main">
            <a:r>
              <a:t/>
            </a:r>
          </a:p>
          <a:p xmlns:a="http://schemas.openxmlformats.org/drawingml/2006/main">
            <a:r>
              <a:t>Если упорядочить слова по убыванию частоты, небольшая часть слов окажется очень частой, а многие слова будут редкими. Zipf’s law описывает приближённое убывание частоты с ростом ранга.</a:t>
            </a:r>
          </a:p>
          <a:p xmlns:a="http://schemas.openxmlformats.org/drawingml/2006/main">
            <a:r>
              <a:t/>
            </a:r>
          </a:p>
          <a:p xmlns:a="http://schemas.openxmlformats.org/drawingml/2006/main">
            <a:r>
              <a:t>Для обработки текста это означает неравномерное распределение наблюдений: распространённые слова дают много примеров, а редкие требуют осторожной оценки. Кривая не определяет полезность слова для конкретной задачи.</a:t>
            </a:r>
          </a:p>
          <a:p xmlns:a="http://schemas.openxmlformats.org/drawingml/2006/main">
            <a:r>
              <a:t/>
            </a:r>
          </a:p>
          <a:p xmlns:a="http://schemas.openxmlformats.org/drawingml/2006/main">
            <a:r>
              <a:t>График иллюстрирует условную зависимость «частота = 1000 / ранг». Это схема закономерности, а не измерение учебного корпуса.</a:t>
            </a:r>
          </a:p>
          <a:p xmlns:a="http://schemas.openxmlformats.org/drawingml/2006/main">
            <a:r>
              <a:t/>
            </a:r>
          </a:p>
          <a:p xmlns:a="http://schemas.openxmlformats.org/drawingml/2006/main">
            <a:r>
              <a:t>Источник: https://scikit-learn.org/stable/modules/feature_extraction.html#text-feature-extraction</a:t>
            </a:r>
          </a:p>
          <a:p xmlns:a="http://schemas.openxmlformats.org/drawingml/2006/main">
            <a:r>
              <a:t>Источник: https://scikit-learn.org/stable/common_pitfalls.html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51–52 мин от начала лекции (1 мин). Темп можно адаптировать к группе.</a:t>
            </a:r>
          </a:p>
          <a:p xmlns:a="http://schemas.openxmlformats.org/drawingml/2006/main">
            <a:r>
              <a:t/>
            </a:r>
          </a:p>
          <a:p xmlns:a="http://schemas.openxmlformats.org/drawingml/2006/main">
            <a:r>
              <a:t>Последовательности соседних элементов</a:t>
            </a:r>
          </a:p>
          <a:p xmlns:a="http://schemas.openxmlformats.org/drawingml/2006/main">
            <a:r>
              <a:t>N-gram содержит n последовательных элементов. Для фразы «товар не понравился» unigram features служат отдельные слова, а bigram features являются «товар не» и «не понравился». Word n-grams сохраняют локальный порядок. Character n-grams описывают фрагменты написания и могут учитывать части слов, окончания и характерные сочетания символов.</a:t>
            </a:r>
          </a:p>
          <a:p xmlns:a="http://schemas.openxmlformats.org/drawingml/2006/main">
            <a:r>
              <a:t/>
            </a:r>
          </a:p>
          <a:p xmlns:a="http://schemas.openxmlformats.org/drawingml/2006/main">
            <a:r>
              <a:t>Выбор длины и уровня</a:t>
            </a:r>
          </a:p>
          <a:p xmlns:a="http://schemas.openxmlformats.org/drawingml/2006/main">
            <a:r>
              <a:t>Увеличение длины позволяет учитывать более специфичные конструкции, но уменьшает число повторений каждой из них и расширяет пространство признаков. Bigrams могут сохранить связь отрицания с оценкой, однако не описывают весь контекст предложения. Диапазон длин выбирают на валидации, учитывая размер корпуса, изменчивость формулировок и вычислительные затраты.</a:t>
            </a:r>
          </a:p>
          <a:p xmlns:a="http://schemas.openxmlformats.org/drawingml/2006/main">
            <a:r>
              <a:t/>
            </a:r>
          </a:p>
          <a:p xmlns:a="http://schemas.openxmlformats.org/drawingml/2006/main">
            <a:r>
              <a:t>Источник: https://scikit-learn.org/stable/modules/feature_extraction.html#text-feature-extraction</a:t>
            </a:r>
          </a:p>
          <a:p xmlns:a="http://schemas.openxmlformats.org/drawingml/2006/main">
            <a:r>
              <a:t>Источник: https://scikit-learn.org/stable/common_pitfalls.html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52–53 мин от начала лекции (1 мин). Темп можно адаптировать к группе.</a:t>
            </a:r>
          </a:p>
          <a:p xmlns:a="http://schemas.openxmlformats.org/drawingml/2006/main">
            <a:r>
              <a:t/>
            </a:r>
          </a:p>
          <a:p xmlns:a="http://schemas.openxmlformats.org/drawingml/2006/main">
            <a:r>
              <a:t>Уровень анализа задаёт элементы последовательности, а n определяет число соседних элементов в каждом признаке.</a:t>
            </a:r>
          </a:p>
          <a:p xmlns:a="http://schemas.openxmlformats.org/drawingml/2006/main">
            <a:r>
              <a:t/>
            </a:r>
          </a:p>
          <a:p xmlns:a="http://schemas.openxmlformats.org/drawingml/2006/main">
            <a:r>
              <a:t>Представление | Исходная запись | Полученные элементы</a:t>
            </a:r>
          </a:p>
          <a:p xmlns:a="http://schemas.openxmlformats.org/drawingml/2006/main">
            <a:r>
              <a:t>Word unigrams | товар не пришёл | товар · не · пришёл</a:t>
            </a:r>
          </a:p>
          <a:p xmlns:a="http://schemas.openxmlformats.org/drawingml/2006/main">
            <a:r>
              <a:t>Word bigrams | товар не пришёл | товар не · не пришёл</a:t>
            </a:r>
          </a:p>
          <a:p xmlns:a="http://schemas.openxmlformats.org/drawingml/2006/main">
            <a:r>
              <a:t>Character trigrams | товар | тов · ова · вар</a:t>
            </a:r>
          </a:p>
          <a:p xmlns:a="http://schemas.openxmlformats.org/drawingml/2006/main">
            <a:r>
              <a:t>Character 4-grams | товар | това · овар</a:t>
            </a:r>
          </a:p>
          <a:p xmlns:a="http://schemas.openxmlformats.org/drawingml/2006/main">
            <a:r>
              <a:t/>
            </a:r>
          </a:p>
          <a:p xmlns:a="http://schemas.openxmlformats.org/drawingml/2006/main">
            <a:r>
              <a:t>Для character n-grams отдельно определяют обработку пробелов и границ слов. Схема показывает локальные фрагменты, которые могут стать столбцами матрицы признаков.</a:t>
            </a:r>
          </a:p>
          <a:p xmlns:a="http://schemas.openxmlformats.org/drawingml/2006/main">
            <a:r>
              <a:t/>
            </a:r>
          </a:p>
          <a:p xmlns:a="http://schemas.openxmlformats.org/drawingml/2006/main">
            <a:r>
              <a:t>Учебный пример, составленный для лекции.</a:t>
            </a:r>
          </a:p>
          <a:p xmlns:a="http://schemas.openxmlformats.org/drawingml/2006/main">
            <a:r>
              <a:t/>
            </a:r>
          </a:p>
          <a:p xmlns:a="http://schemas.openxmlformats.org/drawingml/2006/main">
            <a:r>
              <a:t>Источник терминологии: https://scikit-learn.org/stable/modules/feature_extraction.html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53–54 мин от начала лекции (1 мин). Темп можно адаптировать к группе.</a:t>
            </a:r>
          </a:p>
          <a:p xmlns:a="http://schemas.openxmlformats.org/drawingml/2006/main">
            <a:r>
              <a:t/>
            </a:r>
          </a:p>
          <a:p xmlns:a="http://schemas.openxmlformats.org/drawingml/2006/main">
            <a:r>
              <a:t>N-gram как feature описывает наличие или частоту последовательности в документе. N-gram language model решает другую задачу: оценивает следующий token по предыдущим n − 1 tokens. На исходном слайде показано, как Markov assumption ограничивает контекст. Одинаковая единица наблюдения может применяться в разных моделях, но постановки classification и language modeling не совпадают.</a:t>
            </a:r>
          </a:p>
          <a:p xmlns:a="http://schemas.openxmlformats.org/drawingml/2006/main">
            <a:r>
              <a:t/>
            </a:r>
          </a:p>
          <a:p xmlns:a="http://schemas.openxmlformats.org/drawingml/2006/main">
            <a:r>
              <a:t>Оригинальный слайд 36 из lecture_lm.pdf. Различие feature и language model вводится обзорно.</a:t>
            </a:r>
          </a:p>
          <a:p xmlns:a="http://schemas.openxmlformats.org/drawingml/2006/main">
            <a:r>
              <a:t>Источник: https://github.com/yandexdataschool/nlp_course/blob/2026/week02_lm/lecture_lm.pdf</a:t>
            </a:r>
          </a:p>
          <a:p xmlns:a="http://schemas.openxmlformats.org/drawingml/2006/main">
            <a:r>
              <a:t>Иллюстрация: https://raw.githubusercontent.com/yandexdataschool/nlp_course/2026/week02_lm/lecture_lm.pdf</a:t>
            </a:r>
          </a:p>
          <a:p xmlns:a="http://schemas.openxmlformats.org/drawingml/2006/main">
            <a:r>
              <a:t>Источник: https://github.com/yandexdataschool/nlp_course/blob/2026/week02_lm/lecture_lm.pdf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54–55 мин от начала лекции (1 мин). Темп можно адаптировать к группе.</a:t>
            </a:r>
          </a:p>
          <a:p xmlns:a="http://schemas.openxmlformats.org/drawingml/2006/main">
            <a:r>
              <a:t/>
            </a:r>
          </a:p>
          <a:p xmlns:a="http://schemas.openxmlformats.org/drawingml/2006/main">
            <a:r>
              <a:t>Каждому элементу словаря соответствует отдельный столбец. Документ получает числовой вектор, а значения показывают число вхождений выбранных слов.</a:t>
            </a:r>
          </a:p>
          <a:p xmlns:a="http://schemas.openxmlformats.org/drawingml/2006/main">
            <a:r>
              <a:t/>
            </a:r>
          </a:p>
          <a:p xmlns:a="http://schemas.openxmlformats.org/drawingml/2006/main">
            <a:r>
              <a:t>В этом примере порядок слов не сохраняется. Повторение «хороший» увеличивает счётчик, но само по себе не задаёт силу оценки. Для учёта локального порядка в словарь можно добавить n-grams.</a:t>
            </a:r>
          </a:p>
          <a:p xmlns:a="http://schemas.openxmlformats.org/drawingml/2006/main">
            <a:r>
              <a:t/>
            </a:r>
          </a:p>
          <a:p xmlns:a="http://schemas.openxmlformats.org/drawingml/2006/main">
            <a:r>
              <a:t>Источник: https://scikit-learn.org/stable/modules/feature_extraction.html#text-feature-extraction</a:t>
            </a:r>
          </a:p>
          <a:p xmlns:a="http://schemas.openxmlformats.org/drawingml/2006/main">
            <a:r>
              <a:t>Источник: https://scikit-learn.org/stable/common_pitfalls.html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55–56 мин от начала лекции (1 мин). Темп можно адаптировать к группе.</a:t>
            </a:r>
          </a:p>
          <a:p xmlns:a="http://schemas.openxmlformats.org/drawingml/2006/main">
            <a:r>
              <a:t/>
            </a:r>
          </a:p>
          <a:p xmlns:a="http://schemas.openxmlformats.org/drawingml/2006/main">
            <a:r>
              <a:t>В учебном примере строки соответствуют терминам, столбцы соответствуют произведениям. Единица означает присутствие термина, ноль означает его отсутствие. Это бинарное представление: число повторений не учитывается. В библиотеках машинного обучения часто используют транспонированную ориентацию, где документам соответствуют строки, а признакам соответствуют столбцы.</a:t>
            </a:r>
          </a:p>
          <a:p xmlns:a="http://schemas.openxmlformats.org/drawingml/2006/main">
            <a:r>
              <a:t/>
            </a:r>
          </a:p>
          <a:p xmlns:a="http://schemas.openxmlformats.org/drawingml/2006/main">
            <a:r>
              <a:t>Матрица из Introduction to Information Retrieval. Ориентацию осей необходимо проверять перед интерпретацией.</a:t>
            </a:r>
          </a:p>
          <a:p xmlns:a="http://schemas.openxmlformats.org/drawingml/2006/main">
            <a:r>
              <a:t/>
            </a:r>
          </a:p>
          <a:p xmlns:a="http://schemas.openxmlformats.org/drawingml/2006/main">
            <a:r>
              <a:t/>
            </a:r>
          </a:p>
          <a:p xmlns:a="http://schemas.openxmlformats.org/drawingml/2006/main">
            <a:r>
              <a:t/>
            </a:r>
          </a:p>
          <a:p xmlns:a="http://schemas.openxmlformats.org/drawingml/2006/main">
            <a:r>
              <a:t>Источник: https://nlp.stanford.edu/IR-book/html/htmledition/an-example-information-retrieval-problem-1.html</a:t>
            </a:r>
          </a:p>
          <a:p xmlns:a="http://schemas.openxmlformats.org/drawingml/2006/main">
            <a:r>
              <a:t>Иллюстрация: https://nlp.stanford.edu/IR-book/html/htmledition/img38.png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56–57 мин от начала лекции (1 мин). Темп можно адаптировать к группе.</a:t>
            </a:r>
          </a:p>
          <a:p xmlns:a="http://schemas.openxmlformats.org/drawingml/2006/main">
            <a:r>
              <a:t/>
            </a:r>
          </a:p>
          <a:p xmlns:a="http://schemas.openxmlformats.org/drawingml/2006/main">
            <a:r>
              <a:t>Условная матрица содержит четыре документа и пять выбранных слов. Значения показывают число вхождений.</a:t>
            </a:r>
          </a:p>
          <a:p xmlns:a="http://schemas.openxmlformats.org/drawingml/2006/main">
            <a:r>
              <a:t/>
            </a:r>
          </a:p>
          <a:p xmlns:a="http://schemas.openxmlformats.org/drawingml/2006/main">
            <a:r>
              <a:t>Документ | товар | доставка | цена | экран | батарея</a:t>
            </a:r>
          </a:p>
          <a:p xmlns:a="http://schemas.openxmlformats.org/drawingml/2006/main">
            <a:r>
              <a:t>A | 1 | 0 | 0 | 0 | 0</a:t>
            </a:r>
          </a:p>
          <a:p xmlns:a="http://schemas.openxmlformats.org/drawingml/2006/main">
            <a:r>
              <a:t>B | 1 | 1 | 0 | 0 | 0</a:t>
            </a:r>
          </a:p>
          <a:p xmlns:a="http://schemas.openxmlformats.org/drawingml/2006/main">
            <a:r>
              <a:t>C | 0 | 0 | 1 | 1 | 0</a:t>
            </a:r>
          </a:p>
          <a:p xmlns:a="http://schemas.openxmlformats.org/drawingml/2006/main">
            <a:r>
              <a:t>D | 0 | 0 | 0 | 0 | 2</a:t>
            </a:r>
          </a:p>
          <a:p xmlns:a="http://schemas.openxmlformats.org/drawingml/2006/main">
            <a:r>
              <a:t/>
            </a:r>
          </a:p>
          <a:p xmlns:a="http://schemas.openxmlformats.org/drawingml/2006/main">
            <a:r>
              <a:t>Из 20 ячеек только 6 ненулевые. Разреженный формат хранит ненулевые значения и их позиции, что особенно полезно при большом словаре.</a:t>
            </a:r>
          </a:p>
          <a:p xmlns:a="http://schemas.openxmlformats.org/drawingml/2006/main">
            <a:r>
              <a:t/>
            </a:r>
          </a:p>
          <a:p xmlns:a="http://schemas.openxmlformats.org/drawingml/2006/main">
            <a:r>
              <a:t>Учебный пример, составленный для лекции.</a:t>
            </a:r>
          </a:p>
          <a:p xmlns:a="http://schemas.openxmlformats.org/drawingml/2006/main">
            <a:r>
              <a:t/>
            </a:r>
          </a:p>
          <a:p xmlns:a="http://schemas.openxmlformats.org/drawingml/2006/main">
            <a:r>
              <a:t>Источник терминологии: https://scikit-learn.org/stable/modules/feature_extraction.html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57–58.5 мин от начала лекции (1.5 мин). Темп можно адаптировать к группе.</a:t>
            </a:r>
          </a:p>
          <a:p xmlns:a="http://schemas.openxmlformats.org/drawingml/2006/main">
            <a:r>
              <a:t/>
            </a:r>
          </a:p>
          <a:p xmlns:a="http://schemas.openxmlformats.org/drawingml/2006/main">
            <a:r>
              <a:t>Term frequency и inverse document frequency</a:t>
            </a:r>
          </a:p>
          <a:p xmlns:a="http://schemas.openxmlformats.org/drawingml/2006/main">
            <a:r>
              <a:t>TF описывает, как часто term встречается в данном документе. IDF зависит от document frequency: сколько документов corpus содержат этот term. TF-IDF объединяет локальную частоту с распространённостью по коллекции. Координата получает больший вес, когда элемент характерен для документа и относительно редко встречается в других документах.</a:t>
            </a:r>
          </a:p>
          <a:p xmlns:a="http://schemas.openxmlformats.org/drawingml/2006/main">
            <a:r>
              <a:t/>
            </a:r>
          </a:p>
          <a:p xmlns:a="http://schemas.openxmlformats.org/drawingml/2006/main">
            <a:r>
              <a:t>Интерпретация веса</a:t>
            </a:r>
          </a:p>
          <a:p xmlns:a="http://schemas.openxmlformats.org/drawingml/2006/main">
            <a:r>
              <a:t>TF-IDF — способ построить features, а не оценка смысла, истинности или тональности. Высокий вес может получить полезное слово, редкое имя или случайная опечатка. Конкретное значение зависит от определения TF, smoothing, log scaling и normalization. Vocabulary и IDF вычисляют на train; при обработке dev, test и новых текстов используют уже полученные параметры.</a:t>
            </a:r>
          </a:p>
          <a:p xmlns:a="http://schemas.openxmlformats.org/drawingml/2006/main">
            <a:r>
              <a:t/>
            </a:r>
          </a:p>
          <a:p xmlns:a="http://schemas.openxmlformats.org/drawingml/2006/main">
            <a:r>
              <a:t/>
            </a:r>
          </a:p>
          <a:p xmlns:a="http://schemas.openxmlformats.org/drawingml/2006/main">
            <a:r>
              <a:t>Источник: https://scikit-learn.org/stable/modules/feature_extraction.html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58.5–60 мин от начала лекции (1.5 мин). Темп можно адаптировать к группе.</a:t>
            </a:r>
          </a:p>
          <a:p xmlns:a="http://schemas.openxmlformats.org/drawingml/2006/main">
            <a:r>
              <a:t/>
            </a:r>
          </a:p>
          <a:p xmlns:a="http://schemas.openxmlformats.org/drawingml/2006/main">
            <a:r>
              <a:t>Учебная коллекция</a:t>
            </a:r>
          </a:p>
          <a:p xmlns:a="http://schemas.openxmlformats.org/drawingml/2006/main">
            <a:r>
              <a:t>Рассмотрим три документа: «доставка быстрая», «доставка дорогая» и «аккумулятор хороший». Слово «доставка» встречается в двух документах, а «аккумулятор» встречается в одном. Если частота каждого рассматриваемого слова внутри своего документа равна единице, различие их ненормированных весов определяется компонентой IDF и выбранным сглаживанием.</a:t>
            </a:r>
          </a:p>
          <a:p xmlns:a="http://schemas.openxmlformats.org/drawingml/2006/main">
            <a:r>
              <a:t/>
            </a:r>
          </a:p>
          <a:p xmlns:a="http://schemas.openxmlformats.org/drawingml/2006/main">
            <a:r>
              <a:t>Что показывает сравнение</a:t>
            </a:r>
          </a:p>
          <a:p xmlns:a="http://schemas.openxmlformats.org/drawingml/2006/main">
            <a:r>
              <a:t>При стандартном убывании IDF с документной частотой более редкое слово «аккумулятор» получает больший коэффициент IDF. Это помогает отличить третий документ от остальных по лексике. Из примера нельзя заключить, что аккумулятор важнее доставки для пользователя. После нормировки сравнение отдельных чисел также зависит от остальных признаков каждого документа.</a:t>
            </a:r>
          </a:p>
          <a:p xmlns:a="http://schemas.openxmlformats.org/drawingml/2006/main">
            <a:r>
              <a:t/>
            </a:r>
          </a:p>
          <a:p xmlns:a="http://schemas.openxmlformats.org/drawingml/2006/main">
            <a:r>
              <a:t>Источник: https://scikit-learn.org/stable/modules/feature_extraction.html#text-feature-extraction</a:t>
            </a:r>
          </a:p>
          <a:p xmlns:a="http://schemas.openxmlformats.org/drawingml/2006/main">
            <a:r>
              <a:t>Источник: https://scikit-learn.org/stable/common_pitfalls.html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60–61 мин от начала лекции (1 мин). Темп можно адаптировать к группе.</a:t>
            </a:r>
          </a:p>
          <a:p xmlns:a="http://schemas.openxmlformats.org/drawingml/2006/main">
            <a:r>
              <a:t/>
            </a:r>
          </a:p>
          <a:p xmlns:a="http://schemas.openxmlformats.org/drawingml/2006/main">
            <a:r>
              <a:t>Условный корпус: «товар хороший», «товар плохой», «доставка быстрая». В нём три документа. Ниже показаны четыре выбранных термина.</a:t>
            </a:r>
          </a:p>
          <a:p xmlns:a="http://schemas.openxmlformats.org/drawingml/2006/main">
            <a:r>
              <a:t/>
            </a:r>
          </a:p>
          <a:p xmlns:a="http://schemas.openxmlformats.org/drawingml/2006/main">
            <a:r>
              <a:t>Термин | Документов с термином | Сглаженный IDF</a:t>
            </a:r>
          </a:p>
          <a:p xmlns:a="http://schemas.openxmlformats.org/drawingml/2006/main">
            <a:r>
              <a:t>товар | 2 | 1,288</a:t>
            </a:r>
          </a:p>
          <a:p xmlns:a="http://schemas.openxmlformats.org/drawingml/2006/main">
            <a:r>
              <a:t>хороший | 1 | 1,693</a:t>
            </a:r>
          </a:p>
          <a:p xmlns:a="http://schemas.openxmlformats.org/drawingml/2006/main">
            <a:r>
              <a:t>плохой | 1 | 1,693</a:t>
            </a:r>
          </a:p>
          <a:p xmlns:a="http://schemas.openxmlformats.org/drawingml/2006/main">
            <a:r>
              <a:t>доставка | 1 | 1,693</a:t>
            </a:r>
          </a:p>
          <a:p xmlns:a="http://schemas.openxmlformats.org/drawingml/2006/main">
            <a:r>
              <a:t/>
            </a:r>
          </a:p>
          <a:p xmlns:a="http://schemas.openxmlformats.org/drawingml/2006/main">
            <a:r>
              <a:t>Расчёт: IDF = 1 + ln((1 + N) / (1 + df)). Это коэффициент IDF до умножения на TF и нормировки вектора. Значения округлены до трёх знаков.</a:t>
            </a:r>
          </a:p>
          <a:p xmlns:a="http://schemas.openxmlformats.org/drawingml/2006/main">
            <a:r>
              <a:t/>
            </a:r>
          </a:p>
          <a:p xmlns:a="http://schemas.openxmlformats.org/drawingml/2006/main">
            <a:r>
              <a:t>Учебный пример, составленный для лекции.</a:t>
            </a:r>
          </a:p>
          <a:p xmlns:a="http://schemas.openxmlformats.org/drawingml/2006/main">
            <a:r>
              <a:t/>
            </a:r>
          </a:p>
          <a:p xmlns:a="http://schemas.openxmlformats.org/drawingml/2006/main">
            <a:r>
              <a:t>Источник терминологии: https://scikit-learn.org/stable/modules/feature_extraction.html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61–62 мин от начала лекции (1 мин). Темп можно адаптировать к группе.</a:t>
            </a:r>
          </a:p>
          <a:p xmlns:a="http://schemas.openxmlformats.org/drawingml/2006/main">
            <a:r>
              <a:t/>
            </a:r>
          </a:p>
          <a:p xmlns:a="http://schemas.openxmlformats.org/drawingml/2006/main">
            <a:r>
              <a:t>Оценка статистики по корпусу</a:t>
            </a:r>
          </a:p>
          <a:p xmlns:a="http://schemas.openxmlformats.org/drawingml/2006/main">
            <a:r>
              <a:t>При обучении векторизатора определяются словарь и необходимые статистики, например документные частоты. Для классификатора обучение означает подбор параметров связи между признаками и метками. Эти операции используют тренировочные данные. Их результат необходимо сохранить, чтобы новые документы попадали в то же пространство признаков и оценивались согласованно.</a:t>
            </a:r>
          </a:p>
          <a:p xmlns:a="http://schemas.openxmlformats.org/drawingml/2006/main">
            <a:r>
              <a:t/>
            </a:r>
          </a:p>
          <a:p xmlns:a="http://schemas.openxmlformats.org/drawingml/2006/main">
            <a:r>
              <a:t>Обработка новых объектов</a:t>
            </a:r>
          </a:p>
          <a:p xmlns:a="http://schemas.openxmlformats.org/drawingml/2006/main">
            <a:r>
              <a:t>При применении готового преобразования проверочные тексты получают признаки в соответствии с сохранённым словарём. Для словарной модели ранее неизвестные элементы обычно не добавляют новые столбцы автоматически. Изменение словаря требует согласования с классификатором. Поэтому обучение преобразований и получение ответа для новых объектов рассматривают как разные этапы.</a:t>
            </a:r>
          </a:p>
          <a:p xmlns:a="http://schemas.openxmlformats.org/drawingml/2006/main">
            <a:r>
              <a:t/>
            </a:r>
          </a:p>
          <a:p xmlns:a="http://schemas.openxmlformats.org/drawingml/2006/main">
            <a:r>
              <a:t>Источник: https://scikit-learn.org/stable/modules/feature_extraction.html#text-feature-extraction</a:t>
            </a:r>
          </a:p>
          <a:p xmlns:a="http://schemas.openxmlformats.org/drawingml/2006/main">
            <a:r>
              <a:t>Источник: https://scikit-learn.org/stable/common_pitfalls.html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62–63 мин от начала лекции (1 мин). Темп можно адаптировать к группе.</a:t>
            </a:r>
          </a:p>
          <a:p xmlns:a="http://schemas.openxmlformats.org/drawingml/2006/main">
            <a:r>
              <a:t/>
            </a:r>
          </a:p>
          <a:p xmlns:a="http://schemas.openxmlformats.org/drawingml/2006/main">
            <a:r>
              <a:t>Смысловая близость и совпадение слов</a:t>
            </a:r>
          </a:p>
          <a:p xmlns:a="http://schemas.openxmlformats.org/drawingml/2006/main">
            <a:r>
              <a:t>Фразы «купить автомобиль» и «приобрести машину» близки по смыслу, но не имеют общих word unigrams. Лексические признаки непосредственно отражают присутствие элементов словаря. Их успешность зависит от того, насколько устойчиво нужные различия выражаются словами и локальными сочетаниями в доступном корпусе.</a:t>
            </a:r>
          </a:p>
          <a:p xmlns:a="http://schemas.openxmlformats.org/drawingml/2006/main">
            <a:r>
              <a:t/>
            </a:r>
          </a:p>
          <a:p xmlns:a="http://schemas.openxmlformats.org/drawingml/2006/main">
            <a:r>
              <a:t>Контекст и перенос</a:t>
            </a:r>
          </a:p>
          <a:p xmlns:a="http://schemas.openxmlformats.org/drawingml/2006/main">
            <a:r>
              <a:t>Одинаковые слова могут входить в разные синтаксические конструкции или использоваться с иронией. N-grams учитывают часть локального порядка, но число возможных сочетаний быстро растёт. При изменении тематики появляется новая лексика. Эти ограничения объясняют интерес к другим представлениям текста, при этом TF-IDF остаётся полезной основой для измеримого сравнения.</a:t>
            </a:r>
          </a:p>
          <a:p xmlns:a="http://schemas.openxmlformats.org/drawingml/2006/main">
            <a:r>
              <a:t/>
            </a:r>
          </a:p>
          <a:p xmlns:a="http://schemas.openxmlformats.org/drawingml/2006/main">
            <a:r>
              <a:t>Источник: https://scikit-learn.org/stable/modules/feature_extraction.html#text-feature-extraction</a:t>
            </a:r>
          </a:p>
          <a:p xmlns:a="http://schemas.openxmlformats.org/drawingml/2006/main">
            <a:r>
              <a:t>Источник: https://scikit-learn.org/stable/common_pitfalls.html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63–64 мин от начала лекции (1 мин). Темп можно адаптировать к группе.</a:t>
            </a:r>
          </a:p>
          <a:p xmlns:a="http://schemas.openxmlformats.org/drawingml/2006/main">
            <a:r>
              <a:t/>
            </a:r>
          </a:p>
          <a:p xmlns:a="http://schemas.openxmlformats.org/drawingml/2006/main">
            <a:r>
              <a:t>Фразы на рисунке содержат одинаковые unigram features, но выражают противоположные оценки. Word n-grams позволяют отдельно представить сочетания «rather good» и «not bad», отличив их от «rather bad» и «not good». Это частично сохраняет локальный порядок. Vocabulary растёт, поэтому n-gram range и ограничения document frequency выбирают по dev; добавление новых features не гарантирует улучшения для каждого corpus.</a:t>
            </a:r>
          </a:p>
          <a:p xmlns:a="http://schemas.openxmlformats.org/drawingml/2006/main">
            <a:r>
              <a:t/>
            </a:r>
          </a:p>
          <a:p xmlns:a="http://schemas.openxmlformats.org/drawingml/2006/main">
            <a:r>
              <a:t/>
            </a:r>
          </a:p>
          <a:p xmlns:a="http://schemas.openxmlformats.org/drawingml/2006/main">
            <a:r>
              <a:t>Источник: https://lena-voita.github.io/nlp_course/text_classification.html</a:t>
            </a:r>
          </a:p>
          <a:p xmlns:a="http://schemas.openxmlformats.org/drawingml/2006/main">
            <a:r>
              <a:t>Иллюстрация: https://lena-voita.github.io/resources/lectures/text_clf/research/bayes_add_ngrams-min.png</a:t>
            </a:r>
          </a:p>
          <a:p xmlns:a="http://schemas.openxmlformats.org/drawingml/2006/main">
            <a:r>
              <a:t>Источник: https://lena-voita.github.io/nlp_course/text_classification.html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64–65 мин от начала лекции (1 мин). Темп можно адаптировать к группе.</a:t>
            </a:r>
          </a:p>
          <a:p xmlns:a="http://schemas.openxmlformats.org/drawingml/2006/main">
            <a:r>
              <a:t/>
            </a:r>
          </a:p>
          <a:p xmlns:a="http://schemas.openxmlformats.org/drawingml/2006/main">
            <a:r>
              <a:t>Generative model описывает, как связаны вход и класс: p(x, y) = p(x | y)p(y). Naive Bayes использует эту структуру для classification. Discriminative model непосредственно связывает вход с ответом: оценивает p(y | x) или строит decision boundary. Logistic Regression и SVM относятся к этой группе. Термин generative здесь описывает способ моделирования, а не обязательно генерацию текста пользователю.</a:t>
            </a:r>
          </a:p>
          <a:p xmlns:a="http://schemas.openxmlformats.org/drawingml/2006/main">
            <a:r>
              <a:t/>
            </a:r>
          </a:p>
          <a:p xmlns:a="http://schemas.openxmlformats.org/drawingml/2006/main">
            <a:r>
              <a:t/>
            </a:r>
          </a:p>
          <a:p xmlns:a="http://schemas.openxmlformats.org/drawingml/2006/main">
            <a:r>
              <a:t>Источник: https://lena-voita.github.io/nlp_course/text_classification.html</a:t>
            </a:r>
          </a:p>
          <a:p xmlns:a="http://schemas.openxmlformats.org/drawingml/2006/main">
            <a:r>
              <a:t>Иллюстрация: https://lena-voita.github.io/resources/lectures/text_clf/general/generative_discriminative-min.png</a:t>
            </a:r>
          </a:p>
          <a:p xmlns:a="http://schemas.openxmlformats.org/drawingml/2006/main">
            <a:r>
              <a:t>Источник: https://lena-voita.github.io/nlp_course/text_classification.html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65–65.5 мин от начала лекции (0.5 мин). Темп можно адаптировать к группе.</a:t>
            </a:r>
          </a:p>
          <a:p xmlns:a="http://schemas.openxmlformats.org/drawingml/2006/main">
            <a:r>
              <a:t/>
            </a:r>
          </a:p>
          <a:p xmlns:a="http://schemas.openxmlformats.org/drawingml/2006/main">
            <a:r>
              <a:t>Naive Bayes выбирает класс, который лучше объясняет наблюдаемые features с учётом prior. После появления текста оценивается posterior. Ключевое допущение — conditional independence features при фиксированном классе. Для Multinomial Naive Bayes используются counts и class-specific частоты. Это простое приближение: слова в языке зависимы, поэтому модель удобна как baseline, но не описывает всю структуру высказывания.</a:t>
            </a:r>
          </a:p>
          <a:p xmlns:a="http://schemas.openxmlformats.org/drawingml/2006/main">
            <a:r>
              <a:t/>
            </a:r>
          </a:p>
          <a:p xmlns:a="http://schemas.openxmlformats.org/drawingml/2006/main">
            <a:r>
              <a:t/>
            </a:r>
          </a:p>
          <a:p xmlns:a="http://schemas.openxmlformats.org/drawingml/2006/main">
            <a:r>
              <a:t>Источник: https://lena-voita.github.io/nlp_course/text_classification.html</a:t>
            </a:r>
          </a:p>
          <a:p xmlns:a="http://schemas.openxmlformats.org/drawingml/2006/main">
            <a:r>
              <a:t>Иллюстрация: https://lena-voita.github.io/resources/lectures/text_clf/bayes/main_equation-min.png</a:t>
            </a:r>
          </a:p>
          <a:p xmlns:a="http://schemas.openxmlformats.org/drawingml/2006/main">
            <a:r>
              <a:t>Источник: https://lena-voita.github.io/nlp_course/text_classification.html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65.5–66 мин от начала лекции (0.5 мин). Темп можно адаптировать к группе.</a:t>
            </a:r>
          </a:p>
          <a:p xmlns:a="http://schemas.openxmlformats.org/drawingml/2006/main">
            <a:r>
              <a:t/>
            </a:r>
          </a:p>
          <a:p xmlns:a="http://schemas.openxmlformats.org/drawingml/2006/main">
            <a:r>
              <a:t>Если слово из vocabulary ни разу не встречалось в документах одного класса, несглаженная оценка его вероятности равна нулю. В произведении такая оценка обнуляет вклад всего документа. Additive smoothing добавляет небольшую положительную величину к counts до normalization. Это позволяет не считать отсутствие наблюдения доказательством невозможности. В sklearn силу smoothing задаёт alpha; значение выбирают на train/dev.</a:t>
            </a:r>
          </a:p>
          <a:p xmlns:a="http://schemas.openxmlformats.org/drawingml/2006/main">
            <a:r>
              <a:t/>
            </a:r>
          </a:p>
          <a:p xmlns:a="http://schemas.openxmlformats.org/drawingml/2006/main">
            <a:r>
              <a:t/>
            </a:r>
          </a:p>
          <a:p xmlns:a="http://schemas.openxmlformats.org/drawingml/2006/main">
            <a:r>
              <a:t>Источник: https://lena-voita.github.io/nlp_course/text_classification.html</a:t>
            </a:r>
          </a:p>
          <a:p xmlns:a="http://schemas.openxmlformats.org/drawingml/2006/main">
            <a:r>
              <a:t>Источник: https://scikit-learn.org/stable/modules/naive_bayes.html</a:t>
            </a:r>
          </a:p>
          <a:p xmlns:a="http://schemas.openxmlformats.org/drawingml/2006/main">
            <a:r>
              <a:t>Иллюстрация: https://lena-voita.github.io/resources/lectures/text_clf/bayes/need_smoothing-min.png</a:t>
            </a:r>
          </a:p>
          <a:p xmlns:a="http://schemas.openxmlformats.org/drawingml/2006/main">
            <a:r>
              <a:t>Источник: https://lena-voita.github.io/nlp_course/text_classification.html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66–67 мин от начала лекции (1 мин). Темп можно адаптировать к группе.</a:t>
            </a:r>
          </a:p>
          <a:p xmlns:a="http://schemas.openxmlformats.org/drawingml/2006/main">
            <a:r>
              <a:t/>
            </a:r>
          </a:p>
          <a:p xmlns:a="http://schemas.openxmlformats.org/drawingml/2006/main">
            <a:r>
              <a:t>MaxEnt / Logistic Regression использует взвешенную сумму features. Для каждого класса параметры задают вклад отдельных координат и bias; softmax преобразует scores в распределение вероятностей. В binary classification используется sigmoid. Параметры обучаются по размеченным примерам; conditional independence features не предполагается. Для первой практики достаточно связки TF-IDF и Logistic Regression через sklearn.</a:t>
            </a:r>
          </a:p>
          <a:p xmlns:a="http://schemas.openxmlformats.org/drawingml/2006/main">
            <a:r>
              <a:t/>
            </a:r>
          </a:p>
          <a:p xmlns:a="http://schemas.openxmlformats.org/drawingml/2006/main">
            <a:r>
              <a:t/>
            </a:r>
          </a:p>
          <a:p xmlns:a="http://schemas.openxmlformats.org/drawingml/2006/main">
            <a:r>
              <a:t>Источник: https://lena-voita.github.io/nlp_course/text_classification.html</a:t>
            </a:r>
          </a:p>
          <a:p xmlns:a="http://schemas.openxmlformats.org/drawingml/2006/main">
            <a:r>
              <a:t>Источник: https://scikit-learn.org/stable/modules/linear_model.html#logistic-regression</a:t>
            </a:r>
          </a:p>
          <a:p xmlns:a="http://schemas.openxmlformats.org/drawingml/2006/main">
            <a:r>
              <a:t>Иллюстрация: https://lena-voita.github.io/resources/lectures/text_clf/maxent/idea-min.png</a:t>
            </a:r>
          </a:p>
          <a:p xmlns:a="http://schemas.openxmlformats.org/drawingml/2006/main">
            <a:r>
              <a:t>Источник: https://lena-voita.github.io/nlp_course/text_classification.html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67–67.5 мин от начала лекции (0.5 мин). Темп можно адаптировать к группе.</a:t>
            </a:r>
          </a:p>
          <a:p xmlns:a="http://schemas.openxmlformats.org/drawingml/2006/main">
            <a:r>
              <a:t/>
            </a:r>
          </a:p>
          <a:p xmlns:a="http://schemas.openxmlformats.org/drawingml/2006/main">
            <a:r>
              <a:t>Красная кривая преобразует значение линейной оценки в число между нулём и единицей. Порог определяет, когда система выбирает положительный класс. Чёрные точки показывают метки искусственных примеров.</a:t>
            </a:r>
          </a:p>
          <a:p xmlns:a="http://schemas.openxmlformats.org/drawingml/2006/main">
            <a:r>
              <a:t/>
            </a:r>
          </a:p>
          <a:p xmlns:a="http://schemas.openxmlformats.org/drawingml/2006/main">
            <a:r>
              <a:t>График иллюстрирует форму зависимости на одном признаке. В текстовой модели линейная оценка обычно объединяет множество словных или символьных признаков.</a:t>
            </a:r>
          </a:p>
          <a:p xmlns:a="http://schemas.openxmlformats.org/drawingml/2006/main">
            <a:r>
              <a:t/>
            </a:r>
          </a:p>
          <a:p xmlns:a="http://schemas.openxmlformats.org/drawingml/2006/main">
            <a:r>
              <a:t>Учебный пример scikit-learn 1.6. Вероятностная оценка модели не является гарантией правильности конкретного ответа.</a:t>
            </a:r>
          </a:p>
          <a:p xmlns:a="http://schemas.openxmlformats.org/drawingml/2006/main">
            <a:r>
              <a:t/>
            </a:r>
          </a:p>
          <a:p xmlns:a="http://schemas.openxmlformats.org/drawingml/2006/main">
            <a:r>
              <a:t/>
            </a:r>
          </a:p>
          <a:p xmlns:a="http://schemas.openxmlformats.org/drawingml/2006/main">
            <a:r>
              <a:t/>
            </a:r>
          </a:p>
          <a:p xmlns:a="http://schemas.openxmlformats.org/drawingml/2006/main">
            <a:r>
              <a:t>Источник: https://scikit-learn.org/1.6/auto_examples/linear_model/plot_logistic.html</a:t>
            </a:r>
          </a:p>
          <a:p xmlns:a="http://schemas.openxmlformats.org/drawingml/2006/main">
            <a:r>
              <a:t>Иллюстрация: https://scikit-learn.org/1.6/_images/sphx_glr_plot_logistic_001.png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67.5–68.5 мин от начала лекции (1 мин). Темп можно адаптировать к группе.</a:t>
            </a:r>
          </a:p>
          <a:p xmlns:a="http://schemas.openxmlformats.org/drawingml/2006/main">
            <a:r>
              <a:t/>
            </a:r>
          </a:p>
          <a:p xmlns:a="http://schemas.openxmlformats.org/drawingml/2006/main">
            <a:r>
              <a:t>Classifiers получают одинаковый feature representation, но используют разные предположения и способы обучения.</a:t>
            </a:r>
          </a:p>
          <a:p xmlns:a="http://schemas.openxmlformats.org/drawingml/2006/main">
            <a:r>
              <a:t/>
            </a:r>
          </a:p>
          <a:p xmlns:a="http://schemas.openxmlformats.org/drawingml/2006/main">
            <a:r>
              <a:t>Метод | Принцип | Практическая роль</a:t>
            </a:r>
          </a:p>
          <a:p xmlns:a="http://schemas.openxmlformats.org/drawingml/2006/main">
            <a:r>
              <a:t>Naive Bayes | Частоты и conditional independence | Быстрый count-based baseline</a:t>
            </a:r>
          </a:p>
          <a:p xmlns:a="http://schemas.openxmlformats.org/drawingml/2006/main">
            <a:r>
              <a:t>Logistic Regression | Линейные scores и class probabilities | TF-IDF baseline на семинаре</a:t>
            </a:r>
          </a:p>
          <a:p xmlns:a="http://schemas.openxmlformats.org/drawingml/2006/main">
            <a:r>
              <a:t>Linear SVM | Decision boundary с margin | Альтернатива для sparse features</a:t>
            </a:r>
          </a:p>
          <a:p xmlns:a="http://schemas.openxmlformats.org/drawingml/2006/main">
            <a:r>
              <a:t/>
            </a:r>
          </a:p>
          <a:p xmlns:a="http://schemas.openxmlformats.org/drawingml/2006/main">
            <a:r>
              <a:t>Linear SVM используют как альтернативу другим линейным classifiers для sparse features. Сравнение моделей проводят на одном split и с одинаковыми metrics.</a:t>
            </a:r>
          </a:p>
          <a:p xmlns:a="http://schemas.openxmlformats.org/drawingml/2006/main">
            <a:r>
              <a:t/>
            </a:r>
          </a:p>
          <a:p xmlns:a="http://schemas.openxmlformats.org/drawingml/2006/main">
            <a:r>
              <a:t/>
            </a:r>
          </a:p>
          <a:p xmlns:a="http://schemas.openxmlformats.org/drawingml/2006/main">
            <a:r>
              <a:t>Источник: https://lena-voita.github.io/nlp_course/text_classification.html</a:t>
            </a:r>
          </a:p>
          <a:p xmlns:a="http://schemas.openxmlformats.org/drawingml/2006/main">
            <a:r>
              <a:t>Источник: https://scikit-learn.org/stable/modules/svm.html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68.5–69 мин от начала лекции (0.5 мин). Темп можно адаптировать к группе.</a:t>
            </a:r>
          </a:p>
          <a:p xmlns:a="http://schemas.openxmlformats.org/drawingml/2006/main">
            <a:r>
              <a:t/>
            </a:r>
          </a:p>
          <a:p xmlns:a="http://schemas.openxmlformats.org/drawingml/2006/main">
            <a:r>
              <a:t>Формирование решения</a:t>
            </a:r>
          </a:p>
          <a:p xmlns:a="http://schemas.openxmlformats.org/drawingml/2006/main">
            <a:r>
              <a:t>Для базовой системы сначала определяют метки и разделяют исходные документы. По тренировочным текстам формируют словарь, оценивают IDF и получают матрицу признаков. Затем классификатор связывает эти признаки с известными метками. Сохранённое решение включает не только веса классификатора, но и правила преобразования текста, словарь и статистики.</a:t>
            </a:r>
          </a:p>
          <a:p xmlns:a="http://schemas.openxmlformats.org/drawingml/2006/main">
            <a:r>
              <a:t/>
            </a:r>
          </a:p>
          <a:p xmlns:a="http://schemas.openxmlformats.org/drawingml/2006/main">
            <a:r>
              <a:t>Получение предсказания</a:t>
            </a:r>
          </a:p>
          <a:p xmlns:a="http://schemas.openxmlformats.org/drawingml/2006/main">
            <a:r>
              <a:t>Новый документ обрабатывают тем же способом и представляют в исходном пространстве признаков. Классификатор вычисляет оценки классов, после чего применяется правило выбора ответа. Изменение словаря или нормализации без согласования с обученной моделью нарушает этот процесс. Ошибки разбирают по этапам, отделяя проблемы данных, признаков и самого алгоритма.</a:t>
            </a:r>
          </a:p>
          <a:p xmlns:a="http://schemas.openxmlformats.org/drawingml/2006/main">
            <a:r>
              <a:t/>
            </a:r>
          </a:p>
          <a:p xmlns:a="http://schemas.openxmlformats.org/drawingml/2006/main">
            <a:r>
              <a:t>Источник: https://scikit-learn.org/stable/modules/linear_model.html#logistic-regression</a:t>
            </a:r>
          </a:p>
          <a:p xmlns:a="http://schemas.openxmlformats.org/drawingml/2006/main">
            <a:r>
              <a:t>Источник: https://scikit-learn.org/stable/modules/naive_bayes.html#multinomial-naive-bayes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69–70 мин от начала лекции (1 мин). Темп можно адаптировать к группе.</a:t>
            </a:r>
          </a:p>
          <a:p xmlns:a="http://schemas.openxmlformats.org/drawingml/2006/main">
            <a:r>
              <a:t/>
            </a:r>
          </a:p>
          <a:p xmlns:a="http://schemas.openxmlformats.org/drawingml/2006/main">
            <a:r>
              <a:t>Сначала из исходного набора выделяют итоговый тест. На оставшихся данных сравнивают настройки с помощью cross-validation. Затем выбранную конфигурацию обучают на тренировочных данных и оценивают на сохранённом тесте.</a:t>
            </a:r>
          </a:p>
          <a:p xmlns:a="http://schemas.openxmlformats.org/drawingml/2006/main">
            <a:r>
              <a:t/>
            </a:r>
          </a:p>
          <a:p xmlns:a="http://schemas.openxmlformats.org/drawingml/2006/main">
            <a:r>
              <a:t>Тест не должен управлять выбором настроек. Иначе измеренное качество отражает в том числе подстройку к этой выборке.</a:t>
            </a:r>
          </a:p>
          <a:p xmlns:a="http://schemas.openxmlformats.org/drawingml/2006/main">
            <a:r>
              <a:t/>
            </a:r>
          </a:p>
          <a:p xmlns:a="http://schemas.openxmlformats.org/drawingml/2006/main">
            <a:r>
              <a:t>Схема из документации scikit-learn. Обучаемую векторизацию включают внутрь каждого разбиения cross-validation.</a:t>
            </a:r>
          </a:p>
          <a:p xmlns:a="http://schemas.openxmlformats.org/drawingml/2006/main">
            <a:r>
              <a:t/>
            </a:r>
          </a:p>
          <a:p xmlns:a="http://schemas.openxmlformats.org/drawingml/2006/main">
            <a:r>
              <a:t/>
            </a:r>
          </a:p>
          <a:p xmlns:a="http://schemas.openxmlformats.org/drawingml/2006/main">
            <a:r>
              <a:t/>
            </a:r>
          </a:p>
          <a:p xmlns:a="http://schemas.openxmlformats.org/drawingml/2006/main">
            <a:r>
              <a:t>Источник: https://scikit-learn.org/stable/modules/cross_validation.html</a:t>
            </a:r>
          </a:p>
          <a:p xmlns:a="http://schemas.openxmlformats.org/drawingml/2006/main">
            <a:r>
              <a:t>Иллюстрация: https://scikit-learn.org/stable/_images/grid_search_workflow.png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70–71 мин от начала лекции (1 мин). Темп можно адаптировать к группе.</a:t>
            </a:r>
          </a:p>
          <a:p xmlns:a="http://schemas.openxmlformats.org/drawingml/2006/main">
            <a:r>
              <a:t/>
            </a:r>
          </a:p>
          <a:p xmlns:a="http://schemas.openxmlformats.org/drawingml/2006/main">
            <a:r>
              <a:t>Связь этапов</a:t>
            </a:r>
          </a:p>
          <a:p xmlns:a="http://schemas.openxmlformats.org/drawingml/2006/main">
            <a:r>
              <a:t>Конвейер объединяет подготовку признаков и конечную модель в согласованную последовательность. Сначала выделяют тренировочные и проверочные объекты. Затем статистики преобразований и параметры классификатора оценивают только по тренировочной части. Новые тексты проходят те же преобразования с уже сохранёнными настройками и получают предсказания модели.</a:t>
            </a:r>
          </a:p>
          <a:p xmlns:a="http://schemas.openxmlformats.org/drawingml/2006/main">
            <a:r>
              <a:t/>
            </a:r>
          </a:p>
          <a:p xmlns:a="http://schemas.openxmlformats.org/drawingml/2006/main">
            <a:r>
              <a:t>Границы защиты</a:t>
            </a:r>
          </a:p>
          <a:p xmlns:a="http://schemas.openxmlformats.org/drawingml/2006/main">
            <a:r>
              <a:t>При cross-validation все обучаемые преобразования должны заново оцениваться внутри каждой тренировочной части. Это предотвращает использование статистики проверочных объектов. Однако сам конвейер не устраняет дубликаты, связи между авторами или ошибки временного разбиения. Эти источники утечки требуют отдельного контроля на уровне подготовки данных.</a:t>
            </a:r>
          </a:p>
          <a:p xmlns:a="http://schemas.openxmlformats.org/drawingml/2006/main">
            <a:r>
              <a:t/>
            </a:r>
          </a:p>
          <a:p xmlns:a="http://schemas.openxmlformats.org/drawingml/2006/main">
            <a:r>
              <a:t>Источник: https://scikit-learn.org/stable/modules/feature_extraction.html#text-feature-extraction</a:t>
            </a:r>
          </a:p>
          <a:p xmlns:a="http://schemas.openxmlformats.org/drawingml/2006/main">
            <a:r>
              <a:t>Источник: https://scikit-learn.org/stable/common_pitfalls.html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71–72 мин от начала лекции (1 мин). Темп можно адаптировать к группе.</a:t>
            </a:r>
          </a:p>
          <a:p xmlns:a="http://schemas.openxmlformats.org/drawingml/2006/main">
            <a:r>
              <a:t/>
            </a:r>
          </a:p>
          <a:p xmlns:a="http://schemas.openxmlformats.org/drawingml/2006/main">
            <a:r>
              <a:t>Доля правильных ответов и ошибки классов</a:t>
            </a:r>
          </a:p>
          <a:p xmlns:a="http://schemas.openxmlformats.org/drawingml/2006/main">
            <a:r>
              <a:t>Accuracy показывает долю объектов с верной меткой. При неравных размерах классов высокое значение может скрывать плохое распознавание редкого класса. Precision описывает долю верных ответов среди объектов, отнесённых к выбранному классу. Recall показывает, какую долю реальных объектов этого класса удалось обнаружить. Эти характеристики отвечают на разные вопросы.</a:t>
            </a:r>
          </a:p>
          <a:p xmlns:a="http://schemas.openxmlformats.org/drawingml/2006/main">
            <a:r>
              <a:t/>
            </a:r>
          </a:p>
          <a:p xmlns:a="http://schemas.openxmlformats.org/drawingml/2006/main">
            <a:r>
              <a:t>Обобщение результатов</a:t>
            </a:r>
          </a:p>
          <a:p xmlns:a="http://schemas.openxmlformats.org/drawingml/2006/main">
            <a:r>
              <a:t>F1 объединяет precision и recall гармоническим средним. Macro-F1 усредняет F1 классов с равными весами, поэтому результаты небольшого класса также влияют на оценку. Матрица ошибок показывает направления путаницы между классами. Метрики дополняют разбором конкретных текстов, а при сравнении моделей используют одинаковые проверочные объекты и правила подсчёта.</a:t>
            </a:r>
          </a:p>
          <a:p xmlns:a="http://schemas.openxmlformats.org/drawingml/2006/main">
            <a:r>
              <a:t/>
            </a:r>
          </a:p>
          <a:p xmlns:a="http://schemas.openxmlformats.org/drawingml/2006/main">
            <a:r>
              <a:t>Источник: https://scikit-learn.org/stable/modules/model_evaluation.html</a:t>
            </a:r>
          </a:p>
          <a:p xmlns:a="http://schemas.openxmlformats.org/drawingml/2006/main">
            <a:r>
              <a:t>Источник: https://scikit-learn.org/stable/auto_examples/text/plot_document_classification_20newsgroups.html</a:t>
            </a:r>
          </a:p>
          <a:p xmlns:a="http://schemas.openxmlformats.org/drawingml/2006/main">
            <a:r>
              <a:t>Иллюстрация: https://scikit-learn.org/stable/_images/sphx_glr_plot_document_classification_20newsgroups_003.png</a:t>
            </a:r>
          </a:p>
          <a:p xmlns:a="http://schemas.openxmlformats.org/drawingml/2006/main">
            <a:r>
              <a:t>RidgeClassifier, 20 Newsgroups. Результат примера авторов документации, не нашего эксперимента.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72–72.5 мин от начала лекции (0.5 мин). Темп можно адаптировать к группе.</a:t>
            </a:r>
          </a:p>
          <a:p xmlns:a="http://schemas.openxmlformats.org/drawingml/2006/main">
            <a:r>
              <a:t/>
            </a:r>
          </a:p>
          <a:p xmlns:a="http://schemas.openxmlformats.org/drawingml/2006/main">
            <a:r>
              <a:t>True positive соответствует найденному объекту нужного класса. False positive является лишним срабатыванием, а false negative является пропуском нужного объекта. True negative соответствует правильному отклонению.</a:t>
            </a:r>
          </a:p>
          <a:p xmlns:a="http://schemas.openxmlformats.org/drawingml/2006/main">
            <a:r>
              <a:t/>
            </a:r>
          </a:p>
          <a:p xmlns:a="http://schemas.openxmlformats.org/drawingml/2006/main">
            <a:r>
              <a:t>Precision оценивает долю верных среди выбранных объектов. Recall оценивает, какую долю всех нужных объектов система нашла.</a:t>
            </a:r>
          </a:p>
          <a:p xmlns:a="http://schemas.openxmlformats.org/drawingml/2006/main">
            <a:r>
              <a:t/>
            </a:r>
          </a:p>
          <a:p xmlns:a="http://schemas.openxmlformats.org/drawingml/2006/main">
            <a:r>
              <a:t>Иллюстрация NLTK Book для поиска. Та же схема применяется к бинарной классификации при заданном положительном классе.</a:t>
            </a:r>
          </a:p>
          <a:p xmlns:a="http://schemas.openxmlformats.org/drawingml/2006/main">
            <a:r>
              <a:t/>
            </a:r>
          </a:p>
          <a:p xmlns:a="http://schemas.openxmlformats.org/drawingml/2006/main">
            <a:r>
              <a:t/>
            </a:r>
          </a:p>
          <a:p xmlns:a="http://schemas.openxmlformats.org/drawingml/2006/main">
            <a:r>
              <a:t/>
            </a:r>
          </a:p>
          <a:p xmlns:a="http://schemas.openxmlformats.org/drawingml/2006/main">
            <a:r>
              <a:t>Источник: https://www.nltk.org/book/ch06.html</a:t>
            </a:r>
          </a:p>
          <a:p xmlns:a="http://schemas.openxmlformats.org/drawingml/2006/main">
            <a:r>
              <a:t>Иллюстрация: https://www.nltk.org/images/precision-recall.png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72.5–73 мин от начала лекции (0.5 мин). Темп можно адаптировать к группе.</a:t>
            </a:r>
          </a:p>
          <a:p xmlns:a="http://schemas.openxmlformats.org/drawingml/2006/main">
            <a:r>
              <a:t/>
            </a:r>
          </a:p>
          <a:p xmlns:a="http://schemas.openxmlformats.org/drawingml/2006/main">
            <a:r>
              <a:t>В условной выборке 90 нейтральных отзывов и 10 жалоб. Система всегда предсказывает нейтральный класс.</a:t>
            </a:r>
          </a:p>
          <a:p xmlns:a="http://schemas.openxmlformats.org/drawingml/2006/main">
            <a:r>
              <a:t/>
            </a:r>
          </a:p>
          <a:p xmlns:a="http://schemas.openxmlformats.org/drawingml/2006/main">
            <a:r>
              <a:t>Истинный класс | Предсказано: нейтральный | Предсказано: жалоба</a:t>
            </a:r>
          </a:p>
          <a:p xmlns:a="http://schemas.openxmlformats.org/drawingml/2006/main">
            <a:r>
              <a:t>Нейтральный | 90 | 0</a:t>
            </a:r>
          </a:p>
          <a:p xmlns:a="http://schemas.openxmlformats.org/drawingml/2006/main">
            <a:r>
              <a:t>Жалоба | 10 | 0</a:t>
            </a:r>
          </a:p>
          <a:p xmlns:a="http://schemas.openxmlformats.org/drawingml/2006/main">
            <a:r>
              <a:t/>
            </a:r>
          </a:p>
          <a:p xmlns:a="http://schemas.openxmlformats.org/drawingml/2006/main">
            <a:r>
              <a:t>Accuracy равна 90%, но recall класса «жалоба» равен 0%. Поэтому среднюю долю правильных ответов необходимо дополнять показателями по классам и анализом ошибок.</a:t>
            </a:r>
          </a:p>
          <a:p xmlns:a="http://schemas.openxmlformats.org/drawingml/2006/main">
            <a:r>
              <a:t/>
            </a:r>
          </a:p>
          <a:p xmlns:a="http://schemas.openxmlformats.org/drawingml/2006/main">
            <a:r>
              <a:t>Учебный пример, составленный для лекции.</a:t>
            </a:r>
          </a:p>
          <a:p xmlns:a="http://schemas.openxmlformats.org/drawingml/2006/main">
            <a:r>
              <a:t/>
            </a:r>
          </a:p>
          <a:p xmlns:a="http://schemas.openxmlformats.org/drawingml/2006/main">
            <a:r>
              <a:t>Источник терминологии: https://scikit-learn.org/stable/modules/feature_extraction.html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73–74 мин от начала лекции (1 мин). Темп можно адаптировать к группе.</a:t>
            </a:r>
          </a:p>
          <a:p xmlns:a="http://schemas.openxmlformats.org/drawingml/2006/main">
            <a:r>
              <a:t/>
            </a:r>
          </a:p>
          <a:p xmlns:a="http://schemas.openxmlformats.org/drawingml/2006/main">
            <a:r>
              <a:t>На рисунке показаны average feature effects: коэффициенты RidgeClassifier умножены на средние значения features на train. Знак показывает направление вклада в score класса. Например, слово space связано с темой sci.space. Это результат примера scikit-learn на 20 Newsgroups. Большой вклад не доказывает причинную связь: модель может использовать шаблоны и особенности dataset. Поэтому интерпретацию дополняют анализом ошибочных примеров.</a:t>
            </a:r>
          </a:p>
          <a:p xmlns:a="http://schemas.openxmlformats.org/drawingml/2006/main">
            <a:r>
              <a:t/>
            </a:r>
          </a:p>
          <a:p xmlns:a="http://schemas.openxmlformats.org/drawingml/2006/main">
            <a:r>
              <a:t/>
            </a:r>
          </a:p>
          <a:p xmlns:a="http://schemas.openxmlformats.org/drawingml/2006/main">
            <a:r>
              <a:t>Источник: https://scikit-learn.org/stable/auto_examples/text/plot_document_classification_20newsgroups.html</a:t>
            </a:r>
          </a:p>
          <a:p xmlns:a="http://schemas.openxmlformats.org/drawingml/2006/main">
            <a:r>
              <a:t>Иллюстрация: https://scikit-learn.org/stable/_images/sphx_glr_plot_document_classification_20newsgroups_004.png</a:t>
            </a:r>
          </a:p>
          <a:p xmlns:a="http://schemas.openxmlformats.org/drawingml/2006/main">
            <a:r>
              <a:t>Источник: https://scikit-learn.org/stable/auto_examples/text/plot_document_classification_20newsgroups.html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74–75 мин от начала лекции (1 мин). Темп можно адаптировать к группе.</a:t>
            </a:r>
          </a:p>
          <a:p xmlns:a="http://schemas.openxmlformats.org/drawingml/2006/main">
            <a:r>
              <a:t/>
            </a:r>
          </a:p>
          <a:p xmlns:a="http://schemas.openxmlformats.org/drawingml/2006/main">
            <a:r>
              <a:t>Recurrent Neural Network обрабатывает последовательность по шагам. На каждом шаге получает текущий input xₜ и предыдущий hidden state hₜ₋₁, после чего вычисляет новое hₜ. Hidden state сохраняет информацию, доступную для следующих шагов. Одна и та же операция и её параметры применяются к разным позициям. Такая организация учитывает порядок tokens и позволяет обрабатывать последовательности разной длины.</a:t>
            </a:r>
          </a:p>
          <a:p xmlns:a="http://schemas.openxmlformats.org/drawingml/2006/main">
            <a:r>
              <a:t/>
            </a:r>
          </a:p>
          <a:p xmlns:a="http://schemas.openxmlformats.org/drawingml/2006/main">
            <a:r>
              <a:t>Text Classification, оригинальные слайды 169–171. Объяснение без вывода уравнений RNN cell.</a:t>
            </a:r>
          </a:p>
          <a:p xmlns:a="http://schemas.openxmlformats.org/drawingml/2006/main">
            <a:r>
              <a:t>Источник: https://lena-voita.github.io/nlp_course/text_classification.html</a:t>
            </a:r>
          </a:p>
          <a:p xmlns:a="http://schemas.openxmlformats.org/drawingml/2006/main">
            <a:r>
              <a:t>Иллюстрация: https://lena-voita.github.io/resources/lectures/text_clf/neural/rnn/general_cell-min.png</a:t>
            </a:r>
          </a:p>
          <a:p xmlns:a="http://schemas.openxmlformats.org/drawingml/2006/main">
            <a:r>
              <a:t>Источник: https://lena-voita.github.io/nlp_course/text_classification.html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75–76 мин от начала лекции (1 мин). Темп можно адаптировать к группе.</a:t>
            </a:r>
          </a:p>
          <a:p xmlns:a="http://schemas.openxmlformats.org/drawingml/2006/main">
            <a:r>
              <a:t/>
            </a:r>
          </a:p>
          <a:p xmlns:a="http://schemas.openxmlformats.org/drawingml/2006/main">
            <a:r>
              <a:t>Для text classification каждому token соответствует embedding. RNN читает последовательность; её последний hidden state можно использовать как representation всего текста. Затем classifier предсказывает class label. На схеме состояния связаны во времени, а параметры перехода общие для всех шагов. При работе с batch необходимо учитывать реальные длины: padding не должен случайно подменять содержательный последний state.</a:t>
            </a:r>
          </a:p>
          <a:p xmlns:a="http://schemas.openxmlformats.org/drawingml/2006/main">
            <a:r>
              <a:t/>
            </a:r>
          </a:p>
          <a:p xmlns:a="http://schemas.openxmlformats.org/drawingml/2006/main">
            <a:r>
              <a:t>Text Classification, оригинальный слайд 173.</a:t>
            </a:r>
          </a:p>
          <a:p xmlns:a="http://schemas.openxmlformats.org/drawingml/2006/main">
            <a:r>
              <a:t>Источник: https://lena-voita.github.io/nlp_course/text_classification.html</a:t>
            </a:r>
          </a:p>
          <a:p xmlns:a="http://schemas.openxmlformats.org/drawingml/2006/main">
            <a:r>
              <a:t>Иллюстрация: https://lena-voita.github.io/resources/lectures/text_clf/neural/rnn/rnn_final_state-min.png</a:t>
            </a:r>
          </a:p>
          <a:p xmlns:a="http://schemas.openxmlformats.org/drawingml/2006/main">
            <a:r>
              <a:t>Источник: https://lena-voita.github.io/nlp_course/text_classification.html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76–77 мин от начала лекции (1 мин). Темп можно адаптировать к группе.</a:t>
            </a:r>
          </a:p>
          <a:p xmlns:a="http://schemas.openxmlformats.org/drawingml/2006/main">
            <a:r>
              <a:t/>
            </a:r>
          </a:p>
          <a:p xmlns:a="http://schemas.openxmlformats.org/drawingml/2006/main">
            <a:r>
              <a:t>Bidirectional RNN использует два направления чтения: от начала к концу и от конца к началу. Их representations объединяются, чтобы учитывать контекст с обеих сторон. Это применимо, когда весь входной текст уже доступен, например при classification или sequence labeling. При autoregressive generation будущие tokens неизвестны, поэтому обратное чтение целевой последовательности использовать нельзя.</a:t>
            </a:r>
          </a:p>
          <a:p xmlns:a="http://schemas.openxmlformats.org/drawingml/2006/main">
            <a:r>
              <a:t/>
            </a:r>
          </a:p>
          <a:p xmlns:a="http://schemas.openxmlformats.org/drawingml/2006/main">
            <a:r>
              <a:t>Text Classification, оригинальный слайд 175.</a:t>
            </a:r>
          </a:p>
          <a:p xmlns:a="http://schemas.openxmlformats.org/drawingml/2006/main">
            <a:r>
              <a:t>Источник: https://lena-voita.github.io/nlp_course/text_classification.html</a:t>
            </a:r>
          </a:p>
          <a:p xmlns:a="http://schemas.openxmlformats.org/drawingml/2006/main">
            <a:r>
              <a:t>Иллюстрация: https://lena-voita.github.io/resources/lectures/text_clf/neural/rnn/bidirectional-min.png</a:t>
            </a:r>
          </a:p>
          <a:p xmlns:a="http://schemas.openxmlformats.org/drawingml/2006/main">
            <a:r>
              <a:t>Источник: https://lena-voita.github.io/nlp_course/text_classification.html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77–78 мин от начала лекции (1 мин). Темп можно адаптировать к группе.</a:t>
            </a:r>
          </a:p>
          <a:p xmlns:a="http://schemas.openxmlformats.org/drawingml/2006/main">
            <a:r>
              <a:t/>
            </a:r>
          </a:p>
          <a:p xmlns:a="http://schemas.openxmlformats.org/drawingml/2006/main">
            <a:r>
              <a:t>Long-range dependencies</a:t>
            </a:r>
          </a:p>
          <a:p xmlns:a="http://schemas.openxmlformats.org/drawingml/2006/main">
            <a:r>
              <a:t>Информация о ранних tokens должна пройти через последовательность hidden states. При обучении vanilla RNN сигнал может ослабевать или нестабильно возрастать; это связано с vanishing и exploding gradients. В результате связь между удалёнными частями текста бывает трудно выучить. Само наличие hidden state не гарантирует, что модель сохраняет все важные детали.</a:t>
            </a:r>
          </a:p>
          <a:p xmlns:a="http://schemas.openxmlformats.org/drawingml/2006/main">
            <a:r>
              <a:t/>
            </a:r>
          </a:p>
          <a:p xmlns:a="http://schemas.openxmlformats.org/drawingml/2006/main">
            <a:r>
              <a:t>Последовательность вычислений</a:t>
            </a:r>
          </a:p>
          <a:p xmlns:a="http://schemas.openxmlformats.org/drawingml/2006/main">
            <a:r>
              <a:t>В стандартной RNN следующий state зависит от предыдущего, поэтому позиции внутри последовательности нельзя обработать полностью независимо. Это ограничивает parallelization и усложняет работу с длинным контекстом. В classification с последним state информация о документе дополнительно проходит через представление фиксированного размера. Ограничения мотивировали gated RNN и механизмы attention.</a:t>
            </a:r>
          </a:p>
          <a:p xmlns:a="http://schemas.openxmlformats.org/drawingml/2006/main">
            <a:r>
              <a:t/>
            </a:r>
          </a:p>
          <a:p xmlns:a="http://schemas.openxmlformats.org/drawingml/2006/main">
            <a:r>
              <a:t/>
            </a:r>
          </a:p>
          <a:p xmlns:a="http://schemas.openxmlformats.org/drawingml/2006/main">
            <a:r>
              <a:t>Источник: https://lena-voita.github.io/nlp_course/text_classification.html</a:t>
            </a:r>
          </a:p>
          <a:p xmlns:a="http://schemas.openxmlformats.org/drawingml/2006/main">
            <a:r>
              <a:t>Источник: https://lena-voita.github.io/nlp_course/language_modeling.html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78–79 мин от начала лекции (1 мин). Темп можно адаптировать к группе.</a:t>
            </a:r>
          </a:p>
          <a:p xmlns:a="http://schemas.openxmlformats.org/drawingml/2006/main">
            <a:r>
              <a:t/>
            </a:r>
          </a:p>
          <a:p xmlns:a="http://schemas.openxmlformats.org/drawingml/2006/main">
            <a:r>
              <a:t>Gated RNN</a:t>
            </a:r>
          </a:p>
          <a:p xmlns:a="http://schemas.openxmlformats.org/drawingml/2006/main">
            <a:r>
              <a:t>LSTM и GRU — варианты RNN, в которых gates регулируют обновление state и сохранение информации. LSTM дополнительно выделяет cell state; GRU использует другую, более компактную схему обновления. На этом этапе достаточно понимать назначение gates: модель учится, какую информацию продолжать хранить, а какую заменять новым входом.</a:t>
            </a:r>
          </a:p>
          <a:p xmlns:a="http://schemas.openxmlformats.org/drawingml/2006/main">
            <a:r>
              <a:t/>
            </a:r>
          </a:p>
          <a:p xmlns:a="http://schemas.openxmlformats.org/drawingml/2006/main">
            <a:r>
              <a:t>Назначение и ограничения</a:t>
            </a:r>
          </a:p>
          <a:p xmlns:a="http://schemas.openxmlformats.org/drawingml/2006/main">
            <a:r>
              <a:t>Такие модели применялись в text classification, sequence labeling и language modeling. Gates облегчают обучение зависимостей на расстоянии, но не устраняют последовательный характер обработки и не обеспечивают неограниченную память. Выбор конкретной cell и её формулы не входят в задачи первого занятия; важно отличать семейство RNN от конкретных вариантов LSTM и GRU.</a:t>
            </a:r>
          </a:p>
          <a:p xmlns:a="http://schemas.openxmlformats.org/drawingml/2006/main">
            <a:r>
              <a:t/>
            </a:r>
          </a:p>
          <a:p xmlns:a="http://schemas.openxmlformats.org/drawingml/2006/main">
            <a:r>
              <a:t/>
            </a:r>
          </a:p>
          <a:p xmlns:a="http://schemas.openxmlformats.org/drawingml/2006/main">
            <a:r>
              <a:t>Источник: https://colah.github.io/posts/2015-08-Understanding-LSTMs/</a:t>
            </a:r>
          </a:p>
          <a:p xmlns:a="http://schemas.openxmlformats.org/drawingml/2006/main">
            <a:r>
              <a:t>Источник: https://lena-voita.github.io/nlp_course/text_classification.html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79–80 мин от начала лекции (1 мин). Темп можно адаптировать к группе.</a:t>
            </a:r>
          </a:p>
          <a:p xmlns:a="http://schemas.openxmlformats.org/drawingml/2006/main">
            <a:r>
              <a:t/>
            </a:r>
          </a:p>
          <a:p xmlns:a="http://schemas.openxmlformats.org/drawingml/2006/main">
            <a:r>
              <a:t>Attention</a:t>
            </a:r>
          </a:p>
          <a:p xmlns:a="http://schemas.openxmlformats.org/drawingml/2006/main">
            <a:r>
              <a:t>Attention позволяет выходу использовать разные части доступного контекста с разными весами. В encoder–decoder системах он уменьшает необходимость передавать всё содержание через единственный вектор. Механизм может применяться вместе с RNN; поэтому attention и Transformer не являются взаимозаменяемыми названиями одного понятия.</a:t>
            </a:r>
          </a:p>
          <a:p xmlns:a="http://schemas.openxmlformats.org/drawingml/2006/main">
            <a:r>
              <a:t/>
            </a:r>
          </a:p>
          <a:p xmlns:a="http://schemas.openxmlformats.org/drawingml/2006/main">
            <a:r>
              <a:t>Transformer и дальнейшие темы</a:t>
            </a:r>
          </a:p>
          <a:p xmlns:a="http://schemas.openxmlformats.org/drawingml/2006/main">
            <a:r>
              <a:t>Transformer строит взаимодействие позиций через attention и использует информацию об их порядке. В отличие от стандартной recurrent схемы, обработку доступной последовательности при обучении можно сильнее parallelize. Подробные механизмы attention, masking и варианты encoder/decoder относятся ко второму блоку. На первой лекции важна связь этого этапа с ограничениями RNN.</a:t>
            </a:r>
          </a:p>
          <a:p xmlns:a="http://schemas.openxmlformats.org/drawingml/2006/main">
            <a:r>
              <a:t/>
            </a:r>
          </a:p>
          <a:p xmlns:a="http://schemas.openxmlformats.org/drawingml/2006/main">
            <a:r>
              <a:t/>
            </a:r>
          </a:p>
          <a:p xmlns:a="http://schemas.openxmlformats.org/drawingml/2006/main">
            <a:r>
              <a:t>Источник: https://docs.google.com/document/d/1dhTfnnaMGqnamn8odhJQwGDgKYyPB46GE1Q-YxJ3D-U/edit</a:t>
            </a:r>
          </a:p>
          <a:p xmlns:a="http://schemas.openxmlformats.org/drawingml/2006/main">
            <a:r>
              <a:t>Источник: https://lena-voita.github.io/nlp_course/seq2seq_and_attention.html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80–81 мин от начала лекции (1 мин). Темп можно адаптировать к группе.</a:t>
            </a:r>
          </a:p>
          <a:p xmlns:a="http://schemas.openxmlformats.org/drawingml/2006/main">
            <a:r>
              <a:t/>
            </a:r>
          </a:p>
          <a:p xmlns:a="http://schemas.openxmlformats.org/drawingml/2006/main">
            <a:r>
              <a:t>Инструменты preprocessing и classical ML</a:t>
            </a:r>
          </a:p>
          <a:p xmlns:a="http://schemas.openxmlformats.org/drawingml/2006/main">
            <a:r>
              <a:t>NLTK предоставляет учебные corpora и алгоритмы обработки текста. spaCy организует linguistic annotation через pipeline и объекты Doc, Token, Span. scikit-learn предоставляет vectorizers, classifiers, Pipeline и evaluation. Их функции пересекаются частично: библиотека выбирается по нужной операции, языку и способу построения эксперимента.</a:t>
            </a:r>
          </a:p>
          <a:p xmlns:a="http://schemas.openxmlformats.org/drawingml/2006/main">
            <a:r>
              <a:t/>
            </a:r>
          </a:p>
          <a:p xmlns:a="http://schemas.openxmlformats.org/drawingml/2006/main">
            <a:r>
              <a:t>Pretrained representations и models</a:t>
            </a:r>
          </a:p>
          <a:p xmlns:a="http://schemas.openxmlformats.org/drawingml/2006/main">
            <a:r>
              <a:t>Gensim используется для corpus transformations и word embeddings. Hugging Face объединяет модели, datasets и средства tokenization; Sentence Transformers ориентирован на representations целых текстов. Программный пакет, pretrained weights и dataset — разные компоненты. Для воспроизводимости сохраняют их версии, настройки обработки и правила разбиения данных.</a:t>
            </a:r>
          </a:p>
          <a:p xmlns:a="http://schemas.openxmlformats.org/drawingml/2006/main">
            <a:r>
              <a:t/>
            </a:r>
          </a:p>
          <a:p xmlns:a="http://schemas.openxmlformats.org/drawingml/2006/main">
            <a:r>
              <a:t/>
            </a:r>
          </a:p>
          <a:p xmlns:a="http://schemas.openxmlformats.org/drawingml/2006/main">
            <a:r>
              <a:t>Источник: https://scikit-learn.org/stable/</a:t>
            </a:r>
          </a:p>
          <a:p xmlns:a="http://schemas.openxmlformats.org/drawingml/2006/main">
            <a:r>
              <a:t>Источник: https://www.nltk.org/</a:t>
            </a:r>
          </a:p>
          <a:p xmlns:a="http://schemas.openxmlformats.org/drawingml/2006/main">
            <a:r>
              <a:t>Источник: https://spacy.io/</a:t>
            </a:r>
          </a:p>
          <a:p xmlns:a="http://schemas.openxmlformats.org/drawingml/2006/main">
            <a:r>
              <a:t>Источник: https://radimrehurek.com/gensim/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81–82 мин от начала лекции (1 мин). Темп можно адаптировать к группе.</a:t>
            </a:r>
          </a:p>
          <a:p xmlns:a="http://schemas.openxmlformats.org/drawingml/2006/main">
            <a:r>
              <a:t/>
            </a:r>
          </a:p>
          <a:p xmlns:a="http://schemas.openxmlformats.org/drawingml/2006/main">
            <a:r>
              <a:t>Анализ языка и корпусов</a:t>
            </a:r>
          </a:p>
          <a:p xmlns:a="http://schemas.openxmlformats.org/drawingml/2006/main">
            <a:r>
              <a:t>NLTK объединяет алгоритмы tokenization, stemming, отдельные средства lemmatization и доступ к корпусам. Частотные распределения помогают описывать лексику, а инструменты n-grams и коллокаций позволяют изучать совместную встречаемость элементов. Такая организация удобна для поэтапного разбора операций и сравнения нескольких вариантов обработки.</a:t>
            </a:r>
          </a:p>
          <a:p xmlns:a="http://schemas.openxmlformats.org/drawingml/2006/main">
            <a:r>
              <a:t/>
            </a:r>
          </a:p>
          <a:p xmlns:a="http://schemas.openxmlformats.org/drawingml/2006/main">
            <a:r>
              <a:t>Выбор отдельных инструментов</a:t>
            </a:r>
          </a:p>
          <a:p xmlns:a="http://schemas.openxmlformats.org/drawingml/2006/main">
            <a:r>
              <a:t>NLTK не задаёт единственную обязательную последовательность анализа. Пользователь выбирает алгоритмы и определяет, как передавать результаты между ними. Поддержку языка проверяют отдельно для каждого метода и ресурса. Наличие функции с нужным названием не означает, что она пригодна для русского текста или конкретного жанра без дополнительных условий.</a:t>
            </a:r>
          </a:p>
          <a:p xmlns:a="http://schemas.openxmlformats.org/drawingml/2006/main">
            <a:r>
              <a:t/>
            </a:r>
          </a:p>
          <a:p xmlns:a="http://schemas.openxmlformats.org/drawingml/2006/main">
            <a:r>
              <a:t>Источник: https://www.nltk.org/api/nltk.tokenize.html</a:t>
            </a:r>
          </a:p>
          <a:p xmlns:a="http://schemas.openxmlformats.org/drawingml/2006/main">
            <a:r>
              <a:t>Источник: https://www.nltk.org/data.html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82–83 мин от начала лекции (1 мин). Темп можно адаптировать к группе.</a:t>
            </a:r>
          </a:p>
          <a:p xmlns:a="http://schemas.openxmlformats.org/drawingml/2006/main">
            <a:r>
              <a:t/>
            </a:r>
          </a:p>
          <a:p xmlns:a="http://schemas.openxmlformats.org/drawingml/2006/main">
            <a:r>
              <a:t>Состав ресурсов</a:t>
            </a:r>
          </a:p>
          <a:p xmlns:a="http://schemas.openxmlformats.org/drawingml/2006/main">
            <a:r>
              <a:t>Корпуса содержат тексты и иногда аннотации, словари описывают лексические единицы, а списки stop words задают набор часто исключаемых элементов. Эти ресурсы имеют собственное происхождение и назначение. Многие из них доступны отдельно от программного пакета, поэтому необходимо понимать, какие именно данные использует выбранная операция.</a:t>
            </a:r>
          </a:p>
          <a:p xmlns:a="http://schemas.openxmlformats.org/drawingml/2006/main">
            <a:r>
              <a:t/>
            </a:r>
          </a:p>
          <a:p xmlns:a="http://schemas.openxmlformats.org/drawingml/2006/main">
            <a:r>
              <a:t>Применимость к задаче</a:t>
            </a:r>
          </a:p>
          <a:p xmlns:a="http://schemas.openxmlformats.org/drawingml/2006/main">
            <a:r>
              <a:t>Готовый ресурс отражает определённый язык, предметную область и правила составления. Например, список stop words может содержать отрицания, которые важны для оценки тональности. Перед применением проверяют состав ресурса на характерных текстах. Для сравнения методов сохраняют одну и ту же версию, чтобы изменение результата можно было связать с конкретным решением.</a:t>
            </a:r>
          </a:p>
          <a:p xmlns:a="http://schemas.openxmlformats.org/drawingml/2006/main">
            <a:r>
              <a:t/>
            </a:r>
          </a:p>
          <a:p xmlns:a="http://schemas.openxmlformats.org/drawingml/2006/main">
            <a:r>
              <a:t>Источник: https://www.nltk.org/api/nltk.tokenize.html</a:t>
            </a:r>
          </a:p>
          <a:p xmlns:a="http://schemas.openxmlformats.org/drawingml/2006/main">
            <a:r>
              <a:t>Источник: https://www.nltk.org/data.html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83–84 мин от начала лекции (1 мин). Темп можно адаптировать к группе.</a:t>
            </a:r>
          </a:p>
          <a:p xmlns:a="http://schemas.openxmlformats.org/drawingml/2006/main">
            <a:r>
              <a:t/>
            </a:r>
          </a:p>
          <a:p xmlns:a="http://schemas.openxmlformats.org/drawingml/2006/main">
            <a:r>
              <a:t>Документ и токен</a:t>
            </a:r>
          </a:p>
          <a:p xmlns:a="http://schemas.openxmlformats.org/drawingml/2006/main">
            <a:r>
              <a:t>spaCy представляет обработанный текст объектом документа, который сохраняет исходное содержание и последовательность токенов. Каждый токен связан с позицией в тексте и доступными аннотациями: леммой, частью речи и другими признаками. Набор заполненных атрибутов зависит от компонентов, которые обработали документ, и возможностей загруженной модели.</a:t>
            </a:r>
          </a:p>
          <a:p xmlns:a="http://schemas.openxmlformats.org/drawingml/2006/main">
            <a:r>
              <a:t/>
            </a:r>
          </a:p>
          <a:p xmlns:a="http://schemas.openxmlformats.org/drawingml/2006/main">
            <a:r>
              <a:t>Фрагменты текста</a:t>
            </a:r>
          </a:p>
          <a:p xmlns:a="http://schemas.openxmlformats.org/drawingml/2006/main">
            <a:r>
              <a:t>Фрагмент объединяет последовательные токены и позволяет описывать предложение, именованную сущность или иной выделенный участок. Такое представление связывает лингвистические аннотации с исходной записью. Для последующего анализа важно сохранять границы фрагментов и не путать предсказание компонента с достоверной ручной разметкой.</a:t>
            </a:r>
          </a:p>
          <a:p xmlns:a="http://schemas.openxmlformats.org/drawingml/2006/main">
            <a:r>
              <a:t/>
            </a:r>
          </a:p>
          <a:p xmlns:a="http://schemas.openxmlformats.org/drawingml/2006/main">
            <a:r>
              <a:t>Источник: https://spacy.io/usage/linguistic-features</a:t>
            </a:r>
          </a:p>
          <a:p xmlns:a="http://schemas.openxmlformats.org/drawingml/2006/main">
            <a:r>
              <a:t>Источник: https://www.nltk.org/api/nltk.stem.snowball.html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84–85 мин от начала лекции (1 мин). Темп можно адаптировать к группе.</a:t>
            </a:r>
          </a:p>
          <a:p xmlns:a="http://schemas.openxmlformats.org/drawingml/2006/main">
            <a:r>
              <a:t/>
            </a:r>
          </a:p>
          <a:p xmlns:a="http://schemas.openxmlformats.org/drawingml/2006/main">
            <a:r>
              <a:t>Последовательность обработки</a:t>
            </a:r>
          </a:p>
          <a:p xmlns:a="http://schemas.openxmlformats.org/drawingml/2006/main">
            <a:r>
              <a:t>После tokenization компоненты могут добавлять части речи, морфологические признаки, леммы, синтаксические связи и именованные сущности. Конкретный набор зависит от языковой модели и её конфигурации. Согласованный конвейер позволяет последующим этапам использовать результаты предыдущих, сохраняя привязку аннотаций к одному документу.</a:t>
            </a:r>
          </a:p>
          <a:p xmlns:a="http://schemas.openxmlformats.org/drawingml/2006/main">
            <a:r>
              <a:t/>
            </a:r>
          </a:p>
          <a:p xmlns:a="http://schemas.openxmlformats.org/drawingml/2006/main">
            <a:r>
              <a:t>Зависимости компонентов</a:t>
            </a:r>
          </a:p>
          <a:p xmlns:a="http://schemas.openxmlformats.org/drawingml/2006/main">
            <a:r>
              <a:t>Некоторые операции требуют уже вычисленных признаков. Например, выбор леммы может учитывать часть речи и морфологический разбор. Поэтому отключение компонента способно повлиять на оставшиеся результаты. При настройке проверяют состав конвейера, требования каждого этапа и качество итоговой задачи, а также затраты памяти и времени.</a:t>
            </a:r>
          </a:p>
          <a:p xmlns:a="http://schemas.openxmlformats.org/drawingml/2006/main">
            <a:r>
              <a:t/>
            </a:r>
          </a:p>
          <a:p xmlns:a="http://schemas.openxmlformats.org/drawingml/2006/main">
            <a:r>
              <a:t>Источник: https://spacy.io/usage/linguistic-features</a:t>
            </a:r>
          </a:p>
          <a:p xmlns:a="http://schemas.openxmlformats.org/drawingml/2006/main">
            <a:r>
              <a:t>Источник: https://www.nltk.org/api/nltk.stem.snowball.html</a:t>
            </a:r>
          </a:p>
          <a:p xmlns:a="http://schemas.openxmlformats.org/drawingml/2006/main">
            <a:r>
              <a:t>Источник: https://spacy.io/usage/processing-pipelines</a:t>
            </a:r>
          </a:p>
          <a:p xmlns:a="http://schemas.openxmlformats.org/drawingml/2006/main">
            <a:r>
              <a:t>Иллюстрация: https://spacy.io/images/pipeline.svg</a:t>
            </a:r>
          </a:p>
          <a:p xmlns:a="http://schemas.openxmlformats.org/drawingml/2006/main">
            <a:r>
              <a:t>Состав компонентов зависит от выбранной языковой модели.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85–86 мин от начала лекции (1 мин). Темп можно адаптировать к группе.</a:t>
            </a:r>
          </a:p>
          <a:p xmlns:a="http://schemas.openxmlformats.org/drawingml/2006/main">
            <a:r>
              <a:t/>
            </a:r>
          </a:p>
          <a:p xmlns:a="http://schemas.openxmlformats.org/drawingml/2006/main">
            <a:r>
              <a:t>Базовая конфигурация языка</a:t>
            </a:r>
          </a:p>
          <a:p xmlns:a="http://schemas.openxmlformats.org/drawingml/2006/main">
            <a:r>
              <a:t>Языковой объект может содержать tokenizer, правила и общие настройки без обученных компонентов анализа. Это позволяет разделить техническое выделение элементов и предсказание лингвистических характеристик. Наличие поддержки языка в библиотеке само по себе не означает, что система уже умеет определять части речи, сущности и леммы с заданным качеством.</a:t>
            </a:r>
          </a:p>
          <a:p xmlns:a="http://schemas.openxmlformats.org/drawingml/2006/main">
            <a:r>
              <a:t/>
            </a:r>
          </a:p>
          <a:p xmlns:a="http://schemas.openxmlformats.org/drawingml/2006/main">
            <a:r>
              <a:t>Обученные компоненты</a:t>
            </a:r>
          </a:p>
          <a:p xmlns:a="http://schemas.openxmlformats.org/drawingml/2006/main">
            <a:r>
              <a:t>Предобученная модель поставляет параметры и конфигурацию для конкретного набора операций. Её возможности зависят от данных обучения, языка и состава пакета. При выборе проверяют назначение модели и примеры её ошибок на целевом корпусе. Размер или название варианта помогают идентифицировать пакет, но не заменяют измерение качества в конкретном применении.</a:t>
            </a:r>
          </a:p>
          <a:p xmlns:a="http://schemas.openxmlformats.org/drawingml/2006/main">
            <a:r>
              <a:t/>
            </a:r>
          </a:p>
          <a:p xmlns:a="http://schemas.openxmlformats.org/drawingml/2006/main">
            <a:r>
              <a:t>Источник: https://spacy.io/usage/linguistic-features</a:t>
            </a:r>
          </a:p>
          <a:p xmlns:a="http://schemas.openxmlformats.org/drawingml/2006/main">
            <a:r>
              <a:t>Источник: https://www.nltk.org/api/nltk.stem.snowball.html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86–87 мин от начала лекции (1 мин). Темп можно адаптировать к группе.</a:t>
            </a:r>
          </a:p>
          <a:p xmlns:a="http://schemas.openxmlformats.org/drawingml/2006/main">
            <a:r>
              <a:t/>
            </a:r>
          </a:p>
          <a:p xmlns:a="http://schemas.openxmlformats.org/drawingml/2006/main">
            <a:r>
              <a:t>CountVectorizer и TfidfVectorizer</a:t>
            </a:r>
          </a:p>
          <a:p xmlns:a="http://schemas.openxmlformats.org/drawingml/2006/main">
            <a:r>
              <a:t>CountVectorizer формирует vocabulary и counts выбранных features. TfidfVectorizer дополнительно рассчитывает IDF и применяет TF-IDF weighting. Настройки включают word или character analyzer, n-gram range, min_df и max_df. Vectorizer обучается на train; готовый vocabulary применяется к dev, test и новым текстам без переобучения.</a:t>
            </a:r>
          </a:p>
          <a:p xmlns:a="http://schemas.openxmlformats.org/drawingml/2006/main">
            <a:r>
              <a:t/>
            </a:r>
          </a:p>
          <a:p xmlns:a="http://schemas.openxmlformats.org/drawingml/2006/main">
            <a:r>
              <a:t>Pipeline и classifier</a:t>
            </a:r>
          </a:p>
          <a:p xmlns:a="http://schemas.openxmlformats.org/drawingml/2006/main">
            <a:r>
              <a:t>Pipeline объединяет vectorizer с LogisticRegression, MultinomialNB или другим estimator. В cross-validation каждый train fold получает собственный fitted vectorizer, что снижает риск data leakage. Методы fit, transform и predict относятся к разным операциям. На семинаре эта схема станет основой baseline; здесь рассматриваются назначение компонентов и правила их использования.</a:t>
            </a:r>
          </a:p>
          <a:p xmlns:a="http://schemas.openxmlformats.org/drawingml/2006/main">
            <a:r>
              <a:t/>
            </a:r>
          </a:p>
          <a:p xmlns:a="http://schemas.openxmlformats.org/drawingml/2006/main">
            <a:r>
              <a:t/>
            </a:r>
          </a:p>
          <a:p xmlns:a="http://schemas.openxmlformats.org/drawingml/2006/main">
            <a:r>
              <a:t>Источник: https://scikit-learn.org/stable/modules/feature_extraction.html</a:t>
            </a:r>
          </a:p>
          <a:p xmlns:a="http://schemas.openxmlformats.org/drawingml/2006/main">
            <a:r>
              <a:t>Источник: https://scikit-learn.org/stable/modules/compose.html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87–87.5 мин от начала лекции (0.5 мин). Темп можно адаптировать к группе.</a:t>
            </a:r>
          </a:p>
          <a:p xmlns:a="http://schemas.openxmlformats.org/drawingml/2006/main">
            <a:r>
              <a:t/>
            </a:r>
          </a:p>
          <a:p xmlns:a="http://schemas.openxmlformats.org/drawingml/2006/main">
            <a:r>
              <a:t>Corpus transformations</a:t>
            </a:r>
          </a:p>
          <a:p xmlns:a="http://schemas.openxmlformats.org/drawingml/2006/main">
            <a:r>
              <a:t>Gensim предоставляет Dictionary для vocabulary, BoW representations и transformations, включая TF-IDF и LSI. Инструменты поддерживают обработку коллекций по документам, что полезно, когда corpus не помещается в память целиком. Входные и выходные representations должны сохранять согласованные идентификаторы features; одинаковая размерность ещё не гарантирует их соответствие.</a:t>
            </a:r>
          </a:p>
          <a:p xmlns:a="http://schemas.openxmlformats.org/drawingml/2006/main">
            <a:r>
              <a:t/>
            </a:r>
          </a:p>
          <a:p xmlns:a="http://schemas.openxmlformats.org/drawingml/2006/main">
            <a:r>
              <a:t>Word embeddings</a:t>
            </a:r>
          </a:p>
          <a:p xmlns:a="http://schemas.openxmlformats.org/drawingml/2006/main">
            <a:r>
              <a:t>В Gensim есть реализации Word2Vec и FastText, а KeyedVectors используется для хранения и применения готовых vectors. Word embeddings описывают слова; получение representation всего документа требует отдельного решения. Word2Vec, GloVe, fastText и doc2vec относятся ко второй лекции. Gensim позволяет сохранять representations и применять их при обработке нового corpus.</a:t>
            </a:r>
          </a:p>
          <a:p xmlns:a="http://schemas.openxmlformats.org/drawingml/2006/main">
            <a:r>
              <a:t/>
            </a:r>
          </a:p>
          <a:p xmlns:a="http://schemas.openxmlformats.org/drawingml/2006/main">
            <a:r>
              <a:t/>
            </a:r>
          </a:p>
          <a:p xmlns:a="http://schemas.openxmlformats.org/drawingml/2006/main">
            <a:r>
              <a:t>Источник: https://radimrehurek.com/gensim/auto_examples/core/run_topics_and_transformations.html</a:t>
            </a:r>
          </a:p>
          <a:p xmlns:a="http://schemas.openxmlformats.org/drawingml/2006/main">
            <a:r>
              <a:t>Источник: https://radimrehurek.com/gensim/models/keyedvectors.html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87.5–88 мин от начала лекции (0.5 мин). Темп можно адаптировать к группе.</a:t>
            </a:r>
          </a:p>
          <a:p xmlns:a="http://schemas.openxmlformats.org/drawingml/2006/main">
            <a:r>
              <a:t/>
            </a:r>
          </a:p>
          <a:p xmlns:a="http://schemas.openxmlformats.org/drawingml/2006/main">
            <a:r>
              <a:t>Модели и подготовка данных</a:t>
            </a:r>
          </a:p>
          <a:p xmlns:a="http://schemas.openxmlformats.org/drawingml/2006/main">
            <a:r>
              <a:t>Transformers предоставляет интерфейсы к архитектурам, предобученным параметрам и связанным tokenizers. Datasets помогает загружать и преобразовывать наборы данных. Tokenizers содержит средства tokenization. Совместимость tokenizer с моделью имеет принципиальное значение, поскольку словарь и правила выделения элементов определяют представление входного текста.</a:t>
            </a:r>
          </a:p>
          <a:p xmlns:a="http://schemas.openxmlformats.org/drawingml/2006/main">
            <a:r>
              <a:t/>
            </a:r>
          </a:p>
          <a:p xmlns:a="http://schemas.openxmlformats.org/drawingml/2006/main">
            <a:r>
              <a:t>Выбор готового компонента</a:t>
            </a:r>
          </a:p>
          <a:p xmlns:a="http://schemas.openxmlformats.org/drawingml/2006/main">
            <a:r>
              <a:t>В Hub размещаются модели и наборы данных с описаниями назначения и ограничений. При выборе проверяют поддерживаемые языки, целевую задачу, входной формат и условия использования. Для повторения результата фиксируют конкретную ревизию. Наличие готового компонента сокращает объём разработки, но его качество на целевых текстах требует отдельной проверки.</a:t>
            </a:r>
          </a:p>
          <a:p xmlns:a="http://schemas.openxmlformats.org/drawingml/2006/main">
            <a:r>
              <a:t/>
            </a:r>
          </a:p>
          <a:p xmlns:a="http://schemas.openxmlformats.org/drawingml/2006/main">
            <a:r>
              <a:t>Источник: https://huggingface.co/docs/transformers/en/pipeline_tutorial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88–88.5 мин от начала лекции (0.5 мин). Темп можно адаптировать к группе.</a:t>
            </a:r>
          </a:p>
          <a:p xmlns:a="http://schemas.openxmlformats.org/drawingml/2006/main">
            <a:r>
              <a:t/>
            </a:r>
          </a:p>
          <a:p xmlns:a="http://schemas.openxmlformats.org/drawingml/2006/main">
            <a:r>
              <a:t>Представления целых текстов</a:t>
            </a:r>
          </a:p>
          <a:p xmlns:a="http://schemas.openxmlformats.org/drawingml/2006/main">
            <a:r>
              <a:t>sentence-transformers предоставляет модели и средства получения векторов предложений и документов. Такие представления используют для семантического поиска, кластеризации и как признаки для других алгоритмов. В типичном сценарии каждому тексту соответствует один вектор, а смысловая близость оценивается выбранной мерой в пространстве представлений.</a:t>
            </a:r>
          </a:p>
          <a:p xmlns:a="http://schemas.openxmlformats.org/drawingml/2006/main">
            <a:r>
              <a:t/>
            </a:r>
          </a:p>
          <a:p xmlns:a="http://schemas.openxmlformats.org/drawingml/2006/main">
            <a:r>
              <a:t>Условия применения</a:t>
            </a:r>
          </a:p>
          <a:p xmlns:a="http://schemas.openxmlformats.org/drawingml/2006/main">
            <a:r>
              <a:t>Необходимо проверить язык модели, назначение её обучения и требования к оформлению входа. Для поиска некоторые модели различают запросы и документы или используют специальные инструкции. Полученный вектор сам по себе не является меткой тональности. При сравнении с TF-IDF сохраняют одинаковые данные и процедуру оценки, чтобы измерить влияние способа представления.</a:t>
            </a:r>
          </a:p>
          <a:p xmlns:a="http://schemas.openxmlformats.org/drawingml/2006/main">
            <a:r>
              <a:t/>
            </a:r>
          </a:p>
          <a:p xmlns:a="http://schemas.openxmlformats.org/drawingml/2006/main">
            <a:r>
              <a:t>Источник: https://sbert.net/docs/quickstart.html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88.5–89 мин от начала лекции (0.5 мин). Темп можно адаптировать к группе.</a:t>
            </a:r>
          </a:p>
          <a:p xmlns:a="http://schemas.openxmlformats.org/drawingml/2006/main">
            <a:r>
              <a:t/>
            </a:r>
          </a:p>
          <a:p xmlns:a="http://schemas.openxmlformats.org/drawingml/2006/main">
            <a:r>
              <a:t>Данные и representations</a:t>
            </a:r>
          </a:p>
          <a:p xmlns:a="http://schemas.openxmlformats.org/drawingml/2006/main">
            <a:r>
              <a:t>Чем отличаются single-label и multi-label classification? Как различаются token, type и vocabulary? Когда lemmatization может потерять полезную информацию? Почему удаление negation опасно для sentiment analysis? Что сохраняют word n-grams и что теряет Bag of Words? Чем document frequency отличается от числа вхождений слова?</a:t>
            </a:r>
          </a:p>
          <a:p xmlns:a="http://schemas.openxmlformats.org/drawingml/2006/main">
            <a:r>
              <a:t/>
            </a:r>
          </a:p>
          <a:p xmlns:a="http://schemas.openxmlformats.org/drawingml/2006/main">
            <a:r>
              <a:t>Модели и evaluation</a:t>
            </a:r>
          </a:p>
          <a:p xmlns:a="http://schemas.openxmlformats.org/drawingml/2006/main">
            <a:r>
              <a:t>Как разделяются feature extractor и classifier? В чём смысл conditional independence у Naive Bayes? Какова роль Logistic Regression в TF-IDF baseline? Что хранит hidden state RNN и зачем нужны LSTM/GRU? Почему vocabulary оценивают только на train? Как выбрать split и metrics, если классы несбалансированы, а документы связаны между собой?</a:t>
            </a:r>
          </a:p>
          <a:p xmlns:a="http://schemas.openxmlformats.org/drawingml/2006/main">
            <a:r>
              <a:t/>
            </a:r>
          </a:p>
          <a:p xmlns:a="http://schemas.openxmlformats.org/drawingml/2006/main">
            <a:r>
              <a:t/>
            </a:r>
          </a:p>
          <a:p xmlns:a="http://schemas.openxmlformats.org/drawingml/2006/main">
            <a:r>
              <a:t>Источник: https://docs.google.com/document/d/1dhTfnnaMGqnamn8odhJQwGDgKYyPB46GE1Q-YxJ3D-U/edit</a:t>
            </a:r>
          </a:p>
          <a:p xmlns:a="http://schemas.openxmlformats.org/drawingml/2006/main">
            <a:r>
              <a:t>Источник: https://lena-voita.github.io/nlp_course/text_classification.html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89–89.5 мин от начала лекции (0.5 мин). Темп можно адаптировать к группе.</a:t>
            </a:r>
          </a:p>
          <a:p xmlns:a="http://schemas.openxmlformats.org/drawingml/2006/main">
            <a:r>
              <a:t/>
            </a:r>
          </a:p>
          <a:p xmlns:a="http://schemas.openxmlformats.org/drawingml/2006/main">
            <a:r>
              <a:t>Основные понятия</a:t>
            </a:r>
          </a:p>
          <a:p xmlns:a="http://schemas.openxmlformats.org/drawingml/2006/main">
            <a:r>
              <a:t>NLP-задача определяется входом, доступным контекстом и ожидаемым ответом. Данные и annotation задают смысл меток. Preprocessing и feature representation определяют, какую информацию получит classifier. Classical models служат понятным baseline; RNN показывает, как обучаемое представление может учитывать последовательность tokens. Качество проверяют на независимых данных.</a:t>
            </a:r>
          </a:p>
          <a:p xmlns:a="http://schemas.openxmlformats.org/drawingml/2006/main">
            <a:r>
              <a:t/>
            </a:r>
          </a:p>
          <a:p xmlns:a="http://schemas.openxmlformats.org/drawingml/2006/main">
            <a:r>
              <a:t>Вторая лекция и семинар</a:t>
            </a:r>
          </a:p>
          <a:p xmlns:a="http://schemas.openxmlformats.org/drawingml/2006/main">
            <a:r>
              <a:t>Вторая лекция: word2vec, GloVe, fastText, doc2vec; static и contextual embeddings, ELMo → BERT, transfer learning и роль embeddings в retrieval/RAG. Семинар: preprocessing с NLTK и spaCy, TF-IDF + Logistic Regression через sklearn и сравнение с Sentence Transformers. Все фрагменты кода и выполнение экспериментов относятся к семинару.</a:t>
            </a:r>
          </a:p>
          <a:p xmlns:a="http://schemas.openxmlformats.org/drawingml/2006/main">
            <a:r>
              <a:t/>
            </a:r>
          </a:p>
          <a:p xmlns:a="http://schemas.openxmlformats.org/drawingml/2006/main">
            <a:r>
              <a:t/>
            </a:r>
          </a:p>
          <a:p xmlns:a="http://schemas.openxmlformats.org/drawingml/2006/main">
            <a:r>
              <a:t>Источник: https://docs.google.com/document/d/1dhTfnnaMGqnamn8odhJQwGDgKYyPB46GE1Q-YxJ3D-U/edit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89.5–90 мин от начала лекции (0.5 мин). Темп можно адаптировать к группе.</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Программа: https://docs.google.com/document/d/1dhTfnnaMGqnamn8odhJQwGDgKYyPB46GE1Q-YxJ3D-U/edit</a:t>
            </a:r>
          </a:p>
          <a:p xmlns:a="http://schemas.openxmlformats.org/drawingml/2006/main">
            <a:r>
              <a:t>Lecture slides, Text Classification: https://drive.google.com/file/d/1f7vQGNRe1PQi6WnEdCZbtf_zmx6fF8g1/view</a:t>
            </a:r>
          </a:p>
          <a:p xmlns:a="http://schemas.openxmlformats.org/drawingml/2006/main">
            <a:r>
              <a:t>Курс: https://github.com/yandexdataschool/nlp_course</a:t>
            </a:r>
          </a:p>
          <a:p xmlns:a="http://schemas.openxmlformats.org/drawingml/2006/main">
            <a:r>
              <a:t>NLP Course For You: https://lena-voita.github.io/nlp_course.html</a:t>
            </a:r>
          </a:p>
          <a:p xmlns:a="http://schemas.openxmlformats.org/drawingml/2006/main">
            <a:r>
              <a:t>spaCy: https://spacy.io/usage/processing-pipelines</a:t>
            </a:r>
          </a:p>
          <a:p xmlns:a="http://schemas.openxmlformats.org/drawingml/2006/main">
            <a:r>
              <a:t>Gensim: https://radimrehurek.com/gensim/</a:t>
            </a:r>
          </a:p>
          <a:p xmlns:a="http://schemas.openxmlformats.org/drawingml/2006/main">
            <a:r>
              <a:t>Hugging Face: https://huggingface.co/docs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78a5ed472b04dc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99d4ef24ef44ca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ff02a4eafec4d7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3c0b081db0d4b5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de3a6dd085d405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4a3aa0431184a8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4C6D97C-4F84-4AE1-A19A-8A3890AFC15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DC55A53-7DE3-4032-911E-84EFDF96B17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AC88D80-6401-491F-90F3-4305634003B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D6502AF-205F-4672-BF16-C5C5E42F35C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7608CFE-878A-42B7-A038-90DC0105CF2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F1B5E6D-68A6-4F78-B389-4BF5A71F7C1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7A80746-837D-4355-8BB7-BFE6B8D00CA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64083C8-D524-4BA7-9889-5FCD02E0421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C7422D9-86D3-436C-8B45-758884327B7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8FEC988-B4C0-49C9-899D-B3F845D557F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a15a75ae5ee4669" /><Relationship Type="http://schemas.openxmlformats.org/officeDocument/2006/relationships/slideLayout" Target="/ppt/slideLayouts/slideLayout1.xml" Id="Reab151a154e04887" /><Relationship Type="http://schemas.openxmlformats.org/officeDocument/2006/relationships/slideLayout" Target="/ppt/slideLayouts/slideLayout2.xml" Id="R2539b43b69014a0a" /><Relationship Type="http://schemas.openxmlformats.org/officeDocument/2006/relationships/slideLayout" Target="/ppt/slideLayouts/slideLayout3.xml" Id="Re3fa68d4958a4228" /><Relationship Type="http://schemas.openxmlformats.org/officeDocument/2006/relationships/slideLayout" Target="/ppt/slideLayouts/slideLayout4.xml" Id="R1c8971eac900467d" /><Relationship Type="http://schemas.openxmlformats.org/officeDocument/2006/relationships/slideLayout" Target="/ppt/slideLayouts/slideLayout5.xml" Id="Rc3c8469eed444f18" /><Relationship Type="http://schemas.openxmlformats.org/officeDocument/2006/relationships/slideLayout" Target="/ppt/slideLayouts/slideLayout6.xml" Id="Rc94a6a84aad8484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ab151a154e04887"/>
    <p:sldLayoutId xmlns:r="http://schemas.openxmlformats.org/officeDocument/2006/relationships" id="2147483650" r:id="R2539b43b69014a0a"/>
    <p:sldLayoutId xmlns:r="http://schemas.openxmlformats.org/officeDocument/2006/relationships" id="2147483651" r:id="Re3fa68d4958a4228"/>
    <p:sldLayoutId xmlns:r="http://schemas.openxmlformats.org/officeDocument/2006/relationships" id="2147483652" r:id="R1c8971eac900467d"/>
    <p:sldLayoutId xmlns:r="http://schemas.openxmlformats.org/officeDocument/2006/relationships" id="2147483653" r:id="Rc3c8469eed444f18"/>
    <p:sldLayoutId xmlns:r="http://schemas.openxmlformats.org/officeDocument/2006/relationships" id="2147483654" r:id="Rc94a6a84aad8484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RLL">
      <a:dk1>
        <a:srgbClr val="000000"/>
      </a:dk1>
      <a:lt1>
        <a:srgbClr val="F5F5F7"/>
      </a:lt1>
      <a:dk2>
        <a:srgbClr val="09090B"/>
      </a:dk2>
      <a:lt2>
        <a:srgbClr val="98989F"/>
      </a:lt2>
      <a:accent1>
        <a:srgbClr val="BD9FE3"/>
      </a:accent1>
      <a:accent2>
        <a:srgbClr val="A0BBA6"/>
      </a:accent2>
      <a:accent3>
        <a:srgbClr val="D1C9DF"/>
      </a:accent3>
      <a:accent4>
        <a:srgbClr val="80808A"/>
      </a:accent4>
      <a:accent5>
        <a:srgbClr val="C5B5F2"/>
      </a:accent5>
      <a:accent6>
        <a:srgbClr val="B4B4BB"/>
      </a:accent6>
      <a:hlink>
        <a:srgbClr val="BD9FE3"/>
      </a:hlink>
      <a:folHlink>
        <a:srgbClr val="BD9FE3"/>
      </a:folHlink>
    </a:clrScheme>
    <a:fontScheme name="">
      <a:majorFont>
        <a:latin typeface="Helvetica Neue"/>
        <a:ea typeface=""/>
        <a:cs typeface=""/>
      </a:majorFont>
      <a:minorFont>
        <a:latin typeface="Helvetica Neue"/>
        <a:ea typeface=""/>
        <a:cs typeface=""/>
      </a:minorFont>
    </a:fontScheme>
    <a:fmtScheme name="RLL">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fd2357f4abe4727" /><Relationship Type="http://schemas.openxmlformats.org/officeDocument/2006/relationships/notesSlide" Target="/ppt/notesSlides/notesSlide1.xml" Id="R59e8944626224e5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16c295ea6584b5b" /><Relationship Type="http://schemas.openxmlformats.org/officeDocument/2006/relationships/notesSlide" Target="/ppt/notesSlides/notesSlide2.xml" Id="Rf258c65d1f01498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df3a8592abc42bc" /><Relationship Type="http://schemas.openxmlformats.org/officeDocument/2006/relationships/notesSlide" Target="/ppt/notesSlides/notesSlide3.xml" Id="R70282b43b8fe415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2532244011f4766" /><Relationship Type="http://schemas.openxmlformats.org/officeDocument/2006/relationships/notesSlide" Target="/ppt/notesSlides/notesSlide4.xml" Id="R8225992539ab4a6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3decac9c09f4fdf" /><Relationship Type="http://schemas.openxmlformats.org/officeDocument/2006/relationships/notesSlide" Target="/ppt/notesSlides/notesSlide5.xml" Id="Rbf93db0fb459439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09697df75e849bd" /><Relationship Type="http://schemas.openxmlformats.org/officeDocument/2006/relationships/image" Target="/ppt/media/image.png" Id="R50a4387024384463" /><Relationship Type="http://schemas.openxmlformats.org/officeDocument/2006/relationships/hyperlink" Target="https://lena-voita.github.io/nlp_course/text_classification.html" TargetMode="External" Id="R88fb1cde40c14e24" /><Relationship Type="http://schemas.openxmlformats.org/officeDocument/2006/relationships/notesSlide" Target="/ppt/notesSlides/notesSlide6.xml" Id="R0091ec4fe490405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fd68416e1e6400a" /><Relationship Type="http://schemas.openxmlformats.org/officeDocument/2006/relationships/notesSlide" Target="/ppt/notesSlides/notesSlide7.xml" Id="R9fee4d1585dd4a9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22ac199ca564eff" /><Relationship Type="http://schemas.openxmlformats.org/officeDocument/2006/relationships/image" Target="/ppt/media/image2.png" Id="R782a1a7913a8471e" /><Relationship Type="http://schemas.openxmlformats.org/officeDocument/2006/relationships/hyperlink" Target="https://www.nltk.org/book/ch07.html" TargetMode="External" Id="Rd0570d2ab1e24c07" /><Relationship Type="http://schemas.openxmlformats.org/officeDocument/2006/relationships/notesSlide" Target="/ppt/notesSlides/notesSlide8.xml" Id="R60beb73ff5fc414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5a156975c9645bf" /><Relationship Type="http://schemas.openxmlformats.org/officeDocument/2006/relationships/image" Target="/ppt/media/image3.png" Id="R19df568208894458" /><Relationship Type="http://schemas.openxmlformats.org/officeDocument/2006/relationships/hyperlink" Target="https://www.nltk.org/book/ch07.html" TargetMode="External" Id="R1e63ebb283234691" /><Relationship Type="http://schemas.openxmlformats.org/officeDocument/2006/relationships/notesSlide" Target="/ppt/notesSlides/notesSlide9.xml" Id="R969516ee5e83440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569050a84164314" /><Relationship Type="http://schemas.openxmlformats.org/officeDocument/2006/relationships/notesSlide" Target="/ppt/notesSlides/notesSlide10.xml" Id="Re38f63798f2c468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8e8ef8e6a3143c0" /><Relationship Type="http://schemas.openxmlformats.org/officeDocument/2006/relationships/notesSlide" Target="/ppt/notesSlides/notesSlide11.xml" Id="R07b0017ae5eb460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4ffc005cb8a41ac" /><Relationship Type="http://schemas.openxmlformats.org/officeDocument/2006/relationships/image" Target="/ppt/media/image4.png" Id="Rfae3c4a17f614ef9" /><Relationship Type="http://schemas.openxmlformats.org/officeDocument/2006/relationships/hyperlink" Target="https://lena-voita.github.io/nlp_course/seq2seq_and_attention.html" TargetMode="External" Id="R2fed6b42de824d64" /><Relationship Type="http://schemas.openxmlformats.org/officeDocument/2006/relationships/notesSlide" Target="/ppt/notesSlides/notesSlide12.xml" Id="R4738a981c31744a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18bc369a70343ef" /><Relationship Type="http://schemas.openxmlformats.org/officeDocument/2006/relationships/notesSlide" Target="/ppt/notesSlides/notesSlide13.xml" Id="Rb6afd0404b234f4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e4e1f5eba6594f8f" /><Relationship Type="http://schemas.openxmlformats.org/officeDocument/2006/relationships/notesSlide" Target="/ppt/notesSlides/notesSlide14.xml" Id="Ra632db96dfa6412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531983e910984fe1" /><Relationship Type="http://schemas.openxmlformats.org/officeDocument/2006/relationships/image" Target="/ppt/media/image5.png" Id="R86eb02964859455c" /><Relationship Type="http://schemas.openxmlformats.org/officeDocument/2006/relationships/hyperlink" Target="https://www.nltk.org/book/ch06.html" TargetMode="External" Id="R1328edbf7cf94370" /><Relationship Type="http://schemas.openxmlformats.org/officeDocument/2006/relationships/notesSlide" Target="/ppt/notesSlides/notesSlide15.xml" Id="Rac05a813fae049a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c4e77a5d72164cb1" /><Relationship Type="http://schemas.openxmlformats.org/officeDocument/2006/relationships/image" Target="/ppt/media/image6.png" Id="R4418cb65965c4c29" /><Relationship Type="http://schemas.openxmlformats.org/officeDocument/2006/relationships/hyperlink" Target="https://lena-voita.github.io/nlp_course/text_classification.html" TargetMode="External" Id="Rbfd05cb44292483c" /><Relationship Type="http://schemas.openxmlformats.org/officeDocument/2006/relationships/notesSlide" Target="/ppt/notesSlides/notesSlide16.xml" Id="R707d492ecf3c43f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eb1831d4913a45f1" /><Relationship Type="http://schemas.openxmlformats.org/officeDocument/2006/relationships/image" Target="/ppt/media/image7.png" Id="R4262790873fa4acb" /><Relationship Type="http://schemas.openxmlformats.org/officeDocument/2006/relationships/hyperlink" Target="https://lena-voita.github.io/nlp_course/text_classification.html" TargetMode="External" Id="Rbaa15d5980da409f" /><Relationship Type="http://schemas.openxmlformats.org/officeDocument/2006/relationships/notesSlide" Target="/ppt/notesSlides/notesSlide17.xml" Id="R15ea2bb7a06d487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9f8c7e59178043a2" /><Relationship Type="http://schemas.openxmlformats.org/officeDocument/2006/relationships/notesSlide" Target="/ppt/notesSlides/notesSlide18.xml" Id="R2d167a34056a48b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0d7d91284880454b" /><Relationship Type="http://schemas.openxmlformats.org/officeDocument/2006/relationships/image" Target="/ppt/media/image8.png" Id="R42601d69fa694883" /><Relationship Type="http://schemas.openxmlformats.org/officeDocument/2006/relationships/hyperlink" Target="https://www.nltk.org/book/ch02.html" TargetMode="External" Id="R198533f74a1e4d9f" /><Relationship Type="http://schemas.openxmlformats.org/officeDocument/2006/relationships/notesSlide" Target="/ppt/notesSlides/notesSlide19.xml" Id="Ra1a755b3b2a9408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55d55894e1ab457f" /><Relationship Type="http://schemas.openxmlformats.org/officeDocument/2006/relationships/notesSlide" Target="/ppt/notesSlides/notesSlide20.xml" Id="Rfac2003c7f37495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2eb0d386c5d84174" /><Relationship Type="http://schemas.openxmlformats.org/officeDocument/2006/relationships/notesSlide" Target="/ppt/notesSlides/notesSlide21.xml" Id="Rcec58482e5254df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456177c3e4b64de3" /><Relationship Type="http://schemas.openxmlformats.org/officeDocument/2006/relationships/notesSlide" Target="/ppt/notesSlides/notesSlide22.xml" Id="R42ead339fef64f9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f91901ce448b40a4" /><Relationship Type="http://schemas.openxmlformats.org/officeDocument/2006/relationships/image" Target="/ppt/media/image9.png" Id="R8f947afda97a4c29" /><Relationship Type="http://schemas.openxmlformats.org/officeDocument/2006/relationships/hyperlink" Target="https://www.nltk.org/book/ch06.html" TargetMode="External" Id="R1a73353664a54eb8" /><Relationship Type="http://schemas.openxmlformats.org/officeDocument/2006/relationships/notesSlide" Target="/ppt/notesSlides/notesSlide23.xml" Id="Rf74ca936720d416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26b39efa4f0a48a3" /><Relationship Type="http://schemas.openxmlformats.org/officeDocument/2006/relationships/image" Target="/ppt/media/image10.png" Id="R92fa30d32d8a4153" /><Relationship Type="http://schemas.openxmlformats.org/officeDocument/2006/relationships/hyperlink" Target="https://scikit-learn.org/stable/auto_examples/model_selection/plot_cv_indices.html" TargetMode="External" Id="Re94c301c966c4a05" /><Relationship Type="http://schemas.openxmlformats.org/officeDocument/2006/relationships/notesSlide" Target="/ppt/notesSlides/notesSlide24.xml" Id="R7bc491170f75433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06d0ed5d1c504341" /><Relationship Type="http://schemas.openxmlformats.org/officeDocument/2006/relationships/image" Target="/ppt/media/image11.png" Id="Rbc4ac3b65a8c45c0" /><Relationship Type="http://schemas.openxmlformats.org/officeDocument/2006/relationships/hyperlink" Target="https://scikit-learn.org/stable/auto_examples/model_selection/plot_cv_indices.html" TargetMode="External" Id="R79d8c663485e410d" /><Relationship Type="http://schemas.openxmlformats.org/officeDocument/2006/relationships/notesSlide" Target="/ppt/notesSlides/notesSlide25.xml" Id="Rff0fde622b864e22"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11d946c5ebdc49e1" /><Relationship Type="http://schemas.openxmlformats.org/officeDocument/2006/relationships/notesSlide" Target="/ppt/notesSlides/notesSlide26.xml" Id="Ree5bbd22309847b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6eed5ad4bd0b4719" /><Relationship Type="http://schemas.openxmlformats.org/officeDocument/2006/relationships/notesSlide" Target="/ppt/notesSlides/notesSlide27.xml" Id="Ra6247f27de414b4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e433332f78ba47a0" /><Relationship Type="http://schemas.openxmlformats.org/officeDocument/2006/relationships/notesSlide" Target="/ppt/notesSlides/notesSlide28.xml" Id="R3e327d7333c24f4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91e537eca1594962" /><Relationship Type="http://schemas.openxmlformats.org/officeDocument/2006/relationships/image" Target="/ppt/media/image12.png" Id="Ra3fdc92fa9e24d0a" /><Relationship Type="http://schemas.openxmlformats.org/officeDocument/2006/relationships/hyperlink" Target="https://huggingface.co/learn/llm-course/en/chapter2/4" TargetMode="External" Id="Rbba37499a05d449e" /><Relationship Type="http://schemas.openxmlformats.org/officeDocument/2006/relationships/notesSlide" Target="/ppt/notesSlides/notesSlide29.xml" Id="R98c8dd201aa34711"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bf6e18f9d61b4d4c" /><Relationship Type="http://schemas.openxmlformats.org/officeDocument/2006/relationships/image" Target="/ppt/media/image13.png" Id="Rf39e3fa5c61042c6" /><Relationship Type="http://schemas.openxmlformats.org/officeDocument/2006/relationships/hyperlink" Target="https://spacy.io/usage/linguistic-features#tokenization" TargetMode="External" Id="R07d246a0dc5d4994" /><Relationship Type="http://schemas.openxmlformats.org/officeDocument/2006/relationships/notesSlide" Target="/ppt/notesSlides/notesSlide30.xml" Id="R731465bc95c7437e"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4ddc14eaa4ed4d21" /><Relationship Type="http://schemas.openxmlformats.org/officeDocument/2006/relationships/notesSlide" Target="/ppt/notesSlides/notesSlide31.xml" Id="R2be9883998cc4f41"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f4b640b79b25404c" /><Relationship Type="http://schemas.openxmlformats.org/officeDocument/2006/relationships/notesSlide" Target="/ppt/notesSlides/notesSlide32.xml" Id="Rd7b12ecccfbb47f1"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991c95d7716d4bf2" /><Relationship Type="http://schemas.openxmlformats.org/officeDocument/2006/relationships/image" Target="/ppt/media/image14.png" Id="Re3c11c1442ff400c" /><Relationship Type="http://schemas.openxmlformats.org/officeDocument/2006/relationships/hyperlink" Target="https://huggingface.co/learn/llm-course/en/chapter2/4" TargetMode="External" Id="R306e27300b7b4429" /><Relationship Type="http://schemas.openxmlformats.org/officeDocument/2006/relationships/notesSlide" Target="/ppt/notesSlides/notesSlide33.xml" Id="R661a3dd2eb774104"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0f0b9a5b3a114061" /><Relationship Type="http://schemas.openxmlformats.org/officeDocument/2006/relationships/image" Target="/ppt/media/image15.png" Id="R34d1327b83df4586" /><Relationship Type="http://schemas.openxmlformats.org/officeDocument/2006/relationships/hyperlink" Target="https://huggingface.co/learn/llm-course/en/chapter2/4" TargetMode="External" Id="R6d8a1d3618d6420f" /><Relationship Type="http://schemas.openxmlformats.org/officeDocument/2006/relationships/notesSlide" Target="/ppt/notesSlides/notesSlide34.xml" Id="R464a5a853b8e4c79"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187c84d0e4c04b62" /><Relationship Type="http://schemas.openxmlformats.org/officeDocument/2006/relationships/image" Target="/ppt/media/image16.png" Id="R9e2d39fea0f54c0b" /><Relationship Type="http://schemas.openxmlformats.org/officeDocument/2006/relationships/hyperlink" Target="https://huggingface.co/learn/llm-course/en/chapter6/4" TargetMode="External" Id="R50a83b4042034710" /><Relationship Type="http://schemas.openxmlformats.org/officeDocument/2006/relationships/notesSlide" Target="/ppt/notesSlides/notesSlide35.xml" Id="Rb018772503894a20"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a859134ee3d145da" /><Relationship Type="http://schemas.openxmlformats.org/officeDocument/2006/relationships/notesSlide" Target="/ppt/notesSlides/notesSlide36.xml" Id="R8a91030d3f35479f"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f8c50266247d4ea2" /><Relationship Type="http://schemas.openxmlformats.org/officeDocument/2006/relationships/notesSlide" Target="/ppt/notesSlides/notesSlide37.xml" Id="R97b40c7bd1ec4f50"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6e5547c68ac6460c" /><Relationship Type="http://schemas.openxmlformats.org/officeDocument/2006/relationships/notesSlide" Target="/ppt/notesSlides/notesSlide38.xml" Id="R31dca155f76b4be4"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092de165438b4f00" /><Relationship Type="http://schemas.openxmlformats.org/officeDocument/2006/relationships/notesSlide" Target="/ppt/notesSlides/notesSlide39.xml" Id="R297488aab89b4e2f"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a2cbb3fd508e4884" /><Relationship Type="http://schemas.openxmlformats.org/officeDocument/2006/relationships/notesSlide" Target="/ppt/notesSlides/notesSlide40.xml" Id="Rf06970f4706f44c8"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0d9eb33c6b80429c" /><Relationship Type="http://schemas.openxmlformats.org/officeDocument/2006/relationships/notesSlide" Target="/ppt/notesSlides/notesSlide41.xml" Id="R113bdc101a9d448f"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35288cebc661453d" /><Relationship Type="http://schemas.openxmlformats.org/officeDocument/2006/relationships/notesSlide" Target="/ppt/notesSlides/notesSlide42.xml" Id="R35252b871f2440a6"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b6b571b6727445be" /><Relationship Type="http://schemas.openxmlformats.org/officeDocument/2006/relationships/notesSlide" Target="/ppt/notesSlides/notesSlide43.xml" Id="Rdec2c567f7744d22"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a3beef7de02a441c" /><Relationship Type="http://schemas.openxmlformats.org/officeDocument/2006/relationships/notesSlide" Target="/ppt/notesSlides/notesSlide44.xml" Id="R7480498af04f4e2e"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7d4eeb1f1fee43c5" /><Relationship Type="http://schemas.openxmlformats.org/officeDocument/2006/relationships/image" Target="/ppt/media/image17.png" Id="R6b043f8027654ff0" /><Relationship Type="http://schemas.openxmlformats.org/officeDocument/2006/relationships/hyperlink" Target="https://www.nltk.org/book/ch01.html" TargetMode="External" Id="R9056be80896d4363" /><Relationship Type="http://schemas.openxmlformats.org/officeDocument/2006/relationships/notesSlide" Target="/ppt/notesSlides/notesSlide45.xml" Id="R588a6302d7864ad2"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a479fc0b3aef4d00" /><Relationship Type="http://schemas.openxmlformats.org/officeDocument/2006/relationships/chart" Target="/ppt/slides/charts/chart1.xml" Id="Re00d194a3e604167" /><Relationship Type="http://schemas.openxmlformats.org/officeDocument/2006/relationships/notesSlide" Target="/ppt/notesSlides/notesSlide46.xml" Id="R1361cc1874014918"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b6e80242852c4406" /><Relationship Type="http://schemas.openxmlformats.org/officeDocument/2006/relationships/notesSlide" Target="/ppt/notesSlides/notesSlide47.xml" Id="R8df87f03d0674b7d"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9e27dccde0a547ba" /><Relationship Type="http://schemas.openxmlformats.org/officeDocument/2006/relationships/notesSlide" Target="/ppt/notesSlides/notesSlide48.xml" Id="R3367dfc9e3ca47a7"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93bebf22e2374984" /><Relationship Type="http://schemas.openxmlformats.org/officeDocument/2006/relationships/image" Target="/ppt/media/image18.png" Id="Rd639662629d04605" /><Relationship Type="http://schemas.openxmlformats.org/officeDocument/2006/relationships/hyperlink" Target="https://github.com/yandexdataschool/nlp_course/blob/2026/week02_lm/lecture_lm.pdf" TargetMode="External" Id="R3a6e1854410943a0" /><Relationship Type="http://schemas.openxmlformats.org/officeDocument/2006/relationships/notesSlide" Target="/ppt/notesSlides/notesSlide49.xml" Id="R0430bce57bbe4073"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1e68c51ef4f04f54" /><Relationship Type="http://schemas.openxmlformats.org/officeDocument/2006/relationships/notesSlide" Target="/ppt/notesSlides/notesSlide50.xml" Id="Rd0e892b1f43e4601"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52ddf50d3e7d49fa" /><Relationship Type="http://schemas.openxmlformats.org/officeDocument/2006/relationships/image" Target="/ppt/media/image19.png" Id="R9e2a1e3607eb4cde" /><Relationship Type="http://schemas.openxmlformats.org/officeDocument/2006/relationships/hyperlink" Target="https://nlp.stanford.edu/IR-book/html/htmledition/an-example-information-retrieval-problem-1.html" TargetMode="External" Id="Ra3f892ccfb80413d" /><Relationship Type="http://schemas.openxmlformats.org/officeDocument/2006/relationships/notesSlide" Target="/ppt/notesSlides/notesSlide51.xml" Id="R33328869b39e47cd"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85cfb82e151f4cf9" /><Relationship Type="http://schemas.openxmlformats.org/officeDocument/2006/relationships/notesSlide" Target="/ppt/notesSlides/notesSlide52.xml" Id="R1163d4e3cb684595"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c76fc5980b07465f" /><Relationship Type="http://schemas.openxmlformats.org/officeDocument/2006/relationships/notesSlide" Target="/ppt/notesSlides/notesSlide53.xml" Id="Rcb4677e32a4f457a"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a7add2ca3b3d4534" /><Relationship Type="http://schemas.openxmlformats.org/officeDocument/2006/relationships/notesSlide" Target="/ppt/notesSlides/notesSlide54.xml" Id="R7db691846a93490c" /></Relationships>
</file>

<file path=ppt/slides/_rels/slide55.xml.rels>&#65279;<?xml version="1.0" encoding="utf-8"?><Relationships xmlns="http://schemas.openxmlformats.org/package/2006/relationships"><Relationship Type="http://schemas.openxmlformats.org/officeDocument/2006/relationships/slideLayout" Target="/ppt/slideLayouts/slideLayout6.xml" Id="R6acf0f4aeee847f6" /><Relationship Type="http://schemas.openxmlformats.org/officeDocument/2006/relationships/notesSlide" Target="/ppt/notesSlides/notesSlide55.xml" Id="R4fad61471e4f4574" /></Relationships>
</file>

<file path=ppt/slides/_rels/slide56.xml.rels>&#65279;<?xml version="1.0" encoding="utf-8"?><Relationships xmlns="http://schemas.openxmlformats.org/package/2006/relationships"><Relationship Type="http://schemas.openxmlformats.org/officeDocument/2006/relationships/slideLayout" Target="/ppt/slideLayouts/slideLayout6.xml" Id="R4903094e111d4880" /><Relationship Type="http://schemas.openxmlformats.org/officeDocument/2006/relationships/notesSlide" Target="/ppt/notesSlides/notesSlide56.xml" Id="R6bf33dd47f1a458a" /></Relationships>
</file>

<file path=ppt/slides/_rels/slide57.xml.rels>&#65279;<?xml version="1.0" encoding="utf-8"?><Relationships xmlns="http://schemas.openxmlformats.org/package/2006/relationships"><Relationship Type="http://schemas.openxmlformats.org/officeDocument/2006/relationships/slideLayout" Target="/ppt/slideLayouts/slideLayout6.xml" Id="Rd89ea68b6afe471e" /><Relationship Type="http://schemas.openxmlformats.org/officeDocument/2006/relationships/notesSlide" Target="/ppt/notesSlides/notesSlide57.xml" Id="R257c8d6f2f064003" /></Relationships>
</file>

<file path=ppt/slides/_rels/slide58.xml.rels>&#65279;<?xml version="1.0" encoding="utf-8"?><Relationships xmlns="http://schemas.openxmlformats.org/package/2006/relationships"><Relationship Type="http://schemas.openxmlformats.org/officeDocument/2006/relationships/slideLayout" Target="/ppt/slideLayouts/slideLayout6.xml" Id="R3616903fc3004acf" /><Relationship Type="http://schemas.openxmlformats.org/officeDocument/2006/relationships/image" Target="/ppt/media/image20.png" Id="R24ee97a7372e4f5f" /><Relationship Type="http://schemas.openxmlformats.org/officeDocument/2006/relationships/hyperlink" Target="https://lena-voita.github.io/nlp_course/text_classification.html" TargetMode="External" Id="Rc341010a54c946dc" /><Relationship Type="http://schemas.openxmlformats.org/officeDocument/2006/relationships/notesSlide" Target="/ppt/notesSlides/notesSlide58.xml" Id="R85202960fa77482b" /></Relationships>
</file>

<file path=ppt/slides/_rels/slide59.xml.rels>&#65279;<?xml version="1.0" encoding="utf-8"?><Relationships xmlns="http://schemas.openxmlformats.org/package/2006/relationships"><Relationship Type="http://schemas.openxmlformats.org/officeDocument/2006/relationships/slideLayout" Target="/ppt/slideLayouts/slideLayout6.xml" Id="Rb8c3a74bdd984d73" /><Relationship Type="http://schemas.openxmlformats.org/officeDocument/2006/relationships/image" Target="/ppt/media/image21.png" Id="R1c3df76612d34922" /><Relationship Type="http://schemas.openxmlformats.org/officeDocument/2006/relationships/hyperlink" Target="https://lena-voita.github.io/nlp_course/text_classification.html" TargetMode="External" Id="R9bc00124c1ff4812" /><Relationship Type="http://schemas.openxmlformats.org/officeDocument/2006/relationships/notesSlide" Target="/ppt/notesSlides/notesSlide59.xml" Id="Rcca5af240ef84767" /></Relationships>
</file>

<file path=ppt/slides/_rels/slide60.xml.rels>&#65279;<?xml version="1.0" encoding="utf-8"?><Relationships xmlns="http://schemas.openxmlformats.org/package/2006/relationships"><Relationship Type="http://schemas.openxmlformats.org/officeDocument/2006/relationships/slideLayout" Target="/ppt/slideLayouts/slideLayout6.xml" Id="Rbf002b03edb24ab6" /><Relationship Type="http://schemas.openxmlformats.org/officeDocument/2006/relationships/image" Target="/ppt/media/image22.png" Id="R0df1d9bdf4524dab" /><Relationship Type="http://schemas.openxmlformats.org/officeDocument/2006/relationships/hyperlink" Target="https://lena-voita.github.io/nlp_course/text_classification.html" TargetMode="External" Id="R31cbd96f60f24321" /><Relationship Type="http://schemas.openxmlformats.org/officeDocument/2006/relationships/notesSlide" Target="/ppt/notesSlides/notesSlide60.xml" Id="R14caaa6da5244074" /></Relationships>
</file>

<file path=ppt/slides/_rels/slide61.xml.rels>&#65279;<?xml version="1.0" encoding="utf-8"?><Relationships xmlns="http://schemas.openxmlformats.org/package/2006/relationships"><Relationship Type="http://schemas.openxmlformats.org/officeDocument/2006/relationships/slideLayout" Target="/ppt/slideLayouts/slideLayout6.xml" Id="Rd318cbc6b0f447ae" /><Relationship Type="http://schemas.openxmlformats.org/officeDocument/2006/relationships/image" Target="/ppt/media/image23.png" Id="R46094e0fb08f4d2e" /><Relationship Type="http://schemas.openxmlformats.org/officeDocument/2006/relationships/hyperlink" Target="https://lena-voita.github.io/nlp_course/text_classification.html" TargetMode="External" Id="Rae965bc061704aac" /><Relationship Type="http://schemas.openxmlformats.org/officeDocument/2006/relationships/notesSlide" Target="/ppt/notesSlides/notesSlide61.xml" Id="Rcb3f14f8363d48c9" /></Relationships>
</file>

<file path=ppt/slides/_rels/slide62.xml.rels>&#65279;<?xml version="1.0" encoding="utf-8"?><Relationships xmlns="http://schemas.openxmlformats.org/package/2006/relationships"><Relationship Type="http://schemas.openxmlformats.org/officeDocument/2006/relationships/slideLayout" Target="/ppt/slideLayouts/slideLayout6.xml" Id="R44bbddbba86141ef" /><Relationship Type="http://schemas.openxmlformats.org/officeDocument/2006/relationships/image" Target="/ppt/media/image24.png" Id="R1c839d2e66054095" /><Relationship Type="http://schemas.openxmlformats.org/officeDocument/2006/relationships/hyperlink" Target="https://lena-voita.github.io/nlp_course/text_classification.html" TargetMode="External" Id="R5f16e77f581a470e" /><Relationship Type="http://schemas.openxmlformats.org/officeDocument/2006/relationships/notesSlide" Target="/ppt/notesSlides/notesSlide62.xml" Id="R2873f17307e34a77" /></Relationships>
</file>

<file path=ppt/slides/_rels/slide63.xml.rels>&#65279;<?xml version="1.0" encoding="utf-8"?><Relationships xmlns="http://schemas.openxmlformats.org/package/2006/relationships"><Relationship Type="http://schemas.openxmlformats.org/officeDocument/2006/relationships/slideLayout" Target="/ppt/slideLayouts/slideLayout6.xml" Id="Rf5bbdda30f2d4a95" /><Relationship Type="http://schemas.openxmlformats.org/officeDocument/2006/relationships/image" Target="/ppt/media/image25.png" Id="R3ac90a5b60694d7c" /><Relationship Type="http://schemas.openxmlformats.org/officeDocument/2006/relationships/hyperlink" Target="https://scikit-learn.org/1.6/auto_examples/linear_model/plot_logistic.html" TargetMode="External" Id="R8a3ea22b6fe3426c" /><Relationship Type="http://schemas.openxmlformats.org/officeDocument/2006/relationships/notesSlide" Target="/ppt/notesSlides/notesSlide63.xml" Id="Rde5b2e384b9e436c" /></Relationships>
</file>

<file path=ppt/slides/_rels/slide64.xml.rels>&#65279;<?xml version="1.0" encoding="utf-8"?><Relationships xmlns="http://schemas.openxmlformats.org/package/2006/relationships"><Relationship Type="http://schemas.openxmlformats.org/officeDocument/2006/relationships/slideLayout" Target="/ppt/slideLayouts/slideLayout6.xml" Id="R74a23f9824324f84" /><Relationship Type="http://schemas.openxmlformats.org/officeDocument/2006/relationships/notesSlide" Target="/ppt/notesSlides/notesSlide64.xml" Id="R6485217ee04a4e48" /></Relationships>
</file>

<file path=ppt/slides/_rels/slide65.xml.rels>&#65279;<?xml version="1.0" encoding="utf-8"?><Relationships xmlns="http://schemas.openxmlformats.org/package/2006/relationships"><Relationship Type="http://schemas.openxmlformats.org/officeDocument/2006/relationships/slideLayout" Target="/ppt/slideLayouts/slideLayout6.xml" Id="R09533de74b2140df" /><Relationship Type="http://schemas.openxmlformats.org/officeDocument/2006/relationships/notesSlide" Target="/ppt/notesSlides/notesSlide65.xml" Id="R8a650ea037e6427f" /></Relationships>
</file>

<file path=ppt/slides/_rels/slide66.xml.rels>&#65279;<?xml version="1.0" encoding="utf-8"?><Relationships xmlns="http://schemas.openxmlformats.org/package/2006/relationships"><Relationship Type="http://schemas.openxmlformats.org/officeDocument/2006/relationships/slideLayout" Target="/ppt/slideLayouts/slideLayout6.xml" Id="R3d3645b50f314d68" /><Relationship Type="http://schemas.openxmlformats.org/officeDocument/2006/relationships/image" Target="/ppt/media/image26.png" Id="Rb4a510a23c134075" /><Relationship Type="http://schemas.openxmlformats.org/officeDocument/2006/relationships/hyperlink" Target="https://scikit-learn.org/stable/modules/cross_validation.html" TargetMode="External" Id="R721a4d38415f4315" /><Relationship Type="http://schemas.openxmlformats.org/officeDocument/2006/relationships/notesSlide" Target="/ppt/notesSlides/notesSlide66.xml" Id="R901a983f9ba24dde" /></Relationships>
</file>

<file path=ppt/slides/_rels/slide67.xml.rels>&#65279;<?xml version="1.0" encoding="utf-8"?><Relationships xmlns="http://schemas.openxmlformats.org/package/2006/relationships"><Relationship Type="http://schemas.openxmlformats.org/officeDocument/2006/relationships/slideLayout" Target="/ppt/slideLayouts/slideLayout6.xml" Id="R2a2c48784e3144ae" /><Relationship Type="http://schemas.openxmlformats.org/officeDocument/2006/relationships/notesSlide" Target="/ppt/notesSlides/notesSlide67.xml" Id="Red24d4b54f2742e5" /></Relationships>
</file>

<file path=ppt/slides/_rels/slide68.xml.rels>&#65279;<?xml version="1.0" encoding="utf-8"?><Relationships xmlns="http://schemas.openxmlformats.org/package/2006/relationships"><Relationship Type="http://schemas.openxmlformats.org/officeDocument/2006/relationships/slideLayout" Target="/ppt/slideLayouts/slideLayout6.xml" Id="R381ed3fdf69f491e" /><Relationship Type="http://schemas.openxmlformats.org/officeDocument/2006/relationships/image" Target="/ppt/media/image27.png" Id="R0ddc9dea6d694608" /><Relationship Type="http://schemas.openxmlformats.org/officeDocument/2006/relationships/hyperlink" Target="https://scikit-learn.org/stable/auto_examples/text/plot_document_classification_20newsgroups.html" TargetMode="External" Id="Rfe14ca0fa16f4997" /><Relationship Type="http://schemas.openxmlformats.org/officeDocument/2006/relationships/notesSlide" Target="/ppt/notesSlides/notesSlide68.xml" Id="R348c7209e05c49ca" /></Relationships>
</file>

<file path=ppt/slides/_rels/slide69.xml.rels>&#65279;<?xml version="1.0" encoding="utf-8"?><Relationships xmlns="http://schemas.openxmlformats.org/package/2006/relationships"><Relationship Type="http://schemas.openxmlformats.org/officeDocument/2006/relationships/slideLayout" Target="/ppt/slideLayouts/slideLayout6.xml" Id="Rba5ae70a35c3461d" /><Relationship Type="http://schemas.openxmlformats.org/officeDocument/2006/relationships/image" Target="/ppt/media/image28.png" Id="R39ef9721b3ed4e5b" /><Relationship Type="http://schemas.openxmlformats.org/officeDocument/2006/relationships/hyperlink" Target="https://www.nltk.org/book/ch06.html" TargetMode="External" Id="Re27294c8a92d4902" /><Relationship Type="http://schemas.openxmlformats.org/officeDocument/2006/relationships/notesSlide" Target="/ppt/notesSlides/notesSlide69.xml" Id="Rd4871701b95641df" /></Relationships>
</file>

<file path=ppt/slides/_rels/slide70.xml.rels>&#65279;<?xml version="1.0" encoding="utf-8"?><Relationships xmlns="http://schemas.openxmlformats.org/package/2006/relationships"><Relationship Type="http://schemas.openxmlformats.org/officeDocument/2006/relationships/slideLayout" Target="/ppt/slideLayouts/slideLayout6.xml" Id="R429fc6a227bb4f13" /><Relationship Type="http://schemas.openxmlformats.org/officeDocument/2006/relationships/notesSlide" Target="/ppt/notesSlides/notesSlide70.xml" Id="Rad08e9c475084072" /></Relationships>
</file>

<file path=ppt/slides/_rels/slide71.xml.rels>&#65279;<?xml version="1.0" encoding="utf-8"?><Relationships xmlns="http://schemas.openxmlformats.org/package/2006/relationships"><Relationship Type="http://schemas.openxmlformats.org/officeDocument/2006/relationships/slideLayout" Target="/ppt/slideLayouts/slideLayout6.xml" Id="R312d21691d3c4860" /><Relationship Type="http://schemas.openxmlformats.org/officeDocument/2006/relationships/image" Target="/ppt/media/image29.png" Id="R49f4166bcced4c86" /><Relationship Type="http://schemas.openxmlformats.org/officeDocument/2006/relationships/hyperlink" Target="https://scikit-learn.org/stable/auto_examples/text/plot_document_classification_20newsgroups.html" TargetMode="External" Id="Rb10f95909cda489e" /><Relationship Type="http://schemas.openxmlformats.org/officeDocument/2006/relationships/notesSlide" Target="/ppt/notesSlides/notesSlide71.xml" Id="Rbca230960fee4664" /></Relationships>
</file>

<file path=ppt/slides/_rels/slide72.xml.rels>&#65279;<?xml version="1.0" encoding="utf-8"?><Relationships xmlns="http://schemas.openxmlformats.org/package/2006/relationships"><Relationship Type="http://schemas.openxmlformats.org/officeDocument/2006/relationships/slideLayout" Target="/ppt/slideLayouts/slideLayout6.xml" Id="Ra81f907ead0e4739" /><Relationship Type="http://schemas.openxmlformats.org/officeDocument/2006/relationships/image" Target="/ppt/media/image30.png" Id="R3f33d19c64cf4900" /><Relationship Type="http://schemas.openxmlformats.org/officeDocument/2006/relationships/hyperlink" Target="https://lena-voita.github.io/nlp_course/text_classification.html" TargetMode="External" Id="R3c9107deedd841cb" /><Relationship Type="http://schemas.openxmlformats.org/officeDocument/2006/relationships/notesSlide" Target="/ppt/notesSlides/notesSlide72.xml" Id="Ra98cca9b0cef4dff" /></Relationships>
</file>

<file path=ppt/slides/_rels/slide73.xml.rels>&#65279;<?xml version="1.0" encoding="utf-8"?><Relationships xmlns="http://schemas.openxmlformats.org/package/2006/relationships"><Relationship Type="http://schemas.openxmlformats.org/officeDocument/2006/relationships/slideLayout" Target="/ppt/slideLayouts/slideLayout6.xml" Id="Rf4570dfa8dbd43ee" /><Relationship Type="http://schemas.openxmlformats.org/officeDocument/2006/relationships/image" Target="/ppt/media/image31.png" Id="R1b555a491d3348e2" /><Relationship Type="http://schemas.openxmlformats.org/officeDocument/2006/relationships/hyperlink" Target="https://lena-voita.github.io/nlp_course/text_classification.html" TargetMode="External" Id="R130f3ac54b714834" /><Relationship Type="http://schemas.openxmlformats.org/officeDocument/2006/relationships/notesSlide" Target="/ppt/notesSlides/notesSlide73.xml" Id="Rf1ebff8ad89a4580" /></Relationships>
</file>

<file path=ppt/slides/_rels/slide74.xml.rels>&#65279;<?xml version="1.0" encoding="utf-8"?><Relationships xmlns="http://schemas.openxmlformats.org/package/2006/relationships"><Relationship Type="http://schemas.openxmlformats.org/officeDocument/2006/relationships/slideLayout" Target="/ppt/slideLayouts/slideLayout6.xml" Id="R0f283eaa734749d3" /><Relationship Type="http://schemas.openxmlformats.org/officeDocument/2006/relationships/image" Target="/ppt/media/image32.png" Id="Rb0923de7a82d4485" /><Relationship Type="http://schemas.openxmlformats.org/officeDocument/2006/relationships/hyperlink" Target="https://lena-voita.github.io/nlp_course/text_classification.html" TargetMode="External" Id="R70845a353324429d" /><Relationship Type="http://schemas.openxmlformats.org/officeDocument/2006/relationships/notesSlide" Target="/ppt/notesSlides/notesSlide74.xml" Id="R4301920e461747ba" /></Relationships>
</file>

<file path=ppt/slides/_rels/slide75.xml.rels>&#65279;<?xml version="1.0" encoding="utf-8"?><Relationships xmlns="http://schemas.openxmlformats.org/package/2006/relationships"><Relationship Type="http://schemas.openxmlformats.org/officeDocument/2006/relationships/slideLayout" Target="/ppt/slideLayouts/slideLayout6.xml" Id="R296e6c68836c46bd" /><Relationship Type="http://schemas.openxmlformats.org/officeDocument/2006/relationships/notesSlide" Target="/ppt/notesSlides/notesSlide75.xml" Id="R2c963e5d7a4147d3" /></Relationships>
</file>

<file path=ppt/slides/_rels/slide76.xml.rels>&#65279;<?xml version="1.0" encoding="utf-8"?><Relationships xmlns="http://schemas.openxmlformats.org/package/2006/relationships"><Relationship Type="http://schemas.openxmlformats.org/officeDocument/2006/relationships/slideLayout" Target="/ppt/slideLayouts/slideLayout6.xml" Id="Refe2e3b1a10f44df" /><Relationship Type="http://schemas.openxmlformats.org/officeDocument/2006/relationships/notesSlide" Target="/ppt/notesSlides/notesSlide76.xml" Id="Rf73b6767a38a4d47" /></Relationships>
</file>

<file path=ppt/slides/_rels/slide77.xml.rels>&#65279;<?xml version="1.0" encoding="utf-8"?><Relationships xmlns="http://schemas.openxmlformats.org/package/2006/relationships"><Relationship Type="http://schemas.openxmlformats.org/officeDocument/2006/relationships/slideLayout" Target="/ppt/slideLayouts/slideLayout6.xml" Id="R3e0ae01f04d24683" /><Relationship Type="http://schemas.openxmlformats.org/officeDocument/2006/relationships/notesSlide" Target="/ppt/notesSlides/notesSlide77.xml" Id="R5d759c8c1cc24119" /></Relationships>
</file>

<file path=ppt/slides/_rels/slide78.xml.rels>&#65279;<?xml version="1.0" encoding="utf-8"?><Relationships xmlns="http://schemas.openxmlformats.org/package/2006/relationships"><Relationship Type="http://schemas.openxmlformats.org/officeDocument/2006/relationships/slideLayout" Target="/ppt/slideLayouts/slideLayout6.xml" Id="Ra70c56dfe9d844b5" /><Relationship Type="http://schemas.openxmlformats.org/officeDocument/2006/relationships/notesSlide" Target="/ppt/notesSlides/notesSlide78.xml" Id="R2dbf5d1f6c2a4b2a" /></Relationships>
</file>

<file path=ppt/slides/_rels/slide79.xml.rels>&#65279;<?xml version="1.0" encoding="utf-8"?><Relationships xmlns="http://schemas.openxmlformats.org/package/2006/relationships"><Relationship Type="http://schemas.openxmlformats.org/officeDocument/2006/relationships/slideLayout" Target="/ppt/slideLayouts/slideLayout6.xml" Id="Re80ce2d7890045d0" /><Relationship Type="http://schemas.openxmlformats.org/officeDocument/2006/relationships/notesSlide" Target="/ppt/notesSlides/notesSlide79.xml" Id="Rc16866364c9d4914" /></Relationships>
</file>

<file path=ppt/slides/_rels/slide80.xml.rels>&#65279;<?xml version="1.0" encoding="utf-8"?><Relationships xmlns="http://schemas.openxmlformats.org/package/2006/relationships"><Relationship Type="http://schemas.openxmlformats.org/officeDocument/2006/relationships/slideLayout" Target="/ppt/slideLayouts/slideLayout6.xml" Id="R164a9cf9aa7847ea" /><Relationship Type="http://schemas.openxmlformats.org/officeDocument/2006/relationships/notesSlide" Target="/ppt/notesSlides/notesSlide80.xml" Id="Re297d40ceac34241" /></Relationships>
</file>

<file path=ppt/slides/_rels/slide81.xml.rels>&#65279;<?xml version="1.0" encoding="utf-8"?><Relationships xmlns="http://schemas.openxmlformats.org/package/2006/relationships"><Relationship Type="http://schemas.openxmlformats.org/officeDocument/2006/relationships/slideLayout" Target="/ppt/slideLayouts/slideLayout6.xml" Id="Rfb07261800244930" /><Relationship Type="http://schemas.openxmlformats.org/officeDocument/2006/relationships/notesSlide" Target="/ppt/notesSlides/notesSlide81.xml" Id="R236210a290154736" /></Relationships>
</file>

<file path=ppt/slides/_rels/slide82.xml.rels>&#65279;<?xml version="1.0" encoding="utf-8"?><Relationships xmlns="http://schemas.openxmlformats.org/package/2006/relationships"><Relationship Type="http://schemas.openxmlformats.org/officeDocument/2006/relationships/slideLayout" Target="/ppt/slideLayouts/slideLayout6.xml" Id="Rc9b4f60df133491f" /><Relationship Type="http://schemas.openxmlformats.org/officeDocument/2006/relationships/image" Target="/ppt/media/image33.png" Id="R3c45ed4d7ac447f4" /><Relationship Type="http://schemas.openxmlformats.org/officeDocument/2006/relationships/hyperlink" Target="https://spacy.io/usage/processing-pipelines" TargetMode="External" Id="R6cc214cce08047a1" /><Relationship Type="http://schemas.openxmlformats.org/officeDocument/2006/relationships/notesSlide" Target="/ppt/notesSlides/notesSlide82.xml" Id="R6f5df7abc72b477c" /></Relationships>
</file>

<file path=ppt/slides/_rels/slide83.xml.rels>&#65279;<?xml version="1.0" encoding="utf-8"?><Relationships xmlns="http://schemas.openxmlformats.org/package/2006/relationships"><Relationship Type="http://schemas.openxmlformats.org/officeDocument/2006/relationships/slideLayout" Target="/ppt/slideLayouts/slideLayout6.xml" Id="Rf88fa7986dc34c21" /><Relationship Type="http://schemas.openxmlformats.org/officeDocument/2006/relationships/notesSlide" Target="/ppt/notesSlides/notesSlide83.xml" Id="R04aaec95e6804ec1" /></Relationships>
</file>

<file path=ppt/slides/_rels/slide84.xml.rels>&#65279;<?xml version="1.0" encoding="utf-8"?><Relationships xmlns="http://schemas.openxmlformats.org/package/2006/relationships"><Relationship Type="http://schemas.openxmlformats.org/officeDocument/2006/relationships/slideLayout" Target="/ppt/slideLayouts/slideLayout6.xml" Id="R2c1f53968157430f" /><Relationship Type="http://schemas.openxmlformats.org/officeDocument/2006/relationships/notesSlide" Target="/ppt/notesSlides/notesSlide84.xml" Id="Ra7afe89295ed4d35" /></Relationships>
</file>

<file path=ppt/slides/_rels/slide85.xml.rels>&#65279;<?xml version="1.0" encoding="utf-8"?><Relationships xmlns="http://schemas.openxmlformats.org/package/2006/relationships"><Relationship Type="http://schemas.openxmlformats.org/officeDocument/2006/relationships/slideLayout" Target="/ppt/slideLayouts/slideLayout6.xml" Id="R145369a8487a4ebc" /><Relationship Type="http://schemas.openxmlformats.org/officeDocument/2006/relationships/notesSlide" Target="/ppt/notesSlides/notesSlide85.xml" Id="R4e18a87be68d45fc" /></Relationships>
</file>

<file path=ppt/slides/_rels/slide86.xml.rels>&#65279;<?xml version="1.0" encoding="utf-8"?><Relationships xmlns="http://schemas.openxmlformats.org/package/2006/relationships"><Relationship Type="http://schemas.openxmlformats.org/officeDocument/2006/relationships/slideLayout" Target="/ppt/slideLayouts/slideLayout6.xml" Id="R24caa3e64da44580" /><Relationship Type="http://schemas.openxmlformats.org/officeDocument/2006/relationships/notesSlide" Target="/ppt/notesSlides/notesSlide86.xml" Id="R7e4430891af54d12" /></Relationships>
</file>

<file path=ppt/slides/_rels/slide87.xml.rels>&#65279;<?xml version="1.0" encoding="utf-8"?><Relationships xmlns="http://schemas.openxmlformats.org/package/2006/relationships"><Relationship Type="http://schemas.openxmlformats.org/officeDocument/2006/relationships/slideLayout" Target="/ppt/slideLayouts/slideLayout6.xml" Id="R4167695dcb78479d" /><Relationship Type="http://schemas.openxmlformats.org/officeDocument/2006/relationships/notesSlide" Target="/ppt/notesSlides/notesSlide87.xml" Id="R6d0f4d2cf04c4d84" /></Relationships>
</file>

<file path=ppt/slides/_rels/slide88.xml.rels>&#65279;<?xml version="1.0" encoding="utf-8"?><Relationships xmlns="http://schemas.openxmlformats.org/package/2006/relationships"><Relationship Type="http://schemas.openxmlformats.org/officeDocument/2006/relationships/slideLayout" Target="/ppt/slideLayouts/slideLayout6.xml" Id="R238c8a8f9e9147a3" /><Relationship Type="http://schemas.openxmlformats.org/officeDocument/2006/relationships/notesSlide" Target="/ppt/notesSlides/notesSlide88.xml" Id="R2bb7713f32514203" /></Relationships>
</file>

<file path=ppt/slides/_rels/slide89.xml.rels>&#65279;<?xml version="1.0" encoding="utf-8"?><Relationships xmlns="http://schemas.openxmlformats.org/package/2006/relationships"><Relationship Type="http://schemas.openxmlformats.org/officeDocument/2006/relationships/slideLayout" Target="/ppt/slideLayouts/slideLayout6.xml" Id="Rb8649e098a00440a" /><Relationship Type="http://schemas.openxmlformats.org/officeDocument/2006/relationships/notesSlide" Target="/ppt/notesSlides/notesSlide89.xml" Id="Rfcaeeb79f2834edd" /></Relationships>
</file>

<file path=ppt/slides/_rels/slide90.xml.rels>&#65279;<?xml version="1.0" encoding="utf-8"?><Relationships xmlns="http://schemas.openxmlformats.org/package/2006/relationships"><Relationship Type="http://schemas.openxmlformats.org/officeDocument/2006/relationships/slideLayout" Target="/ppt/slideLayouts/slideLayout6.xml" Id="Rd57360824ec54079" /><Relationship Type="http://schemas.openxmlformats.org/officeDocument/2006/relationships/hyperlink" Target="https://github.com/yandexdataschool/nlp_course" TargetMode="External" Id="R2e290593984d4ddd" /><Relationship Type="http://schemas.openxmlformats.org/officeDocument/2006/relationships/hyperlink" Target="https://www.nltk.org/book/" TargetMode="External" Id="R257baa0523cb4fa4" /><Relationship Type="http://schemas.openxmlformats.org/officeDocument/2006/relationships/hyperlink" Target="https://scikit-learn.org/stable/" TargetMode="External" Id="Rcb2dae8a5a554eea" /><Relationship Type="http://schemas.openxmlformats.org/officeDocument/2006/relationships/hyperlink" Target="https://sbert.net/" TargetMode="External" Id="R21e7d20074d94aa8" /><Relationship Type="http://schemas.openxmlformats.org/officeDocument/2006/relationships/notesSlide" Target="/ppt/notesSlides/notesSlide90.xml" Id="R8ffcfde9c27f40e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Условная частота</c:v>
          </c:tx>
          <c:spPr>
            <a:ln xmlns:a="http://schemas.openxmlformats.org/drawingml/2006/main" w="38100">
              <a:solidFill>
                <a:srgbClr val="BD9FE3"/>
              </a:solidFill>
            </a:ln>
          </c:spPr>
          <c:marker>
            <c:symbol val="circle"/>
            <c:size val="7"/>
            <c:spPr>
              <a:solidFill xmlns:a="http://schemas.openxmlformats.org/drawingml/2006/main">
                <a:srgbClr val="BD9FE3"/>
              </a:solidFill>
            </c:spPr>
          </c:marker>
          <c:cat>
            <c:numRef>
              <c:f>'Chart Data'!$A$2:$A$11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'Chart Data'!$B$2:$B$11</c:f>
              <c:numCache>
                <c:formatCode>General</c:formatCode>
                <c:ptCount val="10"/>
                <c:pt idx="0">
                  <c:v>1000</c:v>
                </c:pt>
                <c:pt idx="1">
                  <c:v>500</c:v>
                </c:pt>
                <c:pt idx="2">
                  <c:v>333</c:v>
                </c:pt>
                <c:pt idx="3">
                  <c:v>250</c:v>
                </c:pt>
                <c:pt idx="4">
                  <c:v>200</c:v>
                </c:pt>
                <c:pt idx="5">
                  <c:v>167</c:v>
                </c:pt>
                <c:pt idx="6">
                  <c:v>143</c:v>
                </c:pt>
                <c:pt idx="7">
                  <c:v>125</c:v>
                </c:pt>
                <c:pt idx="8">
                  <c:v>111</c:v>
                </c:pt>
                <c:pt idx="9">
                  <c:v>100</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425">
                    <a:solidFill>
                      <a:srgbClr val="98989F"/>
                    </a:solidFill>
                    <a:latin typeface="Helvetica Neue"/>
                    <a:ea typeface="Helvetica Neue"/>
                    <a:cs typeface="Helvetica Neue"/>
                  </a:rPr>
                  <a:t>Ранг слова</a:t>
                </a:r>
              </a:p>
            </c:rich>
          </c:tx>
          <c:overlay val="0"/>
          <c:txPr>
            <a:bodyPr xmlns:a="http://schemas.openxmlformats.org/drawingml/2006/main" anchorCtr="1"/>
            <a:lstStyle xmlns:a="http://schemas.openxmlformats.org/drawingml/2006/main"/>
            <a:p xmlns:a="http://schemas.openxmlformats.org/drawingml/2006/main">
              <a:pPr>
                <a:defRPr sz="1425">
                  <a:solidFill>
                    <a:srgbClr val="98989F"/>
                  </a:solidFill>
                  <a:latin typeface="Helvetica Neue"/>
                  <a:ea typeface="Helvetica Neue"/>
                  <a:cs typeface="Helvetica Neue"/>
                </a:defRPr>
              </a:pPr>
            </a:p>
          </c:txPr>
        </c:title>
        <c:numFmt formatCode="General"/>
        <c:majorTickMark val="none"/>
        <c:minorTickMark val="none"/>
        <c:spPr>
          <a:ln xmlns:a="http://schemas.openxmlformats.org/drawingml/2006/main" w="9525">
            <a:solidFill>
              <a:srgbClr val="28282B"/>
            </a:solidFill>
          </a:ln>
        </c:spPr>
        <c:txPr>
          <a:bodyPr xmlns:a="http://schemas.openxmlformats.org/drawingml/2006/main" anchorCtr="1"/>
          <a:lstStyle xmlns:a="http://schemas.openxmlformats.org/drawingml/2006/main"/>
          <a:p xmlns:a="http://schemas.openxmlformats.org/drawingml/2006/main">
            <a:pPr>
              <a:defRPr sz="1425">
                <a:solidFill>
                  <a:srgbClr val="98989F"/>
                </a:solidFill>
                <a:latin typeface="Helvetica Neue"/>
                <a:ea typeface="Helvetica Neue"/>
                <a:cs typeface="Helvetica Neue"/>
              </a:defRPr>
            </a:pPr>
          </a:p>
        </c:txPr>
        <c:crossAx val="48672768"/>
      </c:catAx>
      <c:valAx>
        <c:axId val="48672768"/>
        <c:scaling>
          <c:orientation val="minMax"/>
          <c:max val="1000"/>
          <c:min val="0"/>
        </c:scaling>
        <c:delete val="0"/>
        <c:axPos val="l"/>
        <c:majorGridlines>
          <c:spPr>
            <a:ln xmlns:a="http://schemas.openxmlformats.org/drawingml/2006/main" w="9525">
              <a:solidFill>
                <a:srgbClr val="28282B"/>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98989F"/>
                </a:solidFill>
                <a:latin typeface="Helvetica Neue"/>
                <a:ea typeface="Helvetica Neue"/>
                <a:cs typeface="Helvetica Neue"/>
              </a:defRPr>
            </a:pPr>
          </a:p>
        </c:txPr>
        <c:crossAx val="48650112"/>
        <c:crossBetween val="between"/>
        <c:majorUnit val="250"/>
      </c:valAx>
      <c:spPr>
        <a:solidFill xmlns:a="http://schemas.openxmlformats.org/drawingml/2006/main">
          <a:srgbClr val="000000"/>
        </a:solidFill>
        <a:ln xmlns:a="http://schemas.openxmlformats.org/drawingml/2006/main" w="0">
          <a:noFill/>
        </a:ln>
      </c:spPr>
    </c:plotArea>
    <c:plotVisOnly val="1"/>
  </c:chart>
  <c:spPr>
    <a:solidFill xmlns:a="http://schemas.openxmlformats.org/drawingml/2006/main">
      <a:srgbClr val="000000"/>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028CD0D9-C9B2-4268-8FCA-05345897BF41}"/>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98989F"/>
                </a:solidFill>
                <a:latin typeface="Helvetica Neue"/>
                <a:ea typeface="Helvetica Neue"/>
                <a:cs typeface="Helvetica Neue"/>
              </a:defRPr>
            </a:defPPr>
            <a:lvl1pPr algn="l">
              <a:buNone/>
              <a:defRPr sz="1425" b="0">
                <a:solidFill>
                  <a:srgbClr val="98989F"/>
                </a:solidFill>
                <a:latin typeface="Helvetica Neue"/>
                <a:ea typeface="Helvetica Neue"/>
                <a:cs typeface="Helvetica Neue"/>
              </a:defRPr>
            </a:lvl1pPr>
            <a:lvl2pPr algn="l">
              <a:buNone/>
              <a:defRPr sz="1425" b="0">
                <a:solidFill>
                  <a:srgbClr val="98989F"/>
                </a:solidFill>
                <a:latin typeface="Helvetica Neue"/>
                <a:ea typeface="Helvetica Neue"/>
                <a:cs typeface="Helvetica Neue"/>
              </a:defRPr>
            </a:lvl2pPr>
            <a:lvl3pPr algn="l">
              <a:buNone/>
              <a:defRPr sz="1425" b="0">
                <a:solidFill>
                  <a:srgbClr val="98989F"/>
                </a:solidFill>
                <a:latin typeface="Helvetica Neue"/>
                <a:ea typeface="Helvetica Neue"/>
                <a:cs typeface="Helvetica Neue"/>
              </a:defRPr>
            </a:lvl3pPr>
            <a:lvl4pPr algn="l">
              <a:buNone/>
              <a:defRPr sz="1425" b="0">
                <a:solidFill>
                  <a:srgbClr val="98989F"/>
                </a:solidFill>
                <a:latin typeface="Helvetica Neue"/>
                <a:ea typeface="Helvetica Neue"/>
                <a:cs typeface="Helvetica Neue"/>
              </a:defRPr>
            </a:lvl4pPr>
            <a:lvl5pPr algn="l">
              <a:buNone/>
              <a:defRPr sz="1425" b="0">
                <a:solidFill>
                  <a:srgbClr val="98989F"/>
                </a:solidFill>
                <a:latin typeface="Helvetica Neue"/>
                <a:ea typeface="Helvetica Neue"/>
                <a:cs typeface="Helvetica Neue"/>
              </a:defRPr>
            </a:lvl5pPr>
            <a:lvl6pPr algn="l">
              <a:buNone/>
              <a:defRPr sz="1425" b="0">
                <a:solidFill>
                  <a:srgbClr val="98989F"/>
                </a:solidFill>
                <a:latin typeface="Helvetica Neue"/>
                <a:ea typeface="Helvetica Neue"/>
                <a:cs typeface="Helvetica Neue"/>
              </a:defRPr>
            </a:lvl6pPr>
            <a:lvl7pPr algn="l">
              <a:buNone/>
              <a:defRPr sz="1425" b="0">
                <a:solidFill>
                  <a:srgbClr val="98989F"/>
                </a:solidFill>
                <a:latin typeface="Helvetica Neue"/>
                <a:ea typeface="Helvetica Neue"/>
                <a:cs typeface="Helvetica Neue"/>
              </a:defRPr>
            </a:lvl7pPr>
            <a:lvl8pPr algn="l">
              <a:buNone/>
              <a:defRPr sz="1425" b="0">
                <a:solidFill>
                  <a:srgbClr val="98989F"/>
                </a:solidFill>
                <a:latin typeface="Helvetica Neue"/>
                <a:ea typeface="Helvetica Neue"/>
                <a:cs typeface="Helvetica Neue"/>
              </a:defRPr>
            </a:lvl8pPr>
            <a:lvl9pPr algn="l">
              <a:buNone/>
              <a:defRPr sz="1425" b="0">
                <a:solidFill>
                  <a:srgbClr val="98989F"/>
                </a:solidFill>
                <a:latin typeface="Helvetica Neue"/>
                <a:ea typeface="Helvetica Neue"/>
                <a:cs typeface="Helvetica Neue"/>
              </a:defRPr>
            </a:lvl9pPr>
          </a:lstStyle>
          <a:p xmlns:a="http://schemas.openxmlformats.org/drawingml/2006/main">
            <a:pPr algn="l">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text-1">
            <a:extLst xmlns:a="http://schemas.openxmlformats.org/drawingml/2006/main">
              <a:ext uri="{FF2B5EF4-FFF2-40B4-BE49-F238E27FC236}">
                <a16:creationId xmlns:a16="http://schemas.microsoft.com/office/drawing/2014/main" id="{46D075A3-68FA-47E2-8129-547AAC41699E}"/>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2BAA4881-848B-4197-B89D-BABA73E71CB9}"/>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prstDash val="solid"/>
          </a:ln>
        </p:spPr>
      </p:sp>
      <p:sp>
        <p:nvSpPr>
          <p:cNvPr id="4" name="text-3">
            <a:extLst xmlns:a="http://schemas.openxmlformats.org/drawingml/2006/main">
              <a:ext uri="{FF2B5EF4-FFF2-40B4-BE49-F238E27FC236}">
                <a16:creationId xmlns:a16="http://schemas.microsoft.com/office/drawing/2014/main" id="{E58BA1C5-7867-49CB-ACB8-3208109ED995}"/>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5F5F7"/>
                </a:solidFill>
                <a:latin typeface="Helvetica Neue"/>
                <a:ea typeface="Helvetica Neue"/>
                <a:cs typeface="Helvetica Neue"/>
              </a:defRPr>
            </a:defPPr>
            <a:lvl1pPr algn="l">
              <a:buNone/>
              <a:defRPr sz="3450" b="1">
                <a:solidFill>
                  <a:srgbClr val="F5F5F7"/>
                </a:solidFill>
                <a:latin typeface="Helvetica Neue"/>
                <a:ea typeface="Helvetica Neue"/>
                <a:cs typeface="Helvetica Neue"/>
              </a:defRPr>
            </a:lvl1pPr>
            <a:lvl2pPr algn="l">
              <a:buNone/>
              <a:defRPr sz="3450" b="1">
                <a:solidFill>
                  <a:srgbClr val="F5F5F7"/>
                </a:solidFill>
                <a:latin typeface="Helvetica Neue"/>
                <a:ea typeface="Helvetica Neue"/>
                <a:cs typeface="Helvetica Neue"/>
              </a:defRPr>
            </a:lvl2pPr>
            <a:lvl3pPr algn="l">
              <a:buNone/>
              <a:defRPr sz="3450" b="1">
                <a:solidFill>
                  <a:srgbClr val="F5F5F7"/>
                </a:solidFill>
                <a:latin typeface="Helvetica Neue"/>
                <a:ea typeface="Helvetica Neue"/>
                <a:cs typeface="Helvetica Neue"/>
              </a:defRPr>
            </a:lvl3pPr>
            <a:lvl4pPr algn="l">
              <a:buNone/>
              <a:defRPr sz="3450" b="1">
                <a:solidFill>
                  <a:srgbClr val="F5F5F7"/>
                </a:solidFill>
                <a:latin typeface="Helvetica Neue"/>
                <a:ea typeface="Helvetica Neue"/>
                <a:cs typeface="Helvetica Neue"/>
              </a:defRPr>
            </a:lvl4pPr>
            <a:lvl5pPr algn="l">
              <a:buNone/>
              <a:defRPr sz="3450" b="1">
                <a:solidFill>
                  <a:srgbClr val="F5F5F7"/>
                </a:solidFill>
                <a:latin typeface="Helvetica Neue"/>
                <a:ea typeface="Helvetica Neue"/>
                <a:cs typeface="Helvetica Neue"/>
              </a:defRPr>
            </a:lvl5pPr>
            <a:lvl6pPr algn="l">
              <a:buNone/>
              <a:defRPr sz="3450" b="1">
                <a:solidFill>
                  <a:srgbClr val="F5F5F7"/>
                </a:solidFill>
                <a:latin typeface="Helvetica Neue"/>
                <a:ea typeface="Helvetica Neue"/>
                <a:cs typeface="Helvetica Neue"/>
              </a:defRPr>
            </a:lvl6pPr>
            <a:lvl7pPr algn="l">
              <a:buNone/>
              <a:defRPr sz="3450" b="1">
                <a:solidFill>
                  <a:srgbClr val="F5F5F7"/>
                </a:solidFill>
                <a:latin typeface="Helvetica Neue"/>
                <a:ea typeface="Helvetica Neue"/>
                <a:cs typeface="Helvetica Neue"/>
              </a:defRPr>
            </a:lvl7pPr>
            <a:lvl8pPr algn="l">
              <a:buNone/>
              <a:defRPr sz="3450" b="1">
                <a:solidFill>
                  <a:srgbClr val="F5F5F7"/>
                </a:solidFill>
                <a:latin typeface="Helvetica Neue"/>
                <a:ea typeface="Helvetica Neue"/>
                <a:cs typeface="Helvetica Neue"/>
              </a:defRPr>
            </a:lvl8pPr>
            <a:lvl9pPr algn="l">
              <a:buNone/>
              <a:defRPr sz="3450" b="1">
                <a:solidFill>
                  <a:srgbClr val="F5F5F7"/>
                </a:solidFill>
                <a:latin typeface="Helvetica Neue"/>
                <a:ea typeface="Helvetica Neue"/>
                <a:cs typeface="Helvetica Neue"/>
              </a:defRPr>
            </a:lvl9pPr>
          </a:lstStyle>
          <a:p xmlns:a="http://schemas.openxmlformats.org/drawingml/2006/main">
            <a:pPr algn="l">
              <a:buNone/>
              <a:defRPr sz="3450" b="1">
                <a:solidFill>
                  <a:srgbClr val="F5F5F7"/>
                </a:solidFill>
                <a:latin typeface="Helvetica Neue"/>
                <a:ea typeface="Helvetica Neue"/>
                <a:cs typeface="Helvetica Neue"/>
              </a:defRPr>
            </a:pPr>
            <a:r>
              <a:rPr sz="3450" b="1">
                <a:solidFill>
                  <a:srgbClr val="F5F5F7"/>
                </a:solidFill>
                <a:latin typeface="Helvetica Neue"/>
                <a:ea typeface="Helvetica Neue"/>
                <a:cs typeface="Helvetica Neue"/>
              </a:rPr>
              <a:t/>
            </a:r>
          </a:p>
        </p:txBody>
      </p:sp>
      <p:sp>
        <p:nvSpPr>
          <p:cNvPr id="5" name="text-4">
            <a:extLst xmlns:a="http://schemas.openxmlformats.org/drawingml/2006/main">
              <a:ext uri="{FF2B5EF4-FFF2-40B4-BE49-F238E27FC236}">
                <a16:creationId xmlns:a16="http://schemas.microsoft.com/office/drawing/2014/main" id="{4BCF8FEF-5A9A-432F-8DE4-449444FE45AC}"/>
              </a:ext>
            </a:extLst>
          </p:cNvPr>
          <p:cNvSpPr>
            <a:spLocks xmlns:a="http://schemas.openxmlformats.org/drawingml/2006/main" noGrp="1"/>
          </p:cNvSpPr>
          <p:nvPr/>
        </p:nvSpPr>
        <p:spPr>
          <a:xfrm xmlns:a="http://schemas.openxmlformats.org/drawingml/2006/main">
            <a:off x="685800" y="1685925"/>
            <a:ext cx="1082040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050" b="1">
                <a:solidFill>
                  <a:srgbClr val="F5F5F7"/>
                </a:solidFill>
                <a:latin typeface="Helvetica Neue"/>
                <a:ea typeface="Helvetica Neue"/>
                <a:cs typeface="Helvetica Neue"/>
              </a:defRPr>
            </a:defPPr>
            <a:lvl1pPr algn="l">
              <a:buNone/>
              <a:defRPr sz="7050" b="1">
                <a:solidFill>
                  <a:srgbClr val="F5F5F7"/>
                </a:solidFill>
                <a:latin typeface="Helvetica Neue"/>
                <a:ea typeface="Helvetica Neue"/>
                <a:cs typeface="Helvetica Neue"/>
              </a:defRPr>
            </a:lvl1pPr>
            <a:lvl2pPr algn="l">
              <a:buNone/>
              <a:defRPr sz="7050" b="1">
                <a:solidFill>
                  <a:srgbClr val="F5F5F7"/>
                </a:solidFill>
                <a:latin typeface="Helvetica Neue"/>
                <a:ea typeface="Helvetica Neue"/>
                <a:cs typeface="Helvetica Neue"/>
              </a:defRPr>
            </a:lvl2pPr>
            <a:lvl3pPr algn="l">
              <a:buNone/>
              <a:defRPr sz="7050" b="1">
                <a:solidFill>
                  <a:srgbClr val="F5F5F7"/>
                </a:solidFill>
                <a:latin typeface="Helvetica Neue"/>
                <a:ea typeface="Helvetica Neue"/>
                <a:cs typeface="Helvetica Neue"/>
              </a:defRPr>
            </a:lvl3pPr>
            <a:lvl4pPr algn="l">
              <a:buNone/>
              <a:defRPr sz="7050" b="1">
                <a:solidFill>
                  <a:srgbClr val="F5F5F7"/>
                </a:solidFill>
                <a:latin typeface="Helvetica Neue"/>
                <a:ea typeface="Helvetica Neue"/>
                <a:cs typeface="Helvetica Neue"/>
              </a:defRPr>
            </a:lvl4pPr>
            <a:lvl5pPr algn="l">
              <a:buNone/>
              <a:defRPr sz="7050" b="1">
                <a:solidFill>
                  <a:srgbClr val="F5F5F7"/>
                </a:solidFill>
                <a:latin typeface="Helvetica Neue"/>
                <a:ea typeface="Helvetica Neue"/>
                <a:cs typeface="Helvetica Neue"/>
              </a:defRPr>
            </a:lvl5pPr>
            <a:lvl6pPr algn="l">
              <a:buNone/>
              <a:defRPr sz="7050" b="1">
                <a:solidFill>
                  <a:srgbClr val="F5F5F7"/>
                </a:solidFill>
                <a:latin typeface="Helvetica Neue"/>
                <a:ea typeface="Helvetica Neue"/>
                <a:cs typeface="Helvetica Neue"/>
              </a:defRPr>
            </a:lvl6pPr>
            <a:lvl7pPr algn="l">
              <a:buNone/>
              <a:defRPr sz="7050" b="1">
                <a:solidFill>
                  <a:srgbClr val="F5F5F7"/>
                </a:solidFill>
                <a:latin typeface="Helvetica Neue"/>
                <a:ea typeface="Helvetica Neue"/>
                <a:cs typeface="Helvetica Neue"/>
              </a:defRPr>
            </a:lvl7pPr>
            <a:lvl8pPr algn="l">
              <a:buNone/>
              <a:defRPr sz="7050" b="1">
                <a:solidFill>
                  <a:srgbClr val="F5F5F7"/>
                </a:solidFill>
                <a:latin typeface="Helvetica Neue"/>
                <a:ea typeface="Helvetica Neue"/>
                <a:cs typeface="Helvetica Neue"/>
              </a:defRPr>
            </a:lvl8pPr>
            <a:lvl9pPr algn="l">
              <a:buNone/>
              <a:defRPr sz="7050" b="1">
                <a:solidFill>
                  <a:srgbClr val="F5F5F7"/>
                </a:solidFill>
                <a:latin typeface="Helvetica Neue"/>
                <a:ea typeface="Helvetica Neue"/>
                <a:cs typeface="Helvetica Neue"/>
              </a:defRPr>
            </a:lvl9pPr>
          </a:lstStyle>
          <a:p xmlns:a="http://schemas.openxmlformats.org/drawingml/2006/main">
            <a:pPr algn="l">
              <a:buNone/>
              <a:defRPr sz="7050" b="1">
                <a:solidFill>
                  <a:srgbClr val="F5F5F7"/>
                </a:solidFill>
                <a:latin typeface="Helvetica Neue"/>
                <a:ea typeface="Helvetica Neue"/>
                <a:cs typeface="Helvetica Neue"/>
              </a:defRPr>
            </a:pPr>
            <a:r>
              <a:rPr sz="7050" b="1">
                <a:solidFill>
                  <a:srgbClr val="F5F5F7"/>
                </a:solidFill>
                <a:latin typeface="Helvetica Neue"/>
                <a:ea typeface="Helvetica Neue"/>
                <a:cs typeface="Helvetica Neue"/>
              </a:rPr>
              <a:t>Введение</a:t>
            </a:r>
          </a:p>
          <a:p xmlns:a="http://schemas.openxmlformats.org/drawingml/2006/main">
            <a:pPr algn="l">
              <a:buNone/>
              <a:defRPr sz="7050" b="1">
                <a:solidFill>
                  <a:srgbClr val="F5F5F7"/>
                </a:solidFill>
                <a:latin typeface="Helvetica Neue"/>
                <a:ea typeface="Helvetica Neue"/>
                <a:cs typeface="Helvetica Neue"/>
              </a:defRPr>
            </a:pPr>
            <a:r>
              <a:rPr sz="7050" b="1">
                <a:solidFill>
                  <a:srgbClr val="F5F5F7"/>
                </a:solidFill>
                <a:latin typeface="Helvetica Neue"/>
                <a:ea typeface="Helvetica Neue"/>
                <a:cs typeface="Helvetica Neue"/>
              </a:rPr>
              <a:t>в NLP</a:t>
            </a:r>
          </a:p>
        </p:txBody>
      </p:sp>
      <p:sp>
        <p:nvSpPr>
          <p:cNvPr id="6" name="text-5">
            <a:extLst xmlns:a="http://schemas.openxmlformats.org/drawingml/2006/main">
              <a:ext uri="{FF2B5EF4-FFF2-40B4-BE49-F238E27FC236}">
                <a16:creationId xmlns:a16="http://schemas.microsoft.com/office/drawing/2014/main" id="{BBE66A9F-B6F0-4322-83E2-0F048CD3A759}"/>
              </a:ext>
            </a:extLst>
          </p:cNvPr>
          <p:cNvSpPr>
            <a:spLocks xmlns:a="http://schemas.openxmlformats.org/drawingml/2006/main" noGrp="1"/>
          </p:cNvSpPr>
          <p:nvPr/>
        </p:nvSpPr>
        <p:spPr>
          <a:xfrm xmlns:a="http://schemas.openxmlformats.org/drawingml/2006/main">
            <a:off x="723900" y="412432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98989F"/>
                </a:solidFill>
                <a:latin typeface="Helvetica Neue"/>
                <a:ea typeface="Helvetica Neue"/>
                <a:cs typeface="Helvetica Neue"/>
              </a:defRPr>
            </a:defPPr>
            <a:lvl1pPr algn="l">
              <a:buNone/>
              <a:defRPr sz="2400" b="0">
                <a:solidFill>
                  <a:srgbClr val="98989F"/>
                </a:solidFill>
                <a:latin typeface="Helvetica Neue"/>
                <a:ea typeface="Helvetica Neue"/>
                <a:cs typeface="Helvetica Neue"/>
              </a:defRPr>
            </a:lvl1pPr>
            <a:lvl2pPr algn="l">
              <a:buNone/>
              <a:defRPr sz="2400" b="0">
                <a:solidFill>
                  <a:srgbClr val="98989F"/>
                </a:solidFill>
                <a:latin typeface="Helvetica Neue"/>
                <a:ea typeface="Helvetica Neue"/>
                <a:cs typeface="Helvetica Neue"/>
              </a:defRPr>
            </a:lvl2pPr>
            <a:lvl3pPr algn="l">
              <a:buNone/>
              <a:defRPr sz="2400" b="0">
                <a:solidFill>
                  <a:srgbClr val="98989F"/>
                </a:solidFill>
                <a:latin typeface="Helvetica Neue"/>
                <a:ea typeface="Helvetica Neue"/>
                <a:cs typeface="Helvetica Neue"/>
              </a:defRPr>
            </a:lvl3pPr>
            <a:lvl4pPr algn="l">
              <a:buNone/>
              <a:defRPr sz="2400" b="0">
                <a:solidFill>
                  <a:srgbClr val="98989F"/>
                </a:solidFill>
                <a:latin typeface="Helvetica Neue"/>
                <a:ea typeface="Helvetica Neue"/>
                <a:cs typeface="Helvetica Neue"/>
              </a:defRPr>
            </a:lvl4pPr>
            <a:lvl5pPr algn="l">
              <a:buNone/>
              <a:defRPr sz="2400" b="0">
                <a:solidFill>
                  <a:srgbClr val="98989F"/>
                </a:solidFill>
                <a:latin typeface="Helvetica Neue"/>
                <a:ea typeface="Helvetica Neue"/>
                <a:cs typeface="Helvetica Neue"/>
              </a:defRPr>
            </a:lvl5pPr>
            <a:lvl6pPr algn="l">
              <a:buNone/>
              <a:defRPr sz="2400" b="0">
                <a:solidFill>
                  <a:srgbClr val="98989F"/>
                </a:solidFill>
                <a:latin typeface="Helvetica Neue"/>
                <a:ea typeface="Helvetica Neue"/>
                <a:cs typeface="Helvetica Neue"/>
              </a:defRPr>
            </a:lvl6pPr>
            <a:lvl7pPr algn="l">
              <a:buNone/>
              <a:defRPr sz="2400" b="0">
                <a:solidFill>
                  <a:srgbClr val="98989F"/>
                </a:solidFill>
                <a:latin typeface="Helvetica Neue"/>
                <a:ea typeface="Helvetica Neue"/>
                <a:cs typeface="Helvetica Neue"/>
              </a:defRPr>
            </a:lvl7pPr>
            <a:lvl8pPr algn="l">
              <a:buNone/>
              <a:defRPr sz="2400" b="0">
                <a:solidFill>
                  <a:srgbClr val="98989F"/>
                </a:solidFill>
                <a:latin typeface="Helvetica Neue"/>
                <a:ea typeface="Helvetica Neue"/>
                <a:cs typeface="Helvetica Neue"/>
              </a:defRPr>
            </a:lvl8pPr>
            <a:lvl9pPr algn="l">
              <a:buNone/>
              <a:defRPr sz="2400" b="0">
                <a:solidFill>
                  <a:srgbClr val="98989F"/>
                </a:solidFill>
                <a:latin typeface="Helvetica Neue"/>
                <a:ea typeface="Helvetica Neue"/>
                <a:cs typeface="Helvetica Neue"/>
              </a:defRPr>
            </a:lvl9pPr>
          </a:lstStyle>
          <a:p xmlns:a="http://schemas.openxmlformats.org/drawingml/2006/main">
            <a:pPr algn="l">
              <a:buNone/>
              <a:defRPr sz="2250" b="0">
                <a:solidFill>
                  <a:srgbClr val="98989F"/>
                </a:solidFill>
                <a:latin typeface="Helvetica Neue"/>
                <a:ea typeface="Helvetica Neue"/>
                <a:cs typeface="Helvetica Neue"/>
              </a:defRPr>
            </a:pPr>
            <a:r>
              <a:rPr sz="2250" b="0">
                <a:solidFill>
                  <a:srgbClr val="98989F"/>
                </a:solidFill>
                <a:latin typeface="Helvetica Neue"/>
                <a:ea typeface="Helvetica Neue"/>
                <a:cs typeface="Helvetica Neue"/>
              </a:rPr>
              <a:t>NLP tasks, preprocessing, text representations,</a:t>
            </a:r>
          </a:p>
          <a:p xmlns:a="http://schemas.openxmlformats.org/drawingml/2006/main">
            <a:pPr algn="l">
              <a:buNone/>
              <a:defRPr sz="2250" b="0">
                <a:solidFill>
                  <a:srgbClr val="98989F"/>
                </a:solidFill>
                <a:latin typeface="Helvetica Neue"/>
                <a:ea typeface="Helvetica Neue"/>
                <a:cs typeface="Helvetica Neue"/>
              </a:defRPr>
            </a:pPr>
            <a:r>
              <a:rPr sz="2250" b="0">
                <a:solidFill>
                  <a:srgbClr val="98989F"/>
                </a:solidFill>
                <a:latin typeface="Helvetica Neue"/>
                <a:ea typeface="Helvetica Neue"/>
                <a:cs typeface="Helvetica Neue"/>
              </a:rPr>
              <a:t>classical classifiers и RNN</a:t>
            </a:r>
          </a:p>
        </p:txBody>
      </p:sp>
      <p:sp>
        <p:nvSpPr>
          <p:cNvPr id="7" name="">
            <a:extLst xmlns:a="http://schemas.openxmlformats.org/drawingml/2006/main">
              <a:ext uri="{FF2B5EF4-FFF2-40B4-BE49-F238E27FC236}">
                <a16:creationId xmlns:a16="http://schemas.microsoft.com/office/drawing/2014/main" id="{CC808E86-0DDD-441F-9CFF-EAA294910DAE}"/>
              </a:ext>
            </a:extLst>
          </p:cNvPr>
          <p:cNvSpPr>
            <a:spLocks xmlns:a="http://schemas.openxmlformats.org/drawingml/2006/main" noGrp="1"/>
          </p:cNvSpPr>
          <p:nvPr/>
        </p:nvSpPr>
        <p:spPr>
          <a:xfrm xmlns:a="http://schemas.openxmlformats.org/drawingml/2006/main">
            <a:off x="685800" y="541020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prstDash val="solid"/>
          </a:ln>
        </p:spPr>
      </p:sp>
      <p:sp>
        <p:nvSpPr>
          <p:cNvPr id="8" name="text-7">
            <a:extLst xmlns:a="http://schemas.openxmlformats.org/drawingml/2006/main">
              <a:ext uri="{FF2B5EF4-FFF2-40B4-BE49-F238E27FC236}">
                <a16:creationId xmlns:a16="http://schemas.microsoft.com/office/drawing/2014/main" id="{8FD4D2FE-281B-40E5-AFE8-7739E86698A6}"/>
              </a:ext>
            </a:extLst>
          </p:cNvPr>
          <p:cNvSpPr>
            <a:spLocks xmlns:a="http://schemas.openxmlformats.org/drawingml/2006/main" noGrp="1"/>
          </p:cNvSpPr>
          <p:nvPr/>
        </p:nvSpPr>
        <p:spPr>
          <a:xfrm xmlns:a="http://schemas.openxmlformats.org/drawingml/2006/main">
            <a:off x="723900" y="571500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F5F5F7"/>
                </a:solidFill>
                <a:latin typeface="Helvetica Neue"/>
                <a:ea typeface="Helvetica Neue"/>
                <a:cs typeface="Helvetica Neue"/>
              </a:defRPr>
            </a:defPPr>
            <a:lvl1pPr algn="l">
              <a:buNone/>
              <a:defRPr sz="1950" b="0">
                <a:solidFill>
                  <a:srgbClr val="F5F5F7"/>
                </a:solidFill>
                <a:latin typeface="Helvetica Neue"/>
                <a:ea typeface="Helvetica Neue"/>
                <a:cs typeface="Helvetica Neue"/>
              </a:defRPr>
            </a:lvl1pPr>
            <a:lvl2pPr algn="l">
              <a:buNone/>
              <a:defRPr sz="1950" b="0">
                <a:solidFill>
                  <a:srgbClr val="F5F5F7"/>
                </a:solidFill>
                <a:latin typeface="Helvetica Neue"/>
                <a:ea typeface="Helvetica Neue"/>
                <a:cs typeface="Helvetica Neue"/>
              </a:defRPr>
            </a:lvl2pPr>
            <a:lvl3pPr algn="l">
              <a:buNone/>
              <a:defRPr sz="1950" b="0">
                <a:solidFill>
                  <a:srgbClr val="F5F5F7"/>
                </a:solidFill>
                <a:latin typeface="Helvetica Neue"/>
                <a:ea typeface="Helvetica Neue"/>
                <a:cs typeface="Helvetica Neue"/>
              </a:defRPr>
            </a:lvl3pPr>
            <a:lvl4pPr algn="l">
              <a:buNone/>
              <a:defRPr sz="1950" b="0">
                <a:solidFill>
                  <a:srgbClr val="F5F5F7"/>
                </a:solidFill>
                <a:latin typeface="Helvetica Neue"/>
                <a:ea typeface="Helvetica Neue"/>
                <a:cs typeface="Helvetica Neue"/>
              </a:defRPr>
            </a:lvl4pPr>
            <a:lvl5pPr algn="l">
              <a:buNone/>
              <a:defRPr sz="1950" b="0">
                <a:solidFill>
                  <a:srgbClr val="F5F5F7"/>
                </a:solidFill>
                <a:latin typeface="Helvetica Neue"/>
                <a:ea typeface="Helvetica Neue"/>
                <a:cs typeface="Helvetica Neue"/>
              </a:defRPr>
            </a:lvl5pPr>
            <a:lvl6pPr algn="l">
              <a:buNone/>
              <a:defRPr sz="1950" b="0">
                <a:solidFill>
                  <a:srgbClr val="F5F5F7"/>
                </a:solidFill>
                <a:latin typeface="Helvetica Neue"/>
                <a:ea typeface="Helvetica Neue"/>
                <a:cs typeface="Helvetica Neue"/>
              </a:defRPr>
            </a:lvl6pPr>
            <a:lvl7pPr algn="l">
              <a:buNone/>
              <a:defRPr sz="1950" b="0">
                <a:solidFill>
                  <a:srgbClr val="F5F5F7"/>
                </a:solidFill>
                <a:latin typeface="Helvetica Neue"/>
                <a:ea typeface="Helvetica Neue"/>
                <a:cs typeface="Helvetica Neue"/>
              </a:defRPr>
            </a:lvl7pPr>
            <a:lvl8pPr algn="l">
              <a:buNone/>
              <a:defRPr sz="1950" b="0">
                <a:solidFill>
                  <a:srgbClr val="F5F5F7"/>
                </a:solidFill>
                <a:latin typeface="Helvetica Neue"/>
                <a:ea typeface="Helvetica Neue"/>
                <a:cs typeface="Helvetica Neue"/>
              </a:defRPr>
            </a:lvl8pPr>
            <a:lvl9pPr algn="l">
              <a:buNone/>
              <a:defRPr sz="1950" b="0">
                <a:solidFill>
                  <a:srgbClr val="F5F5F7"/>
                </a:solidFill>
                <a:latin typeface="Helvetica Neue"/>
                <a:ea typeface="Helvetica Neue"/>
                <a:cs typeface="Helvetica Neue"/>
              </a:defRPr>
            </a:lvl9pPr>
          </a:lstStyle>
          <a:p xmlns:a="http://schemas.openxmlformats.org/drawingml/2006/main">
            <a:pPr algn="l">
              <a:buNone/>
              <a:defRPr sz="1950" b="0">
                <a:solidFill>
                  <a:srgbClr val="F5F5F7"/>
                </a:solidFill>
                <a:latin typeface="Helvetica Neue"/>
                <a:ea typeface="Helvetica Neue"/>
                <a:cs typeface="Helvetica Neue"/>
              </a:defRPr>
            </a:pPr>
            <a:r>
              <a:rPr sz="1950" b="0">
                <a:solidFill>
                  <a:srgbClr val="F5F5F7"/>
                </a:solidFill>
                <a:latin typeface="Helvetica Neue"/>
                <a:ea typeface="Helvetica Neue"/>
                <a:cs typeface="Helvetica Neue"/>
              </a:rPr>
              <a:t>Алан-Барсаг Газзаев</a:t>
            </a:r>
          </a:p>
        </p:txBody>
      </p:sp>
      <p:sp>
        <p:nvSpPr>
          <p:cNvPr id="9" name="text-8">
            <a:extLst xmlns:a="http://schemas.openxmlformats.org/drawingml/2006/main">
              <a:ext uri="{FF2B5EF4-FFF2-40B4-BE49-F238E27FC236}">
                <a16:creationId xmlns:a16="http://schemas.microsoft.com/office/drawing/2014/main" id="{5E531DDA-7BE0-41D3-ACD4-06F6A937C9B4}"/>
              </a:ext>
            </a:extLst>
          </p:cNvPr>
          <p:cNvSpPr>
            <a:spLocks xmlns:a="http://schemas.openxmlformats.org/drawingml/2006/main" noGrp="1"/>
          </p:cNvSpPr>
          <p:nvPr/>
        </p:nvSpPr>
        <p:spPr>
          <a:xfrm xmlns:a="http://schemas.openxmlformats.org/drawingml/2006/main">
            <a:off x="6000750" y="5753100"/>
            <a:ext cx="5505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725" b="0">
                <a:solidFill>
                  <a:srgbClr val="98989F"/>
                </a:solidFill>
                <a:latin typeface="Helvetica Neue"/>
                <a:ea typeface="Helvetica Neue"/>
                <a:cs typeface="Helvetica Neue"/>
              </a:defRPr>
            </a:defPPr>
            <a:lvl1pPr algn="r">
              <a:buNone/>
              <a:defRPr sz="1725" b="0">
                <a:solidFill>
                  <a:srgbClr val="98989F"/>
                </a:solidFill>
                <a:latin typeface="Helvetica Neue"/>
                <a:ea typeface="Helvetica Neue"/>
                <a:cs typeface="Helvetica Neue"/>
              </a:defRPr>
            </a:lvl1pPr>
            <a:lvl2pPr algn="r">
              <a:buNone/>
              <a:defRPr sz="1725" b="0">
                <a:solidFill>
                  <a:srgbClr val="98989F"/>
                </a:solidFill>
                <a:latin typeface="Helvetica Neue"/>
                <a:ea typeface="Helvetica Neue"/>
                <a:cs typeface="Helvetica Neue"/>
              </a:defRPr>
            </a:lvl2pPr>
            <a:lvl3pPr algn="r">
              <a:buNone/>
              <a:defRPr sz="1725" b="0">
                <a:solidFill>
                  <a:srgbClr val="98989F"/>
                </a:solidFill>
                <a:latin typeface="Helvetica Neue"/>
                <a:ea typeface="Helvetica Neue"/>
                <a:cs typeface="Helvetica Neue"/>
              </a:defRPr>
            </a:lvl3pPr>
            <a:lvl4pPr algn="r">
              <a:buNone/>
              <a:defRPr sz="1725" b="0">
                <a:solidFill>
                  <a:srgbClr val="98989F"/>
                </a:solidFill>
                <a:latin typeface="Helvetica Neue"/>
                <a:ea typeface="Helvetica Neue"/>
                <a:cs typeface="Helvetica Neue"/>
              </a:defRPr>
            </a:lvl4pPr>
            <a:lvl5pPr algn="r">
              <a:buNone/>
              <a:defRPr sz="1725" b="0">
                <a:solidFill>
                  <a:srgbClr val="98989F"/>
                </a:solidFill>
                <a:latin typeface="Helvetica Neue"/>
                <a:ea typeface="Helvetica Neue"/>
                <a:cs typeface="Helvetica Neue"/>
              </a:defRPr>
            </a:lvl5pPr>
            <a:lvl6pPr algn="r">
              <a:buNone/>
              <a:defRPr sz="1725" b="0">
                <a:solidFill>
                  <a:srgbClr val="98989F"/>
                </a:solidFill>
                <a:latin typeface="Helvetica Neue"/>
                <a:ea typeface="Helvetica Neue"/>
                <a:cs typeface="Helvetica Neue"/>
              </a:defRPr>
            </a:lvl6pPr>
            <a:lvl7pPr algn="r">
              <a:buNone/>
              <a:defRPr sz="1725" b="0">
                <a:solidFill>
                  <a:srgbClr val="98989F"/>
                </a:solidFill>
                <a:latin typeface="Helvetica Neue"/>
                <a:ea typeface="Helvetica Neue"/>
                <a:cs typeface="Helvetica Neue"/>
              </a:defRPr>
            </a:lvl7pPr>
            <a:lvl8pPr algn="r">
              <a:buNone/>
              <a:defRPr sz="1725" b="0">
                <a:solidFill>
                  <a:srgbClr val="98989F"/>
                </a:solidFill>
                <a:latin typeface="Helvetica Neue"/>
                <a:ea typeface="Helvetica Neue"/>
                <a:cs typeface="Helvetica Neue"/>
              </a:defRPr>
            </a:lvl8pPr>
            <a:lvl9pPr algn="r">
              <a:buNone/>
              <a:defRPr sz="1725" b="0">
                <a:solidFill>
                  <a:srgbClr val="98989F"/>
                </a:solidFill>
                <a:latin typeface="Helvetica Neue"/>
                <a:ea typeface="Helvetica Neue"/>
                <a:cs typeface="Helvetica Neue"/>
              </a:defRPr>
            </a:lvl9pPr>
          </a:lstStyle>
          <a:p xmlns:a="http://schemas.openxmlformats.org/drawingml/2006/main">
            <a:pPr algn="r">
              <a:buNone/>
              <a:defRPr sz="1725" b="0">
                <a:solidFill>
                  <a:srgbClr val="98989F"/>
                </a:solidFill>
                <a:latin typeface="Helvetica Neue"/>
                <a:ea typeface="Helvetica Neue"/>
                <a:cs typeface="Helvetica Neue"/>
              </a:defRPr>
            </a:pPr>
            <a:r>
              <a:rPr sz="1725" b="0">
                <a:solidFill>
                  <a:srgbClr val="98989F"/>
                </a:solidFill>
                <a:latin typeface="Helvetica Neue"/>
                <a:ea typeface="Helvetica Neue"/>
                <a:cs typeface="Helvetica Neue"/>
              </a:rPr>
              <a:t>24 октября 2026     10:10–11:40</a:t>
            </a:r>
          </a:p>
        </p:txBody>
      </p:sp>
    </p:spTree>
    <p:extLst>
      <p:ext uri="{BB962C8B-B14F-4D97-AF65-F5344CB8AC3E}">
        <p14:creationId xmlns:p14="http://schemas.microsoft.com/office/powerpoint/2010/main" val="65582184"/>
      </p:ext>
    </p:extLst>
  </p:cSld>
</p:sld>
</file>

<file path=ppt/slides/slide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text-0">
            <a:extLst xmlns:a="http://schemas.openxmlformats.org/drawingml/2006/main">
              <a:ext uri="{FF2B5EF4-FFF2-40B4-BE49-F238E27FC236}">
                <a16:creationId xmlns:a16="http://schemas.microsoft.com/office/drawing/2014/main" id="{25A2100B-D54A-450A-9C78-F27AAFCF1384}"/>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98989F"/>
                </a:solidFill>
                <a:latin typeface="Helvetica Neue"/>
                <a:ea typeface="Helvetica Neue"/>
                <a:cs typeface="Helvetica Neue"/>
              </a:defRPr>
            </a:defPPr>
            <a:lvl1pPr algn="l">
              <a:buNone/>
              <a:defRPr sz="1425" b="0">
                <a:solidFill>
                  <a:srgbClr val="98989F"/>
                </a:solidFill>
                <a:latin typeface="Helvetica Neue"/>
                <a:ea typeface="Helvetica Neue"/>
                <a:cs typeface="Helvetica Neue"/>
              </a:defRPr>
            </a:lvl1pPr>
            <a:lvl2pPr algn="l">
              <a:buNone/>
              <a:defRPr sz="1425" b="0">
                <a:solidFill>
                  <a:srgbClr val="98989F"/>
                </a:solidFill>
                <a:latin typeface="Helvetica Neue"/>
                <a:ea typeface="Helvetica Neue"/>
                <a:cs typeface="Helvetica Neue"/>
              </a:defRPr>
            </a:lvl2pPr>
            <a:lvl3pPr algn="l">
              <a:buNone/>
              <a:defRPr sz="1425" b="0">
                <a:solidFill>
                  <a:srgbClr val="98989F"/>
                </a:solidFill>
                <a:latin typeface="Helvetica Neue"/>
                <a:ea typeface="Helvetica Neue"/>
                <a:cs typeface="Helvetica Neue"/>
              </a:defRPr>
            </a:lvl3pPr>
            <a:lvl4pPr algn="l">
              <a:buNone/>
              <a:defRPr sz="1425" b="0">
                <a:solidFill>
                  <a:srgbClr val="98989F"/>
                </a:solidFill>
                <a:latin typeface="Helvetica Neue"/>
                <a:ea typeface="Helvetica Neue"/>
                <a:cs typeface="Helvetica Neue"/>
              </a:defRPr>
            </a:lvl4pPr>
            <a:lvl5pPr algn="l">
              <a:buNone/>
              <a:defRPr sz="1425" b="0">
                <a:solidFill>
                  <a:srgbClr val="98989F"/>
                </a:solidFill>
                <a:latin typeface="Helvetica Neue"/>
                <a:ea typeface="Helvetica Neue"/>
                <a:cs typeface="Helvetica Neue"/>
              </a:defRPr>
            </a:lvl5pPr>
            <a:lvl6pPr algn="l">
              <a:buNone/>
              <a:defRPr sz="1425" b="0">
                <a:solidFill>
                  <a:srgbClr val="98989F"/>
                </a:solidFill>
                <a:latin typeface="Helvetica Neue"/>
                <a:ea typeface="Helvetica Neue"/>
                <a:cs typeface="Helvetica Neue"/>
              </a:defRPr>
            </a:lvl6pPr>
            <a:lvl7pPr algn="l">
              <a:buNone/>
              <a:defRPr sz="1425" b="0">
                <a:solidFill>
                  <a:srgbClr val="98989F"/>
                </a:solidFill>
                <a:latin typeface="Helvetica Neue"/>
                <a:ea typeface="Helvetica Neue"/>
                <a:cs typeface="Helvetica Neue"/>
              </a:defRPr>
            </a:lvl7pPr>
            <a:lvl8pPr algn="l">
              <a:buNone/>
              <a:defRPr sz="1425" b="0">
                <a:solidFill>
                  <a:srgbClr val="98989F"/>
                </a:solidFill>
                <a:latin typeface="Helvetica Neue"/>
                <a:ea typeface="Helvetica Neue"/>
                <a:cs typeface="Helvetica Neue"/>
              </a:defRPr>
            </a:lvl8pPr>
            <a:lvl9pPr algn="l">
              <a:buNone/>
              <a:defRPr sz="1425" b="0">
                <a:solidFill>
                  <a:srgbClr val="98989F"/>
                </a:solidFill>
                <a:latin typeface="Helvetica Neue"/>
                <a:ea typeface="Helvetica Neue"/>
                <a:cs typeface="Helvetica Neue"/>
              </a:defRPr>
            </a:lvl9pPr>
          </a:lstStyle>
          <a:p xmlns:a="http://schemas.openxmlformats.org/drawingml/2006/main">
            <a:pPr algn="l">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text-1">
            <a:extLst xmlns:a="http://schemas.openxmlformats.org/drawingml/2006/main">
              <a:ext uri="{FF2B5EF4-FFF2-40B4-BE49-F238E27FC236}">
                <a16:creationId xmlns:a16="http://schemas.microsoft.com/office/drawing/2014/main" id="{B3396D10-F9C8-44CA-86B6-F4D426CD864E}"/>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06B73750-2196-488E-ACED-C9DC55B36AC8}"/>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prstDash val="solid"/>
          </a:ln>
        </p:spPr>
      </p:sp>
      <p:sp>
        <p:nvSpPr>
          <p:cNvPr id="4" name="text-3">
            <a:extLst xmlns:a="http://schemas.openxmlformats.org/drawingml/2006/main">
              <a:ext uri="{FF2B5EF4-FFF2-40B4-BE49-F238E27FC236}">
                <a16:creationId xmlns:a16="http://schemas.microsoft.com/office/drawing/2014/main" id="{FFC97007-C7F7-45B4-A82C-2633BC6A95EE}"/>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5F7"/>
                </a:solidFill>
                <a:latin typeface="Helvetica Neue"/>
                <a:ea typeface="Helvetica Neue"/>
                <a:cs typeface="Helvetica Neue"/>
              </a:defRPr>
            </a:defPPr>
            <a:lvl1pPr algn="l">
              <a:buNone/>
              <a:defRPr sz="3450" b="1">
                <a:solidFill>
                  <a:srgbClr val="F5F5F7"/>
                </a:solidFill>
                <a:latin typeface="Helvetica Neue"/>
                <a:ea typeface="Helvetica Neue"/>
                <a:cs typeface="Helvetica Neue"/>
              </a:defRPr>
            </a:lvl1pPr>
            <a:lvl2pPr algn="l">
              <a:buNone/>
              <a:defRPr sz="3450" b="1">
                <a:solidFill>
                  <a:srgbClr val="F5F5F7"/>
                </a:solidFill>
                <a:latin typeface="Helvetica Neue"/>
                <a:ea typeface="Helvetica Neue"/>
                <a:cs typeface="Helvetica Neue"/>
              </a:defRPr>
            </a:lvl2pPr>
            <a:lvl3pPr algn="l">
              <a:buNone/>
              <a:defRPr sz="3450" b="1">
                <a:solidFill>
                  <a:srgbClr val="F5F5F7"/>
                </a:solidFill>
                <a:latin typeface="Helvetica Neue"/>
                <a:ea typeface="Helvetica Neue"/>
                <a:cs typeface="Helvetica Neue"/>
              </a:defRPr>
            </a:lvl3pPr>
            <a:lvl4pPr algn="l">
              <a:buNone/>
              <a:defRPr sz="3450" b="1">
                <a:solidFill>
                  <a:srgbClr val="F5F5F7"/>
                </a:solidFill>
                <a:latin typeface="Helvetica Neue"/>
                <a:ea typeface="Helvetica Neue"/>
                <a:cs typeface="Helvetica Neue"/>
              </a:defRPr>
            </a:lvl4pPr>
            <a:lvl5pPr algn="l">
              <a:buNone/>
              <a:defRPr sz="3450" b="1">
                <a:solidFill>
                  <a:srgbClr val="F5F5F7"/>
                </a:solidFill>
                <a:latin typeface="Helvetica Neue"/>
                <a:ea typeface="Helvetica Neue"/>
                <a:cs typeface="Helvetica Neue"/>
              </a:defRPr>
            </a:lvl5pPr>
            <a:lvl6pPr algn="l">
              <a:buNone/>
              <a:defRPr sz="3450" b="1">
                <a:solidFill>
                  <a:srgbClr val="F5F5F7"/>
                </a:solidFill>
                <a:latin typeface="Helvetica Neue"/>
                <a:ea typeface="Helvetica Neue"/>
                <a:cs typeface="Helvetica Neue"/>
              </a:defRPr>
            </a:lvl6pPr>
            <a:lvl7pPr algn="l">
              <a:buNone/>
              <a:defRPr sz="3450" b="1">
                <a:solidFill>
                  <a:srgbClr val="F5F5F7"/>
                </a:solidFill>
                <a:latin typeface="Helvetica Neue"/>
                <a:ea typeface="Helvetica Neue"/>
                <a:cs typeface="Helvetica Neue"/>
              </a:defRPr>
            </a:lvl7pPr>
            <a:lvl8pPr algn="l">
              <a:buNone/>
              <a:defRPr sz="3450" b="1">
                <a:solidFill>
                  <a:srgbClr val="F5F5F7"/>
                </a:solidFill>
                <a:latin typeface="Helvetica Neue"/>
                <a:ea typeface="Helvetica Neue"/>
                <a:cs typeface="Helvetica Neue"/>
              </a:defRPr>
            </a:lvl8pPr>
            <a:lvl9pPr algn="l">
              <a:buNone/>
              <a:defRPr sz="3450" b="1">
                <a:solidFill>
                  <a:srgbClr val="F5F5F7"/>
                </a:solidFill>
                <a:latin typeface="Helvetica Neue"/>
                <a:ea typeface="Helvetica Neue"/>
                <a:cs typeface="Helvetica Neue"/>
              </a:defRPr>
            </a:lvl9pPr>
          </a:lstStyle>
          <a:p xmlns:a="http://schemas.openxmlformats.org/drawingml/2006/main">
            <a:pPr algn="l">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Содержание первой лекции</a:t>
            </a:r>
          </a:p>
        </p:txBody>
      </p:sp>
      <p:sp>
        <p:nvSpPr>
          <p:cNvPr id="17" name="ysda-4">
            <a:extLst xmlns:a="http://schemas.openxmlformats.org/drawingml/2006/main">
              <a:ext uri="{FF2B5EF4-FFF2-40B4-BE49-F238E27FC236}">
                <a16:creationId xmlns:a16="http://schemas.microsoft.com/office/drawing/2014/main" id="{786CD5C9-1BD1-4B09-9409-9F1F6738E6D6}"/>
              </a:ext>
            </a:extLst>
          </p:cNvPr>
          <p:cNvSpPr>
            <a:spLocks xmlns:a="http://schemas.openxmlformats.org/drawingml/2006/main" noGrp="1"/>
          </p:cNvSpPr>
          <p:nvPr/>
        </p:nvSpPr>
        <p:spPr>
          <a:xfrm xmlns:a="http://schemas.openxmlformats.org/drawingml/2006/main">
            <a:off x="685800" y="20478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Задачи, данные и preprocessing</a:t>
            </a:r>
          </a:p>
        </p:txBody>
      </p:sp>
      <p:sp>
        <p:nvSpPr>
          <p:cNvPr id="18" name="ysda-5">
            <a:extLst xmlns:a="http://schemas.openxmlformats.org/drawingml/2006/main">
              <a:ext uri="{FF2B5EF4-FFF2-40B4-BE49-F238E27FC236}">
                <a16:creationId xmlns:a16="http://schemas.microsoft.com/office/drawing/2014/main" id="{8ED25A73-77F5-4D88-A295-9102DE8FD880}"/>
              </a:ext>
            </a:extLst>
          </p:cNvPr>
          <p:cNvSpPr>
            <a:spLocks xmlns:a="http://schemas.openxmlformats.org/drawingml/2006/main" noGrp="1"/>
          </p:cNvSpPr>
          <p:nvPr/>
        </p:nvSpPr>
        <p:spPr>
          <a:xfrm xmlns:a="http://schemas.openxmlformats.org/drawingml/2006/main">
            <a:off x="685800" y="2514600"/>
            <a:ext cx="108204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Основные задачи NLP различаются формой ответа: class label, последовательность меток, найденный документ или новый текст. После краткой истории подходов рассматриваются источники данных, annotation и разделение corpus. Затем — tokenization, normalization, lemmatization, stemming и stop words, с примерами того, как эти операции меняют доступную модели информацию.</a:t>
            </a:r>
          </a:p>
        </p:txBody>
      </p:sp>
      <p:sp>
        <p:nvSpPr>
          <p:cNvPr id="19" name="ysda-6">
            <a:extLst xmlns:a="http://schemas.openxmlformats.org/drawingml/2006/main">
              <a:ext uri="{FF2B5EF4-FFF2-40B4-BE49-F238E27FC236}">
                <a16:creationId xmlns:a16="http://schemas.microsoft.com/office/drawing/2014/main" id="{D17EC8BE-0E37-4A92-9027-EE36F6E9CCA8}"/>
              </a:ext>
            </a:extLst>
          </p:cNvPr>
          <p:cNvSpPr>
            <a:spLocks xmlns:a="http://schemas.openxmlformats.org/drawingml/2006/main" noGrp="1"/>
          </p:cNvSpPr>
          <p:nvPr/>
        </p:nvSpPr>
        <p:spPr>
          <a:xfrm xmlns:a="http://schemas.openxmlformats.org/drawingml/2006/main">
            <a:off x="685800" y="4229100"/>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Text representations, classifiers и RNN</a:t>
            </a:r>
          </a:p>
        </p:txBody>
      </p:sp>
      <p:sp>
        <p:nvSpPr>
          <p:cNvPr id="20" name="ysda-7">
            <a:extLst xmlns:a="http://schemas.openxmlformats.org/drawingml/2006/main">
              <a:ext uri="{FF2B5EF4-FFF2-40B4-BE49-F238E27FC236}">
                <a16:creationId xmlns:a16="http://schemas.microsoft.com/office/drawing/2014/main" id="{3B2F41C5-21FA-465B-AE99-04C986B88935}"/>
              </a:ext>
            </a:extLst>
          </p:cNvPr>
          <p:cNvSpPr>
            <a:spLocks xmlns:a="http://schemas.openxmlformats.org/drawingml/2006/main" noGrp="1"/>
          </p:cNvSpPr>
          <p:nvPr/>
        </p:nvSpPr>
        <p:spPr>
          <a:xfrm xmlns:a="http://schemas.openxmlformats.org/drawingml/2006/main">
            <a:off x="685800" y="4695825"/>
            <a:ext cx="10820400" cy="1914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Zipf’s law, n-grams, Bag of Words и TF-IDF вводятся как базовые понятия. Naive Bayes и Logistic Regression рассматриваются на уровне принципа работы и применения. Раздел RNN объясняет обработку последовательности без разбора внутренней архитектуры. Завершают лекцию библиотеки; реализация preprocessing и classification переносится на семинар.</a:t>
            </a:r>
          </a:p>
        </p:txBody>
      </p:sp>
    </p:spTree>
    <p:extLst>
      <p:ext uri="{BB962C8B-B14F-4D97-AF65-F5344CB8AC3E}">
        <p14:creationId xmlns:p14="http://schemas.microsoft.com/office/powerpoint/2010/main" val="1016081849"/>
      </p:ext>
    </p:extLst>
  </p:cSld>
</p:sld>
</file>

<file path=ppt/slides/slide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E2DB58BC-F0F4-4F03-A51E-6C719EDFC9B1}"/>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98989F"/>
                </a:solidFill>
                <a:latin typeface="Helvetica Neue"/>
                <a:ea typeface="Helvetica Neue"/>
                <a:cs typeface="Helvetica Neue"/>
              </a:defRPr>
            </a:defPPr>
            <a:lvl1pPr algn="l">
              <a:buNone/>
              <a:defRPr sz="1425" b="0">
                <a:solidFill>
                  <a:srgbClr val="98989F"/>
                </a:solidFill>
                <a:latin typeface="Helvetica Neue"/>
                <a:ea typeface="Helvetica Neue"/>
                <a:cs typeface="Helvetica Neue"/>
              </a:defRPr>
            </a:lvl1pPr>
            <a:lvl2pPr algn="l">
              <a:buNone/>
              <a:defRPr sz="1425" b="0">
                <a:solidFill>
                  <a:srgbClr val="98989F"/>
                </a:solidFill>
                <a:latin typeface="Helvetica Neue"/>
                <a:ea typeface="Helvetica Neue"/>
                <a:cs typeface="Helvetica Neue"/>
              </a:defRPr>
            </a:lvl2pPr>
            <a:lvl3pPr algn="l">
              <a:buNone/>
              <a:defRPr sz="1425" b="0">
                <a:solidFill>
                  <a:srgbClr val="98989F"/>
                </a:solidFill>
                <a:latin typeface="Helvetica Neue"/>
                <a:ea typeface="Helvetica Neue"/>
                <a:cs typeface="Helvetica Neue"/>
              </a:defRPr>
            </a:lvl3pPr>
            <a:lvl4pPr algn="l">
              <a:buNone/>
              <a:defRPr sz="1425" b="0">
                <a:solidFill>
                  <a:srgbClr val="98989F"/>
                </a:solidFill>
                <a:latin typeface="Helvetica Neue"/>
                <a:ea typeface="Helvetica Neue"/>
                <a:cs typeface="Helvetica Neue"/>
              </a:defRPr>
            </a:lvl4pPr>
            <a:lvl5pPr algn="l">
              <a:buNone/>
              <a:defRPr sz="1425" b="0">
                <a:solidFill>
                  <a:srgbClr val="98989F"/>
                </a:solidFill>
                <a:latin typeface="Helvetica Neue"/>
                <a:ea typeface="Helvetica Neue"/>
                <a:cs typeface="Helvetica Neue"/>
              </a:defRPr>
            </a:lvl5pPr>
            <a:lvl6pPr algn="l">
              <a:buNone/>
              <a:defRPr sz="1425" b="0">
                <a:solidFill>
                  <a:srgbClr val="98989F"/>
                </a:solidFill>
                <a:latin typeface="Helvetica Neue"/>
                <a:ea typeface="Helvetica Neue"/>
                <a:cs typeface="Helvetica Neue"/>
              </a:defRPr>
            </a:lvl6pPr>
            <a:lvl7pPr algn="l">
              <a:buNone/>
              <a:defRPr sz="1425" b="0">
                <a:solidFill>
                  <a:srgbClr val="98989F"/>
                </a:solidFill>
                <a:latin typeface="Helvetica Neue"/>
                <a:ea typeface="Helvetica Neue"/>
                <a:cs typeface="Helvetica Neue"/>
              </a:defRPr>
            </a:lvl7pPr>
            <a:lvl8pPr algn="l">
              <a:buNone/>
              <a:defRPr sz="1425" b="0">
                <a:solidFill>
                  <a:srgbClr val="98989F"/>
                </a:solidFill>
                <a:latin typeface="Helvetica Neue"/>
                <a:ea typeface="Helvetica Neue"/>
                <a:cs typeface="Helvetica Neue"/>
              </a:defRPr>
            </a:lvl8pPr>
            <a:lvl9pPr algn="l">
              <a:buNone/>
              <a:defRPr sz="1425" b="0">
                <a:solidFill>
                  <a:srgbClr val="98989F"/>
                </a:solidFill>
                <a:latin typeface="Helvetica Neue"/>
                <a:ea typeface="Helvetica Neue"/>
                <a:cs typeface="Helvetica Neue"/>
              </a:defRPr>
            </a:lvl9pPr>
          </a:lstStyle>
          <a:p xmlns:a="http://schemas.openxmlformats.org/drawingml/2006/main">
            <a:pPr algn="l">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text-1">
            <a:extLst xmlns:a="http://schemas.openxmlformats.org/drawingml/2006/main">
              <a:ext uri="{FF2B5EF4-FFF2-40B4-BE49-F238E27FC236}">
                <a16:creationId xmlns:a16="http://schemas.microsoft.com/office/drawing/2014/main" id="{6B735070-40FB-4073-84FF-111A4E99FC81}"/>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6350E573-B179-457D-9B1C-16023C061955}"/>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prstDash val="solid"/>
          </a:ln>
        </p:spPr>
      </p:sp>
      <p:sp>
        <p:nvSpPr>
          <p:cNvPr id="4" name="text-3">
            <a:extLst xmlns:a="http://schemas.openxmlformats.org/drawingml/2006/main">
              <a:ext uri="{FF2B5EF4-FFF2-40B4-BE49-F238E27FC236}">
                <a16:creationId xmlns:a16="http://schemas.microsoft.com/office/drawing/2014/main" id="{58383793-1EBB-46E5-8A87-934EA91A8AA4}"/>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5F7"/>
                </a:solidFill>
                <a:latin typeface="Helvetica Neue"/>
                <a:ea typeface="Helvetica Neue"/>
                <a:cs typeface="Helvetica Neue"/>
              </a:defRPr>
            </a:defPPr>
            <a:lvl1pPr algn="l">
              <a:buNone/>
              <a:defRPr sz="3450" b="1">
                <a:solidFill>
                  <a:srgbClr val="F5F5F7"/>
                </a:solidFill>
                <a:latin typeface="Helvetica Neue"/>
                <a:ea typeface="Helvetica Neue"/>
                <a:cs typeface="Helvetica Neue"/>
              </a:defRPr>
            </a:lvl1pPr>
            <a:lvl2pPr algn="l">
              <a:buNone/>
              <a:defRPr sz="3450" b="1">
                <a:solidFill>
                  <a:srgbClr val="F5F5F7"/>
                </a:solidFill>
                <a:latin typeface="Helvetica Neue"/>
                <a:ea typeface="Helvetica Neue"/>
                <a:cs typeface="Helvetica Neue"/>
              </a:defRPr>
            </a:lvl2pPr>
            <a:lvl3pPr algn="l">
              <a:buNone/>
              <a:defRPr sz="3450" b="1">
                <a:solidFill>
                  <a:srgbClr val="F5F5F7"/>
                </a:solidFill>
                <a:latin typeface="Helvetica Neue"/>
                <a:ea typeface="Helvetica Neue"/>
                <a:cs typeface="Helvetica Neue"/>
              </a:defRPr>
            </a:lvl3pPr>
            <a:lvl4pPr algn="l">
              <a:buNone/>
              <a:defRPr sz="3450" b="1">
                <a:solidFill>
                  <a:srgbClr val="F5F5F7"/>
                </a:solidFill>
                <a:latin typeface="Helvetica Neue"/>
                <a:ea typeface="Helvetica Neue"/>
                <a:cs typeface="Helvetica Neue"/>
              </a:defRPr>
            </a:lvl4pPr>
            <a:lvl5pPr algn="l">
              <a:buNone/>
              <a:defRPr sz="3450" b="1">
                <a:solidFill>
                  <a:srgbClr val="F5F5F7"/>
                </a:solidFill>
                <a:latin typeface="Helvetica Neue"/>
                <a:ea typeface="Helvetica Neue"/>
                <a:cs typeface="Helvetica Neue"/>
              </a:defRPr>
            </a:lvl5pPr>
            <a:lvl6pPr algn="l">
              <a:buNone/>
              <a:defRPr sz="3450" b="1">
                <a:solidFill>
                  <a:srgbClr val="F5F5F7"/>
                </a:solidFill>
                <a:latin typeface="Helvetica Neue"/>
                <a:ea typeface="Helvetica Neue"/>
                <a:cs typeface="Helvetica Neue"/>
              </a:defRPr>
            </a:lvl6pPr>
            <a:lvl7pPr algn="l">
              <a:buNone/>
              <a:defRPr sz="3450" b="1">
                <a:solidFill>
                  <a:srgbClr val="F5F5F7"/>
                </a:solidFill>
                <a:latin typeface="Helvetica Neue"/>
                <a:ea typeface="Helvetica Neue"/>
                <a:cs typeface="Helvetica Neue"/>
              </a:defRPr>
            </a:lvl7pPr>
            <a:lvl8pPr algn="l">
              <a:buNone/>
              <a:defRPr sz="3450" b="1">
                <a:solidFill>
                  <a:srgbClr val="F5F5F7"/>
                </a:solidFill>
                <a:latin typeface="Helvetica Neue"/>
                <a:ea typeface="Helvetica Neue"/>
                <a:cs typeface="Helvetica Neue"/>
              </a:defRPr>
            </a:lvl8pPr>
            <a:lvl9pPr algn="l">
              <a:buNone/>
              <a:defRPr sz="3450" b="1">
                <a:solidFill>
                  <a:srgbClr val="F5F5F7"/>
                </a:solidFill>
                <a:latin typeface="Helvetica Neue"/>
                <a:ea typeface="Helvetica Neue"/>
                <a:cs typeface="Helvetica Neue"/>
              </a:defRPr>
            </a:lvl9pPr>
          </a:lstStyle>
          <a:p xmlns:a="http://schemas.openxmlformats.org/drawingml/2006/main">
            <a:pPr algn="l">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Natural Language Processing</a:t>
            </a:r>
          </a:p>
        </p:txBody>
      </p:sp>
      <p:sp>
        <p:nvSpPr>
          <p:cNvPr id="10" name="ysda-4">
            <a:extLst xmlns:a="http://schemas.openxmlformats.org/drawingml/2006/main">
              <a:ext uri="{FF2B5EF4-FFF2-40B4-BE49-F238E27FC236}">
                <a16:creationId xmlns:a16="http://schemas.microsoft.com/office/drawing/2014/main" id="{302BFF45-DA7A-4A05-817B-1FABEE2C270E}"/>
              </a:ext>
            </a:extLst>
          </p:cNvPr>
          <p:cNvSpPr>
            <a:spLocks xmlns:a="http://schemas.openxmlformats.org/drawingml/2006/main" noGrp="1"/>
          </p:cNvSpPr>
          <p:nvPr/>
        </p:nvSpPr>
        <p:spPr>
          <a:xfrm xmlns:a="http://schemas.openxmlformats.org/drawingml/2006/main">
            <a:off x="685800" y="20478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Предмет NLP</a:t>
            </a:r>
          </a:p>
        </p:txBody>
      </p:sp>
      <p:sp>
        <p:nvSpPr>
          <p:cNvPr id="11" name="ysda-5">
            <a:extLst xmlns:a="http://schemas.openxmlformats.org/drawingml/2006/main">
              <a:ext uri="{FF2B5EF4-FFF2-40B4-BE49-F238E27FC236}">
                <a16:creationId xmlns:a16="http://schemas.microsoft.com/office/drawing/2014/main" id="{C6F95166-BA20-47EA-8402-C681EAE6F2B0}"/>
              </a:ext>
            </a:extLst>
          </p:cNvPr>
          <p:cNvSpPr>
            <a:spLocks xmlns:a="http://schemas.openxmlformats.org/drawingml/2006/main" noGrp="1"/>
          </p:cNvSpPr>
          <p:nvPr/>
        </p:nvSpPr>
        <p:spPr>
          <a:xfrm xmlns:a="http://schemas.openxmlformats.org/drawingml/2006/main">
            <a:off x="685800" y="2514600"/>
            <a:ext cx="108204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Natural Language Processing объединяет вычислительные методы работы с человеческим языком. Входом может быть сообщение, документ, диалог или пара текстов. Постановка задачи задаёт доступный контекст, единицу анализа и формат ответа. Одна и та же модель не обязана одинаково хорошо решать задачи с разными требованиями к результату.</a:t>
            </a:r>
          </a:p>
        </p:txBody>
      </p:sp>
      <p:sp>
        <p:nvSpPr>
          <p:cNvPr id="12" name="ysda-6">
            <a:extLst xmlns:a="http://schemas.openxmlformats.org/drawingml/2006/main">
              <a:ext uri="{FF2B5EF4-FFF2-40B4-BE49-F238E27FC236}">
                <a16:creationId xmlns:a16="http://schemas.microsoft.com/office/drawing/2014/main" id="{3AF0C943-DF1D-4119-B65A-9847A1AFA229}"/>
              </a:ext>
            </a:extLst>
          </p:cNvPr>
          <p:cNvSpPr>
            <a:spLocks xmlns:a="http://schemas.openxmlformats.org/drawingml/2006/main" noGrp="1"/>
          </p:cNvSpPr>
          <p:nvPr/>
        </p:nvSpPr>
        <p:spPr>
          <a:xfrm xmlns:a="http://schemas.openxmlformats.org/drawingml/2006/main">
            <a:off x="685800" y="4229100"/>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Источники сложности</a:t>
            </a:r>
          </a:p>
        </p:txBody>
      </p:sp>
      <p:sp>
        <p:nvSpPr>
          <p:cNvPr id="13" name="ysda-7">
            <a:extLst xmlns:a="http://schemas.openxmlformats.org/drawingml/2006/main">
              <a:ext uri="{FF2B5EF4-FFF2-40B4-BE49-F238E27FC236}">
                <a16:creationId xmlns:a16="http://schemas.microsoft.com/office/drawing/2014/main" id="{E28DFC89-E089-470F-8D1F-A49B1B31B398}"/>
              </a:ext>
            </a:extLst>
          </p:cNvPr>
          <p:cNvSpPr>
            <a:spLocks xmlns:a="http://schemas.openxmlformats.org/drawingml/2006/main" noGrp="1"/>
          </p:cNvSpPr>
          <p:nvPr/>
        </p:nvSpPr>
        <p:spPr>
          <a:xfrm xmlns:a="http://schemas.openxmlformats.org/drawingml/2006/main">
            <a:off x="685800" y="4695825"/>
            <a:ext cx="10820400" cy="1914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Язык содержит неоднозначность: смысл слова зависит от контекста, а одинаковое содержание выражается разными формулировками. Отрицание и порядок слов меняют интерпретацию; опечатки и сокращения меняют наблюдаемую запись. Качество NLP-системы определяется не только алгоритмом, но и данными, правилами annotation и соответствием evaluation реальному применению.</a:t>
            </a:r>
          </a:p>
        </p:txBody>
      </p:sp>
    </p:spTree>
    <p:extLst>
      <p:ext uri="{BB962C8B-B14F-4D97-AF65-F5344CB8AC3E}">
        <p14:creationId xmlns:p14="http://schemas.microsoft.com/office/powerpoint/2010/main" val="316585084"/>
      </p:ext>
    </p:extLst>
  </p:cSld>
</p:sld>
</file>

<file path=ppt/slides/slide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AB88A4E6-0EC3-4774-818C-B087EF726267}"/>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98989F"/>
                </a:solidFill>
                <a:latin typeface="Helvetica Neue"/>
                <a:ea typeface="Helvetica Neue"/>
                <a:cs typeface="Helvetica Neue"/>
              </a:defRPr>
            </a:defPPr>
            <a:lvl1pPr algn="l">
              <a:buNone/>
              <a:defRPr sz="1425" b="0">
                <a:solidFill>
                  <a:srgbClr val="98989F"/>
                </a:solidFill>
                <a:latin typeface="Helvetica Neue"/>
                <a:ea typeface="Helvetica Neue"/>
                <a:cs typeface="Helvetica Neue"/>
              </a:defRPr>
            </a:lvl1pPr>
            <a:lvl2pPr algn="l">
              <a:buNone/>
              <a:defRPr sz="1425" b="0">
                <a:solidFill>
                  <a:srgbClr val="98989F"/>
                </a:solidFill>
                <a:latin typeface="Helvetica Neue"/>
                <a:ea typeface="Helvetica Neue"/>
                <a:cs typeface="Helvetica Neue"/>
              </a:defRPr>
            </a:lvl2pPr>
            <a:lvl3pPr algn="l">
              <a:buNone/>
              <a:defRPr sz="1425" b="0">
                <a:solidFill>
                  <a:srgbClr val="98989F"/>
                </a:solidFill>
                <a:latin typeface="Helvetica Neue"/>
                <a:ea typeface="Helvetica Neue"/>
                <a:cs typeface="Helvetica Neue"/>
              </a:defRPr>
            </a:lvl3pPr>
            <a:lvl4pPr algn="l">
              <a:buNone/>
              <a:defRPr sz="1425" b="0">
                <a:solidFill>
                  <a:srgbClr val="98989F"/>
                </a:solidFill>
                <a:latin typeface="Helvetica Neue"/>
                <a:ea typeface="Helvetica Neue"/>
                <a:cs typeface="Helvetica Neue"/>
              </a:defRPr>
            </a:lvl4pPr>
            <a:lvl5pPr algn="l">
              <a:buNone/>
              <a:defRPr sz="1425" b="0">
                <a:solidFill>
                  <a:srgbClr val="98989F"/>
                </a:solidFill>
                <a:latin typeface="Helvetica Neue"/>
                <a:ea typeface="Helvetica Neue"/>
                <a:cs typeface="Helvetica Neue"/>
              </a:defRPr>
            </a:lvl5pPr>
            <a:lvl6pPr algn="l">
              <a:buNone/>
              <a:defRPr sz="1425" b="0">
                <a:solidFill>
                  <a:srgbClr val="98989F"/>
                </a:solidFill>
                <a:latin typeface="Helvetica Neue"/>
                <a:ea typeface="Helvetica Neue"/>
                <a:cs typeface="Helvetica Neue"/>
              </a:defRPr>
            </a:lvl6pPr>
            <a:lvl7pPr algn="l">
              <a:buNone/>
              <a:defRPr sz="1425" b="0">
                <a:solidFill>
                  <a:srgbClr val="98989F"/>
                </a:solidFill>
                <a:latin typeface="Helvetica Neue"/>
                <a:ea typeface="Helvetica Neue"/>
                <a:cs typeface="Helvetica Neue"/>
              </a:defRPr>
            </a:lvl7pPr>
            <a:lvl8pPr algn="l">
              <a:buNone/>
              <a:defRPr sz="1425" b="0">
                <a:solidFill>
                  <a:srgbClr val="98989F"/>
                </a:solidFill>
                <a:latin typeface="Helvetica Neue"/>
                <a:ea typeface="Helvetica Neue"/>
                <a:cs typeface="Helvetica Neue"/>
              </a:defRPr>
            </a:lvl8pPr>
            <a:lvl9pPr algn="l">
              <a:buNone/>
              <a:defRPr sz="1425" b="0">
                <a:solidFill>
                  <a:srgbClr val="98989F"/>
                </a:solidFill>
                <a:latin typeface="Helvetica Neue"/>
                <a:ea typeface="Helvetica Neue"/>
                <a:cs typeface="Helvetica Neue"/>
              </a:defRPr>
            </a:lvl9pPr>
          </a:lstStyle>
          <a:p xmlns:a="http://schemas.openxmlformats.org/drawingml/2006/main">
            <a:pPr algn="l">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text-1">
            <a:extLst xmlns:a="http://schemas.openxmlformats.org/drawingml/2006/main">
              <a:ext uri="{FF2B5EF4-FFF2-40B4-BE49-F238E27FC236}">
                <a16:creationId xmlns:a16="http://schemas.microsoft.com/office/drawing/2014/main" id="{0F193124-8622-4CE8-8E6C-0902363FBE1D}"/>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04</a:t>
            </a:r>
          </a:p>
        </p:txBody>
      </p:sp>
      <p:sp>
        <p:nvSpPr>
          <p:cNvPr id="3" name="">
            <a:extLst xmlns:a="http://schemas.openxmlformats.org/drawingml/2006/main">
              <a:ext uri="{FF2B5EF4-FFF2-40B4-BE49-F238E27FC236}">
                <a16:creationId xmlns:a16="http://schemas.microsoft.com/office/drawing/2014/main" id="{79C9D88E-879B-4FD1-B42D-1B04F6051DFE}"/>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prstDash val="solid"/>
          </a:ln>
        </p:spPr>
      </p:sp>
      <p:sp>
        <p:nvSpPr>
          <p:cNvPr id="4" name="text-3">
            <a:extLst xmlns:a="http://schemas.openxmlformats.org/drawingml/2006/main">
              <a:ext uri="{FF2B5EF4-FFF2-40B4-BE49-F238E27FC236}">
                <a16:creationId xmlns:a16="http://schemas.microsoft.com/office/drawing/2014/main" id="{55B947B4-60C0-47FB-8CA7-45A90823481A}"/>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5F7"/>
                </a:solidFill>
                <a:latin typeface="Helvetica Neue"/>
                <a:ea typeface="Helvetica Neue"/>
                <a:cs typeface="Helvetica Neue"/>
              </a:defRPr>
            </a:defPPr>
            <a:lvl1pPr algn="l">
              <a:buNone/>
              <a:defRPr sz="3450" b="1">
                <a:solidFill>
                  <a:srgbClr val="F5F5F7"/>
                </a:solidFill>
                <a:latin typeface="Helvetica Neue"/>
                <a:ea typeface="Helvetica Neue"/>
                <a:cs typeface="Helvetica Neue"/>
              </a:defRPr>
            </a:lvl1pPr>
            <a:lvl2pPr algn="l">
              <a:buNone/>
              <a:defRPr sz="3450" b="1">
                <a:solidFill>
                  <a:srgbClr val="F5F5F7"/>
                </a:solidFill>
                <a:latin typeface="Helvetica Neue"/>
                <a:ea typeface="Helvetica Neue"/>
                <a:cs typeface="Helvetica Neue"/>
              </a:defRPr>
            </a:lvl2pPr>
            <a:lvl3pPr algn="l">
              <a:buNone/>
              <a:defRPr sz="3450" b="1">
                <a:solidFill>
                  <a:srgbClr val="F5F5F7"/>
                </a:solidFill>
                <a:latin typeface="Helvetica Neue"/>
                <a:ea typeface="Helvetica Neue"/>
                <a:cs typeface="Helvetica Neue"/>
              </a:defRPr>
            </a:lvl3pPr>
            <a:lvl4pPr algn="l">
              <a:buNone/>
              <a:defRPr sz="3450" b="1">
                <a:solidFill>
                  <a:srgbClr val="F5F5F7"/>
                </a:solidFill>
                <a:latin typeface="Helvetica Neue"/>
                <a:ea typeface="Helvetica Neue"/>
                <a:cs typeface="Helvetica Neue"/>
              </a:defRPr>
            </a:lvl4pPr>
            <a:lvl5pPr algn="l">
              <a:buNone/>
              <a:defRPr sz="3450" b="1">
                <a:solidFill>
                  <a:srgbClr val="F5F5F7"/>
                </a:solidFill>
                <a:latin typeface="Helvetica Neue"/>
                <a:ea typeface="Helvetica Neue"/>
                <a:cs typeface="Helvetica Neue"/>
              </a:defRPr>
            </a:lvl5pPr>
            <a:lvl6pPr algn="l">
              <a:buNone/>
              <a:defRPr sz="3450" b="1">
                <a:solidFill>
                  <a:srgbClr val="F5F5F7"/>
                </a:solidFill>
                <a:latin typeface="Helvetica Neue"/>
                <a:ea typeface="Helvetica Neue"/>
                <a:cs typeface="Helvetica Neue"/>
              </a:defRPr>
            </a:lvl6pPr>
            <a:lvl7pPr algn="l">
              <a:buNone/>
              <a:defRPr sz="3450" b="1">
                <a:solidFill>
                  <a:srgbClr val="F5F5F7"/>
                </a:solidFill>
                <a:latin typeface="Helvetica Neue"/>
                <a:ea typeface="Helvetica Neue"/>
                <a:cs typeface="Helvetica Neue"/>
              </a:defRPr>
            </a:lvl7pPr>
            <a:lvl8pPr algn="l">
              <a:buNone/>
              <a:defRPr sz="3450" b="1">
                <a:solidFill>
                  <a:srgbClr val="F5F5F7"/>
                </a:solidFill>
                <a:latin typeface="Helvetica Neue"/>
                <a:ea typeface="Helvetica Neue"/>
                <a:cs typeface="Helvetica Neue"/>
              </a:defRPr>
            </a:lvl8pPr>
            <a:lvl9pPr algn="l">
              <a:buNone/>
              <a:defRPr sz="3450" b="1">
                <a:solidFill>
                  <a:srgbClr val="F5F5F7"/>
                </a:solidFill>
                <a:latin typeface="Helvetica Neue"/>
                <a:ea typeface="Helvetica Neue"/>
                <a:cs typeface="Helvetica Neue"/>
              </a:defRPr>
            </a:lvl9pPr>
          </a:lstStyle>
          <a:p xmlns:a="http://schemas.openxmlformats.org/drawingml/2006/main">
            <a:pPr algn="l">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Основные задачи NLP</a:t>
            </a:r>
          </a:p>
        </p:txBody>
      </p:sp>
      <p:graphicFrame>
        <p:nvGraphicFramePr>
          <p:cNvPr id="5" name="">
            <a:extLst xmlns:a="http://schemas.openxmlformats.org/drawingml/2006/main">
              <a:ext uri="{FF2B5EF4-FFF2-40B4-BE49-F238E27FC236}">
                <a16:creationId xmlns:a16="http://schemas.microsoft.com/office/drawing/2014/main" id="{1461F5C8-689D-4DFF-B396-D7D27B1296E9}"/>
              </a:ext>
            </a:extLst>
          </p:cNvPr>
          <p:cNvGraphicFramePr/>
          <p:nvPr/>
        </p:nvGraphicFramePr>
        <p:xfrm>
          <a:off xmlns:a="http://schemas.openxmlformats.org/drawingml/2006/main" x="685800" y="2952750"/>
          <a:ext xmlns:a="http://schemas.openxmlformats.org/drawingml/2006/main" cx="10820400" cy="2724150"/>
        </p:xfrm>
        <a:graphic xmlns:a="http://schemas.openxmlformats.org/drawingml/2006/main">
          <a:graphicData uri="http://schemas.openxmlformats.org/drawingml/2006/table">
            <a:tbl>
              <a:tblPr/>
              <a:tblGrid>
                <a:gridCol w="6762750"/>
                <a:gridCol w="4057650"/>
              </a:tblGrid>
              <a:tr h="544830">
                <a:tc>
                  <a:txBody>
                    <a:bodyPr lIns="142875" tIns="76200" rIns="142875" bIns="76200"/>
                    <a:lstStyle/>
                    <a:p>
                      <a:r>
                        <a:rPr sz="1800" b="1">
                          <a:solidFill>
                            <a:srgbClr val="98989F"/>
                          </a:solidFill>
                          <a:latin typeface="Helvetica Neue"/>
                          <a:ea typeface="Helvetica Neue"/>
                          <a:cs typeface="Helvetica Neue"/>
                        </a:rPr>
                        <a:t>Прикладной сценарий</a:t>
                      </a:r>
                    </a:p>
                  </a:txBody>
                  <a:tcPr marL="91440" marR="91440" marT="45720" marB="45720" anchor="ctr">
                    <a:lnL w="9525">
                      <a:solidFill>
                        <a:srgbClr val="28282B"/>
                      </a:solidFill>
                      <a:prstDash val="solid"/>
                    </a:lnL>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c>
                  <a:txBody>
                    <a:bodyPr lIns="142875" tIns="76200" rIns="142875" bIns="76200"/>
                    <a:lstStyle/>
                    <a:p>
                      <a:r>
                        <a:rPr sz="1800" b="1">
                          <a:solidFill>
                            <a:srgbClr val="98989F"/>
                          </a:solidFill>
                          <a:latin typeface="Helvetica Neue"/>
                          <a:ea typeface="Helvetica Neue"/>
                          <a:cs typeface="Helvetica Neue"/>
                        </a:rPr>
                        <a:t>Тип задачи</a:t>
                      </a:r>
                    </a:p>
                  </a:txBody>
                  <a:tcPr marL="91440" marR="91440" marT="45720" marB="45720" anchor="ctr">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r>
              <a:tr h="544830">
                <a:tc>
                  <a:txBody>
                    <a:bodyPr lIns="142875" tIns="76200" rIns="142875" bIns="76200"/>
                    <a:lstStyle/>
                    <a:p>
                      <a:r>
                        <a:rPr sz="1875" b="0">
                          <a:solidFill>
                            <a:srgbClr val="F5F5F7"/>
                          </a:solidFill>
                          <a:latin typeface="Helvetica Neue"/>
                          <a:ea typeface="Helvetica Neue"/>
                          <a:cs typeface="Helvetica Neue"/>
                        </a:rPr>
                        <a:t>Распределение обращений по отделам</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42875" tIns="76200" rIns="142875" bIns="76200"/>
                    <a:lstStyle/>
                    <a:p>
                      <a:r>
                        <a:rPr sz="1875" b="0">
                          <a:solidFill>
                            <a:srgbClr val="F5F5F7"/>
                          </a:solidFill>
                          <a:latin typeface="Helvetica Neue"/>
                          <a:ea typeface="Helvetica Neue"/>
                          <a:cs typeface="Helvetica Neue"/>
                        </a:rPr>
                        <a:t>Text classification</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r h="544830">
                <a:tc>
                  <a:txBody>
                    <a:bodyPr lIns="142875" tIns="76200" rIns="142875" bIns="76200"/>
                    <a:lstStyle/>
                    <a:p>
                      <a:r>
                        <a:rPr sz="1875" b="0">
                          <a:solidFill>
                            <a:srgbClr val="F5F5F7"/>
                          </a:solidFill>
                          <a:latin typeface="Helvetica Neue"/>
                          <a:ea typeface="Helvetica Neue"/>
                          <a:cs typeface="Helvetica Neue"/>
                        </a:rPr>
                        <a:t>Выделение адреса из сообщения</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42875" tIns="76200" rIns="142875" bIns="76200"/>
                    <a:lstStyle/>
                    <a:p>
                      <a:r>
                        <a:rPr sz="1875" b="0">
                          <a:solidFill>
                            <a:srgbClr val="F5F5F7"/>
                          </a:solidFill>
                          <a:latin typeface="Helvetica Neue"/>
                          <a:ea typeface="Helvetica Neue"/>
                          <a:cs typeface="Helvetica Neue"/>
                        </a:rPr>
                        <a:t>Information extraction</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r h="544830">
                <a:tc>
                  <a:txBody>
                    <a:bodyPr lIns="142875" tIns="76200" rIns="142875" bIns="76200"/>
                    <a:lstStyle/>
                    <a:p>
                      <a:r>
                        <a:rPr sz="1875" b="0">
                          <a:solidFill>
                            <a:srgbClr val="F5F5F7"/>
                          </a:solidFill>
                          <a:latin typeface="Helvetica Neue"/>
                          <a:ea typeface="Helvetica Neue"/>
                          <a:cs typeface="Helvetica Neue"/>
                        </a:rPr>
                        <a:t>Подбор инструкции по запросу</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42875" tIns="76200" rIns="142875" bIns="76200"/>
                    <a:lstStyle/>
                    <a:p>
                      <a:r>
                        <a:rPr sz="1875" b="0">
                          <a:solidFill>
                            <a:srgbClr val="F5F5F7"/>
                          </a:solidFill>
                          <a:latin typeface="Helvetica Neue"/>
                          <a:ea typeface="Helvetica Neue"/>
                          <a:cs typeface="Helvetica Neue"/>
                        </a:rPr>
                        <a:t>Information retrieval</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r h="544830">
                <a:tc>
                  <a:txBody>
                    <a:bodyPr lIns="142875" tIns="76200" rIns="142875" bIns="76200"/>
                    <a:lstStyle/>
                    <a:p>
                      <a:r>
                        <a:rPr sz="1875" b="0">
                          <a:solidFill>
                            <a:srgbClr val="F5F5F7"/>
                          </a:solidFill>
                          <a:latin typeface="Helvetica Neue"/>
                          <a:ea typeface="Helvetica Neue"/>
                          <a:cs typeface="Helvetica Neue"/>
                        </a:rPr>
                        <a:t>Сокращение переписки</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42875" tIns="76200" rIns="142875" bIns="76200"/>
                    <a:lstStyle/>
                    <a:p>
                      <a:r>
                        <a:rPr sz="1875" b="0">
                          <a:solidFill>
                            <a:srgbClr val="F5F5F7"/>
                          </a:solidFill>
                          <a:latin typeface="Helvetica Neue"/>
                          <a:ea typeface="Helvetica Neue"/>
                          <a:cs typeface="Helvetica Neue"/>
                        </a:rPr>
                        <a:t>Summarization</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bl>
          </a:graphicData>
        </a:graphic>
      </p:graphicFrame>
      <p:sp>
        <p:nvSpPr>
          <p:cNvPr id="8" name="theory-4">
            <a:extLst xmlns:a="http://schemas.openxmlformats.org/drawingml/2006/main">
              <a:ext uri="{FF2B5EF4-FFF2-40B4-BE49-F238E27FC236}">
                <a16:creationId xmlns:a16="http://schemas.microsoft.com/office/drawing/2014/main" id="{E11D57D1-802A-4B48-92B6-D9B7E87952A1}"/>
              </a:ext>
            </a:extLst>
          </p:cNvPr>
          <p:cNvSpPr>
            <a:spLocks xmlns:a="http://schemas.openxmlformats.org/drawingml/2006/main" noGrp="1"/>
          </p:cNvSpPr>
          <p:nvPr/>
        </p:nvSpPr>
        <p:spPr>
          <a:xfrm xmlns:a="http://schemas.openxmlformats.org/drawingml/2006/main">
            <a:off x="685800" y="2009775"/>
            <a:ext cx="108204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88" b="0">
                <a:solidFill>
                  <a:srgbClr val="F5F5F7"/>
                </a:solidFill>
                <a:latin typeface="Helvetica Neue"/>
                <a:ea typeface="Helvetica Neue"/>
                <a:cs typeface="Helvetica Neue"/>
              </a:defRPr>
            </a:defPPr>
            <a:lvl1pPr>
              <a:buNone/>
              <a:defRPr sz="1988" b="0">
                <a:solidFill>
                  <a:srgbClr val="F5F5F7"/>
                </a:solidFill>
                <a:latin typeface="Helvetica Neue"/>
                <a:ea typeface="Helvetica Neue"/>
                <a:cs typeface="Helvetica Neue"/>
              </a:defRPr>
            </a:lvl1pPr>
            <a:lvl2pPr>
              <a:buNone/>
              <a:defRPr sz="1988" b="0">
                <a:solidFill>
                  <a:srgbClr val="F5F5F7"/>
                </a:solidFill>
                <a:latin typeface="Helvetica Neue"/>
                <a:ea typeface="Helvetica Neue"/>
                <a:cs typeface="Helvetica Neue"/>
              </a:defRPr>
            </a:lvl2pPr>
            <a:lvl3pPr>
              <a:buNone/>
              <a:defRPr sz="1988" b="0">
                <a:solidFill>
                  <a:srgbClr val="F5F5F7"/>
                </a:solidFill>
                <a:latin typeface="Helvetica Neue"/>
                <a:ea typeface="Helvetica Neue"/>
                <a:cs typeface="Helvetica Neue"/>
              </a:defRPr>
            </a:lvl3pPr>
            <a:lvl4pPr>
              <a:buNone/>
              <a:defRPr sz="1988" b="0">
                <a:solidFill>
                  <a:srgbClr val="F5F5F7"/>
                </a:solidFill>
                <a:latin typeface="Helvetica Neue"/>
                <a:ea typeface="Helvetica Neue"/>
                <a:cs typeface="Helvetica Neue"/>
              </a:defRPr>
            </a:lvl4pPr>
            <a:lvl5pPr>
              <a:buNone/>
              <a:defRPr sz="1988" b="0">
                <a:solidFill>
                  <a:srgbClr val="F5F5F7"/>
                </a:solidFill>
                <a:latin typeface="Helvetica Neue"/>
                <a:ea typeface="Helvetica Neue"/>
                <a:cs typeface="Helvetica Neue"/>
              </a:defRPr>
            </a:lvl5pPr>
            <a:lvl6pPr>
              <a:buNone/>
              <a:defRPr sz="1988" b="0">
                <a:solidFill>
                  <a:srgbClr val="F5F5F7"/>
                </a:solidFill>
                <a:latin typeface="Helvetica Neue"/>
                <a:ea typeface="Helvetica Neue"/>
                <a:cs typeface="Helvetica Neue"/>
              </a:defRPr>
            </a:lvl6pPr>
            <a:lvl7pPr>
              <a:buNone/>
              <a:defRPr sz="1988" b="0">
                <a:solidFill>
                  <a:srgbClr val="F5F5F7"/>
                </a:solidFill>
                <a:latin typeface="Helvetica Neue"/>
                <a:ea typeface="Helvetica Neue"/>
                <a:cs typeface="Helvetica Neue"/>
              </a:defRPr>
            </a:lvl7pPr>
            <a:lvl8pPr>
              <a:buNone/>
              <a:defRPr sz="1988" b="0">
                <a:solidFill>
                  <a:srgbClr val="F5F5F7"/>
                </a:solidFill>
                <a:latin typeface="Helvetica Neue"/>
                <a:ea typeface="Helvetica Neue"/>
                <a:cs typeface="Helvetica Neue"/>
              </a:defRPr>
            </a:lvl8pPr>
            <a:lvl9pPr>
              <a:buNone/>
              <a:defRPr sz="1988" b="0">
                <a:solidFill>
                  <a:srgbClr val="F5F5F7"/>
                </a:solidFill>
                <a:latin typeface="Helvetica Neue"/>
                <a:ea typeface="Helvetica Neue"/>
                <a:cs typeface="Helvetica Neue"/>
              </a:defRPr>
            </a:lvl9pPr>
          </a:lstStyle>
          <a:p xmlns:a="http://schemas.openxmlformats.org/drawingml/2006/main">
            <a:pPr>
              <a:buNone/>
              <a:defRPr sz="1988" b="0">
                <a:solidFill>
                  <a:srgbClr val="F5F5F7"/>
                </a:solidFill>
                <a:latin typeface="Helvetica Neue"/>
                <a:ea typeface="Helvetica Neue"/>
                <a:cs typeface="Helvetica Neue"/>
              </a:defRPr>
            </a:pPr>
            <a:r>
              <a:rPr sz="1988" b="0">
                <a:solidFill>
                  <a:srgbClr val="F5F5F7"/>
                </a:solidFill>
                <a:latin typeface="Helvetica Neue"/>
                <a:ea typeface="Helvetica Neue"/>
                <a:cs typeface="Helvetica Neue"/>
              </a:rPr>
              <a:t>Постановки различаются единицей анализа и формой ответа. Это различие определяет состав разметки, требования к модели и способ оценки результата.</a:t>
            </a:r>
          </a:p>
        </p:txBody>
      </p:sp>
      <p:sp>
        <p:nvSpPr>
          <p:cNvPr id="9" name="theory-5">
            <a:extLst xmlns:a="http://schemas.openxmlformats.org/drawingml/2006/main">
              <a:ext uri="{FF2B5EF4-FFF2-40B4-BE49-F238E27FC236}">
                <a16:creationId xmlns:a16="http://schemas.microsoft.com/office/drawing/2014/main" id="{0BD5DC26-1058-4735-94F5-FE51B33470D9}"/>
              </a:ext>
            </a:extLst>
          </p:cNvPr>
          <p:cNvSpPr>
            <a:spLocks xmlns:a="http://schemas.openxmlformats.org/drawingml/2006/main" noGrp="1"/>
          </p:cNvSpPr>
          <p:nvPr/>
        </p:nvSpPr>
        <p:spPr>
          <a:xfrm xmlns:a="http://schemas.openxmlformats.org/drawingml/2006/main">
            <a:off x="685800" y="592455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88" b="0">
                <a:solidFill>
                  <a:srgbClr val="98989F"/>
                </a:solidFill>
                <a:latin typeface="Helvetica Neue"/>
                <a:ea typeface="Helvetica Neue"/>
                <a:cs typeface="Helvetica Neue"/>
              </a:defRPr>
            </a:defPPr>
            <a:lvl1pPr>
              <a:buNone/>
              <a:defRPr sz="1688" b="0">
                <a:solidFill>
                  <a:srgbClr val="98989F"/>
                </a:solidFill>
                <a:latin typeface="Helvetica Neue"/>
                <a:ea typeface="Helvetica Neue"/>
                <a:cs typeface="Helvetica Neue"/>
              </a:defRPr>
            </a:lvl1pPr>
            <a:lvl2pPr>
              <a:buNone/>
              <a:defRPr sz="1688" b="0">
                <a:solidFill>
                  <a:srgbClr val="98989F"/>
                </a:solidFill>
                <a:latin typeface="Helvetica Neue"/>
                <a:ea typeface="Helvetica Neue"/>
                <a:cs typeface="Helvetica Neue"/>
              </a:defRPr>
            </a:lvl2pPr>
            <a:lvl3pPr>
              <a:buNone/>
              <a:defRPr sz="1688" b="0">
                <a:solidFill>
                  <a:srgbClr val="98989F"/>
                </a:solidFill>
                <a:latin typeface="Helvetica Neue"/>
                <a:ea typeface="Helvetica Neue"/>
                <a:cs typeface="Helvetica Neue"/>
              </a:defRPr>
            </a:lvl3pPr>
            <a:lvl4pPr>
              <a:buNone/>
              <a:defRPr sz="1688" b="0">
                <a:solidFill>
                  <a:srgbClr val="98989F"/>
                </a:solidFill>
                <a:latin typeface="Helvetica Neue"/>
                <a:ea typeface="Helvetica Neue"/>
                <a:cs typeface="Helvetica Neue"/>
              </a:defRPr>
            </a:lvl4pPr>
            <a:lvl5pPr>
              <a:buNone/>
              <a:defRPr sz="1688" b="0">
                <a:solidFill>
                  <a:srgbClr val="98989F"/>
                </a:solidFill>
                <a:latin typeface="Helvetica Neue"/>
                <a:ea typeface="Helvetica Neue"/>
                <a:cs typeface="Helvetica Neue"/>
              </a:defRPr>
            </a:lvl5pPr>
            <a:lvl6pPr>
              <a:buNone/>
              <a:defRPr sz="1688" b="0">
                <a:solidFill>
                  <a:srgbClr val="98989F"/>
                </a:solidFill>
                <a:latin typeface="Helvetica Neue"/>
                <a:ea typeface="Helvetica Neue"/>
                <a:cs typeface="Helvetica Neue"/>
              </a:defRPr>
            </a:lvl6pPr>
            <a:lvl7pPr>
              <a:buNone/>
              <a:defRPr sz="1688" b="0">
                <a:solidFill>
                  <a:srgbClr val="98989F"/>
                </a:solidFill>
                <a:latin typeface="Helvetica Neue"/>
                <a:ea typeface="Helvetica Neue"/>
                <a:cs typeface="Helvetica Neue"/>
              </a:defRPr>
            </a:lvl7pPr>
            <a:lvl8pPr>
              <a:buNone/>
              <a:defRPr sz="1688" b="0">
                <a:solidFill>
                  <a:srgbClr val="98989F"/>
                </a:solidFill>
                <a:latin typeface="Helvetica Neue"/>
                <a:ea typeface="Helvetica Neue"/>
                <a:cs typeface="Helvetica Neue"/>
              </a:defRPr>
            </a:lvl8pPr>
            <a:lvl9pPr>
              <a:buNone/>
              <a:defRPr sz="1688" b="0">
                <a:solidFill>
                  <a:srgbClr val="98989F"/>
                </a:solidFill>
                <a:latin typeface="Helvetica Neue"/>
                <a:ea typeface="Helvetica Neue"/>
                <a:cs typeface="Helvetica Neue"/>
              </a:defRPr>
            </a:lvl9pPr>
          </a:lstStyle>
          <a:p xmlns:a="http://schemas.openxmlformats.org/drawingml/2006/main">
            <a:pPr>
              <a:buNone/>
              <a:defRPr sz="1688" b="0">
                <a:solidFill>
                  <a:srgbClr val="98989F"/>
                </a:solidFill>
                <a:latin typeface="Helvetica Neue"/>
                <a:ea typeface="Helvetica Neue"/>
                <a:cs typeface="Helvetica Neue"/>
              </a:defRPr>
            </a:pPr>
            <a:r>
              <a:rPr sz="1688" b="0">
                <a:solidFill>
                  <a:srgbClr val="98989F"/>
                </a:solidFill>
                <a:latin typeface="Helvetica Neue"/>
                <a:ea typeface="Helvetica Neue"/>
                <a:cs typeface="Helvetica Neue"/>
              </a:rPr>
              <a:t>Например, отзыв можно отнести к классу тональности, выделить в нём название товара или найти по запросу. Для каждой операции требуется собственный целевой ответ и критерий правильности.</a:t>
            </a:r>
          </a:p>
        </p:txBody>
      </p:sp>
    </p:spTree>
    <p:extLst>
      <p:ext uri="{BB962C8B-B14F-4D97-AF65-F5344CB8AC3E}">
        <p14:creationId xmlns:p14="http://schemas.microsoft.com/office/powerpoint/2010/main" val="326417611"/>
      </p:ext>
    </p:extLst>
  </p:cSld>
</p:sld>
</file>

<file path=ppt/slides/slide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9845AF02-0402-4898-B61D-2A0AEA8F6C2F}"/>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98989F"/>
                </a:solidFill>
                <a:latin typeface="Helvetica Neue"/>
                <a:ea typeface="Helvetica Neue"/>
                <a:cs typeface="Helvetica Neue"/>
              </a:defRPr>
            </a:defPPr>
            <a:lvl1pPr algn="l">
              <a:buNone/>
              <a:defRPr sz="1425" b="0">
                <a:solidFill>
                  <a:srgbClr val="98989F"/>
                </a:solidFill>
                <a:latin typeface="Helvetica Neue"/>
                <a:ea typeface="Helvetica Neue"/>
                <a:cs typeface="Helvetica Neue"/>
              </a:defRPr>
            </a:lvl1pPr>
            <a:lvl2pPr algn="l">
              <a:buNone/>
              <a:defRPr sz="1425" b="0">
                <a:solidFill>
                  <a:srgbClr val="98989F"/>
                </a:solidFill>
                <a:latin typeface="Helvetica Neue"/>
                <a:ea typeface="Helvetica Neue"/>
                <a:cs typeface="Helvetica Neue"/>
              </a:defRPr>
            </a:lvl2pPr>
            <a:lvl3pPr algn="l">
              <a:buNone/>
              <a:defRPr sz="1425" b="0">
                <a:solidFill>
                  <a:srgbClr val="98989F"/>
                </a:solidFill>
                <a:latin typeface="Helvetica Neue"/>
                <a:ea typeface="Helvetica Neue"/>
                <a:cs typeface="Helvetica Neue"/>
              </a:defRPr>
            </a:lvl3pPr>
            <a:lvl4pPr algn="l">
              <a:buNone/>
              <a:defRPr sz="1425" b="0">
                <a:solidFill>
                  <a:srgbClr val="98989F"/>
                </a:solidFill>
                <a:latin typeface="Helvetica Neue"/>
                <a:ea typeface="Helvetica Neue"/>
                <a:cs typeface="Helvetica Neue"/>
              </a:defRPr>
            </a:lvl4pPr>
            <a:lvl5pPr algn="l">
              <a:buNone/>
              <a:defRPr sz="1425" b="0">
                <a:solidFill>
                  <a:srgbClr val="98989F"/>
                </a:solidFill>
                <a:latin typeface="Helvetica Neue"/>
                <a:ea typeface="Helvetica Neue"/>
                <a:cs typeface="Helvetica Neue"/>
              </a:defRPr>
            </a:lvl5pPr>
            <a:lvl6pPr algn="l">
              <a:buNone/>
              <a:defRPr sz="1425" b="0">
                <a:solidFill>
                  <a:srgbClr val="98989F"/>
                </a:solidFill>
                <a:latin typeface="Helvetica Neue"/>
                <a:ea typeface="Helvetica Neue"/>
                <a:cs typeface="Helvetica Neue"/>
              </a:defRPr>
            </a:lvl6pPr>
            <a:lvl7pPr algn="l">
              <a:buNone/>
              <a:defRPr sz="1425" b="0">
                <a:solidFill>
                  <a:srgbClr val="98989F"/>
                </a:solidFill>
                <a:latin typeface="Helvetica Neue"/>
                <a:ea typeface="Helvetica Neue"/>
                <a:cs typeface="Helvetica Neue"/>
              </a:defRPr>
            </a:lvl7pPr>
            <a:lvl8pPr algn="l">
              <a:buNone/>
              <a:defRPr sz="1425" b="0">
                <a:solidFill>
                  <a:srgbClr val="98989F"/>
                </a:solidFill>
                <a:latin typeface="Helvetica Neue"/>
                <a:ea typeface="Helvetica Neue"/>
                <a:cs typeface="Helvetica Neue"/>
              </a:defRPr>
            </a:lvl8pPr>
            <a:lvl9pPr algn="l">
              <a:buNone/>
              <a:defRPr sz="1425" b="0">
                <a:solidFill>
                  <a:srgbClr val="98989F"/>
                </a:solidFill>
                <a:latin typeface="Helvetica Neue"/>
                <a:ea typeface="Helvetica Neue"/>
                <a:cs typeface="Helvetica Neue"/>
              </a:defRPr>
            </a:lvl9pPr>
          </a:lstStyle>
          <a:p xmlns:a="http://schemas.openxmlformats.org/drawingml/2006/main">
            <a:pPr algn="l">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text-1">
            <a:extLst xmlns:a="http://schemas.openxmlformats.org/drawingml/2006/main">
              <a:ext uri="{FF2B5EF4-FFF2-40B4-BE49-F238E27FC236}">
                <a16:creationId xmlns:a16="http://schemas.microsoft.com/office/drawing/2014/main" id="{7E222730-E18C-4808-8AB6-8BE481C3B390}"/>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05</a:t>
            </a:r>
          </a:p>
        </p:txBody>
      </p:sp>
      <p:sp>
        <p:nvSpPr>
          <p:cNvPr id="3" name="">
            <a:extLst xmlns:a="http://schemas.openxmlformats.org/drawingml/2006/main">
              <a:ext uri="{FF2B5EF4-FFF2-40B4-BE49-F238E27FC236}">
                <a16:creationId xmlns:a16="http://schemas.microsoft.com/office/drawing/2014/main" id="{E985132B-CF58-49CC-8FC5-8337F0628048}"/>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prstDash val="solid"/>
          </a:ln>
        </p:spPr>
      </p:sp>
      <p:sp>
        <p:nvSpPr>
          <p:cNvPr id="4" name="text-3">
            <a:extLst xmlns:a="http://schemas.openxmlformats.org/drawingml/2006/main">
              <a:ext uri="{FF2B5EF4-FFF2-40B4-BE49-F238E27FC236}">
                <a16:creationId xmlns:a16="http://schemas.microsoft.com/office/drawing/2014/main" id="{EAEBB7EF-D0E0-4063-BCC8-BA274A7FB981}"/>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5F7"/>
                </a:solidFill>
                <a:latin typeface="Helvetica Neue"/>
                <a:ea typeface="Helvetica Neue"/>
                <a:cs typeface="Helvetica Neue"/>
              </a:defRPr>
            </a:defPPr>
            <a:lvl1pPr algn="l">
              <a:buNone/>
              <a:defRPr sz="3450" b="1">
                <a:solidFill>
                  <a:srgbClr val="F5F5F7"/>
                </a:solidFill>
                <a:latin typeface="Helvetica Neue"/>
                <a:ea typeface="Helvetica Neue"/>
                <a:cs typeface="Helvetica Neue"/>
              </a:defRPr>
            </a:lvl1pPr>
            <a:lvl2pPr algn="l">
              <a:buNone/>
              <a:defRPr sz="3450" b="1">
                <a:solidFill>
                  <a:srgbClr val="F5F5F7"/>
                </a:solidFill>
                <a:latin typeface="Helvetica Neue"/>
                <a:ea typeface="Helvetica Neue"/>
                <a:cs typeface="Helvetica Neue"/>
              </a:defRPr>
            </a:lvl2pPr>
            <a:lvl3pPr algn="l">
              <a:buNone/>
              <a:defRPr sz="3450" b="1">
                <a:solidFill>
                  <a:srgbClr val="F5F5F7"/>
                </a:solidFill>
                <a:latin typeface="Helvetica Neue"/>
                <a:ea typeface="Helvetica Neue"/>
                <a:cs typeface="Helvetica Neue"/>
              </a:defRPr>
            </a:lvl3pPr>
            <a:lvl4pPr algn="l">
              <a:buNone/>
              <a:defRPr sz="3450" b="1">
                <a:solidFill>
                  <a:srgbClr val="F5F5F7"/>
                </a:solidFill>
                <a:latin typeface="Helvetica Neue"/>
                <a:ea typeface="Helvetica Neue"/>
                <a:cs typeface="Helvetica Neue"/>
              </a:defRPr>
            </a:lvl4pPr>
            <a:lvl5pPr algn="l">
              <a:buNone/>
              <a:defRPr sz="3450" b="1">
                <a:solidFill>
                  <a:srgbClr val="F5F5F7"/>
                </a:solidFill>
                <a:latin typeface="Helvetica Neue"/>
                <a:ea typeface="Helvetica Neue"/>
                <a:cs typeface="Helvetica Neue"/>
              </a:defRPr>
            </a:lvl5pPr>
            <a:lvl6pPr algn="l">
              <a:buNone/>
              <a:defRPr sz="3450" b="1">
                <a:solidFill>
                  <a:srgbClr val="F5F5F7"/>
                </a:solidFill>
                <a:latin typeface="Helvetica Neue"/>
                <a:ea typeface="Helvetica Neue"/>
                <a:cs typeface="Helvetica Neue"/>
              </a:defRPr>
            </a:lvl6pPr>
            <a:lvl7pPr algn="l">
              <a:buNone/>
              <a:defRPr sz="3450" b="1">
                <a:solidFill>
                  <a:srgbClr val="F5F5F7"/>
                </a:solidFill>
                <a:latin typeface="Helvetica Neue"/>
                <a:ea typeface="Helvetica Neue"/>
                <a:cs typeface="Helvetica Neue"/>
              </a:defRPr>
            </a:lvl7pPr>
            <a:lvl8pPr algn="l">
              <a:buNone/>
              <a:defRPr sz="3450" b="1">
                <a:solidFill>
                  <a:srgbClr val="F5F5F7"/>
                </a:solidFill>
                <a:latin typeface="Helvetica Neue"/>
                <a:ea typeface="Helvetica Neue"/>
                <a:cs typeface="Helvetica Neue"/>
              </a:defRPr>
            </a:lvl8pPr>
            <a:lvl9pPr algn="l">
              <a:buNone/>
              <a:defRPr sz="3450" b="1">
                <a:solidFill>
                  <a:srgbClr val="F5F5F7"/>
                </a:solidFill>
                <a:latin typeface="Helvetica Neue"/>
                <a:ea typeface="Helvetica Neue"/>
                <a:cs typeface="Helvetica Neue"/>
              </a:defRPr>
            </a:lvl9pPr>
          </a:lstStyle>
          <a:p xmlns:a="http://schemas.openxmlformats.org/drawingml/2006/main">
            <a:pPr algn="l">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Text classification</a:t>
            </a:r>
          </a:p>
        </p:txBody>
      </p:sp>
      <p:sp>
        <p:nvSpPr>
          <p:cNvPr id="13" name="ysda-4">
            <a:extLst xmlns:a="http://schemas.openxmlformats.org/drawingml/2006/main">
              <a:ext uri="{FF2B5EF4-FFF2-40B4-BE49-F238E27FC236}">
                <a16:creationId xmlns:a16="http://schemas.microsoft.com/office/drawing/2014/main" id="{356D4F70-D3E3-4C20-84D6-10D0255D3869}"/>
              </a:ext>
            </a:extLst>
          </p:cNvPr>
          <p:cNvSpPr>
            <a:spLocks xmlns:a="http://schemas.openxmlformats.org/drawingml/2006/main" noGrp="1"/>
          </p:cNvSpPr>
          <p:nvPr/>
        </p:nvSpPr>
        <p:spPr>
          <a:xfrm xmlns:a="http://schemas.openxmlformats.org/drawingml/2006/main">
            <a:off x="685800" y="20478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Постановка задачи</a:t>
            </a:r>
          </a:p>
        </p:txBody>
      </p:sp>
      <p:sp>
        <p:nvSpPr>
          <p:cNvPr id="14" name="ysda-5">
            <a:extLst xmlns:a="http://schemas.openxmlformats.org/drawingml/2006/main">
              <a:ext uri="{FF2B5EF4-FFF2-40B4-BE49-F238E27FC236}">
                <a16:creationId xmlns:a16="http://schemas.microsoft.com/office/drawing/2014/main" id="{23C12B03-B780-465A-9977-B18D8250FAA6}"/>
              </a:ext>
            </a:extLst>
          </p:cNvPr>
          <p:cNvSpPr>
            <a:spLocks xmlns:a="http://schemas.openxmlformats.org/drawingml/2006/main" noGrp="1"/>
          </p:cNvSpPr>
          <p:nvPr/>
        </p:nvSpPr>
        <p:spPr>
          <a:xfrm xmlns:a="http://schemas.openxmlformats.org/drawingml/2006/main">
            <a:off x="685800" y="2514600"/>
            <a:ext cx="108204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Text classification сопоставляет документу class label из заранее заданного набора. Документом может быть короткий запрос, отзыв, письмо или целая статья. Примеры — spam detection, topic classification, intent classification и sentiment analysis. До обучения необходимо определить, какое свойство текста должна описывать метка и какой контекст доступен при предсказании.</a:t>
            </a:r>
          </a:p>
        </p:txBody>
      </p:sp>
      <p:sp>
        <p:nvSpPr>
          <p:cNvPr id="15" name="ysda-6">
            <a:extLst xmlns:a="http://schemas.openxmlformats.org/drawingml/2006/main">
              <a:ext uri="{FF2B5EF4-FFF2-40B4-BE49-F238E27FC236}">
                <a16:creationId xmlns:a16="http://schemas.microsoft.com/office/drawing/2014/main" id="{46201C80-0DBC-4ECC-A93C-EC5A7C7738F4}"/>
              </a:ext>
            </a:extLst>
          </p:cNvPr>
          <p:cNvSpPr>
            <a:spLocks xmlns:a="http://schemas.openxmlformats.org/drawingml/2006/main" noGrp="1"/>
          </p:cNvSpPr>
          <p:nvPr/>
        </p:nvSpPr>
        <p:spPr>
          <a:xfrm xmlns:a="http://schemas.openxmlformats.org/drawingml/2006/main">
            <a:off x="685800" y="4229100"/>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Объект, представление и ответ</a:t>
            </a:r>
          </a:p>
        </p:txBody>
      </p:sp>
      <p:sp>
        <p:nvSpPr>
          <p:cNvPr id="16" name="ysda-7">
            <a:extLst xmlns:a="http://schemas.openxmlformats.org/drawingml/2006/main">
              <a:ext uri="{FF2B5EF4-FFF2-40B4-BE49-F238E27FC236}">
                <a16:creationId xmlns:a16="http://schemas.microsoft.com/office/drawing/2014/main" id="{709D043B-79EE-412B-8CA2-63C157D92F4D}"/>
              </a:ext>
            </a:extLst>
          </p:cNvPr>
          <p:cNvSpPr>
            <a:spLocks xmlns:a="http://schemas.openxmlformats.org/drawingml/2006/main" noGrp="1"/>
          </p:cNvSpPr>
          <p:nvPr/>
        </p:nvSpPr>
        <p:spPr>
          <a:xfrm xmlns:a="http://schemas.openxmlformats.org/drawingml/2006/main">
            <a:off x="685800" y="4695825"/>
            <a:ext cx="10820400" cy="1914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Обозначим исходный документ через x, его feature representation через h, а целевую метку через y. Feature extractor преобразует текст в численный вектор; classifier использует этот вектор для выбора класса. В single-label постановке каждому документу соответствует одна правильная метка. Для multi-label задачи набор допустимых ответов устроен иначе.</a:t>
            </a:r>
          </a:p>
        </p:txBody>
      </p:sp>
    </p:spTree>
    <p:extLst>
      <p:ext uri="{BB962C8B-B14F-4D97-AF65-F5344CB8AC3E}">
        <p14:creationId xmlns:p14="http://schemas.microsoft.com/office/powerpoint/2010/main" val="1252138942"/>
      </p:ext>
    </p:extLst>
  </p:cSld>
</p:sld>
</file>

<file path=ppt/slides/slide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3" name="text-0">
            <a:extLst xmlns:a="http://schemas.openxmlformats.org/drawingml/2006/main">
              <a:ext uri="{FF2B5EF4-FFF2-40B4-BE49-F238E27FC236}">
                <a16:creationId xmlns:a16="http://schemas.microsoft.com/office/drawing/2014/main" id="{C1BA118B-6EA9-447F-9F88-A6F80B07AF95}"/>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98989F"/>
                </a:solidFill>
                <a:latin typeface="Helvetica Neue"/>
                <a:ea typeface="Helvetica Neue"/>
                <a:cs typeface="Helvetica Neue"/>
              </a:defRPr>
            </a:defPPr>
            <a:lvl1pPr algn="l">
              <a:buNone/>
              <a:defRPr sz="1425" b="0">
                <a:solidFill>
                  <a:srgbClr val="98989F"/>
                </a:solidFill>
                <a:latin typeface="Helvetica Neue"/>
                <a:ea typeface="Helvetica Neue"/>
                <a:cs typeface="Helvetica Neue"/>
              </a:defRPr>
            </a:lvl1pPr>
            <a:lvl2pPr algn="l">
              <a:buNone/>
              <a:defRPr sz="1425" b="0">
                <a:solidFill>
                  <a:srgbClr val="98989F"/>
                </a:solidFill>
                <a:latin typeface="Helvetica Neue"/>
                <a:ea typeface="Helvetica Neue"/>
                <a:cs typeface="Helvetica Neue"/>
              </a:defRPr>
            </a:lvl2pPr>
            <a:lvl3pPr algn="l">
              <a:buNone/>
              <a:defRPr sz="1425" b="0">
                <a:solidFill>
                  <a:srgbClr val="98989F"/>
                </a:solidFill>
                <a:latin typeface="Helvetica Neue"/>
                <a:ea typeface="Helvetica Neue"/>
                <a:cs typeface="Helvetica Neue"/>
              </a:defRPr>
            </a:lvl3pPr>
            <a:lvl4pPr algn="l">
              <a:buNone/>
              <a:defRPr sz="1425" b="0">
                <a:solidFill>
                  <a:srgbClr val="98989F"/>
                </a:solidFill>
                <a:latin typeface="Helvetica Neue"/>
                <a:ea typeface="Helvetica Neue"/>
                <a:cs typeface="Helvetica Neue"/>
              </a:defRPr>
            </a:lvl4pPr>
            <a:lvl5pPr algn="l">
              <a:buNone/>
              <a:defRPr sz="1425" b="0">
                <a:solidFill>
                  <a:srgbClr val="98989F"/>
                </a:solidFill>
                <a:latin typeface="Helvetica Neue"/>
                <a:ea typeface="Helvetica Neue"/>
                <a:cs typeface="Helvetica Neue"/>
              </a:defRPr>
            </a:lvl5pPr>
            <a:lvl6pPr algn="l">
              <a:buNone/>
              <a:defRPr sz="1425" b="0">
                <a:solidFill>
                  <a:srgbClr val="98989F"/>
                </a:solidFill>
                <a:latin typeface="Helvetica Neue"/>
                <a:ea typeface="Helvetica Neue"/>
                <a:cs typeface="Helvetica Neue"/>
              </a:defRPr>
            </a:lvl6pPr>
            <a:lvl7pPr algn="l">
              <a:buNone/>
              <a:defRPr sz="1425" b="0">
                <a:solidFill>
                  <a:srgbClr val="98989F"/>
                </a:solidFill>
                <a:latin typeface="Helvetica Neue"/>
                <a:ea typeface="Helvetica Neue"/>
                <a:cs typeface="Helvetica Neue"/>
              </a:defRPr>
            </a:lvl7pPr>
            <a:lvl8pPr algn="l">
              <a:buNone/>
              <a:defRPr sz="1425" b="0">
                <a:solidFill>
                  <a:srgbClr val="98989F"/>
                </a:solidFill>
                <a:latin typeface="Helvetica Neue"/>
                <a:ea typeface="Helvetica Neue"/>
                <a:cs typeface="Helvetica Neue"/>
              </a:defRPr>
            </a:lvl8pPr>
            <a:lvl9pPr algn="l">
              <a:buNone/>
              <a:defRPr sz="1425" b="0">
                <a:solidFill>
                  <a:srgbClr val="98989F"/>
                </a:solidFill>
                <a:latin typeface="Helvetica Neue"/>
                <a:ea typeface="Helvetica Neue"/>
                <a:cs typeface="Helvetica Neue"/>
              </a:defRPr>
            </a:lvl9pPr>
          </a:lstStyle>
          <a:p xmlns:a="http://schemas.openxmlformats.org/drawingml/2006/main">
            <a:pPr algn="l">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text-1">
            <a:extLst xmlns:a="http://schemas.openxmlformats.org/drawingml/2006/main">
              <a:ext uri="{FF2B5EF4-FFF2-40B4-BE49-F238E27FC236}">
                <a16:creationId xmlns:a16="http://schemas.microsoft.com/office/drawing/2014/main" id="{8B59A801-2133-4223-84DB-84983CD7D942}"/>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06</a:t>
            </a:r>
          </a:p>
        </p:txBody>
      </p:sp>
      <p:sp>
        <p:nvSpPr>
          <p:cNvPr id="3" name="">
            <a:extLst xmlns:a="http://schemas.openxmlformats.org/drawingml/2006/main">
              <a:ext uri="{FF2B5EF4-FFF2-40B4-BE49-F238E27FC236}">
                <a16:creationId xmlns:a16="http://schemas.microsoft.com/office/drawing/2014/main" id="{64359F5A-C126-4B86-B687-CCBC5D3B6D1B}"/>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prstDash val="solid"/>
          </a:ln>
        </p:spPr>
      </p:sp>
      <p:sp>
        <p:nvSpPr>
          <p:cNvPr id="4" name="text-3">
            <a:extLst xmlns:a="http://schemas.openxmlformats.org/drawingml/2006/main">
              <a:ext uri="{FF2B5EF4-FFF2-40B4-BE49-F238E27FC236}">
                <a16:creationId xmlns:a16="http://schemas.microsoft.com/office/drawing/2014/main" id="{3703A4A4-449E-4C6E-867E-95ED9AF4F5F7}"/>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5F7"/>
                </a:solidFill>
                <a:latin typeface="Helvetica Neue"/>
                <a:ea typeface="Helvetica Neue"/>
                <a:cs typeface="Helvetica Neue"/>
              </a:defRPr>
            </a:defPPr>
            <a:lvl1pPr algn="l">
              <a:buNone/>
              <a:defRPr sz="3450" b="1">
                <a:solidFill>
                  <a:srgbClr val="F5F5F7"/>
                </a:solidFill>
                <a:latin typeface="Helvetica Neue"/>
                <a:ea typeface="Helvetica Neue"/>
                <a:cs typeface="Helvetica Neue"/>
              </a:defRPr>
            </a:lvl1pPr>
            <a:lvl2pPr algn="l">
              <a:buNone/>
              <a:defRPr sz="3450" b="1">
                <a:solidFill>
                  <a:srgbClr val="F5F5F7"/>
                </a:solidFill>
                <a:latin typeface="Helvetica Neue"/>
                <a:ea typeface="Helvetica Neue"/>
                <a:cs typeface="Helvetica Neue"/>
              </a:defRPr>
            </a:lvl2pPr>
            <a:lvl3pPr algn="l">
              <a:buNone/>
              <a:defRPr sz="3450" b="1">
                <a:solidFill>
                  <a:srgbClr val="F5F5F7"/>
                </a:solidFill>
                <a:latin typeface="Helvetica Neue"/>
                <a:ea typeface="Helvetica Neue"/>
                <a:cs typeface="Helvetica Neue"/>
              </a:defRPr>
            </a:lvl3pPr>
            <a:lvl4pPr algn="l">
              <a:buNone/>
              <a:defRPr sz="3450" b="1">
                <a:solidFill>
                  <a:srgbClr val="F5F5F7"/>
                </a:solidFill>
                <a:latin typeface="Helvetica Neue"/>
                <a:ea typeface="Helvetica Neue"/>
                <a:cs typeface="Helvetica Neue"/>
              </a:defRPr>
            </a:lvl4pPr>
            <a:lvl5pPr algn="l">
              <a:buNone/>
              <a:defRPr sz="3450" b="1">
                <a:solidFill>
                  <a:srgbClr val="F5F5F7"/>
                </a:solidFill>
                <a:latin typeface="Helvetica Neue"/>
                <a:ea typeface="Helvetica Neue"/>
                <a:cs typeface="Helvetica Neue"/>
              </a:defRPr>
            </a:lvl5pPr>
            <a:lvl6pPr algn="l">
              <a:buNone/>
              <a:defRPr sz="3450" b="1">
                <a:solidFill>
                  <a:srgbClr val="F5F5F7"/>
                </a:solidFill>
                <a:latin typeface="Helvetica Neue"/>
                <a:ea typeface="Helvetica Neue"/>
                <a:cs typeface="Helvetica Neue"/>
              </a:defRPr>
            </a:lvl6pPr>
            <a:lvl7pPr algn="l">
              <a:buNone/>
              <a:defRPr sz="3450" b="1">
                <a:solidFill>
                  <a:srgbClr val="F5F5F7"/>
                </a:solidFill>
                <a:latin typeface="Helvetica Neue"/>
                <a:ea typeface="Helvetica Neue"/>
                <a:cs typeface="Helvetica Neue"/>
              </a:defRPr>
            </a:lvl7pPr>
            <a:lvl8pPr algn="l">
              <a:buNone/>
              <a:defRPr sz="3450" b="1">
                <a:solidFill>
                  <a:srgbClr val="F5F5F7"/>
                </a:solidFill>
                <a:latin typeface="Helvetica Neue"/>
                <a:ea typeface="Helvetica Neue"/>
                <a:cs typeface="Helvetica Neue"/>
              </a:defRPr>
            </a:lvl8pPr>
            <a:lvl9pPr algn="l">
              <a:buNone/>
              <a:defRPr sz="3450" b="1">
                <a:solidFill>
                  <a:srgbClr val="F5F5F7"/>
                </a:solidFill>
                <a:latin typeface="Helvetica Neue"/>
                <a:ea typeface="Helvetica Neue"/>
                <a:cs typeface="Helvetica Neue"/>
              </a:defRPr>
            </a:lvl9pPr>
          </a:lstStyle>
          <a:p xmlns:a="http://schemas.openxmlformats.org/drawingml/2006/main">
            <a:pPr algn="l">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Single-label и multi-label classification</a:t>
            </a:r>
          </a:p>
        </p:txBody>
      </p:sp>
      <p:pic>
        <p:nvPicPr>
          <p:cNvPr id="14" name="">
            <a:extLst xmlns:a="http://schemas.openxmlformats.org/drawingml/2006/main">
              <a:ext uri="{FF2B5EF4-FFF2-40B4-BE49-F238E27FC236}">
                <a16:creationId xmlns:a16="http://schemas.microsoft.com/office/drawing/2014/main" id="{A44C4EF8-2DDB-498E-8A00-CC4EF9D4C718}"/>
              </a:ext>
            </a:extLst>
          </p:cNvPr>
          <p:cNvPicPr>
            <a:picLocks xmlns:a="http://schemas.openxmlformats.org/drawingml/2006/main" noChangeAspect="1"/>
          </p:cNvPicPr>
          <p:nvPr/>
        </p:nvPicPr>
        <p:blipFill>
          <a:blip xmlns:r="http://schemas.openxmlformats.org/officeDocument/2006/relationships" xmlns:a="http://schemas.openxmlformats.org/drawingml/2006/main" r:embed="R50a4387024384463"/>
          <a:stretch xmlns:a="http://schemas.openxmlformats.org/drawingml/2006/main"/>
        </p:blipFill>
        <p:spPr>
          <a:xfrm xmlns:a="http://schemas.openxmlformats.org/drawingml/2006/main">
            <a:off x="3874356" y="2000250"/>
            <a:ext cx="4443288" cy="2381250"/>
          </a:xfrm>
          <a:prstGeom xmlns:a="http://schemas.openxmlformats.org/drawingml/2006/main" prst="rect">
            <a:avLst/>
          </a:prstGeom>
        </p:spPr>
      </p:pic>
      <p:sp>
        <p:nvSpPr>
          <p:cNvPr id="15" name="ysda-4">
            <a:extLst xmlns:a="http://schemas.openxmlformats.org/drawingml/2006/main">
              <a:ext uri="{FF2B5EF4-FFF2-40B4-BE49-F238E27FC236}">
                <a16:creationId xmlns:a16="http://schemas.microsoft.com/office/drawing/2014/main" id="{820B3805-8FDA-416E-B24F-8790FA3E76EE}"/>
              </a:ext>
            </a:extLst>
          </p:cNvPr>
          <p:cNvSpPr>
            <a:spLocks xmlns:a="http://schemas.openxmlformats.org/drawingml/2006/main" noGrp="1"/>
          </p:cNvSpPr>
          <p:nvPr/>
        </p:nvSpPr>
        <p:spPr>
          <a:xfrm xmlns:a="http://schemas.openxmlformats.org/drawingml/2006/main">
            <a:off x="685800" y="4600575"/>
            <a:ext cx="108204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13" b="0">
                <a:solidFill>
                  <a:srgbClr val="CDCDD3"/>
                </a:solidFill>
                <a:latin typeface="Helvetica Neue"/>
                <a:ea typeface="Helvetica Neue"/>
                <a:cs typeface="Helvetica Neue"/>
              </a:defRPr>
            </a:defPPr>
            <a:lvl1pPr>
              <a:defRPr sz="1913" b="0">
                <a:solidFill>
                  <a:srgbClr val="CDCDD3"/>
                </a:solidFill>
                <a:latin typeface="Helvetica Neue"/>
                <a:ea typeface="Helvetica Neue"/>
                <a:cs typeface="Helvetica Neue"/>
              </a:defRPr>
            </a:lvl1pPr>
            <a:lvl2pPr>
              <a:defRPr sz="1913" b="0">
                <a:solidFill>
                  <a:srgbClr val="CDCDD3"/>
                </a:solidFill>
                <a:latin typeface="Helvetica Neue"/>
                <a:ea typeface="Helvetica Neue"/>
                <a:cs typeface="Helvetica Neue"/>
              </a:defRPr>
            </a:lvl2pPr>
            <a:lvl3pPr>
              <a:defRPr sz="1913" b="0">
                <a:solidFill>
                  <a:srgbClr val="CDCDD3"/>
                </a:solidFill>
                <a:latin typeface="Helvetica Neue"/>
                <a:ea typeface="Helvetica Neue"/>
                <a:cs typeface="Helvetica Neue"/>
              </a:defRPr>
            </a:lvl3pPr>
            <a:lvl4pPr>
              <a:defRPr sz="1913" b="0">
                <a:solidFill>
                  <a:srgbClr val="CDCDD3"/>
                </a:solidFill>
                <a:latin typeface="Helvetica Neue"/>
                <a:ea typeface="Helvetica Neue"/>
                <a:cs typeface="Helvetica Neue"/>
              </a:defRPr>
            </a:lvl4pPr>
            <a:lvl5pPr>
              <a:defRPr sz="1913" b="0">
                <a:solidFill>
                  <a:srgbClr val="CDCDD3"/>
                </a:solidFill>
                <a:latin typeface="Helvetica Neue"/>
                <a:ea typeface="Helvetica Neue"/>
                <a:cs typeface="Helvetica Neue"/>
              </a:defRPr>
            </a:lvl5pPr>
            <a:lvl6pPr>
              <a:defRPr sz="1913" b="0">
                <a:solidFill>
                  <a:srgbClr val="CDCDD3"/>
                </a:solidFill>
                <a:latin typeface="Helvetica Neue"/>
                <a:ea typeface="Helvetica Neue"/>
                <a:cs typeface="Helvetica Neue"/>
              </a:defRPr>
            </a:lvl6pPr>
            <a:lvl7pPr>
              <a:defRPr sz="1913" b="0">
                <a:solidFill>
                  <a:srgbClr val="CDCDD3"/>
                </a:solidFill>
                <a:latin typeface="Helvetica Neue"/>
                <a:ea typeface="Helvetica Neue"/>
                <a:cs typeface="Helvetica Neue"/>
              </a:defRPr>
            </a:lvl7pPr>
            <a:lvl8pPr>
              <a:defRPr sz="1913" b="0">
                <a:solidFill>
                  <a:srgbClr val="CDCDD3"/>
                </a:solidFill>
                <a:latin typeface="Helvetica Neue"/>
                <a:ea typeface="Helvetica Neue"/>
                <a:cs typeface="Helvetica Neue"/>
              </a:defRPr>
            </a:lvl8pPr>
            <a:lvl9pPr>
              <a:defRPr sz="1913" b="0">
                <a:solidFill>
                  <a:srgbClr val="CDCDD3"/>
                </a:solidFill>
                <a:latin typeface="Helvetica Neue"/>
                <a:ea typeface="Helvetica Neue"/>
                <a:cs typeface="Helvetica Neue"/>
              </a:defRPr>
            </a:lvl9pPr>
          </a:lstStyle>
          <a:p xmlns:a="http://schemas.openxmlformats.org/drawingml/2006/main">
            <a:pPr>
              <a:defRPr sz="1913" b="0">
                <a:solidFill>
                  <a:srgbClr val="CDCDD3"/>
                </a:solidFill>
                <a:latin typeface="Helvetica Neue"/>
                <a:ea typeface="Helvetica Neue"/>
                <a:cs typeface="Helvetica Neue"/>
              </a:defRPr>
            </a:pPr>
            <a:r>
              <a:rPr sz="1913" b="0">
                <a:solidFill>
                  <a:srgbClr val="CDCDD3"/>
                </a:solidFill>
                <a:latin typeface="Helvetica Neue"/>
                <a:ea typeface="Helvetica Neue"/>
                <a:cs typeface="Helvetica Neue"/>
              </a:rPr>
              <a:t>В single-label classification у объекта одна целевая метка: binary classification задаёт два возможных класса, multi-class — больше двух. В multi-label classification несколько меток могут быть верны одновременно. Например, сообщение может относиться и к доставке, и к оплате. Число классов и число меток у одного объекта — разные характеристики задачи. Это различие влияет на annotation, выход модели и выбор evaluation metrics.</a:t>
            </a:r>
          </a:p>
        </p:txBody>
      </p:sp>
    </p:spTree>
    <p:extLst>
      <p:ext uri="{BB962C8B-B14F-4D97-AF65-F5344CB8AC3E}">
        <p14:creationId xmlns:p14="http://schemas.microsoft.com/office/powerpoint/2010/main" val="133882144"/>
      </p:ext>
    </p:extLst>
  </p:cSld>
</p:sld>
</file>

<file path=ppt/slides/slide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4D7F0E7F-2427-4754-8C93-3BA71D300824}"/>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98989F"/>
                </a:solidFill>
                <a:latin typeface="Helvetica Neue"/>
                <a:ea typeface="Helvetica Neue"/>
                <a:cs typeface="Helvetica Neue"/>
              </a:defRPr>
            </a:defPPr>
            <a:lvl1pPr algn="l">
              <a:buNone/>
              <a:defRPr sz="1425" b="0">
                <a:solidFill>
                  <a:srgbClr val="98989F"/>
                </a:solidFill>
                <a:latin typeface="Helvetica Neue"/>
                <a:ea typeface="Helvetica Neue"/>
                <a:cs typeface="Helvetica Neue"/>
              </a:defRPr>
            </a:lvl1pPr>
            <a:lvl2pPr algn="l">
              <a:buNone/>
              <a:defRPr sz="1425" b="0">
                <a:solidFill>
                  <a:srgbClr val="98989F"/>
                </a:solidFill>
                <a:latin typeface="Helvetica Neue"/>
                <a:ea typeface="Helvetica Neue"/>
                <a:cs typeface="Helvetica Neue"/>
              </a:defRPr>
            </a:lvl2pPr>
            <a:lvl3pPr algn="l">
              <a:buNone/>
              <a:defRPr sz="1425" b="0">
                <a:solidFill>
                  <a:srgbClr val="98989F"/>
                </a:solidFill>
                <a:latin typeface="Helvetica Neue"/>
                <a:ea typeface="Helvetica Neue"/>
                <a:cs typeface="Helvetica Neue"/>
              </a:defRPr>
            </a:lvl3pPr>
            <a:lvl4pPr algn="l">
              <a:buNone/>
              <a:defRPr sz="1425" b="0">
                <a:solidFill>
                  <a:srgbClr val="98989F"/>
                </a:solidFill>
                <a:latin typeface="Helvetica Neue"/>
                <a:ea typeface="Helvetica Neue"/>
                <a:cs typeface="Helvetica Neue"/>
              </a:defRPr>
            </a:lvl4pPr>
            <a:lvl5pPr algn="l">
              <a:buNone/>
              <a:defRPr sz="1425" b="0">
                <a:solidFill>
                  <a:srgbClr val="98989F"/>
                </a:solidFill>
                <a:latin typeface="Helvetica Neue"/>
                <a:ea typeface="Helvetica Neue"/>
                <a:cs typeface="Helvetica Neue"/>
              </a:defRPr>
            </a:lvl5pPr>
            <a:lvl6pPr algn="l">
              <a:buNone/>
              <a:defRPr sz="1425" b="0">
                <a:solidFill>
                  <a:srgbClr val="98989F"/>
                </a:solidFill>
                <a:latin typeface="Helvetica Neue"/>
                <a:ea typeface="Helvetica Neue"/>
                <a:cs typeface="Helvetica Neue"/>
              </a:defRPr>
            </a:lvl6pPr>
            <a:lvl7pPr algn="l">
              <a:buNone/>
              <a:defRPr sz="1425" b="0">
                <a:solidFill>
                  <a:srgbClr val="98989F"/>
                </a:solidFill>
                <a:latin typeface="Helvetica Neue"/>
                <a:ea typeface="Helvetica Neue"/>
                <a:cs typeface="Helvetica Neue"/>
              </a:defRPr>
            </a:lvl7pPr>
            <a:lvl8pPr algn="l">
              <a:buNone/>
              <a:defRPr sz="1425" b="0">
                <a:solidFill>
                  <a:srgbClr val="98989F"/>
                </a:solidFill>
                <a:latin typeface="Helvetica Neue"/>
                <a:ea typeface="Helvetica Neue"/>
                <a:cs typeface="Helvetica Neue"/>
              </a:defRPr>
            </a:lvl8pPr>
            <a:lvl9pPr algn="l">
              <a:buNone/>
              <a:defRPr sz="1425" b="0">
                <a:solidFill>
                  <a:srgbClr val="98989F"/>
                </a:solidFill>
                <a:latin typeface="Helvetica Neue"/>
                <a:ea typeface="Helvetica Neue"/>
                <a:cs typeface="Helvetica Neue"/>
              </a:defRPr>
            </a:lvl9pPr>
          </a:lstStyle>
          <a:p xmlns:a="http://schemas.openxmlformats.org/drawingml/2006/main">
            <a:pPr algn="l">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text-1">
            <a:extLst xmlns:a="http://schemas.openxmlformats.org/drawingml/2006/main">
              <a:ext uri="{FF2B5EF4-FFF2-40B4-BE49-F238E27FC236}">
                <a16:creationId xmlns:a16="http://schemas.microsoft.com/office/drawing/2014/main" id="{7379A119-3F44-4F4D-BB61-0E22ECFFD029}"/>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07</a:t>
            </a:r>
          </a:p>
        </p:txBody>
      </p:sp>
      <p:sp>
        <p:nvSpPr>
          <p:cNvPr id="3" name="">
            <a:extLst xmlns:a="http://schemas.openxmlformats.org/drawingml/2006/main">
              <a:ext uri="{FF2B5EF4-FFF2-40B4-BE49-F238E27FC236}">
                <a16:creationId xmlns:a16="http://schemas.microsoft.com/office/drawing/2014/main" id="{4537AA2B-DFBC-4AD4-86A1-975DAC0BDDAC}"/>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prstDash val="solid"/>
          </a:ln>
        </p:spPr>
      </p:sp>
      <p:sp>
        <p:nvSpPr>
          <p:cNvPr id="4" name="text-3">
            <a:extLst xmlns:a="http://schemas.openxmlformats.org/drawingml/2006/main">
              <a:ext uri="{FF2B5EF4-FFF2-40B4-BE49-F238E27FC236}">
                <a16:creationId xmlns:a16="http://schemas.microsoft.com/office/drawing/2014/main" id="{37054109-6CCA-4D32-AE7E-90BB960E6613}"/>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5F7"/>
                </a:solidFill>
                <a:latin typeface="Helvetica Neue"/>
                <a:ea typeface="Helvetica Neue"/>
                <a:cs typeface="Helvetica Neue"/>
              </a:defRPr>
            </a:defPPr>
            <a:lvl1pPr algn="l">
              <a:buNone/>
              <a:defRPr sz="3450" b="1">
                <a:solidFill>
                  <a:srgbClr val="F5F5F7"/>
                </a:solidFill>
                <a:latin typeface="Helvetica Neue"/>
                <a:ea typeface="Helvetica Neue"/>
                <a:cs typeface="Helvetica Neue"/>
              </a:defRPr>
            </a:lvl1pPr>
            <a:lvl2pPr algn="l">
              <a:buNone/>
              <a:defRPr sz="3450" b="1">
                <a:solidFill>
                  <a:srgbClr val="F5F5F7"/>
                </a:solidFill>
                <a:latin typeface="Helvetica Neue"/>
                <a:ea typeface="Helvetica Neue"/>
                <a:cs typeface="Helvetica Neue"/>
              </a:defRPr>
            </a:lvl2pPr>
            <a:lvl3pPr algn="l">
              <a:buNone/>
              <a:defRPr sz="3450" b="1">
                <a:solidFill>
                  <a:srgbClr val="F5F5F7"/>
                </a:solidFill>
                <a:latin typeface="Helvetica Neue"/>
                <a:ea typeface="Helvetica Neue"/>
                <a:cs typeface="Helvetica Neue"/>
              </a:defRPr>
            </a:lvl3pPr>
            <a:lvl4pPr algn="l">
              <a:buNone/>
              <a:defRPr sz="3450" b="1">
                <a:solidFill>
                  <a:srgbClr val="F5F5F7"/>
                </a:solidFill>
                <a:latin typeface="Helvetica Neue"/>
                <a:ea typeface="Helvetica Neue"/>
                <a:cs typeface="Helvetica Neue"/>
              </a:defRPr>
            </a:lvl4pPr>
            <a:lvl5pPr algn="l">
              <a:buNone/>
              <a:defRPr sz="3450" b="1">
                <a:solidFill>
                  <a:srgbClr val="F5F5F7"/>
                </a:solidFill>
                <a:latin typeface="Helvetica Neue"/>
                <a:ea typeface="Helvetica Neue"/>
                <a:cs typeface="Helvetica Neue"/>
              </a:defRPr>
            </a:lvl5pPr>
            <a:lvl6pPr algn="l">
              <a:buNone/>
              <a:defRPr sz="3450" b="1">
                <a:solidFill>
                  <a:srgbClr val="F5F5F7"/>
                </a:solidFill>
                <a:latin typeface="Helvetica Neue"/>
                <a:ea typeface="Helvetica Neue"/>
                <a:cs typeface="Helvetica Neue"/>
              </a:defRPr>
            </a:lvl6pPr>
            <a:lvl7pPr algn="l">
              <a:buNone/>
              <a:defRPr sz="3450" b="1">
                <a:solidFill>
                  <a:srgbClr val="F5F5F7"/>
                </a:solidFill>
                <a:latin typeface="Helvetica Neue"/>
                <a:ea typeface="Helvetica Neue"/>
                <a:cs typeface="Helvetica Neue"/>
              </a:defRPr>
            </a:lvl7pPr>
            <a:lvl8pPr algn="l">
              <a:buNone/>
              <a:defRPr sz="3450" b="1">
                <a:solidFill>
                  <a:srgbClr val="F5F5F7"/>
                </a:solidFill>
                <a:latin typeface="Helvetica Neue"/>
                <a:ea typeface="Helvetica Neue"/>
                <a:cs typeface="Helvetica Neue"/>
              </a:defRPr>
            </a:lvl8pPr>
            <a:lvl9pPr algn="l">
              <a:buNone/>
              <a:defRPr sz="3450" b="1">
                <a:solidFill>
                  <a:srgbClr val="F5F5F7"/>
                </a:solidFill>
                <a:latin typeface="Helvetica Neue"/>
                <a:ea typeface="Helvetica Neue"/>
                <a:cs typeface="Helvetica Neue"/>
              </a:defRPr>
            </a:lvl9pPr>
          </a:lstStyle>
          <a:p xmlns:a="http://schemas.openxmlformats.org/drawingml/2006/main">
            <a:pPr algn="l">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Sentiment analysis: постановка задачи</a:t>
            </a:r>
          </a:p>
        </p:txBody>
      </p:sp>
      <p:sp>
        <p:nvSpPr>
          <p:cNvPr id="9" name="theory-4">
            <a:extLst xmlns:a="http://schemas.openxmlformats.org/drawingml/2006/main">
              <a:ext uri="{FF2B5EF4-FFF2-40B4-BE49-F238E27FC236}">
                <a16:creationId xmlns:a16="http://schemas.microsoft.com/office/drawing/2014/main" id="{72585FB6-F739-41B3-90B3-C42A57DDE291}"/>
              </a:ext>
            </a:extLst>
          </p:cNvPr>
          <p:cNvSpPr>
            <a:spLocks xmlns:a="http://schemas.openxmlformats.org/drawingml/2006/main" noGrp="1"/>
          </p:cNvSpPr>
          <p:nvPr/>
        </p:nvSpPr>
        <p:spPr>
          <a:xfrm xmlns:a="http://schemas.openxmlformats.org/drawingml/2006/main">
            <a:off x="685800" y="20478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buNone/>
              <a:defRPr sz="1950" b="1">
                <a:solidFill>
                  <a:srgbClr val="BD9FE3"/>
                </a:solidFill>
                <a:latin typeface="Helvetica Neue"/>
                <a:ea typeface="Helvetica Neue"/>
                <a:cs typeface="Helvetica Neue"/>
              </a:defRPr>
            </a:lvl1pPr>
            <a:lvl2pPr>
              <a:buNone/>
              <a:defRPr sz="1950" b="1">
                <a:solidFill>
                  <a:srgbClr val="BD9FE3"/>
                </a:solidFill>
                <a:latin typeface="Helvetica Neue"/>
                <a:ea typeface="Helvetica Neue"/>
                <a:cs typeface="Helvetica Neue"/>
              </a:defRPr>
            </a:lvl2pPr>
            <a:lvl3pPr>
              <a:buNone/>
              <a:defRPr sz="1950" b="1">
                <a:solidFill>
                  <a:srgbClr val="BD9FE3"/>
                </a:solidFill>
                <a:latin typeface="Helvetica Neue"/>
                <a:ea typeface="Helvetica Neue"/>
                <a:cs typeface="Helvetica Neue"/>
              </a:defRPr>
            </a:lvl3pPr>
            <a:lvl4pPr>
              <a:buNone/>
              <a:defRPr sz="1950" b="1">
                <a:solidFill>
                  <a:srgbClr val="BD9FE3"/>
                </a:solidFill>
                <a:latin typeface="Helvetica Neue"/>
                <a:ea typeface="Helvetica Neue"/>
                <a:cs typeface="Helvetica Neue"/>
              </a:defRPr>
            </a:lvl4pPr>
            <a:lvl5pPr>
              <a:buNone/>
              <a:defRPr sz="1950" b="1">
                <a:solidFill>
                  <a:srgbClr val="BD9FE3"/>
                </a:solidFill>
                <a:latin typeface="Helvetica Neue"/>
                <a:ea typeface="Helvetica Neue"/>
                <a:cs typeface="Helvetica Neue"/>
              </a:defRPr>
            </a:lvl5pPr>
            <a:lvl6pPr>
              <a:buNone/>
              <a:defRPr sz="1950" b="1">
                <a:solidFill>
                  <a:srgbClr val="BD9FE3"/>
                </a:solidFill>
                <a:latin typeface="Helvetica Neue"/>
                <a:ea typeface="Helvetica Neue"/>
                <a:cs typeface="Helvetica Neue"/>
              </a:defRPr>
            </a:lvl6pPr>
            <a:lvl7pPr>
              <a:buNone/>
              <a:defRPr sz="1950" b="1">
                <a:solidFill>
                  <a:srgbClr val="BD9FE3"/>
                </a:solidFill>
                <a:latin typeface="Helvetica Neue"/>
                <a:ea typeface="Helvetica Neue"/>
                <a:cs typeface="Helvetica Neue"/>
              </a:defRPr>
            </a:lvl7pPr>
            <a:lvl8pPr>
              <a:buNone/>
              <a:defRPr sz="1950" b="1">
                <a:solidFill>
                  <a:srgbClr val="BD9FE3"/>
                </a:solidFill>
                <a:latin typeface="Helvetica Neue"/>
                <a:ea typeface="Helvetica Neue"/>
                <a:cs typeface="Helvetica Neue"/>
              </a:defRPr>
            </a:lvl8pPr>
            <a:lvl9pPr>
              <a:buNone/>
              <a:defRPr sz="1950" b="1">
                <a:solidFill>
                  <a:srgbClr val="BD9FE3"/>
                </a:solidFill>
                <a:latin typeface="Helvetica Neue"/>
                <a:ea typeface="Helvetica Neue"/>
                <a:cs typeface="Helvetica Neue"/>
              </a:defRPr>
            </a:lvl9pPr>
          </a:lstStyle>
          <a:p xmlns:a="http://schemas.openxmlformats.org/drawingml/2006/main">
            <a:pPr>
              <a:buNone/>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Объект оценки</a:t>
            </a:r>
          </a:p>
        </p:txBody>
      </p:sp>
      <p:sp>
        <p:nvSpPr>
          <p:cNvPr id="10" name="theory-5">
            <a:extLst xmlns:a="http://schemas.openxmlformats.org/drawingml/2006/main">
              <a:ext uri="{FF2B5EF4-FFF2-40B4-BE49-F238E27FC236}">
                <a16:creationId xmlns:a16="http://schemas.microsoft.com/office/drawing/2014/main" id="{21775CCD-8D86-4675-8732-E6B06C280EBF}"/>
              </a:ext>
            </a:extLst>
          </p:cNvPr>
          <p:cNvSpPr>
            <a:spLocks xmlns:a="http://schemas.openxmlformats.org/drawingml/2006/main" noGrp="1"/>
          </p:cNvSpPr>
          <p:nvPr/>
        </p:nvSpPr>
        <p:spPr>
          <a:xfrm xmlns:a="http://schemas.openxmlformats.org/drawingml/2006/main">
            <a:off x="685800" y="2514600"/>
            <a:ext cx="108204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buNone/>
              <a:defRPr sz="2025" b="0">
                <a:solidFill>
                  <a:srgbClr val="CDCDD3"/>
                </a:solidFill>
                <a:latin typeface="Helvetica Neue"/>
                <a:ea typeface="Helvetica Neue"/>
                <a:cs typeface="Helvetica Neue"/>
              </a:defRPr>
            </a:lvl1pPr>
            <a:lvl2pPr>
              <a:buNone/>
              <a:defRPr sz="2025" b="0">
                <a:solidFill>
                  <a:srgbClr val="CDCDD3"/>
                </a:solidFill>
                <a:latin typeface="Helvetica Neue"/>
                <a:ea typeface="Helvetica Neue"/>
                <a:cs typeface="Helvetica Neue"/>
              </a:defRPr>
            </a:lvl2pPr>
            <a:lvl3pPr>
              <a:buNone/>
              <a:defRPr sz="2025" b="0">
                <a:solidFill>
                  <a:srgbClr val="CDCDD3"/>
                </a:solidFill>
                <a:latin typeface="Helvetica Neue"/>
                <a:ea typeface="Helvetica Neue"/>
                <a:cs typeface="Helvetica Neue"/>
              </a:defRPr>
            </a:lvl3pPr>
            <a:lvl4pPr>
              <a:buNone/>
              <a:defRPr sz="2025" b="0">
                <a:solidFill>
                  <a:srgbClr val="CDCDD3"/>
                </a:solidFill>
                <a:latin typeface="Helvetica Neue"/>
                <a:ea typeface="Helvetica Neue"/>
                <a:cs typeface="Helvetica Neue"/>
              </a:defRPr>
            </a:lvl4pPr>
            <a:lvl5pPr>
              <a:buNone/>
              <a:defRPr sz="2025" b="0">
                <a:solidFill>
                  <a:srgbClr val="CDCDD3"/>
                </a:solidFill>
                <a:latin typeface="Helvetica Neue"/>
                <a:ea typeface="Helvetica Neue"/>
                <a:cs typeface="Helvetica Neue"/>
              </a:defRPr>
            </a:lvl5pPr>
            <a:lvl6pPr>
              <a:buNone/>
              <a:defRPr sz="2025" b="0">
                <a:solidFill>
                  <a:srgbClr val="CDCDD3"/>
                </a:solidFill>
                <a:latin typeface="Helvetica Neue"/>
                <a:ea typeface="Helvetica Neue"/>
                <a:cs typeface="Helvetica Neue"/>
              </a:defRPr>
            </a:lvl6pPr>
            <a:lvl7pPr>
              <a:buNone/>
              <a:defRPr sz="2025" b="0">
                <a:solidFill>
                  <a:srgbClr val="CDCDD3"/>
                </a:solidFill>
                <a:latin typeface="Helvetica Neue"/>
                <a:ea typeface="Helvetica Neue"/>
                <a:cs typeface="Helvetica Neue"/>
              </a:defRPr>
            </a:lvl7pPr>
            <a:lvl8pPr>
              <a:buNone/>
              <a:defRPr sz="2025" b="0">
                <a:solidFill>
                  <a:srgbClr val="CDCDD3"/>
                </a:solidFill>
                <a:latin typeface="Helvetica Neue"/>
                <a:ea typeface="Helvetica Neue"/>
                <a:cs typeface="Helvetica Neue"/>
              </a:defRPr>
            </a:lvl8pPr>
            <a:lvl9pPr>
              <a:buNone/>
              <a:defRPr sz="2025" b="0">
                <a:solidFill>
                  <a:srgbClr val="CDCDD3"/>
                </a:solidFill>
                <a:latin typeface="Helvetica Neue"/>
                <a:ea typeface="Helvetica Neue"/>
                <a:cs typeface="Helvetica Neue"/>
              </a:defRPr>
            </a:lvl9pPr>
          </a:lstStyle>
          <a:p xmlns:a="http://schemas.openxmlformats.org/drawingml/2006/main">
            <a:pPr>
              <a:buNone/>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Отзыв «Товар отличный, но доставка заняла две недели» содержит оценки разных объектов. Положительное отношение к товару сочетается с недовольством доставкой. Прежде чем назначать метку, необходимо определить, что именно оценивает система: товар, обслуживание, заказ в целом или отдельные аспекты пользовательского опыта.</a:t>
            </a:r>
          </a:p>
        </p:txBody>
      </p:sp>
      <p:sp>
        <p:nvSpPr>
          <p:cNvPr id="11" name="theory-6">
            <a:extLst xmlns:a="http://schemas.openxmlformats.org/drawingml/2006/main">
              <a:ext uri="{FF2B5EF4-FFF2-40B4-BE49-F238E27FC236}">
                <a16:creationId xmlns:a16="http://schemas.microsoft.com/office/drawing/2014/main" id="{75F7A824-979E-4458-BAC1-944DACE1DE56}"/>
              </a:ext>
            </a:extLst>
          </p:cNvPr>
          <p:cNvSpPr>
            <a:spLocks xmlns:a="http://schemas.openxmlformats.org/drawingml/2006/main" noGrp="1"/>
          </p:cNvSpPr>
          <p:nvPr/>
        </p:nvSpPr>
        <p:spPr>
          <a:xfrm xmlns:a="http://schemas.openxmlformats.org/drawingml/2006/main">
            <a:off x="685800" y="4229100"/>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buNone/>
              <a:defRPr sz="1950" b="1">
                <a:solidFill>
                  <a:srgbClr val="BD9FE3"/>
                </a:solidFill>
                <a:latin typeface="Helvetica Neue"/>
                <a:ea typeface="Helvetica Neue"/>
                <a:cs typeface="Helvetica Neue"/>
              </a:defRPr>
            </a:lvl1pPr>
            <a:lvl2pPr>
              <a:buNone/>
              <a:defRPr sz="1950" b="1">
                <a:solidFill>
                  <a:srgbClr val="BD9FE3"/>
                </a:solidFill>
                <a:latin typeface="Helvetica Neue"/>
                <a:ea typeface="Helvetica Neue"/>
                <a:cs typeface="Helvetica Neue"/>
              </a:defRPr>
            </a:lvl2pPr>
            <a:lvl3pPr>
              <a:buNone/>
              <a:defRPr sz="1950" b="1">
                <a:solidFill>
                  <a:srgbClr val="BD9FE3"/>
                </a:solidFill>
                <a:latin typeface="Helvetica Neue"/>
                <a:ea typeface="Helvetica Neue"/>
                <a:cs typeface="Helvetica Neue"/>
              </a:defRPr>
            </a:lvl3pPr>
            <a:lvl4pPr>
              <a:buNone/>
              <a:defRPr sz="1950" b="1">
                <a:solidFill>
                  <a:srgbClr val="BD9FE3"/>
                </a:solidFill>
                <a:latin typeface="Helvetica Neue"/>
                <a:ea typeface="Helvetica Neue"/>
                <a:cs typeface="Helvetica Neue"/>
              </a:defRPr>
            </a:lvl4pPr>
            <a:lvl5pPr>
              <a:buNone/>
              <a:defRPr sz="1950" b="1">
                <a:solidFill>
                  <a:srgbClr val="BD9FE3"/>
                </a:solidFill>
                <a:latin typeface="Helvetica Neue"/>
                <a:ea typeface="Helvetica Neue"/>
                <a:cs typeface="Helvetica Neue"/>
              </a:defRPr>
            </a:lvl5pPr>
            <a:lvl6pPr>
              <a:buNone/>
              <a:defRPr sz="1950" b="1">
                <a:solidFill>
                  <a:srgbClr val="BD9FE3"/>
                </a:solidFill>
                <a:latin typeface="Helvetica Neue"/>
                <a:ea typeface="Helvetica Neue"/>
                <a:cs typeface="Helvetica Neue"/>
              </a:defRPr>
            </a:lvl6pPr>
            <a:lvl7pPr>
              <a:buNone/>
              <a:defRPr sz="1950" b="1">
                <a:solidFill>
                  <a:srgbClr val="BD9FE3"/>
                </a:solidFill>
                <a:latin typeface="Helvetica Neue"/>
                <a:ea typeface="Helvetica Neue"/>
                <a:cs typeface="Helvetica Neue"/>
              </a:defRPr>
            </a:lvl7pPr>
            <a:lvl8pPr>
              <a:buNone/>
              <a:defRPr sz="1950" b="1">
                <a:solidFill>
                  <a:srgbClr val="BD9FE3"/>
                </a:solidFill>
                <a:latin typeface="Helvetica Neue"/>
                <a:ea typeface="Helvetica Neue"/>
                <a:cs typeface="Helvetica Neue"/>
              </a:defRPr>
            </a:lvl8pPr>
            <a:lvl9pPr>
              <a:buNone/>
              <a:defRPr sz="1950" b="1">
                <a:solidFill>
                  <a:srgbClr val="BD9FE3"/>
                </a:solidFill>
                <a:latin typeface="Helvetica Neue"/>
                <a:ea typeface="Helvetica Neue"/>
                <a:cs typeface="Helvetica Neue"/>
              </a:defRPr>
            </a:lvl9pPr>
          </a:lstStyle>
          <a:p xmlns:a="http://schemas.openxmlformats.org/drawingml/2006/main">
            <a:pPr>
              <a:buNone/>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Правила интерпретации</a:t>
            </a:r>
          </a:p>
        </p:txBody>
      </p:sp>
      <p:sp>
        <p:nvSpPr>
          <p:cNvPr id="12" name="theory-7">
            <a:extLst xmlns:a="http://schemas.openxmlformats.org/drawingml/2006/main">
              <a:ext uri="{FF2B5EF4-FFF2-40B4-BE49-F238E27FC236}">
                <a16:creationId xmlns:a16="http://schemas.microsoft.com/office/drawing/2014/main" id="{F1E7F983-741C-490C-BFA0-91BEBCCFAB17}"/>
              </a:ext>
            </a:extLst>
          </p:cNvPr>
          <p:cNvSpPr>
            <a:spLocks xmlns:a="http://schemas.openxmlformats.org/drawingml/2006/main" noGrp="1"/>
          </p:cNvSpPr>
          <p:nvPr/>
        </p:nvSpPr>
        <p:spPr>
          <a:xfrm xmlns:a="http://schemas.openxmlformats.org/drawingml/2006/main">
            <a:off x="685800" y="4695825"/>
            <a:ext cx="10820400" cy="1743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buNone/>
              <a:defRPr sz="2025" b="0">
                <a:solidFill>
                  <a:srgbClr val="CDCDD3"/>
                </a:solidFill>
                <a:latin typeface="Helvetica Neue"/>
                <a:ea typeface="Helvetica Neue"/>
                <a:cs typeface="Helvetica Neue"/>
              </a:defRPr>
            </a:lvl1pPr>
            <a:lvl2pPr>
              <a:buNone/>
              <a:defRPr sz="2025" b="0">
                <a:solidFill>
                  <a:srgbClr val="CDCDD3"/>
                </a:solidFill>
                <a:latin typeface="Helvetica Neue"/>
                <a:ea typeface="Helvetica Neue"/>
                <a:cs typeface="Helvetica Neue"/>
              </a:defRPr>
            </a:lvl2pPr>
            <a:lvl3pPr>
              <a:buNone/>
              <a:defRPr sz="2025" b="0">
                <a:solidFill>
                  <a:srgbClr val="CDCDD3"/>
                </a:solidFill>
                <a:latin typeface="Helvetica Neue"/>
                <a:ea typeface="Helvetica Neue"/>
                <a:cs typeface="Helvetica Neue"/>
              </a:defRPr>
            </a:lvl3pPr>
            <a:lvl4pPr>
              <a:buNone/>
              <a:defRPr sz="2025" b="0">
                <a:solidFill>
                  <a:srgbClr val="CDCDD3"/>
                </a:solidFill>
                <a:latin typeface="Helvetica Neue"/>
                <a:ea typeface="Helvetica Neue"/>
                <a:cs typeface="Helvetica Neue"/>
              </a:defRPr>
            </a:lvl4pPr>
            <a:lvl5pPr>
              <a:buNone/>
              <a:defRPr sz="2025" b="0">
                <a:solidFill>
                  <a:srgbClr val="CDCDD3"/>
                </a:solidFill>
                <a:latin typeface="Helvetica Neue"/>
                <a:ea typeface="Helvetica Neue"/>
                <a:cs typeface="Helvetica Neue"/>
              </a:defRPr>
            </a:lvl5pPr>
            <a:lvl6pPr>
              <a:buNone/>
              <a:defRPr sz="2025" b="0">
                <a:solidFill>
                  <a:srgbClr val="CDCDD3"/>
                </a:solidFill>
                <a:latin typeface="Helvetica Neue"/>
                <a:ea typeface="Helvetica Neue"/>
                <a:cs typeface="Helvetica Neue"/>
              </a:defRPr>
            </a:lvl6pPr>
            <a:lvl7pPr>
              <a:buNone/>
              <a:defRPr sz="2025" b="0">
                <a:solidFill>
                  <a:srgbClr val="CDCDD3"/>
                </a:solidFill>
                <a:latin typeface="Helvetica Neue"/>
                <a:ea typeface="Helvetica Neue"/>
                <a:cs typeface="Helvetica Neue"/>
              </a:defRPr>
            </a:lvl7pPr>
            <a:lvl8pPr>
              <a:buNone/>
              <a:defRPr sz="2025" b="0">
                <a:solidFill>
                  <a:srgbClr val="CDCDD3"/>
                </a:solidFill>
                <a:latin typeface="Helvetica Neue"/>
                <a:ea typeface="Helvetica Neue"/>
                <a:cs typeface="Helvetica Neue"/>
              </a:defRPr>
            </a:lvl8pPr>
            <a:lvl9pPr>
              <a:buNone/>
              <a:defRPr sz="2025" b="0">
                <a:solidFill>
                  <a:srgbClr val="CDCDD3"/>
                </a:solidFill>
                <a:latin typeface="Helvetica Neue"/>
                <a:ea typeface="Helvetica Neue"/>
                <a:cs typeface="Helvetica Neue"/>
              </a:defRPr>
            </a:lvl9pPr>
          </a:lstStyle>
          <a:p xmlns:a="http://schemas.openxmlformats.org/drawingml/2006/main">
            <a:pPr>
              <a:buNone/>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Одинаковый текст может получать разные допустимые метки в разных постановках. Инструкция должна объяснять, как учитывать смешанные оценки, отсутствие явного мнения, иронию и нейтральные факты. Неоднозначность исходной задачи ограничивает качество модели: дополнительное обучение не заменяет согласованных определений классов и правил разметки.</a:t>
            </a:r>
          </a:p>
        </p:txBody>
      </p:sp>
    </p:spTree>
    <p:extLst>
      <p:ext uri="{BB962C8B-B14F-4D97-AF65-F5344CB8AC3E}">
        <p14:creationId xmlns:p14="http://schemas.microsoft.com/office/powerpoint/2010/main" val="727312423"/>
      </p:ext>
    </p:extLst>
  </p:cSld>
</p:sld>
</file>

<file path=ppt/slides/slide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4926D93D-D037-4933-BB46-7DD196535E93}"/>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98989F"/>
                </a:solidFill>
                <a:latin typeface="Helvetica Neue"/>
                <a:ea typeface="Helvetica Neue"/>
                <a:cs typeface="Helvetica Neue"/>
              </a:defRPr>
            </a:defPPr>
            <a:lvl1pPr algn="l">
              <a:buNone/>
              <a:defRPr sz="1425" b="0">
                <a:solidFill>
                  <a:srgbClr val="98989F"/>
                </a:solidFill>
                <a:latin typeface="Helvetica Neue"/>
                <a:ea typeface="Helvetica Neue"/>
                <a:cs typeface="Helvetica Neue"/>
              </a:defRPr>
            </a:lvl1pPr>
            <a:lvl2pPr algn="l">
              <a:buNone/>
              <a:defRPr sz="1425" b="0">
                <a:solidFill>
                  <a:srgbClr val="98989F"/>
                </a:solidFill>
                <a:latin typeface="Helvetica Neue"/>
                <a:ea typeface="Helvetica Neue"/>
                <a:cs typeface="Helvetica Neue"/>
              </a:defRPr>
            </a:lvl2pPr>
            <a:lvl3pPr algn="l">
              <a:buNone/>
              <a:defRPr sz="1425" b="0">
                <a:solidFill>
                  <a:srgbClr val="98989F"/>
                </a:solidFill>
                <a:latin typeface="Helvetica Neue"/>
                <a:ea typeface="Helvetica Neue"/>
                <a:cs typeface="Helvetica Neue"/>
              </a:defRPr>
            </a:lvl3pPr>
            <a:lvl4pPr algn="l">
              <a:buNone/>
              <a:defRPr sz="1425" b="0">
                <a:solidFill>
                  <a:srgbClr val="98989F"/>
                </a:solidFill>
                <a:latin typeface="Helvetica Neue"/>
                <a:ea typeface="Helvetica Neue"/>
                <a:cs typeface="Helvetica Neue"/>
              </a:defRPr>
            </a:lvl4pPr>
            <a:lvl5pPr algn="l">
              <a:buNone/>
              <a:defRPr sz="1425" b="0">
                <a:solidFill>
                  <a:srgbClr val="98989F"/>
                </a:solidFill>
                <a:latin typeface="Helvetica Neue"/>
                <a:ea typeface="Helvetica Neue"/>
                <a:cs typeface="Helvetica Neue"/>
              </a:defRPr>
            </a:lvl5pPr>
            <a:lvl6pPr algn="l">
              <a:buNone/>
              <a:defRPr sz="1425" b="0">
                <a:solidFill>
                  <a:srgbClr val="98989F"/>
                </a:solidFill>
                <a:latin typeface="Helvetica Neue"/>
                <a:ea typeface="Helvetica Neue"/>
                <a:cs typeface="Helvetica Neue"/>
              </a:defRPr>
            </a:lvl6pPr>
            <a:lvl7pPr algn="l">
              <a:buNone/>
              <a:defRPr sz="1425" b="0">
                <a:solidFill>
                  <a:srgbClr val="98989F"/>
                </a:solidFill>
                <a:latin typeface="Helvetica Neue"/>
                <a:ea typeface="Helvetica Neue"/>
                <a:cs typeface="Helvetica Neue"/>
              </a:defRPr>
            </a:lvl7pPr>
            <a:lvl8pPr algn="l">
              <a:buNone/>
              <a:defRPr sz="1425" b="0">
                <a:solidFill>
                  <a:srgbClr val="98989F"/>
                </a:solidFill>
                <a:latin typeface="Helvetica Neue"/>
                <a:ea typeface="Helvetica Neue"/>
                <a:cs typeface="Helvetica Neue"/>
              </a:defRPr>
            </a:lvl8pPr>
            <a:lvl9pPr algn="l">
              <a:buNone/>
              <a:defRPr sz="1425" b="0">
                <a:solidFill>
                  <a:srgbClr val="98989F"/>
                </a:solidFill>
                <a:latin typeface="Helvetica Neue"/>
                <a:ea typeface="Helvetica Neue"/>
                <a:cs typeface="Helvetica Neue"/>
              </a:defRPr>
            </a:lvl9pPr>
          </a:lstStyle>
          <a:p xmlns:a="http://schemas.openxmlformats.org/drawingml/2006/main">
            <a:pPr algn="l">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text-1">
            <a:extLst xmlns:a="http://schemas.openxmlformats.org/drawingml/2006/main">
              <a:ext uri="{FF2B5EF4-FFF2-40B4-BE49-F238E27FC236}">
                <a16:creationId xmlns:a16="http://schemas.microsoft.com/office/drawing/2014/main" id="{1F140012-1C8D-4B0E-9032-D6602BD873BF}"/>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08</a:t>
            </a:r>
          </a:p>
        </p:txBody>
      </p:sp>
      <p:sp>
        <p:nvSpPr>
          <p:cNvPr id="3" name="">
            <a:extLst xmlns:a="http://schemas.openxmlformats.org/drawingml/2006/main">
              <a:ext uri="{FF2B5EF4-FFF2-40B4-BE49-F238E27FC236}">
                <a16:creationId xmlns:a16="http://schemas.microsoft.com/office/drawing/2014/main" id="{00A2D3C0-D895-4CFF-B259-7C982BABDF04}"/>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prstDash val="solid"/>
          </a:ln>
        </p:spPr>
      </p:sp>
      <p:sp>
        <p:nvSpPr>
          <p:cNvPr id="4" name="text-3">
            <a:extLst xmlns:a="http://schemas.openxmlformats.org/drawingml/2006/main">
              <a:ext uri="{FF2B5EF4-FFF2-40B4-BE49-F238E27FC236}">
                <a16:creationId xmlns:a16="http://schemas.microsoft.com/office/drawing/2014/main" id="{DA3E38E8-05A0-4BF1-892D-9D820120F0BB}"/>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5F7"/>
                </a:solidFill>
                <a:latin typeface="Helvetica Neue"/>
                <a:ea typeface="Helvetica Neue"/>
                <a:cs typeface="Helvetica Neue"/>
              </a:defRPr>
            </a:defPPr>
            <a:lvl1pPr algn="l">
              <a:buNone/>
              <a:defRPr sz="3450" b="1">
                <a:solidFill>
                  <a:srgbClr val="F5F5F7"/>
                </a:solidFill>
                <a:latin typeface="Helvetica Neue"/>
                <a:ea typeface="Helvetica Neue"/>
                <a:cs typeface="Helvetica Neue"/>
              </a:defRPr>
            </a:lvl1pPr>
            <a:lvl2pPr algn="l">
              <a:buNone/>
              <a:defRPr sz="3450" b="1">
                <a:solidFill>
                  <a:srgbClr val="F5F5F7"/>
                </a:solidFill>
                <a:latin typeface="Helvetica Neue"/>
                <a:ea typeface="Helvetica Neue"/>
                <a:cs typeface="Helvetica Neue"/>
              </a:defRPr>
            </a:lvl2pPr>
            <a:lvl3pPr algn="l">
              <a:buNone/>
              <a:defRPr sz="3450" b="1">
                <a:solidFill>
                  <a:srgbClr val="F5F5F7"/>
                </a:solidFill>
                <a:latin typeface="Helvetica Neue"/>
                <a:ea typeface="Helvetica Neue"/>
                <a:cs typeface="Helvetica Neue"/>
              </a:defRPr>
            </a:lvl3pPr>
            <a:lvl4pPr algn="l">
              <a:buNone/>
              <a:defRPr sz="3450" b="1">
                <a:solidFill>
                  <a:srgbClr val="F5F5F7"/>
                </a:solidFill>
                <a:latin typeface="Helvetica Neue"/>
                <a:ea typeface="Helvetica Neue"/>
                <a:cs typeface="Helvetica Neue"/>
              </a:defRPr>
            </a:lvl4pPr>
            <a:lvl5pPr algn="l">
              <a:buNone/>
              <a:defRPr sz="3450" b="1">
                <a:solidFill>
                  <a:srgbClr val="F5F5F7"/>
                </a:solidFill>
                <a:latin typeface="Helvetica Neue"/>
                <a:ea typeface="Helvetica Neue"/>
                <a:cs typeface="Helvetica Neue"/>
              </a:defRPr>
            </a:lvl5pPr>
            <a:lvl6pPr algn="l">
              <a:buNone/>
              <a:defRPr sz="3450" b="1">
                <a:solidFill>
                  <a:srgbClr val="F5F5F7"/>
                </a:solidFill>
                <a:latin typeface="Helvetica Neue"/>
                <a:ea typeface="Helvetica Neue"/>
                <a:cs typeface="Helvetica Neue"/>
              </a:defRPr>
            </a:lvl6pPr>
            <a:lvl7pPr algn="l">
              <a:buNone/>
              <a:defRPr sz="3450" b="1">
                <a:solidFill>
                  <a:srgbClr val="F5F5F7"/>
                </a:solidFill>
                <a:latin typeface="Helvetica Neue"/>
                <a:ea typeface="Helvetica Neue"/>
                <a:cs typeface="Helvetica Neue"/>
              </a:defRPr>
            </a:lvl7pPr>
            <a:lvl8pPr algn="l">
              <a:buNone/>
              <a:defRPr sz="3450" b="1">
                <a:solidFill>
                  <a:srgbClr val="F5F5F7"/>
                </a:solidFill>
                <a:latin typeface="Helvetica Neue"/>
                <a:ea typeface="Helvetica Neue"/>
                <a:cs typeface="Helvetica Neue"/>
              </a:defRPr>
            </a:lvl8pPr>
            <a:lvl9pPr algn="l">
              <a:buNone/>
              <a:defRPr sz="3450" b="1">
                <a:solidFill>
                  <a:srgbClr val="F5F5F7"/>
                </a:solidFill>
                <a:latin typeface="Helvetica Neue"/>
                <a:ea typeface="Helvetica Neue"/>
                <a:cs typeface="Helvetica Neue"/>
              </a:defRPr>
            </a:lvl9pPr>
          </a:lstStyle>
          <a:p xmlns:a="http://schemas.openxmlformats.org/drawingml/2006/main">
            <a:pPr algn="l">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Information extraction</a:t>
            </a:r>
          </a:p>
        </p:txBody>
      </p:sp>
      <p:pic>
        <p:nvPicPr>
          <p:cNvPr id="13" name="">
            <a:extLst xmlns:a="http://schemas.openxmlformats.org/drawingml/2006/main">
              <a:ext uri="{FF2B5EF4-FFF2-40B4-BE49-F238E27FC236}">
                <a16:creationId xmlns:a16="http://schemas.microsoft.com/office/drawing/2014/main" id="{65C00E78-9B4A-4770-8888-465A310DA628}"/>
              </a:ext>
            </a:extLst>
          </p:cNvPr>
          <p:cNvPicPr>
            <a:picLocks xmlns:a="http://schemas.openxmlformats.org/drawingml/2006/main" noChangeAspect="1"/>
          </p:cNvPicPr>
          <p:nvPr/>
        </p:nvPicPr>
        <p:blipFill>
          <a:blip xmlns:r="http://schemas.openxmlformats.org/officeDocument/2006/relationships" xmlns:a="http://schemas.openxmlformats.org/drawingml/2006/main" r:embed="R782a1a7913a8471e"/>
          <a:srcRect xmlns:a="http://schemas.openxmlformats.org/drawingml/2006/main" l="0" t="0" r="0" b="0"/>
          <a:stretch xmlns:a="http://schemas.openxmlformats.org/drawingml/2006/main">
            <a:fillRect l="0" t="0" r="0" b="0"/>
          </a:stretch>
        </p:blipFill>
        <p:spPr>
          <a:xfrm xmlns:a="http://schemas.openxmlformats.org/drawingml/2006/main">
            <a:off x="881385" y="2228850"/>
            <a:ext cx="5514331" cy="3476625"/>
          </a:xfrm>
          <a:prstGeom xmlns:a="http://schemas.openxmlformats.org/drawingml/2006/main" prst="rect">
            <a:avLst/>
          </a:prstGeom>
        </p:spPr>
      </p:pic>
      <p:sp>
        <p:nvSpPr>
          <p:cNvPr id="14" name="theory-4">
            <a:extLst xmlns:a="http://schemas.openxmlformats.org/drawingml/2006/main">
              <a:ext uri="{FF2B5EF4-FFF2-40B4-BE49-F238E27FC236}">
                <a16:creationId xmlns:a16="http://schemas.microsoft.com/office/drawing/2014/main" id="{CB1D3F72-38A6-41D4-84FD-F8871C17DC2F}"/>
              </a:ext>
            </a:extLst>
          </p:cNvPr>
          <p:cNvSpPr>
            <a:spLocks xmlns:a="http://schemas.openxmlformats.org/drawingml/2006/main" noGrp="1"/>
          </p:cNvSpPr>
          <p:nvPr/>
        </p:nvSpPr>
        <p:spPr>
          <a:xfrm xmlns:a="http://schemas.openxmlformats.org/drawingml/2006/main">
            <a:off x="6934200" y="2076450"/>
            <a:ext cx="4572000" cy="406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38" b="0">
                <a:solidFill>
                  <a:srgbClr val="CDCDD3"/>
                </a:solidFill>
                <a:latin typeface="Helvetica Neue"/>
                <a:ea typeface="Helvetica Neue"/>
                <a:cs typeface="Helvetica Neue"/>
              </a:defRPr>
            </a:defPPr>
            <a:lvl1pPr>
              <a:buNone/>
              <a:defRPr sz="1838" b="0">
                <a:solidFill>
                  <a:srgbClr val="CDCDD3"/>
                </a:solidFill>
                <a:latin typeface="Helvetica Neue"/>
                <a:ea typeface="Helvetica Neue"/>
                <a:cs typeface="Helvetica Neue"/>
              </a:defRPr>
            </a:lvl1pPr>
            <a:lvl2pPr>
              <a:buNone/>
              <a:defRPr sz="1838" b="0">
                <a:solidFill>
                  <a:srgbClr val="CDCDD3"/>
                </a:solidFill>
                <a:latin typeface="Helvetica Neue"/>
                <a:ea typeface="Helvetica Neue"/>
                <a:cs typeface="Helvetica Neue"/>
              </a:defRPr>
            </a:lvl2pPr>
            <a:lvl3pPr>
              <a:buNone/>
              <a:defRPr sz="1838" b="0">
                <a:solidFill>
                  <a:srgbClr val="CDCDD3"/>
                </a:solidFill>
                <a:latin typeface="Helvetica Neue"/>
                <a:ea typeface="Helvetica Neue"/>
                <a:cs typeface="Helvetica Neue"/>
              </a:defRPr>
            </a:lvl3pPr>
            <a:lvl4pPr>
              <a:buNone/>
              <a:defRPr sz="1838" b="0">
                <a:solidFill>
                  <a:srgbClr val="CDCDD3"/>
                </a:solidFill>
                <a:latin typeface="Helvetica Neue"/>
                <a:ea typeface="Helvetica Neue"/>
                <a:cs typeface="Helvetica Neue"/>
              </a:defRPr>
            </a:lvl4pPr>
            <a:lvl5pPr>
              <a:buNone/>
              <a:defRPr sz="1838" b="0">
                <a:solidFill>
                  <a:srgbClr val="CDCDD3"/>
                </a:solidFill>
                <a:latin typeface="Helvetica Neue"/>
                <a:ea typeface="Helvetica Neue"/>
                <a:cs typeface="Helvetica Neue"/>
              </a:defRPr>
            </a:lvl5pPr>
            <a:lvl6pPr>
              <a:buNone/>
              <a:defRPr sz="1838" b="0">
                <a:solidFill>
                  <a:srgbClr val="CDCDD3"/>
                </a:solidFill>
                <a:latin typeface="Helvetica Neue"/>
                <a:ea typeface="Helvetica Neue"/>
                <a:cs typeface="Helvetica Neue"/>
              </a:defRPr>
            </a:lvl6pPr>
            <a:lvl7pPr>
              <a:buNone/>
              <a:defRPr sz="1838" b="0">
                <a:solidFill>
                  <a:srgbClr val="CDCDD3"/>
                </a:solidFill>
                <a:latin typeface="Helvetica Neue"/>
                <a:ea typeface="Helvetica Neue"/>
                <a:cs typeface="Helvetica Neue"/>
              </a:defRPr>
            </a:lvl7pPr>
            <a:lvl8pPr>
              <a:buNone/>
              <a:defRPr sz="1838" b="0">
                <a:solidFill>
                  <a:srgbClr val="CDCDD3"/>
                </a:solidFill>
                <a:latin typeface="Helvetica Neue"/>
                <a:ea typeface="Helvetica Neue"/>
                <a:cs typeface="Helvetica Neue"/>
              </a:defRPr>
            </a:lvl8pPr>
            <a:lvl9pPr>
              <a:buNone/>
              <a:defRPr sz="1838" b="0">
                <a:solidFill>
                  <a:srgbClr val="CDCDD3"/>
                </a:solidFill>
                <a:latin typeface="Helvetica Neue"/>
                <a:ea typeface="Helvetica Neue"/>
                <a:cs typeface="Helvetica Neue"/>
              </a:defRPr>
            </a:lvl9pPr>
          </a:lstStyle>
          <a:p xmlns:a="http://schemas.openxmlformats.org/drawingml/2006/main">
            <a:pPr>
              <a:buNone/>
              <a:defRPr sz="1838" b="0">
                <a:solidFill>
                  <a:srgbClr val="CDCDD3"/>
                </a:solidFill>
                <a:latin typeface="Helvetica Neue"/>
                <a:ea typeface="Helvetica Neue"/>
                <a:cs typeface="Helvetica Neue"/>
              </a:defRPr>
            </a:pPr>
            <a:r>
              <a:rPr sz="1838" b="0">
                <a:solidFill>
                  <a:srgbClr val="CDCDD3"/>
                </a:solidFill>
                <a:latin typeface="Helvetica Neue"/>
                <a:ea typeface="Helvetica Neue"/>
                <a:cs typeface="Helvetica Neue"/>
              </a:rPr>
              <a:t>Схема показывает один из вариантов извлечения информации: выделение предложений и токенов, определение частей речи, поиск сущностей и установление отношений.</a:t>
            </a:r>
          </a:p>
          <a:p xmlns:a="http://schemas.openxmlformats.org/drawingml/2006/main">
            <a:r>
              <a:t/>
            </a:r>
          </a:p>
          <a:p xmlns:a="http://schemas.openxmlformats.org/drawingml/2006/main">
            <a:pPr>
              <a:buNone/>
              <a:defRPr sz="1838" b="0">
                <a:solidFill>
                  <a:srgbClr val="CDCDD3"/>
                </a:solidFill>
                <a:latin typeface="Helvetica Neue"/>
                <a:ea typeface="Helvetica Neue"/>
                <a:cs typeface="Helvetica Neue"/>
              </a:defRPr>
            </a:pPr>
            <a:r>
              <a:rPr sz="1838" b="0">
                <a:solidFill>
                  <a:srgbClr val="CDCDD3"/>
                </a:solidFill>
                <a:latin typeface="Helvetica Neue"/>
                <a:ea typeface="Helvetica Neue"/>
                <a:cs typeface="Helvetica Neue"/>
              </a:rPr>
              <a:t>Сущность должна иметь правильные границы и категорию. Отношение связывает найденные сущности, например организацию и место её расположения. Ошибка раннего этапа может повлиять на последующие результаты.</a:t>
            </a:r>
          </a:p>
        </p:txBody>
      </p:sp>
      <p:sp>
        <p:nvSpPr>
          <p:cNvPr id="15" name="theory-5">
            <a:extLst xmlns:a="http://schemas.openxmlformats.org/drawingml/2006/main">
              <a:ext uri="{FF2B5EF4-FFF2-40B4-BE49-F238E27FC236}">
                <a16:creationId xmlns:a16="http://schemas.microsoft.com/office/drawing/2014/main" id="{2B1B7C89-9EF8-47AB-A8C4-C82CEB269097}"/>
              </a:ext>
            </a:extLst>
          </p:cNvPr>
          <p:cNvSpPr>
            <a:spLocks xmlns:a="http://schemas.openxmlformats.org/drawingml/2006/main" noGrp="1"/>
          </p:cNvSpPr>
          <p:nvPr/>
        </p:nvSpPr>
        <p:spPr>
          <a:xfrm xmlns:a="http://schemas.openxmlformats.org/drawingml/2006/main">
            <a:off x="685800" y="6076950"/>
            <a:ext cx="10820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63" b="0">
                <a:solidFill>
                  <a:srgbClr val="98989F"/>
                </a:solidFill>
                <a:latin typeface="Helvetica Neue"/>
                <a:ea typeface="Helvetica Neue"/>
                <a:cs typeface="Helvetica Neue"/>
              </a:defRPr>
            </a:defPPr>
            <a:lvl1pPr>
              <a:buNone/>
              <a:defRPr sz="1463" b="0">
                <a:solidFill>
                  <a:srgbClr val="98989F"/>
                </a:solidFill>
                <a:latin typeface="Helvetica Neue"/>
                <a:ea typeface="Helvetica Neue"/>
                <a:cs typeface="Helvetica Neue"/>
              </a:defRPr>
            </a:lvl1pPr>
            <a:lvl2pPr>
              <a:buNone/>
              <a:defRPr sz="1463" b="0">
                <a:solidFill>
                  <a:srgbClr val="98989F"/>
                </a:solidFill>
                <a:latin typeface="Helvetica Neue"/>
                <a:ea typeface="Helvetica Neue"/>
                <a:cs typeface="Helvetica Neue"/>
              </a:defRPr>
            </a:lvl2pPr>
            <a:lvl3pPr>
              <a:buNone/>
              <a:defRPr sz="1463" b="0">
                <a:solidFill>
                  <a:srgbClr val="98989F"/>
                </a:solidFill>
                <a:latin typeface="Helvetica Neue"/>
                <a:ea typeface="Helvetica Neue"/>
                <a:cs typeface="Helvetica Neue"/>
              </a:defRPr>
            </a:lvl3pPr>
            <a:lvl4pPr>
              <a:buNone/>
              <a:defRPr sz="1463" b="0">
                <a:solidFill>
                  <a:srgbClr val="98989F"/>
                </a:solidFill>
                <a:latin typeface="Helvetica Neue"/>
                <a:ea typeface="Helvetica Neue"/>
                <a:cs typeface="Helvetica Neue"/>
              </a:defRPr>
            </a:lvl4pPr>
            <a:lvl5pPr>
              <a:buNone/>
              <a:defRPr sz="1463" b="0">
                <a:solidFill>
                  <a:srgbClr val="98989F"/>
                </a:solidFill>
                <a:latin typeface="Helvetica Neue"/>
                <a:ea typeface="Helvetica Neue"/>
                <a:cs typeface="Helvetica Neue"/>
              </a:defRPr>
            </a:lvl5pPr>
            <a:lvl6pPr>
              <a:buNone/>
              <a:defRPr sz="1463" b="0">
                <a:solidFill>
                  <a:srgbClr val="98989F"/>
                </a:solidFill>
                <a:latin typeface="Helvetica Neue"/>
                <a:ea typeface="Helvetica Neue"/>
                <a:cs typeface="Helvetica Neue"/>
              </a:defRPr>
            </a:lvl6pPr>
            <a:lvl7pPr>
              <a:buNone/>
              <a:defRPr sz="1463" b="0">
                <a:solidFill>
                  <a:srgbClr val="98989F"/>
                </a:solidFill>
                <a:latin typeface="Helvetica Neue"/>
                <a:ea typeface="Helvetica Neue"/>
                <a:cs typeface="Helvetica Neue"/>
              </a:defRPr>
            </a:lvl7pPr>
            <a:lvl8pPr>
              <a:buNone/>
              <a:defRPr sz="1463" b="0">
                <a:solidFill>
                  <a:srgbClr val="98989F"/>
                </a:solidFill>
                <a:latin typeface="Helvetica Neue"/>
                <a:ea typeface="Helvetica Neue"/>
                <a:cs typeface="Helvetica Neue"/>
              </a:defRPr>
            </a:lvl8pPr>
            <a:lvl9pPr>
              <a:buNone/>
              <a:defRPr sz="1463" b="0">
                <a:solidFill>
                  <a:srgbClr val="98989F"/>
                </a:solidFill>
                <a:latin typeface="Helvetica Neue"/>
                <a:ea typeface="Helvetica Neue"/>
                <a:cs typeface="Helvetica Neue"/>
              </a:defRPr>
            </a:lvl9pPr>
          </a:lstStyle>
          <a:p xmlns:a="http://schemas.openxmlformats.org/drawingml/2006/main">
            <a:pPr>
              <a:buNone/>
              <a:defRPr sz="1463" b="0">
                <a:solidFill>
                  <a:srgbClr val="98989F"/>
                </a:solidFill>
                <a:latin typeface="Helvetica Neue"/>
                <a:ea typeface="Helvetica Neue"/>
                <a:cs typeface="Helvetica Neue"/>
              </a:defRPr>
            </a:pPr>
            <a:r>
              <a:rPr sz="1463" b="0">
                <a:solidFill>
                  <a:srgbClr val="98989F"/>
                </a:solidFill>
                <a:latin typeface="Helvetica Neue"/>
                <a:ea typeface="Helvetica Neue"/>
                <a:cs typeface="Helvetica Neue"/>
              </a:rPr>
              <a:t>Пример последовательного извлечения сущностей и отношений.</a:t>
            </a:r>
          </a:p>
        </p:txBody>
      </p:sp>
      <p:sp>
        <p:nvSpPr>
          <p:cNvPr id="16" name="theory-6">
            <a:extLst xmlns:a="http://schemas.openxmlformats.org/drawingml/2006/main">
              <a:ext uri="{FF2B5EF4-FFF2-40B4-BE49-F238E27FC236}">
                <a16:creationId xmlns:a16="http://schemas.microsoft.com/office/drawing/2014/main" id="{6EC28C92-C1BB-4E31-A5B6-DB6873A3735B}"/>
              </a:ext>
            </a:extLst>
          </p:cNvPr>
          <p:cNvSpPr>
            <a:spLocks xmlns:a="http://schemas.openxmlformats.org/drawingml/2006/main" noGrp="1"/>
          </p:cNvSpPr>
          <p:nvPr/>
        </p:nvSpPr>
        <p:spPr>
          <a:xfrm xmlns:a="http://schemas.openxmlformats.org/drawingml/2006/main">
            <a:off x="685800" y="6572250"/>
            <a:ext cx="108204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38" b="0">
                <a:solidFill>
                  <a:srgbClr val="98989F"/>
                </a:solidFill>
                <a:latin typeface="Helvetica Neue"/>
                <a:ea typeface="Helvetica Neue"/>
                <a:cs typeface="Helvetica Neue"/>
              </a:defRPr>
            </a:defPPr>
            <a:lvl1pPr>
              <a:buNone/>
              <a:defRPr sz="1238" b="0">
                <a:solidFill>
                  <a:srgbClr val="98989F"/>
                </a:solidFill>
                <a:latin typeface="Helvetica Neue"/>
                <a:ea typeface="Helvetica Neue"/>
                <a:cs typeface="Helvetica Neue"/>
              </a:defRPr>
            </a:lvl1pPr>
            <a:lvl2pPr>
              <a:buNone/>
              <a:defRPr sz="1238" b="0">
                <a:solidFill>
                  <a:srgbClr val="98989F"/>
                </a:solidFill>
                <a:latin typeface="Helvetica Neue"/>
                <a:ea typeface="Helvetica Neue"/>
                <a:cs typeface="Helvetica Neue"/>
              </a:defRPr>
            </a:lvl2pPr>
            <a:lvl3pPr>
              <a:buNone/>
              <a:defRPr sz="1238" b="0">
                <a:solidFill>
                  <a:srgbClr val="98989F"/>
                </a:solidFill>
                <a:latin typeface="Helvetica Neue"/>
                <a:ea typeface="Helvetica Neue"/>
                <a:cs typeface="Helvetica Neue"/>
              </a:defRPr>
            </a:lvl3pPr>
            <a:lvl4pPr>
              <a:buNone/>
              <a:defRPr sz="1238" b="0">
                <a:solidFill>
                  <a:srgbClr val="98989F"/>
                </a:solidFill>
                <a:latin typeface="Helvetica Neue"/>
                <a:ea typeface="Helvetica Neue"/>
                <a:cs typeface="Helvetica Neue"/>
              </a:defRPr>
            </a:lvl4pPr>
            <a:lvl5pPr>
              <a:buNone/>
              <a:defRPr sz="1238" b="0">
                <a:solidFill>
                  <a:srgbClr val="98989F"/>
                </a:solidFill>
                <a:latin typeface="Helvetica Neue"/>
                <a:ea typeface="Helvetica Neue"/>
                <a:cs typeface="Helvetica Neue"/>
              </a:defRPr>
            </a:lvl5pPr>
            <a:lvl6pPr>
              <a:buNone/>
              <a:defRPr sz="1238" b="0">
                <a:solidFill>
                  <a:srgbClr val="98989F"/>
                </a:solidFill>
                <a:latin typeface="Helvetica Neue"/>
                <a:ea typeface="Helvetica Neue"/>
                <a:cs typeface="Helvetica Neue"/>
              </a:defRPr>
            </a:lvl6pPr>
            <a:lvl7pPr>
              <a:buNone/>
              <a:defRPr sz="1238" b="0">
                <a:solidFill>
                  <a:srgbClr val="98989F"/>
                </a:solidFill>
                <a:latin typeface="Helvetica Neue"/>
                <a:ea typeface="Helvetica Neue"/>
                <a:cs typeface="Helvetica Neue"/>
              </a:defRPr>
            </a:lvl7pPr>
            <a:lvl8pPr>
              <a:buNone/>
              <a:defRPr sz="1238" b="0">
                <a:solidFill>
                  <a:srgbClr val="98989F"/>
                </a:solidFill>
                <a:latin typeface="Helvetica Neue"/>
                <a:ea typeface="Helvetica Neue"/>
                <a:cs typeface="Helvetica Neue"/>
              </a:defRPr>
            </a:lvl8pPr>
            <a:lvl9pPr>
              <a:buNone/>
              <a:defRPr sz="1238" b="0">
                <a:solidFill>
                  <a:srgbClr val="98989F"/>
                </a:solidFill>
                <a:latin typeface="Helvetica Neue"/>
                <a:ea typeface="Helvetica Neue"/>
                <a:cs typeface="Helvetica Neue"/>
              </a:defRPr>
            </a:lvl9pPr>
          </a:lstStyle>
          <a:p xmlns:a="http://schemas.openxmlformats.org/drawingml/2006/main">
            <a:pPr>
              <a:buNone/>
              <a:defRPr sz="1238" b="0">
                <a:solidFill>
                  <a:srgbClr val="98989F"/>
                </a:solidFill>
                <a:latin typeface="Helvetica Neue"/>
                <a:ea typeface="Helvetica Neue"/>
                <a:cs typeface="Helvetica Neue"/>
              </a:defRPr>
            </a:pPr>
            <a:r>
              <a:rPr sz="1238" b="0">
                <a:solidFill>
                  <a:srgbClr val="98989F"/>
                </a:solidFill>
                <a:latin typeface="Helvetica Neue"/>
                <a:ea typeface="Helvetica Neue"/>
                <a:cs typeface="Helvetica Neue"/>
                <a:hlinkClick xmlns:r="http://schemas.openxmlformats.org/officeDocument/2006/relationships" r:id="Rd0570d2ab1e24c07"/>
              </a:rPr>
              <a:t>Источник: NLTK Book, гл. 7</a:t>
            </a:r>
          </a:p>
        </p:txBody>
      </p:sp>
    </p:spTree>
    <p:extLst>
      <p:ext uri="{BB962C8B-B14F-4D97-AF65-F5344CB8AC3E}">
        <p14:creationId xmlns:p14="http://schemas.microsoft.com/office/powerpoint/2010/main" val="524637326"/>
      </p:ext>
    </p:extLst>
  </p:cSld>
</p:sld>
</file>

<file path=ppt/slides/slide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9" name="exp90-0">
            <a:extLst xmlns:a="http://schemas.openxmlformats.org/drawingml/2006/main">
              <a:ext uri="{FF2B5EF4-FFF2-40B4-BE49-F238E27FC236}">
                <a16:creationId xmlns:a16="http://schemas.microsoft.com/office/drawing/2014/main" id="{E45DF0DC-4366-47E1-ABA6-6C4AD8A8C380}"/>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90-1">
            <a:extLst xmlns:a="http://schemas.openxmlformats.org/drawingml/2006/main">
              <a:ext uri="{FF2B5EF4-FFF2-40B4-BE49-F238E27FC236}">
                <a16:creationId xmlns:a16="http://schemas.microsoft.com/office/drawing/2014/main" id="{7A549C5E-B73A-4E82-BAEE-B1610450298B}"/>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09</a:t>
            </a:r>
          </a:p>
        </p:txBody>
      </p:sp>
      <p:sp>
        <p:nvSpPr>
          <p:cNvPr id="3" name="">
            <a:extLst xmlns:a="http://schemas.openxmlformats.org/drawingml/2006/main">
              <a:ext uri="{FF2B5EF4-FFF2-40B4-BE49-F238E27FC236}">
                <a16:creationId xmlns:a16="http://schemas.microsoft.com/office/drawing/2014/main" id="{30775F86-4598-4C5D-B803-FC1752B82DD2}"/>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0">
            <a:solidFill>
              <a:srgbClr val="28282B"/>
            </a:solidFill>
          </a:ln>
        </p:spPr>
      </p:sp>
      <p:sp>
        <p:nvSpPr>
          <p:cNvPr id="4" name="exp90-3">
            <a:extLst xmlns:a="http://schemas.openxmlformats.org/drawingml/2006/main">
              <a:ext uri="{FF2B5EF4-FFF2-40B4-BE49-F238E27FC236}">
                <a16:creationId xmlns:a16="http://schemas.microsoft.com/office/drawing/2014/main" id="{86277C20-6B27-4D28-98EF-B4052CB608B0}"/>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Sequence labeling: IOB</a:t>
            </a:r>
          </a:p>
        </p:txBody>
      </p:sp>
      <p:pic>
        <p:nvPicPr>
          <p:cNvPr id="5" name="">
            <a:extLst xmlns:a="http://schemas.openxmlformats.org/drawingml/2006/main">
              <a:ext uri="{FF2B5EF4-FFF2-40B4-BE49-F238E27FC236}">
                <a16:creationId xmlns:a16="http://schemas.microsoft.com/office/drawing/2014/main" id="{A58D2006-4FF4-4380-859A-A5C0BDC4AA17}"/>
              </a:ext>
            </a:extLst>
          </p:cNvPr>
          <p:cNvPicPr>
            <a:picLocks xmlns:a="http://schemas.openxmlformats.org/drawingml/2006/main" noChangeAspect="1"/>
          </p:cNvPicPr>
          <p:nvPr/>
        </p:nvPicPr>
        <p:blipFill>
          <a:blip xmlns:r="http://schemas.openxmlformats.org/officeDocument/2006/relationships" xmlns:a="http://schemas.openxmlformats.org/drawingml/2006/main" r:embed="R19df568208894458"/>
          <a:srcRect xmlns:a="http://schemas.openxmlformats.org/drawingml/2006/main" l="0" t="0" r="0" b="0"/>
          <a:stretch xmlns:a="http://schemas.openxmlformats.org/drawingml/2006/main">
            <a:fillRect l="0" t="0" r="0" b="0"/>
          </a:stretch>
        </p:blipFill>
        <p:spPr>
          <a:xfrm xmlns:a="http://schemas.openxmlformats.org/drawingml/2006/main">
            <a:off x="685800" y="2243684"/>
            <a:ext cx="10820400" cy="1913432"/>
          </a:xfrm>
          <a:prstGeom xmlns:a="http://schemas.openxmlformats.org/drawingml/2006/main" prst="rect">
            <a:avLst/>
          </a:prstGeom>
        </p:spPr>
      </p:pic>
      <p:sp>
        <p:nvSpPr>
          <p:cNvPr id="6" name="exp90-4">
            <a:extLst xmlns:a="http://schemas.openxmlformats.org/drawingml/2006/main">
              <a:ext uri="{FF2B5EF4-FFF2-40B4-BE49-F238E27FC236}">
                <a16:creationId xmlns:a16="http://schemas.microsoft.com/office/drawing/2014/main" id="{6B559BE1-ECA5-41C2-BAC6-38B704880C5D}"/>
              </a:ext>
            </a:extLst>
          </p:cNvPr>
          <p:cNvSpPr>
            <a:spLocks xmlns:a="http://schemas.openxmlformats.org/drawingml/2006/main" noGrp="1"/>
          </p:cNvSpPr>
          <p:nvPr/>
        </p:nvSpPr>
        <p:spPr>
          <a:xfrm xmlns:a="http://schemas.openxmlformats.org/drawingml/2006/main">
            <a:off x="685800" y="4610100"/>
            <a:ext cx="10820400" cy="1552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13" b="0">
                <a:solidFill>
                  <a:srgbClr val="CDCDD3"/>
                </a:solidFill>
                <a:latin typeface="Helvetica Neue"/>
                <a:ea typeface="Helvetica Neue"/>
                <a:cs typeface="Helvetica Neue"/>
              </a:defRPr>
            </a:defPPr>
            <a:lvl1pPr>
              <a:buNone/>
              <a:defRPr sz="1913" b="0">
                <a:solidFill>
                  <a:srgbClr val="CDCDD3"/>
                </a:solidFill>
                <a:latin typeface="Helvetica Neue"/>
                <a:ea typeface="Helvetica Neue"/>
                <a:cs typeface="Helvetica Neue"/>
              </a:defRPr>
            </a:lvl1pPr>
            <a:lvl2pPr>
              <a:buNone/>
              <a:defRPr sz="1913" b="0">
                <a:solidFill>
                  <a:srgbClr val="CDCDD3"/>
                </a:solidFill>
                <a:latin typeface="Helvetica Neue"/>
                <a:ea typeface="Helvetica Neue"/>
                <a:cs typeface="Helvetica Neue"/>
              </a:defRPr>
            </a:lvl2pPr>
            <a:lvl3pPr>
              <a:buNone/>
              <a:defRPr sz="1913" b="0">
                <a:solidFill>
                  <a:srgbClr val="CDCDD3"/>
                </a:solidFill>
                <a:latin typeface="Helvetica Neue"/>
                <a:ea typeface="Helvetica Neue"/>
                <a:cs typeface="Helvetica Neue"/>
              </a:defRPr>
            </a:lvl3pPr>
            <a:lvl4pPr>
              <a:buNone/>
              <a:defRPr sz="1913" b="0">
                <a:solidFill>
                  <a:srgbClr val="CDCDD3"/>
                </a:solidFill>
                <a:latin typeface="Helvetica Neue"/>
                <a:ea typeface="Helvetica Neue"/>
                <a:cs typeface="Helvetica Neue"/>
              </a:defRPr>
            </a:lvl4pPr>
            <a:lvl5pPr>
              <a:buNone/>
              <a:defRPr sz="1913" b="0">
                <a:solidFill>
                  <a:srgbClr val="CDCDD3"/>
                </a:solidFill>
                <a:latin typeface="Helvetica Neue"/>
                <a:ea typeface="Helvetica Neue"/>
                <a:cs typeface="Helvetica Neue"/>
              </a:defRPr>
            </a:lvl5pPr>
            <a:lvl6pPr>
              <a:buNone/>
              <a:defRPr sz="1913" b="0">
                <a:solidFill>
                  <a:srgbClr val="CDCDD3"/>
                </a:solidFill>
                <a:latin typeface="Helvetica Neue"/>
                <a:ea typeface="Helvetica Neue"/>
                <a:cs typeface="Helvetica Neue"/>
              </a:defRPr>
            </a:lvl6pPr>
            <a:lvl7pPr>
              <a:buNone/>
              <a:defRPr sz="1913" b="0">
                <a:solidFill>
                  <a:srgbClr val="CDCDD3"/>
                </a:solidFill>
                <a:latin typeface="Helvetica Neue"/>
                <a:ea typeface="Helvetica Neue"/>
                <a:cs typeface="Helvetica Neue"/>
              </a:defRPr>
            </a:lvl7pPr>
            <a:lvl8pPr>
              <a:buNone/>
              <a:defRPr sz="1913" b="0">
                <a:solidFill>
                  <a:srgbClr val="CDCDD3"/>
                </a:solidFill>
                <a:latin typeface="Helvetica Neue"/>
                <a:ea typeface="Helvetica Neue"/>
                <a:cs typeface="Helvetica Neue"/>
              </a:defRPr>
            </a:lvl8pPr>
            <a:lvl9pPr>
              <a:buNone/>
              <a:defRPr sz="1913" b="0">
                <a:solidFill>
                  <a:srgbClr val="CDCDD3"/>
                </a:solidFill>
                <a:latin typeface="Helvetica Neue"/>
                <a:ea typeface="Helvetica Neue"/>
                <a:cs typeface="Helvetica Neue"/>
              </a:defRPr>
            </a:lvl9pPr>
          </a:lstStyle>
          <a:p xmlns:a="http://schemas.openxmlformats.org/drawingml/2006/main">
            <a:pPr>
              <a:buNone/>
              <a:defRPr sz="1913" b="0">
                <a:solidFill>
                  <a:srgbClr val="CDCDD3"/>
                </a:solidFill>
                <a:latin typeface="Helvetica Neue"/>
                <a:ea typeface="Helvetica Neue"/>
                <a:cs typeface="Helvetica Neue"/>
              </a:defRPr>
            </a:pPr>
            <a:r>
              <a:rPr sz="1913" b="0">
                <a:solidFill>
                  <a:srgbClr val="CDCDD3"/>
                </a:solidFill>
                <a:latin typeface="Helvetica Neue"/>
                <a:ea typeface="Helvetica Neue"/>
                <a:cs typeface="Helvetica Neue"/>
              </a:rPr>
              <a:t>Метка B обозначает начало фрагмента, I обозначает его продолжение, O обозначает токен вне выделенных фрагментов. В примере NP соответствует именной группе. Аналогичный принцип используют для разметки сущностей, добавляя тип фрагмента к каждой метке. Качество зависит от правильности границ и категорий, поэтому ошибочная метка одного токена может изменить интерпретацию всего фрагмента.</a:t>
            </a:r>
          </a:p>
        </p:txBody>
      </p:sp>
      <p:sp>
        <p:nvSpPr>
          <p:cNvPr id="7" name="exp90-5">
            <a:extLst xmlns:a="http://schemas.openxmlformats.org/drawingml/2006/main">
              <a:ext uri="{FF2B5EF4-FFF2-40B4-BE49-F238E27FC236}">
                <a16:creationId xmlns:a16="http://schemas.microsoft.com/office/drawing/2014/main" id="{960E7649-8709-419D-9127-B6E7F5DDB34A}"/>
              </a:ext>
            </a:extLst>
          </p:cNvPr>
          <p:cNvSpPr>
            <a:spLocks xmlns:a="http://schemas.openxmlformats.org/drawingml/2006/main" noGrp="1"/>
          </p:cNvSpPr>
          <p:nvPr/>
        </p:nvSpPr>
        <p:spPr>
          <a:xfrm xmlns:a="http://schemas.openxmlformats.org/drawingml/2006/main">
            <a:off x="685800" y="6210300"/>
            <a:ext cx="108204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88" b="0">
                <a:solidFill>
                  <a:srgbClr val="98989F"/>
                </a:solidFill>
                <a:latin typeface="Helvetica Neue"/>
                <a:ea typeface="Helvetica Neue"/>
                <a:cs typeface="Helvetica Neue"/>
              </a:defRPr>
            </a:defPPr>
            <a:lvl1pPr>
              <a:buNone/>
              <a:defRPr sz="1388" b="0">
                <a:solidFill>
                  <a:srgbClr val="98989F"/>
                </a:solidFill>
                <a:latin typeface="Helvetica Neue"/>
                <a:ea typeface="Helvetica Neue"/>
                <a:cs typeface="Helvetica Neue"/>
              </a:defRPr>
            </a:lvl1pPr>
            <a:lvl2pPr>
              <a:buNone/>
              <a:defRPr sz="1388" b="0">
                <a:solidFill>
                  <a:srgbClr val="98989F"/>
                </a:solidFill>
                <a:latin typeface="Helvetica Neue"/>
                <a:ea typeface="Helvetica Neue"/>
                <a:cs typeface="Helvetica Neue"/>
              </a:defRPr>
            </a:lvl2pPr>
            <a:lvl3pPr>
              <a:buNone/>
              <a:defRPr sz="1388" b="0">
                <a:solidFill>
                  <a:srgbClr val="98989F"/>
                </a:solidFill>
                <a:latin typeface="Helvetica Neue"/>
                <a:ea typeface="Helvetica Neue"/>
                <a:cs typeface="Helvetica Neue"/>
              </a:defRPr>
            </a:lvl3pPr>
            <a:lvl4pPr>
              <a:buNone/>
              <a:defRPr sz="1388" b="0">
                <a:solidFill>
                  <a:srgbClr val="98989F"/>
                </a:solidFill>
                <a:latin typeface="Helvetica Neue"/>
                <a:ea typeface="Helvetica Neue"/>
                <a:cs typeface="Helvetica Neue"/>
              </a:defRPr>
            </a:lvl4pPr>
            <a:lvl5pPr>
              <a:buNone/>
              <a:defRPr sz="1388" b="0">
                <a:solidFill>
                  <a:srgbClr val="98989F"/>
                </a:solidFill>
                <a:latin typeface="Helvetica Neue"/>
                <a:ea typeface="Helvetica Neue"/>
                <a:cs typeface="Helvetica Neue"/>
              </a:defRPr>
            </a:lvl5pPr>
            <a:lvl6pPr>
              <a:buNone/>
              <a:defRPr sz="1388" b="0">
                <a:solidFill>
                  <a:srgbClr val="98989F"/>
                </a:solidFill>
                <a:latin typeface="Helvetica Neue"/>
                <a:ea typeface="Helvetica Neue"/>
                <a:cs typeface="Helvetica Neue"/>
              </a:defRPr>
            </a:lvl6pPr>
            <a:lvl7pPr>
              <a:buNone/>
              <a:defRPr sz="1388" b="0">
                <a:solidFill>
                  <a:srgbClr val="98989F"/>
                </a:solidFill>
                <a:latin typeface="Helvetica Neue"/>
                <a:ea typeface="Helvetica Neue"/>
                <a:cs typeface="Helvetica Neue"/>
              </a:defRPr>
            </a:lvl7pPr>
            <a:lvl8pPr>
              <a:buNone/>
              <a:defRPr sz="1388" b="0">
                <a:solidFill>
                  <a:srgbClr val="98989F"/>
                </a:solidFill>
                <a:latin typeface="Helvetica Neue"/>
                <a:ea typeface="Helvetica Neue"/>
                <a:cs typeface="Helvetica Neue"/>
              </a:defRPr>
            </a:lvl8pPr>
            <a:lvl9pPr>
              <a:buNone/>
              <a:defRPr sz="1388" b="0">
                <a:solidFill>
                  <a:srgbClr val="98989F"/>
                </a:solidFill>
                <a:latin typeface="Helvetica Neue"/>
                <a:ea typeface="Helvetica Neue"/>
                <a:cs typeface="Helvetica Neue"/>
              </a:defRPr>
            </a:lvl9pPr>
          </a:lstStyle>
          <a:p xmlns:a="http://schemas.openxmlformats.org/drawingml/2006/main">
            <a:pPr>
              <a:buNone/>
              <a:defRPr sz="1388" b="0">
                <a:solidFill>
                  <a:srgbClr val="98989F"/>
                </a:solidFill>
                <a:latin typeface="Helvetica Neue"/>
                <a:ea typeface="Helvetica Neue"/>
                <a:cs typeface="Helvetica Neue"/>
              </a:defRPr>
            </a:pPr>
            <a:r>
              <a:rPr sz="1388" b="0">
                <a:solidFill>
                  <a:srgbClr val="98989F"/>
                </a:solidFill>
                <a:latin typeface="Helvetica Neue"/>
                <a:ea typeface="Helvetica Neue"/>
                <a:cs typeface="Helvetica Neue"/>
              </a:rPr>
              <a:t>Пример IOB-разметки из NLTK Book. Именная группа и именованная сущность являются разными понятиями.</a:t>
            </a:r>
          </a:p>
        </p:txBody>
      </p:sp>
      <p:sp>
        <p:nvSpPr>
          <p:cNvPr id="8" name="exp90-6">
            <a:extLst xmlns:a="http://schemas.openxmlformats.org/drawingml/2006/main">
              <a:ext uri="{FF2B5EF4-FFF2-40B4-BE49-F238E27FC236}">
                <a16:creationId xmlns:a16="http://schemas.microsoft.com/office/drawing/2014/main" id="{31881527-27B1-4ACD-9DE4-F9305C828648}"/>
              </a:ext>
            </a:extLst>
          </p:cNvPr>
          <p:cNvSpPr>
            <a:spLocks xmlns:a="http://schemas.openxmlformats.org/drawingml/2006/main" noGrp="1"/>
          </p:cNvSpPr>
          <p:nvPr/>
        </p:nvSpPr>
        <p:spPr>
          <a:xfrm xmlns:a="http://schemas.openxmlformats.org/drawingml/2006/main">
            <a:off x="685800" y="6648450"/>
            <a:ext cx="10820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63" b="0">
                <a:solidFill>
                  <a:srgbClr val="98989F"/>
                </a:solidFill>
                <a:latin typeface="Helvetica Neue"/>
                <a:ea typeface="Helvetica Neue"/>
                <a:cs typeface="Helvetica Neue"/>
              </a:defRPr>
            </a:defPPr>
            <a:lvl1pPr>
              <a:buNone/>
              <a:defRPr sz="1163" b="0">
                <a:solidFill>
                  <a:srgbClr val="98989F"/>
                </a:solidFill>
                <a:latin typeface="Helvetica Neue"/>
                <a:ea typeface="Helvetica Neue"/>
                <a:cs typeface="Helvetica Neue"/>
              </a:defRPr>
            </a:lvl1pPr>
            <a:lvl2pPr>
              <a:buNone/>
              <a:defRPr sz="1163" b="0">
                <a:solidFill>
                  <a:srgbClr val="98989F"/>
                </a:solidFill>
                <a:latin typeface="Helvetica Neue"/>
                <a:ea typeface="Helvetica Neue"/>
                <a:cs typeface="Helvetica Neue"/>
              </a:defRPr>
            </a:lvl2pPr>
            <a:lvl3pPr>
              <a:buNone/>
              <a:defRPr sz="1163" b="0">
                <a:solidFill>
                  <a:srgbClr val="98989F"/>
                </a:solidFill>
                <a:latin typeface="Helvetica Neue"/>
                <a:ea typeface="Helvetica Neue"/>
                <a:cs typeface="Helvetica Neue"/>
              </a:defRPr>
            </a:lvl3pPr>
            <a:lvl4pPr>
              <a:buNone/>
              <a:defRPr sz="1163" b="0">
                <a:solidFill>
                  <a:srgbClr val="98989F"/>
                </a:solidFill>
                <a:latin typeface="Helvetica Neue"/>
                <a:ea typeface="Helvetica Neue"/>
                <a:cs typeface="Helvetica Neue"/>
              </a:defRPr>
            </a:lvl4pPr>
            <a:lvl5pPr>
              <a:buNone/>
              <a:defRPr sz="1163" b="0">
                <a:solidFill>
                  <a:srgbClr val="98989F"/>
                </a:solidFill>
                <a:latin typeface="Helvetica Neue"/>
                <a:ea typeface="Helvetica Neue"/>
                <a:cs typeface="Helvetica Neue"/>
              </a:defRPr>
            </a:lvl5pPr>
            <a:lvl6pPr>
              <a:buNone/>
              <a:defRPr sz="1163" b="0">
                <a:solidFill>
                  <a:srgbClr val="98989F"/>
                </a:solidFill>
                <a:latin typeface="Helvetica Neue"/>
                <a:ea typeface="Helvetica Neue"/>
                <a:cs typeface="Helvetica Neue"/>
              </a:defRPr>
            </a:lvl6pPr>
            <a:lvl7pPr>
              <a:buNone/>
              <a:defRPr sz="1163" b="0">
                <a:solidFill>
                  <a:srgbClr val="98989F"/>
                </a:solidFill>
                <a:latin typeface="Helvetica Neue"/>
                <a:ea typeface="Helvetica Neue"/>
                <a:cs typeface="Helvetica Neue"/>
              </a:defRPr>
            </a:lvl7pPr>
            <a:lvl8pPr>
              <a:buNone/>
              <a:defRPr sz="1163" b="0">
                <a:solidFill>
                  <a:srgbClr val="98989F"/>
                </a:solidFill>
                <a:latin typeface="Helvetica Neue"/>
                <a:ea typeface="Helvetica Neue"/>
                <a:cs typeface="Helvetica Neue"/>
              </a:defRPr>
            </a:lvl8pPr>
            <a:lvl9pPr>
              <a:buNone/>
              <a:defRPr sz="1163" b="0">
                <a:solidFill>
                  <a:srgbClr val="98989F"/>
                </a:solidFill>
                <a:latin typeface="Helvetica Neue"/>
                <a:ea typeface="Helvetica Neue"/>
                <a:cs typeface="Helvetica Neue"/>
              </a:defRPr>
            </a:lvl9pPr>
          </a:lstStyle>
          <a:p xmlns:a="http://schemas.openxmlformats.org/drawingml/2006/main">
            <a:pPr>
              <a:buNone/>
              <a:defRPr sz="1163" b="0">
                <a:solidFill>
                  <a:srgbClr val="98989F"/>
                </a:solidFill>
                <a:latin typeface="Helvetica Neue"/>
                <a:ea typeface="Helvetica Neue"/>
                <a:cs typeface="Helvetica Neue"/>
              </a:defRPr>
            </a:pPr>
            <a:r>
              <a:rPr sz="1163" b="0">
                <a:solidFill>
                  <a:srgbClr val="98989F"/>
                </a:solidFill>
                <a:latin typeface="Helvetica Neue"/>
                <a:ea typeface="Helvetica Neue"/>
                <a:cs typeface="Helvetica Neue"/>
                <a:hlinkClick xmlns:r="http://schemas.openxmlformats.org/officeDocument/2006/relationships" r:id="R1e63ebb283234691"/>
              </a:rPr>
              <a:t>Источник: NLTK Book, гл. 7</a:t>
            </a:r>
          </a:p>
        </p:txBody>
      </p:sp>
    </p:spTree>
    <p:extLst>
      <p:ext uri="{BB962C8B-B14F-4D97-AF65-F5344CB8AC3E}">
        <p14:creationId xmlns:p14="http://schemas.microsoft.com/office/powerpoint/2010/main" val="1224089733"/>
      </p:ext>
    </p:extLst>
  </p:cSld>
</p:sld>
</file>

<file path=ppt/slides/slide1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7CE7CE62-266C-4939-967D-67A97D32FE93}"/>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98989F"/>
                </a:solidFill>
                <a:latin typeface="Helvetica Neue"/>
                <a:ea typeface="Helvetica Neue"/>
                <a:cs typeface="Helvetica Neue"/>
              </a:defRPr>
            </a:defPPr>
            <a:lvl1pPr algn="l">
              <a:buNone/>
              <a:defRPr sz="1425" b="0">
                <a:solidFill>
                  <a:srgbClr val="98989F"/>
                </a:solidFill>
                <a:latin typeface="Helvetica Neue"/>
                <a:ea typeface="Helvetica Neue"/>
                <a:cs typeface="Helvetica Neue"/>
              </a:defRPr>
            </a:lvl1pPr>
            <a:lvl2pPr algn="l">
              <a:buNone/>
              <a:defRPr sz="1425" b="0">
                <a:solidFill>
                  <a:srgbClr val="98989F"/>
                </a:solidFill>
                <a:latin typeface="Helvetica Neue"/>
                <a:ea typeface="Helvetica Neue"/>
                <a:cs typeface="Helvetica Neue"/>
              </a:defRPr>
            </a:lvl2pPr>
            <a:lvl3pPr algn="l">
              <a:buNone/>
              <a:defRPr sz="1425" b="0">
                <a:solidFill>
                  <a:srgbClr val="98989F"/>
                </a:solidFill>
                <a:latin typeface="Helvetica Neue"/>
                <a:ea typeface="Helvetica Neue"/>
                <a:cs typeface="Helvetica Neue"/>
              </a:defRPr>
            </a:lvl3pPr>
            <a:lvl4pPr algn="l">
              <a:buNone/>
              <a:defRPr sz="1425" b="0">
                <a:solidFill>
                  <a:srgbClr val="98989F"/>
                </a:solidFill>
                <a:latin typeface="Helvetica Neue"/>
                <a:ea typeface="Helvetica Neue"/>
                <a:cs typeface="Helvetica Neue"/>
              </a:defRPr>
            </a:lvl4pPr>
            <a:lvl5pPr algn="l">
              <a:buNone/>
              <a:defRPr sz="1425" b="0">
                <a:solidFill>
                  <a:srgbClr val="98989F"/>
                </a:solidFill>
                <a:latin typeface="Helvetica Neue"/>
                <a:ea typeface="Helvetica Neue"/>
                <a:cs typeface="Helvetica Neue"/>
              </a:defRPr>
            </a:lvl5pPr>
            <a:lvl6pPr algn="l">
              <a:buNone/>
              <a:defRPr sz="1425" b="0">
                <a:solidFill>
                  <a:srgbClr val="98989F"/>
                </a:solidFill>
                <a:latin typeface="Helvetica Neue"/>
                <a:ea typeface="Helvetica Neue"/>
                <a:cs typeface="Helvetica Neue"/>
              </a:defRPr>
            </a:lvl6pPr>
            <a:lvl7pPr algn="l">
              <a:buNone/>
              <a:defRPr sz="1425" b="0">
                <a:solidFill>
                  <a:srgbClr val="98989F"/>
                </a:solidFill>
                <a:latin typeface="Helvetica Neue"/>
                <a:ea typeface="Helvetica Neue"/>
                <a:cs typeface="Helvetica Neue"/>
              </a:defRPr>
            </a:lvl7pPr>
            <a:lvl8pPr algn="l">
              <a:buNone/>
              <a:defRPr sz="1425" b="0">
                <a:solidFill>
                  <a:srgbClr val="98989F"/>
                </a:solidFill>
                <a:latin typeface="Helvetica Neue"/>
                <a:ea typeface="Helvetica Neue"/>
                <a:cs typeface="Helvetica Neue"/>
              </a:defRPr>
            </a:lvl8pPr>
            <a:lvl9pPr algn="l">
              <a:buNone/>
              <a:defRPr sz="1425" b="0">
                <a:solidFill>
                  <a:srgbClr val="98989F"/>
                </a:solidFill>
                <a:latin typeface="Helvetica Neue"/>
                <a:ea typeface="Helvetica Neue"/>
                <a:cs typeface="Helvetica Neue"/>
              </a:defRPr>
            </a:lvl9pPr>
          </a:lstStyle>
          <a:p xmlns:a="http://schemas.openxmlformats.org/drawingml/2006/main">
            <a:pPr algn="l">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text-1">
            <a:extLst xmlns:a="http://schemas.openxmlformats.org/drawingml/2006/main">
              <a:ext uri="{FF2B5EF4-FFF2-40B4-BE49-F238E27FC236}">
                <a16:creationId xmlns:a16="http://schemas.microsoft.com/office/drawing/2014/main" id="{AEAE9199-9E0E-415D-9757-531098267746}"/>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10</a:t>
            </a:r>
          </a:p>
        </p:txBody>
      </p:sp>
      <p:sp>
        <p:nvSpPr>
          <p:cNvPr id="3" name="">
            <a:extLst xmlns:a="http://schemas.openxmlformats.org/drawingml/2006/main">
              <a:ext uri="{FF2B5EF4-FFF2-40B4-BE49-F238E27FC236}">
                <a16:creationId xmlns:a16="http://schemas.microsoft.com/office/drawing/2014/main" id="{023AA583-BA98-45A3-B174-895CEBE1A6E2}"/>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prstDash val="solid"/>
          </a:ln>
        </p:spPr>
      </p:sp>
      <p:sp>
        <p:nvSpPr>
          <p:cNvPr id="4" name="text-3">
            <a:extLst xmlns:a="http://schemas.openxmlformats.org/drawingml/2006/main">
              <a:ext uri="{FF2B5EF4-FFF2-40B4-BE49-F238E27FC236}">
                <a16:creationId xmlns:a16="http://schemas.microsoft.com/office/drawing/2014/main" id="{FBFF55E2-3E20-4206-B6AD-28842F48D2AB}"/>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5F7"/>
                </a:solidFill>
                <a:latin typeface="Helvetica Neue"/>
                <a:ea typeface="Helvetica Neue"/>
                <a:cs typeface="Helvetica Neue"/>
              </a:defRPr>
            </a:defPPr>
            <a:lvl1pPr algn="l">
              <a:buNone/>
              <a:defRPr sz="3450" b="1">
                <a:solidFill>
                  <a:srgbClr val="F5F5F7"/>
                </a:solidFill>
                <a:latin typeface="Helvetica Neue"/>
                <a:ea typeface="Helvetica Neue"/>
                <a:cs typeface="Helvetica Neue"/>
              </a:defRPr>
            </a:lvl1pPr>
            <a:lvl2pPr algn="l">
              <a:buNone/>
              <a:defRPr sz="3450" b="1">
                <a:solidFill>
                  <a:srgbClr val="F5F5F7"/>
                </a:solidFill>
                <a:latin typeface="Helvetica Neue"/>
                <a:ea typeface="Helvetica Neue"/>
                <a:cs typeface="Helvetica Neue"/>
              </a:defRPr>
            </a:lvl2pPr>
            <a:lvl3pPr algn="l">
              <a:buNone/>
              <a:defRPr sz="3450" b="1">
                <a:solidFill>
                  <a:srgbClr val="F5F5F7"/>
                </a:solidFill>
                <a:latin typeface="Helvetica Neue"/>
                <a:ea typeface="Helvetica Neue"/>
                <a:cs typeface="Helvetica Neue"/>
              </a:defRPr>
            </a:lvl3pPr>
            <a:lvl4pPr algn="l">
              <a:buNone/>
              <a:defRPr sz="3450" b="1">
                <a:solidFill>
                  <a:srgbClr val="F5F5F7"/>
                </a:solidFill>
                <a:latin typeface="Helvetica Neue"/>
                <a:ea typeface="Helvetica Neue"/>
                <a:cs typeface="Helvetica Neue"/>
              </a:defRPr>
            </a:lvl4pPr>
            <a:lvl5pPr algn="l">
              <a:buNone/>
              <a:defRPr sz="3450" b="1">
                <a:solidFill>
                  <a:srgbClr val="F5F5F7"/>
                </a:solidFill>
                <a:latin typeface="Helvetica Neue"/>
                <a:ea typeface="Helvetica Neue"/>
                <a:cs typeface="Helvetica Neue"/>
              </a:defRPr>
            </a:lvl5pPr>
            <a:lvl6pPr algn="l">
              <a:buNone/>
              <a:defRPr sz="3450" b="1">
                <a:solidFill>
                  <a:srgbClr val="F5F5F7"/>
                </a:solidFill>
                <a:latin typeface="Helvetica Neue"/>
                <a:ea typeface="Helvetica Neue"/>
                <a:cs typeface="Helvetica Neue"/>
              </a:defRPr>
            </a:lvl6pPr>
            <a:lvl7pPr algn="l">
              <a:buNone/>
              <a:defRPr sz="3450" b="1">
                <a:solidFill>
                  <a:srgbClr val="F5F5F7"/>
                </a:solidFill>
                <a:latin typeface="Helvetica Neue"/>
                <a:ea typeface="Helvetica Neue"/>
                <a:cs typeface="Helvetica Neue"/>
              </a:defRPr>
            </a:lvl7pPr>
            <a:lvl8pPr algn="l">
              <a:buNone/>
              <a:defRPr sz="3450" b="1">
                <a:solidFill>
                  <a:srgbClr val="F5F5F7"/>
                </a:solidFill>
                <a:latin typeface="Helvetica Neue"/>
                <a:ea typeface="Helvetica Neue"/>
                <a:cs typeface="Helvetica Neue"/>
              </a:defRPr>
            </a:lvl8pPr>
            <a:lvl9pPr algn="l">
              <a:buNone/>
              <a:defRPr sz="3450" b="1">
                <a:solidFill>
                  <a:srgbClr val="F5F5F7"/>
                </a:solidFill>
                <a:latin typeface="Helvetica Neue"/>
                <a:ea typeface="Helvetica Neue"/>
                <a:cs typeface="Helvetica Neue"/>
              </a:defRPr>
            </a:lvl9pPr>
          </a:lstStyle>
          <a:p xmlns:a="http://schemas.openxmlformats.org/drawingml/2006/main">
            <a:pPr algn="l">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Information retrieval</a:t>
            </a:r>
          </a:p>
        </p:txBody>
      </p:sp>
      <p:sp>
        <p:nvSpPr>
          <p:cNvPr id="13" name="theory-4">
            <a:extLst xmlns:a="http://schemas.openxmlformats.org/drawingml/2006/main">
              <a:ext uri="{FF2B5EF4-FFF2-40B4-BE49-F238E27FC236}">
                <a16:creationId xmlns:a16="http://schemas.microsoft.com/office/drawing/2014/main" id="{BE452235-DFDE-4DF9-8BD8-53B49FAFA4A0}"/>
              </a:ext>
            </a:extLst>
          </p:cNvPr>
          <p:cNvSpPr>
            <a:spLocks xmlns:a="http://schemas.openxmlformats.org/drawingml/2006/main" noGrp="1"/>
          </p:cNvSpPr>
          <p:nvPr/>
        </p:nvSpPr>
        <p:spPr>
          <a:xfrm xmlns:a="http://schemas.openxmlformats.org/drawingml/2006/main">
            <a:off x="685800" y="20478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buNone/>
              <a:defRPr sz="1950" b="1">
                <a:solidFill>
                  <a:srgbClr val="BD9FE3"/>
                </a:solidFill>
                <a:latin typeface="Helvetica Neue"/>
                <a:ea typeface="Helvetica Neue"/>
                <a:cs typeface="Helvetica Neue"/>
              </a:defRPr>
            </a:lvl1pPr>
            <a:lvl2pPr>
              <a:buNone/>
              <a:defRPr sz="1950" b="1">
                <a:solidFill>
                  <a:srgbClr val="BD9FE3"/>
                </a:solidFill>
                <a:latin typeface="Helvetica Neue"/>
                <a:ea typeface="Helvetica Neue"/>
                <a:cs typeface="Helvetica Neue"/>
              </a:defRPr>
            </a:lvl2pPr>
            <a:lvl3pPr>
              <a:buNone/>
              <a:defRPr sz="1950" b="1">
                <a:solidFill>
                  <a:srgbClr val="BD9FE3"/>
                </a:solidFill>
                <a:latin typeface="Helvetica Neue"/>
                <a:ea typeface="Helvetica Neue"/>
                <a:cs typeface="Helvetica Neue"/>
              </a:defRPr>
            </a:lvl3pPr>
            <a:lvl4pPr>
              <a:buNone/>
              <a:defRPr sz="1950" b="1">
                <a:solidFill>
                  <a:srgbClr val="BD9FE3"/>
                </a:solidFill>
                <a:latin typeface="Helvetica Neue"/>
                <a:ea typeface="Helvetica Neue"/>
                <a:cs typeface="Helvetica Neue"/>
              </a:defRPr>
            </a:lvl4pPr>
            <a:lvl5pPr>
              <a:buNone/>
              <a:defRPr sz="1950" b="1">
                <a:solidFill>
                  <a:srgbClr val="BD9FE3"/>
                </a:solidFill>
                <a:latin typeface="Helvetica Neue"/>
                <a:ea typeface="Helvetica Neue"/>
                <a:cs typeface="Helvetica Neue"/>
              </a:defRPr>
            </a:lvl5pPr>
            <a:lvl6pPr>
              <a:buNone/>
              <a:defRPr sz="1950" b="1">
                <a:solidFill>
                  <a:srgbClr val="BD9FE3"/>
                </a:solidFill>
                <a:latin typeface="Helvetica Neue"/>
                <a:ea typeface="Helvetica Neue"/>
                <a:cs typeface="Helvetica Neue"/>
              </a:defRPr>
            </a:lvl6pPr>
            <a:lvl7pPr>
              <a:buNone/>
              <a:defRPr sz="1950" b="1">
                <a:solidFill>
                  <a:srgbClr val="BD9FE3"/>
                </a:solidFill>
                <a:latin typeface="Helvetica Neue"/>
                <a:ea typeface="Helvetica Neue"/>
                <a:cs typeface="Helvetica Neue"/>
              </a:defRPr>
            </a:lvl7pPr>
            <a:lvl8pPr>
              <a:buNone/>
              <a:defRPr sz="1950" b="1">
                <a:solidFill>
                  <a:srgbClr val="BD9FE3"/>
                </a:solidFill>
                <a:latin typeface="Helvetica Neue"/>
                <a:ea typeface="Helvetica Neue"/>
                <a:cs typeface="Helvetica Neue"/>
              </a:defRPr>
            </a:lvl8pPr>
            <a:lvl9pPr>
              <a:buNone/>
              <a:defRPr sz="1950" b="1">
                <a:solidFill>
                  <a:srgbClr val="BD9FE3"/>
                </a:solidFill>
                <a:latin typeface="Helvetica Neue"/>
                <a:ea typeface="Helvetica Neue"/>
                <a:cs typeface="Helvetica Neue"/>
              </a:defRPr>
            </a:lvl9pPr>
          </a:lstStyle>
          <a:p xmlns:a="http://schemas.openxmlformats.org/drawingml/2006/main">
            <a:pPr>
              <a:buNone/>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Запрос и коллекция документов</a:t>
            </a:r>
          </a:p>
        </p:txBody>
      </p:sp>
      <p:sp>
        <p:nvSpPr>
          <p:cNvPr id="14" name="theory-5">
            <a:extLst xmlns:a="http://schemas.openxmlformats.org/drawingml/2006/main">
              <a:ext uri="{FF2B5EF4-FFF2-40B4-BE49-F238E27FC236}">
                <a16:creationId xmlns:a16="http://schemas.microsoft.com/office/drawing/2014/main" id="{0C34E8F2-9A8A-4141-B6E1-9AA97978BF75}"/>
              </a:ext>
            </a:extLst>
          </p:cNvPr>
          <p:cNvSpPr>
            <a:spLocks xmlns:a="http://schemas.openxmlformats.org/drawingml/2006/main" noGrp="1"/>
          </p:cNvSpPr>
          <p:nvPr/>
        </p:nvSpPr>
        <p:spPr>
          <a:xfrm xmlns:a="http://schemas.openxmlformats.org/drawingml/2006/main">
            <a:off x="685800" y="2514600"/>
            <a:ext cx="108204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buNone/>
              <a:defRPr sz="2025" b="0">
                <a:solidFill>
                  <a:srgbClr val="CDCDD3"/>
                </a:solidFill>
                <a:latin typeface="Helvetica Neue"/>
                <a:ea typeface="Helvetica Neue"/>
                <a:cs typeface="Helvetica Neue"/>
              </a:defRPr>
            </a:lvl1pPr>
            <a:lvl2pPr>
              <a:buNone/>
              <a:defRPr sz="2025" b="0">
                <a:solidFill>
                  <a:srgbClr val="CDCDD3"/>
                </a:solidFill>
                <a:latin typeface="Helvetica Neue"/>
                <a:ea typeface="Helvetica Neue"/>
                <a:cs typeface="Helvetica Neue"/>
              </a:defRPr>
            </a:lvl2pPr>
            <a:lvl3pPr>
              <a:buNone/>
              <a:defRPr sz="2025" b="0">
                <a:solidFill>
                  <a:srgbClr val="CDCDD3"/>
                </a:solidFill>
                <a:latin typeface="Helvetica Neue"/>
                <a:ea typeface="Helvetica Neue"/>
                <a:cs typeface="Helvetica Neue"/>
              </a:defRPr>
            </a:lvl3pPr>
            <a:lvl4pPr>
              <a:buNone/>
              <a:defRPr sz="2025" b="0">
                <a:solidFill>
                  <a:srgbClr val="CDCDD3"/>
                </a:solidFill>
                <a:latin typeface="Helvetica Neue"/>
                <a:ea typeface="Helvetica Neue"/>
                <a:cs typeface="Helvetica Neue"/>
              </a:defRPr>
            </a:lvl4pPr>
            <a:lvl5pPr>
              <a:buNone/>
              <a:defRPr sz="2025" b="0">
                <a:solidFill>
                  <a:srgbClr val="CDCDD3"/>
                </a:solidFill>
                <a:latin typeface="Helvetica Neue"/>
                <a:ea typeface="Helvetica Neue"/>
                <a:cs typeface="Helvetica Neue"/>
              </a:defRPr>
            </a:lvl5pPr>
            <a:lvl6pPr>
              <a:buNone/>
              <a:defRPr sz="2025" b="0">
                <a:solidFill>
                  <a:srgbClr val="CDCDD3"/>
                </a:solidFill>
                <a:latin typeface="Helvetica Neue"/>
                <a:ea typeface="Helvetica Neue"/>
                <a:cs typeface="Helvetica Neue"/>
              </a:defRPr>
            </a:lvl6pPr>
            <a:lvl7pPr>
              <a:buNone/>
              <a:defRPr sz="2025" b="0">
                <a:solidFill>
                  <a:srgbClr val="CDCDD3"/>
                </a:solidFill>
                <a:latin typeface="Helvetica Neue"/>
                <a:ea typeface="Helvetica Neue"/>
                <a:cs typeface="Helvetica Neue"/>
              </a:defRPr>
            </a:lvl7pPr>
            <a:lvl8pPr>
              <a:buNone/>
              <a:defRPr sz="2025" b="0">
                <a:solidFill>
                  <a:srgbClr val="CDCDD3"/>
                </a:solidFill>
                <a:latin typeface="Helvetica Neue"/>
                <a:ea typeface="Helvetica Neue"/>
                <a:cs typeface="Helvetica Neue"/>
              </a:defRPr>
            </a:lvl8pPr>
            <a:lvl9pPr>
              <a:buNone/>
              <a:defRPr sz="2025" b="0">
                <a:solidFill>
                  <a:srgbClr val="CDCDD3"/>
                </a:solidFill>
                <a:latin typeface="Helvetica Neue"/>
                <a:ea typeface="Helvetica Neue"/>
                <a:cs typeface="Helvetica Neue"/>
              </a:defRPr>
            </a:lvl9pPr>
          </a:lstStyle>
          <a:p xmlns:a="http://schemas.openxmlformats.org/drawingml/2006/main">
            <a:pPr>
              <a:buNone/>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Поисковая система получает запрос и выбирает из коллекции документы, которые могут удовлетворить информационную потребность пользователя. Запрос и документ часто различаются по длине и формулировке. Для поиска используют лексическое совпадение, числовые представления текста и дополнительные сигналы, связанные с содержанием или условиями поиска.</a:t>
            </a:r>
          </a:p>
        </p:txBody>
      </p:sp>
      <p:sp>
        <p:nvSpPr>
          <p:cNvPr id="15" name="theory-6">
            <a:extLst xmlns:a="http://schemas.openxmlformats.org/drawingml/2006/main">
              <a:ext uri="{FF2B5EF4-FFF2-40B4-BE49-F238E27FC236}">
                <a16:creationId xmlns:a16="http://schemas.microsoft.com/office/drawing/2014/main" id="{3A7E075F-1AD1-4B90-9B8C-D7E47A6A0403}"/>
              </a:ext>
            </a:extLst>
          </p:cNvPr>
          <p:cNvSpPr>
            <a:spLocks xmlns:a="http://schemas.openxmlformats.org/drawingml/2006/main" noGrp="1"/>
          </p:cNvSpPr>
          <p:nvPr/>
        </p:nvSpPr>
        <p:spPr>
          <a:xfrm xmlns:a="http://schemas.openxmlformats.org/drawingml/2006/main">
            <a:off x="685800" y="4229100"/>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buNone/>
              <a:defRPr sz="1950" b="1">
                <a:solidFill>
                  <a:srgbClr val="BD9FE3"/>
                </a:solidFill>
                <a:latin typeface="Helvetica Neue"/>
                <a:ea typeface="Helvetica Neue"/>
                <a:cs typeface="Helvetica Neue"/>
              </a:defRPr>
            </a:lvl1pPr>
            <a:lvl2pPr>
              <a:buNone/>
              <a:defRPr sz="1950" b="1">
                <a:solidFill>
                  <a:srgbClr val="BD9FE3"/>
                </a:solidFill>
                <a:latin typeface="Helvetica Neue"/>
                <a:ea typeface="Helvetica Neue"/>
                <a:cs typeface="Helvetica Neue"/>
              </a:defRPr>
            </a:lvl2pPr>
            <a:lvl3pPr>
              <a:buNone/>
              <a:defRPr sz="1950" b="1">
                <a:solidFill>
                  <a:srgbClr val="BD9FE3"/>
                </a:solidFill>
                <a:latin typeface="Helvetica Neue"/>
                <a:ea typeface="Helvetica Neue"/>
                <a:cs typeface="Helvetica Neue"/>
              </a:defRPr>
            </a:lvl3pPr>
            <a:lvl4pPr>
              <a:buNone/>
              <a:defRPr sz="1950" b="1">
                <a:solidFill>
                  <a:srgbClr val="BD9FE3"/>
                </a:solidFill>
                <a:latin typeface="Helvetica Neue"/>
                <a:ea typeface="Helvetica Neue"/>
                <a:cs typeface="Helvetica Neue"/>
              </a:defRPr>
            </a:lvl4pPr>
            <a:lvl5pPr>
              <a:buNone/>
              <a:defRPr sz="1950" b="1">
                <a:solidFill>
                  <a:srgbClr val="BD9FE3"/>
                </a:solidFill>
                <a:latin typeface="Helvetica Neue"/>
                <a:ea typeface="Helvetica Neue"/>
                <a:cs typeface="Helvetica Neue"/>
              </a:defRPr>
            </a:lvl5pPr>
            <a:lvl6pPr>
              <a:buNone/>
              <a:defRPr sz="1950" b="1">
                <a:solidFill>
                  <a:srgbClr val="BD9FE3"/>
                </a:solidFill>
                <a:latin typeface="Helvetica Neue"/>
                <a:ea typeface="Helvetica Neue"/>
                <a:cs typeface="Helvetica Neue"/>
              </a:defRPr>
            </a:lvl6pPr>
            <a:lvl7pPr>
              <a:buNone/>
              <a:defRPr sz="1950" b="1">
                <a:solidFill>
                  <a:srgbClr val="BD9FE3"/>
                </a:solidFill>
                <a:latin typeface="Helvetica Neue"/>
                <a:ea typeface="Helvetica Neue"/>
                <a:cs typeface="Helvetica Neue"/>
              </a:defRPr>
            </a:lvl7pPr>
            <a:lvl8pPr>
              <a:buNone/>
              <a:defRPr sz="1950" b="1">
                <a:solidFill>
                  <a:srgbClr val="BD9FE3"/>
                </a:solidFill>
                <a:latin typeface="Helvetica Neue"/>
                <a:ea typeface="Helvetica Neue"/>
                <a:cs typeface="Helvetica Neue"/>
              </a:defRPr>
            </a:lvl8pPr>
            <a:lvl9pPr>
              <a:buNone/>
              <a:defRPr sz="1950" b="1">
                <a:solidFill>
                  <a:srgbClr val="BD9FE3"/>
                </a:solidFill>
                <a:latin typeface="Helvetica Neue"/>
                <a:ea typeface="Helvetica Neue"/>
                <a:cs typeface="Helvetica Neue"/>
              </a:defRPr>
            </a:lvl9pPr>
          </a:lstStyle>
          <a:p xmlns:a="http://schemas.openxmlformats.org/drawingml/2006/main">
            <a:pPr>
              <a:buNone/>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Отбор и ранжирование</a:t>
            </a:r>
          </a:p>
        </p:txBody>
      </p:sp>
      <p:sp>
        <p:nvSpPr>
          <p:cNvPr id="16" name="theory-7">
            <a:extLst xmlns:a="http://schemas.openxmlformats.org/drawingml/2006/main">
              <a:ext uri="{FF2B5EF4-FFF2-40B4-BE49-F238E27FC236}">
                <a16:creationId xmlns:a16="http://schemas.microsoft.com/office/drawing/2014/main" id="{94C72C2C-DD65-44CF-8C33-3CEE09AB0DCB}"/>
              </a:ext>
            </a:extLst>
          </p:cNvPr>
          <p:cNvSpPr>
            <a:spLocks xmlns:a="http://schemas.openxmlformats.org/drawingml/2006/main" noGrp="1"/>
          </p:cNvSpPr>
          <p:nvPr/>
        </p:nvSpPr>
        <p:spPr>
          <a:xfrm xmlns:a="http://schemas.openxmlformats.org/drawingml/2006/main">
            <a:off x="685800" y="4695825"/>
            <a:ext cx="10820400" cy="1743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buNone/>
              <a:defRPr sz="2025" b="0">
                <a:solidFill>
                  <a:srgbClr val="CDCDD3"/>
                </a:solidFill>
                <a:latin typeface="Helvetica Neue"/>
                <a:ea typeface="Helvetica Neue"/>
                <a:cs typeface="Helvetica Neue"/>
              </a:defRPr>
            </a:lvl1pPr>
            <a:lvl2pPr>
              <a:buNone/>
              <a:defRPr sz="2025" b="0">
                <a:solidFill>
                  <a:srgbClr val="CDCDD3"/>
                </a:solidFill>
                <a:latin typeface="Helvetica Neue"/>
                <a:ea typeface="Helvetica Neue"/>
                <a:cs typeface="Helvetica Neue"/>
              </a:defRPr>
            </a:lvl2pPr>
            <a:lvl3pPr>
              <a:buNone/>
              <a:defRPr sz="2025" b="0">
                <a:solidFill>
                  <a:srgbClr val="CDCDD3"/>
                </a:solidFill>
                <a:latin typeface="Helvetica Neue"/>
                <a:ea typeface="Helvetica Neue"/>
                <a:cs typeface="Helvetica Neue"/>
              </a:defRPr>
            </a:lvl3pPr>
            <a:lvl4pPr>
              <a:buNone/>
              <a:defRPr sz="2025" b="0">
                <a:solidFill>
                  <a:srgbClr val="CDCDD3"/>
                </a:solidFill>
                <a:latin typeface="Helvetica Neue"/>
                <a:ea typeface="Helvetica Neue"/>
                <a:cs typeface="Helvetica Neue"/>
              </a:defRPr>
            </a:lvl4pPr>
            <a:lvl5pPr>
              <a:buNone/>
              <a:defRPr sz="2025" b="0">
                <a:solidFill>
                  <a:srgbClr val="CDCDD3"/>
                </a:solidFill>
                <a:latin typeface="Helvetica Neue"/>
                <a:ea typeface="Helvetica Neue"/>
                <a:cs typeface="Helvetica Neue"/>
              </a:defRPr>
            </a:lvl5pPr>
            <a:lvl6pPr>
              <a:buNone/>
              <a:defRPr sz="2025" b="0">
                <a:solidFill>
                  <a:srgbClr val="CDCDD3"/>
                </a:solidFill>
                <a:latin typeface="Helvetica Neue"/>
                <a:ea typeface="Helvetica Neue"/>
                <a:cs typeface="Helvetica Neue"/>
              </a:defRPr>
            </a:lvl6pPr>
            <a:lvl7pPr>
              <a:buNone/>
              <a:defRPr sz="2025" b="0">
                <a:solidFill>
                  <a:srgbClr val="CDCDD3"/>
                </a:solidFill>
                <a:latin typeface="Helvetica Neue"/>
                <a:ea typeface="Helvetica Neue"/>
                <a:cs typeface="Helvetica Neue"/>
              </a:defRPr>
            </a:lvl7pPr>
            <a:lvl8pPr>
              <a:buNone/>
              <a:defRPr sz="2025" b="0">
                <a:solidFill>
                  <a:srgbClr val="CDCDD3"/>
                </a:solidFill>
                <a:latin typeface="Helvetica Neue"/>
                <a:ea typeface="Helvetica Neue"/>
                <a:cs typeface="Helvetica Neue"/>
              </a:defRPr>
            </a:lvl8pPr>
            <a:lvl9pPr>
              <a:buNone/>
              <a:defRPr sz="2025" b="0">
                <a:solidFill>
                  <a:srgbClr val="CDCDD3"/>
                </a:solidFill>
                <a:latin typeface="Helvetica Neue"/>
                <a:ea typeface="Helvetica Neue"/>
                <a:cs typeface="Helvetica Neue"/>
              </a:defRPr>
            </a:lvl9pPr>
          </a:lstStyle>
          <a:p xmlns:a="http://schemas.openxmlformats.org/drawingml/2006/main">
            <a:pPr>
              <a:buNone/>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На первом этапе можно быстро сформировать множество кандидатов, затем упорядочить их по ожидаемой релевантности. Пользователь видит ограниченную часть выдачи, поэтому положение подходящего документа имеет значение. Для проверки нужны запросы, коллекция и оценки релевантности. Оценка отдельного текста без учёта запроса не описывает качество поисковой системы.</a:t>
            </a:r>
          </a:p>
        </p:txBody>
      </p:sp>
    </p:spTree>
    <p:extLst>
      <p:ext uri="{BB962C8B-B14F-4D97-AF65-F5344CB8AC3E}">
        <p14:creationId xmlns:p14="http://schemas.microsoft.com/office/powerpoint/2010/main" val="1450068230"/>
      </p:ext>
    </p:extLst>
  </p:cSld>
</p:sld>
</file>

<file path=ppt/slides/slide1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5" name="text-0">
            <a:extLst xmlns:a="http://schemas.openxmlformats.org/drawingml/2006/main">
              <a:ext uri="{FF2B5EF4-FFF2-40B4-BE49-F238E27FC236}">
                <a16:creationId xmlns:a16="http://schemas.microsoft.com/office/drawing/2014/main" id="{23BE2BC4-05CE-4132-B483-9D94CB81A571}"/>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98989F"/>
                </a:solidFill>
                <a:latin typeface="Helvetica Neue"/>
                <a:ea typeface="Helvetica Neue"/>
                <a:cs typeface="Helvetica Neue"/>
              </a:defRPr>
            </a:defPPr>
            <a:lvl1pPr algn="l">
              <a:buNone/>
              <a:defRPr sz="1425" b="0">
                <a:solidFill>
                  <a:srgbClr val="98989F"/>
                </a:solidFill>
                <a:latin typeface="Helvetica Neue"/>
                <a:ea typeface="Helvetica Neue"/>
                <a:cs typeface="Helvetica Neue"/>
              </a:defRPr>
            </a:lvl1pPr>
            <a:lvl2pPr algn="l">
              <a:buNone/>
              <a:defRPr sz="1425" b="0">
                <a:solidFill>
                  <a:srgbClr val="98989F"/>
                </a:solidFill>
                <a:latin typeface="Helvetica Neue"/>
                <a:ea typeface="Helvetica Neue"/>
                <a:cs typeface="Helvetica Neue"/>
              </a:defRPr>
            </a:lvl2pPr>
            <a:lvl3pPr algn="l">
              <a:buNone/>
              <a:defRPr sz="1425" b="0">
                <a:solidFill>
                  <a:srgbClr val="98989F"/>
                </a:solidFill>
                <a:latin typeface="Helvetica Neue"/>
                <a:ea typeface="Helvetica Neue"/>
                <a:cs typeface="Helvetica Neue"/>
              </a:defRPr>
            </a:lvl3pPr>
            <a:lvl4pPr algn="l">
              <a:buNone/>
              <a:defRPr sz="1425" b="0">
                <a:solidFill>
                  <a:srgbClr val="98989F"/>
                </a:solidFill>
                <a:latin typeface="Helvetica Neue"/>
                <a:ea typeface="Helvetica Neue"/>
                <a:cs typeface="Helvetica Neue"/>
              </a:defRPr>
            </a:lvl4pPr>
            <a:lvl5pPr algn="l">
              <a:buNone/>
              <a:defRPr sz="1425" b="0">
                <a:solidFill>
                  <a:srgbClr val="98989F"/>
                </a:solidFill>
                <a:latin typeface="Helvetica Neue"/>
                <a:ea typeface="Helvetica Neue"/>
                <a:cs typeface="Helvetica Neue"/>
              </a:defRPr>
            </a:lvl5pPr>
            <a:lvl6pPr algn="l">
              <a:buNone/>
              <a:defRPr sz="1425" b="0">
                <a:solidFill>
                  <a:srgbClr val="98989F"/>
                </a:solidFill>
                <a:latin typeface="Helvetica Neue"/>
                <a:ea typeface="Helvetica Neue"/>
                <a:cs typeface="Helvetica Neue"/>
              </a:defRPr>
            </a:lvl6pPr>
            <a:lvl7pPr algn="l">
              <a:buNone/>
              <a:defRPr sz="1425" b="0">
                <a:solidFill>
                  <a:srgbClr val="98989F"/>
                </a:solidFill>
                <a:latin typeface="Helvetica Neue"/>
                <a:ea typeface="Helvetica Neue"/>
                <a:cs typeface="Helvetica Neue"/>
              </a:defRPr>
            </a:lvl7pPr>
            <a:lvl8pPr algn="l">
              <a:buNone/>
              <a:defRPr sz="1425" b="0">
                <a:solidFill>
                  <a:srgbClr val="98989F"/>
                </a:solidFill>
                <a:latin typeface="Helvetica Neue"/>
                <a:ea typeface="Helvetica Neue"/>
                <a:cs typeface="Helvetica Neue"/>
              </a:defRPr>
            </a:lvl8pPr>
            <a:lvl9pPr algn="l">
              <a:buNone/>
              <a:defRPr sz="1425" b="0">
                <a:solidFill>
                  <a:srgbClr val="98989F"/>
                </a:solidFill>
                <a:latin typeface="Helvetica Neue"/>
                <a:ea typeface="Helvetica Neue"/>
                <a:cs typeface="Helvetica Neue"/>
              </a:defRPr>
            </a:lvl9pPr>
          </a:lstStyle>
          <a:p xmlns:a="http://schemas.openxmlformats.org/drawingml/2006/main">
            <a:pPr algn="l">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text-1">
            <a:extLst xmlns:a="http://schemas.openxmlformats.org/drawingml/2006/main">
              <a:ext uri="{FF2B5EF4-FFF2-40B4-BE49-F238E27FC236}">
                <a16:creationId xmlns:a16="http://schemas.microsoft.com/office/drawing/2014/main" id="{53CBAB8A-6F2A-4556-9652-183CA88D798D}"/>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11</a:t>
            </a:r>
          </a:p>
        </p:txBody>
      </p:sp>
      <p:sp>
        <p:nvSpPr>
          <p:cNvPr id="3" name="">
            <a:extLst xmlns:a="http://schemas.openxmlformats.org/drawingml/2006/main">
              <a:ext uri="{FF2B5EF4-FFF2-40B4-BE49-F238E27FC236}">
                <a16:creationId xmlns:a16="http://schemas.microsoft.com/office/drawing/2014/main" id="{6C8F1795-0CFB-43A5-BB9C-FE8EB3CE6E73}"/>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prstDash val="solid"/>
          </a:ln>
        </p:spPr>
      </p:sp>
      <p:sp>
        <p:nvSpPr>
          <p:cNvPr id="4" name="text-3">
            <a:extLst xmlns:a="http://schemas.openxmlformats.org/drawingml/2006/main">
              <a:ext uri="{FF2B5EF4-FFF2-40B4-BE49-F238E27FC236}">
                <a16:creationId xmlns:a16="http://schemas.microsoft.com/office/drawing/2014/main" id="{593AD2AD-929A-4BBE-880D-9FDF26D59780}"/>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5F7"/>
                </a:solidFill>
                <a:latin typeface="Helvetica Neue"/>
                <a:ea typeface="Helvetica Neue"/>
                <a:cs typeface="Helvetica Neue"/>
              </a:defRPr>
            </a:defPPr>
            <a:lvl1pPr algn="l">
              <a:buNone/>
              <a:defRPr sz="3450" b="1">
                <a:solidFill>
                  <a:srgbClr val="F5F5F7"/>
                </a:solidFill>
                <a:latin typeface="Helvetica Neue"/>
                <a:ea typeface="Helvetica Neue"/>
                <a:cs typeface="Helvetica Neue"/>
              </a:defRPr>
            </a:lvl1pPr>
            <a:lvl2pPr algn="l">
              <a:buNone/>
              <a:defRPr sz="3450" b="1">
                <a:solidFill>
                  <a:srgbClr val="F5F5F7"/>
                </a:solidFill>
                <a:latin typeface="Helvetica Neue"/>
                <a:ea typeface="Helvetica Neue"/>
                <a:cs typeface="Helvetica Neue"/>
              </a:defRPr>
            </a:lvl2pPr>
            <a:lvl3pPr algn="l">
              <a:buNone/>
              <a:defRPr sz="3450" b="1">
                <a:solidFill>
                  <a:srgbClr val="F5F5F7"/>
                </a:solidFill>
                <a:latin typeface="Helvetica Neue"/>
                <a:ea typeface="Helvetica Neue"/>
                <a:cs typeface="Helvetica Neue"/>
              </a:defRPr>
            </a:lvl3pPr>
            <a:lvl4pPr algn="l">
              <a:buNone/>
              <a:defRPr sz="3450" b="1">
                <a:solidFill>
                  <a:srgbClr val="F5F5F7"/>
                </a:solidFill>
                <a:latin typeface="Helvetica Neue"/>
                <a:ea typeface="Helvetica Neue"/>
                <a:cs typeface="Helvetica Neue"/>
              </a:defRPr>
            </a:lvl4pPr>
            <a:lvl5pPr algn="l">
              <a:buNone/>
              <a:defRPr sz="3450" b="1">
                <a:solidFill>
                  <a:srgbClr val="F5F5F7"/>
                </a:solidFill>
                <a:latin typeface="Helvetica Neue"/>
                <a:ea typeface="Helvetica Neue"/>
                <a:cs typeface="Helvetica Neue"/>
              </a:defRPr>
            </a:lvl5pPr>
            <a:lvl6pPr algn="l">
              <a:buNone/>
              <a:defRPr sz="3450" b="1">
                <a:solidFill>
                  <a:srgbClr val="F5F5F7"/>
                </a:solidFill>
                <a:latin typeface="Helvetica Neue"/>
                <a:ea typeface="Helvetica Neue"/>
                <a:cs typeface="Helvetica Neue"/>
              </a:defRPr>
            </a:lvl6pPr>
            <a:lvl7pPr algn="l">
              <a:buNone/>
              <a:defRPr sz="3450" b="1">
                <a:solidFill>
                  <a:srgbClr val="F5F5F7"/>
                </a:solidFill>
                <a:latin typeface="Helvetica Neue"/>
                <a:ea typeface="Helvetica Neue"/>
                <a:cs typeface="Helvetica Neue"/>
              </a:defRPr>
            </a:lvl7pPr>
            <a:lvl8pPr algn="l">
              <a:buNone/>
              <a:defRPr sz="3450" b="1">
                <a:solidFill>
                  <a:srgbClr val="F5F5F7"/>
                </a:solidFill>
                <a:latin typeface="Helvetica Neue"/>
                <a:ea typeface="Helvetica Neue"/>
                <a:cs typeface="Helvetica Neue"/>
              </a:defRPr>
            </a:lvl8pPr>
            <a:lvl9pPr algn="l">
              <a:buNone/>
              <a:defRPr sz="3450" b="1">
                <a:solidFill>
                  <a:srgbClr val="F5F5F7"/>
                </a:solidFill>
                <a:latin typeface="Helvetica Neue"/>
                <a:ea typeface="Helvetica Neue"/>
                <a:cs typeface="Helvetica Neue"/>
              </a:defRPr>
            </a:lvl9pPr>
          </a:lstStyle>
          <a:p xmlns:a="http://schemas.openxmlformats.org/drawingml/2006/main">
            <a:pPr algn="l">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Text generation и summarization</a:t>
            </a:r>
          </a:p>
        </p:txBody>
      </p:sp>
      <p:sp>
        <p:nvSpPr>
          <p:cNvPr id="16" name="ysda-4">
            <a:extLst xmlns:a="http://schemas.openxmlformats.org/drawingml/2006/main">
              <a:ext uri="{FF2B5EF4-FFF2-40B4-BE49-F238E27FC236}">
                <a16:creationId xmlns:a16="http://schemas.microsoft.com/office/drawing/2014/main" id="{CEDC20A1-70FB-46ED-9457-8BCD92A41256}"/>
              </a:ext>
            </a:extLst>
          </p:cNvPr>
          <p:cNvSpPr>
            <a:spLocks xmlns:a="http://schemas.openxmlformats.org/drawingml/2006/main" noGrp="1"/>
          </p:cNvSpPr>
          <p:nvPr/>
        </p:nvSpPr>
        <p:spPr>
          <a:xfrm xmlns:a="http://schemas.openxmlformats.org/drawingml/2006/main">
            <a:off x="685800" y="20478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Формирование текста</a:t>
            </a:r>
          </a:p>
        </p:txBody>
      </p:sp>
      <p:sp>
        <p:nvSpPr>
          <p:cNvPr id="17" name="ysda-5">
            <a:extLst xmlns:a="http://schemas.openxmlformats.org/drawingml/2006/main">
              <a:ext uri="{FF2B5EF4-FFF2-40B4-BE49-F238E27FC236}">
                <a16:creationId xmlns:a16="http://schemas.microsoft.com/office/drawing/2014/main" id="{80CA77C9-CE01-4E8A-9ABE-30C0A0500961}"/>
              </a:ext>
            </a:extLst>
          </p:cNvPr>
          <p:cNvSpPr>
            <a:spLocks xmlns:a="http://schemas.openxmlformats.org/drawingml/2006/main" noGrp="1"/>
          </p:cNvSpPr>
          <p:nvPr/>
        </p:nvSpPr>
        <p:spPr>
          <a:xfrm xmlns:a="http://schemas.openxmlformats.org/drawingml/2006/main">
            <a:off x="685800" y="2514600"/>
            <a:ext cx="108204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Text generation создаёт последовательность tokens. Продолжение текста зависит от предыдущего контекста; ответ в диалоге дополнительно зависит от запроса и истории. В conditional generation исходные данные задают содержание результата, но обычно допускают несколько корректных формулировок. Поэтому точное совпадение с единственным эталоном не исчерпывает evaluation.</a:t>
            </a:r>
          </a:p>
        </p:txBody>
      </p:sp>
      <p:sp>
        <p:nvSpPr>
          <p:cNvPr id="18" name="ysda-6">
            <a:extLst xmlns:a="http://schemas.openxmlformats.org/drawingml/2006/main">
              <a:ext uri="{FF2B5EF4-FFF2-40B4-BE49-F238E27FC236}">
                <a16:creationId xmlns:a16="http://schemas.microsoft.com/office/drawing/2014/main" id="{CF04D3AC-ED7D-475A-9F87-348A8E52B7E8}"/>
              </a:ext>
            </a:extLst>
          </p:cNvPr>
          <p:cNvSpPr>
            <a:spLocks xmlns:a="http://schemas.openxmlformats.org/drawingml/2006/main" noGrp="1"/>
          </p:cNvSpPr>
          <p:nvPr/>
        </p:nvSpPr>
        <p:spPr>
          <a:xfrm xmlns:a="http://schemas.openxmlformats.org/drawingml/2006/main">
            <a:off x="685800" y="4229100"/>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Summarization</a:t>
            </a:r>
          </a:p>
        </p:txBody>
      </p:sp>
      <p:sp>
        <p:nvSpPr>
          <p:cNvPr id="19" name="ysda-7">
            <a:extLst xmlns:a="http://schemas.openxmlformats.org/drawingml/2006/main">
              <a:ext uri="{FF2B5EF4-FFF2-40B4-BE49-F238E27FC236}">
                <a16:creationId xmlns:a16="http://schemas.microsoft.com/office/drawing/2014/main" id="{4CD268E5-FD40-42A0-86E7-A712EB334597}"/>
              </a:ext>
            </a:extLst>
          </p:cNvPr>
          <p:cNvSpPr>
            <a:spLocks xmlns:a="http://schemas.openxmlformats.org/drawingml/2006/main" noGrp="1"/>
          </p:cNvSpPr>
          <p:nvPr/>
        </p:nvSpPr>
        <p:spPr>
          <a:xfrm xmlns:a="http://schemas.openxmlformats.org/drawingml/2006/main">
            <a:off x="685800" y="4695825"/>
            <a:ext cx="10820400" cy="1914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Summarization сокращает исходный материал, сохраняя существенную информацию. Extractive подход выбирает фрагменты источника, abstractive допускает новые формулировки. Краткость сама по себе не означает качество: важны полнота значимых фактов, связность и отсутствие неподтверждённых утверждений. Language model может создавать грамматичный текст, который не соответствует исходным данным.</a:t>
            </a:r>
          </a:p>
        </p:txBody>
      </p:sp>
    </p:spTree>
    <p:extLst>
      <p:ext uri="{BB962C8B-B14F-4D97-AF65-F5344CB8AC3E}">
        <p14:creationId xmlns:p14="http://schemas.microsoft.com/office/powerpoint/2010/main" val="545565139"/>
      </p:ext>
    </p:extLst>
  </p:cSld>
</p:sld>
</file>

<file path=ppt/slides/slide1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8" name="exp90-0">
            <a:extLst xmlns:a="http://schemas.openxmlformats.org/drawingml/2006/main">
              <a:ext uri="{FF2B5EF4-FFF2-40B4-BE49-F238E27FC236}">
                <a16:creationId xmlns:a16="http://schemas.microsoft.com/office/drawing/2014/main" id="{D022ECC9-AFB6-4A09-AB24-F541F781C4F6}"/>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90-1">
            <a:extLst xmlns:a="http://schemas.openxmlformats.org/drawingml/2006/main">
              <a:ext uri="{FF2B5EF4-FFF2-40B4-BE49-F238E27FC236}">
                <a16:creationId xmlns:a16="http://schemas.microsoft.com/office/drawing/2014/main" id="{9A5E7ECB-7C2A-4A69-BFF0-1F8EB8079FE2}"/>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12</a:t>
            </a:r>
          </a:p>
        </p:txBody>
      </p:sp>
      <p:sp>
        <p:nvSpPr>
          <p:cNvPr id="3" name="">
            <a:extLst xmlns:a="http://schemas.openxmlformats.org/drawingml/2006/main">
              <a:ext uri="{FF2B5EF4-FFF2-40B4-BE49-F238E27FC236}">
                <a16:creationId xmlns:a16="http://schemas.microsoft.com/office/drawing/2014/main" id="{4B055A91-D1C7-4C3E-AD3B-19D1BC0245A3}"/>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0">
            <a:solidFill>
              <a:srgbClr val="28282B"/>
            </a:solidFill>
          </a:ln>
        </p:spPr>
      </p:sp>
      <p:sp>
        <p:nvSpPr>
          <p:cNvPr id="4" name="exp90-3">
            <a:extLst xmlns:a="http://schemas.openxmlformats.org/drawingml/2006/main">
              <a:ext uri="{FF2B5EF4-FFF2-40B4-BE49-F238E27FC236}">
                <a16:creationId xmlns:a16="http://schemas.microsoft.com/office/drawing/2014/main" id="{CEF9D515-2D13-481B-91F7-BE747E81A35A}"/>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Machine translation</a:t>
            </a:r>
          </a:p>
        </p:txBody>
      </p:sp>
      <p:pic>
        <p:nvPicPr>
          <p:cNvPr id="9" name="">
            <a:extLst xmlns:a="http://schemas.openxmlformats.org/drawingml/2006/main">
              <a:ext uri="{FF2B5EF4-FFF2-40B4-BE49-F238E27FC236}">
                <a16:creationId xmlns:a16="http://schemas.microsoft.com/office/drawing/2014/main" id="{D3651C1B-3399-43D9-A3D0-4E677A19ED28}"/>
              </a:ext>
            </a:extLst>
          </p:cNvPr>
          <p:cNvPicPr>
            <a:picLocks xmlns:a="http://schemas.openxmlformats.org/drawingml/2006/main" noChangeAspect="1"/>
          </p:cNvPicPr>
          <p:nvPr/>
        </p:nvPicPr>
        <p:blipFill>
          <a:blip xmlns:r="http://schemas.openxmlformats.org/officeDocument/2006/relationships" xmlns:a="http://schemas.openxmlformats.org/drawingml/2006/main" r:embed="Rfae3c4a17f614ef9"/>
          <a:stretch xmlns:a="http://schemas.openxmlformats.org/drawingml/2006/main"/>
        </p:blipFill>
        <p:spPr>
          <a:xfrm xmlns:a="http://schemas.openxmlformats.org/drawingml/2006/main">
            <a:off x="3629567" y="2000250"/>
            <a:ext cx="4932866" cy="2381250"/>
          </a:xfrm>
          <a:prstGeom xmlns:a="http://schemas.openxmlformats.org/drawingml/2006/main" prst="rect">
            <a:avLst/>
          </a:prstGeom>
        </p:spPr>
      </p:pic>
      <p:sp>
        <p:nvSpPr>
          <p:cNvPr id="10" name="ysda-4">
            <a:extLst xmlns:a="http://schemas.openxmlformats.org/drawingml/2006/main">
              <a:ext uri="{FF2B5EF4-FFF2-40B4-BE49-F238E27FC236}">
                <a16:creationId xmlns:a16="http://schemas.microsoft.com/office/drawing/2014/main" id="{2C702024-38A2-41FB-BBB2-C3F181B878F6}"/>
              </a:ext>
            </a:extLst>
          </p:cNvPr>
          <p:cNvSpPr>
            <a:spLocks xmlns:a="http://schemas.openxmlformats.org/drawingml/2006/main" noGrp="1"/>
          </p:cNvSpPr>
          <p:nvPr/>
        </p:nvSpPr>
        <p:spPr>
          <a:xfrm xmlns:a="http://schemas.openxmlformats.org/drawingml/2006/main">
            <a:off x="685800" y="4600575"/>
            <a:ext cx="108204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13" b="0">
                <a:solidFill>
                  <a:srgbClr val="CDCDD3"/>
                </a:solidFill>
                <a:latin typeface="Helvetica Neue"/>
                <a:ea typeface="Helvetica Neue"/>
                <a:cs typeface="Helvetica Neue"/>
              </a:defRPr>
            </a:defPPr>
            <a:lvl1pPr>
              <a:defRPr sz="1913" b="0">
                <a:solidFill>
                  <a:srgbClr val="CDCDD3"/>
                </a:solidFill>
                <a:latin typeface="Helvetica Neue"/>
                <a:ea typeface="Helvetica Neue"/>
                <a:cs typeface="Helvetica Neue"/>
              </a:defRPr>
            </a:lvl1pPr>
            <a:lvl2pPr>
              <a:defRPr sz="1913" b="0">
                <a:solidFill>
                  <a:srgbClr val="CDCDD3"/>
                </a:solidFill>
                <a:latin typeface="Helvetica Neue"/>
                <a:ea typeface="Helvetica Neue"/>
                <a:cs typeface="Helvetica Neue"/>
              </a:defRPr>
            </a:lvl2pPr>
            <a:lvl3pPr>
              <a:defRPr sz="1913" b="0">
                <a:solidFill>
                  <a:srgbClr val="CDCDD3"/>
                </a:solidFill>
                <a:latin typeface="Helvetica Neue"/>
                <a:ea typeface="Helvetica Neue"/>
                <a:cs typeface="Helvetica Neue"/>
              </a:defRPr>
            </a:lvl3pPr>
            <a:lvl4pPr>
              <a:defRPr sz="1913" b="0">
                <a:solidFill>
                  <a:srgbClr val="CDCDD3"/>
                </a:solidFill>
                <a:latin typeface="Helvetica Neue"/>
                <a:ea typeface="Helvetica Neue"/>
                <a:cs typeface="Helvetica Neue"/>
              </a:defRPr>
            </a:lvl4pPr>
            <a:lvl5pPr>
              <a:defRPr sz="1913" b="0">
                <a:solidFill>
                  <a:srgbClr val="CDCDD3"/>
                </a:solidFill>
                <a:latin typeface="Helvetica Neue"/>
                <a:ea typeface="Helvetica Neue"/>
                <a:cs typeface="Helvetica Neue"/>
              </a:defRPr>
            </a:lvl5pPr>
            <a:lvl6pPr>
              <a:defRPr sz="1913" b="0">
                <a:solidFill>
                  <a:srgbClr val="CDCDD3"/>
                </a:solidFill>
                <a:latin typeface="Helvetica Neue"/>
                <a:ea typeface="Helvetica Neue"/>
                <a:cs typeface="Helvetica Neue"/>
              </a:defRPr>
            </a:lvl6pPr>
            <a:lvl7pPr>
              <a:defRPr sz="1913" b="0">
                <a:solidFill>
                  <a:srgbClr val="CDCDD3"/>
                </a:solidFill>
                <a:latin typeface="Helvetica Neue"/>
                <a:ea typeface="Helvetica Neue"/>
                <a:cs typeface="Helvetica Neue"/>
              </a:defRPr>
            </a:lvl7pPr>
            <a:lvl8pPr>
              <a:defRPr sz="1913" b="0">
                <a:solidFill>
                  <a:srgbClr val="CDCDD3"/>
                </a:solidFill>
                <a:latin typeface="Helvetica Neue"/>
                <a:ea typeface="Helvetica Neue"/>
                <a:cs typeface="Helvetica Neue"/>
              </a:defRPr>
            </a:lvl8pPr>
            <a:lvl9pPr>
              <a:defRPr sz="1913" b="0">
                <a:solidFill>
                  <a:srgbClr val="CDCDD3"/>
                </a:solidFill>
                <a:latin typeface="Helvetica Neue"/>
                <a:ea typeface="Helvetica Neue"/>
                <a:cs typeface="Helvetica Neue"/>
              </a:defRPr>
            </a:lvl9pPr>
          </a:lstStyle>
          <a:p xmlns:a="http://schemas.openxmlformats.org/drawingml/2006/main">
            <a:pPr>
              <a:defRPr sz="1913" b="0">
                <a:solidFill>
                  <a:srgbClr val="CDCDD3"/>
                </a:solidFill>
                <a:latin typeface="Helvetica Neue"/>
                <a:ea typeface="Helvetica Neue"/>
                <a:cs typeface="Helvetica Neue"/>
              </a:defRPr>
            </a:pPr>
            <a:r>
              <a:rPr sz="1913" b="0">
                <a:solidFill>
                  <a:srgbClr val="CDCDD3"/>
                </a:solidFill>
                <a:latin typeface="Helvetica Neue"/>
                <a:ea typeface="Helvetica Neue"/>
                <a:cs typeface="Helvetica Neue"/>
              </a:rPr>
              <a:t>Machine translation получает текст на source language и формирует текст на target language. Требуется передать содержание, а порядок слов, длина и способы выражения могут измениться. Encoder–decoder — общий способ организовать conditional generation: encoder строит representation входа, decoder использует его при формировании ответа. Подробный разбор этой архитектуры относится к следующему блоку.</a:t>
            </a:r>
          </a:p>
        </p:txBody>
      </p:sp>
    </p:spTree>
    <p:extLst>
      <p:ext uri="{BB962C8B-B14F-4D97-AF65-F5344CB8AC3E}">
        <p14:creationId xmlns:p14="http://schemas.microsoft.com/office/powerpoint/2010/main" val="155634378"/>
      </p:ext>
    </p:extLst>
  </p:cSld>
</p:sld>
</file>

<file path=ppt/slides/slide1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4" name="text-0">
            <a:extLst xmlns:a="http://schemas.openxmlformats.org/drawingml/2006/main">
              <a:ext uri="{FF2B5EF4-FFF2-40B4-BE49-F238E27FC236}">
                <a16:creationId xmlns:a16="http://schemas.microsoft.com/office/drawing/2014/main" id="{E09BCC4C-4656-46FE-8B86-589161DA8711}"/>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98989F"/>
                </a:solidFill>
                <a:latin typeface="Helvetica Neue"/>
                <a:ea typeface="Helvetica Neue"/>
                <a:cs typeface="Helvetica Neue"/>
              </a:defRPr>
            </a:defPPr>
            <a:lvl1pPr algn="l">
              <a:buNone/>
              <a:defRPr sz="1425" b="0">
                <a:solidFill>
                  <a:srgbClr val="98989F"/>
                </a:solidFill>
                <a:latin typeface="Helvetica Neue"/>
                <a:ea typeface="Helvetica Neue"/>
                <a:cs typeface="Helvetica Neue"/>
              </a:defRPr>
            </a:lvl1pPr>
            <a:lvl2pPr algn="l">
              <a:buNone/>
              <a:defRPr sz="1425" b="0">
                <a:solidFill>
                  <a:srgbClr val="98989F"/>
                </a:solidFill>
                <a:latin typeface="Helvetica Neue"/>
                <a:ea typeface="Helvetica Neue"/>
                <a:cs typeface="Helvetica Neue"/>
              </a:defRPr>
            </a:lvl2pPr>
            <a:lvl3pPr algn="l">
              <a:buNone/>
              <a:defRPr sz="1425" b="0">
                <a:solidFill>
                  <a:srgbClr val="98989F"/>
                </a:solidFill>
                <a:latin typeface="Helvetica Neue"/>
                <a:ea typeface="Helvetica Neue"/>
                <a:cs typeface="Helvetica Neue"/>
              </a:defRPr>
            </a:lvl3pPr>
            <a:lvl4pPr algn="l">
              <a:buNone/>
              <a:defRPr sz="1425" b="0">
                <a:solidFill>
                  <a:srgbClr val="98989F"/>
                </a:solidFill>
                <a:latin typeface="Helvetica Neue"/>
                <a:ea typeface="Helvetica Neue"/>
                <a:cs typeface="Helvetica Neue"/>
              </a:defRPr>
            </a:lvl4pPr>
            <a:lvl5pPr algn="l">
              <a:buNone/>
              <a:defRPr sz="1425" b="0">
                <a:solidFill>
                  <a:srgbClr val="98989F"/>
                </a:solidFill>
                <a:latin typeface="Helvetica Neue"/>
                <a:ea typeface="Helvetica Neue"/>
                <a:cs typeface="Helvetica Neue"/>
              </a:defRPr>
            </a:lvl5pPr>
            <a:lvl6pPr algn="l">
              <a:buNone/>
              <a:defRPr sz="1425" b="0">
                <a:solidFill>
                  <a:srgbClr val="98989F"/>
                </a:solidFill>
                <a:latin typeface="Helvetica Neue"/>
                <a:ea typeface="Helvetica Neue"/>
                <a:cs typeface="Helvetica Neue"/>
              </a:defRPr>
            </a:lvl6pPr>
            <a:lvl7pPr algn="l">
              <a:buNone/>
              <a:defRPr sz="1425" b="0">
                <a:solidFill>
                  <a:srgbClr val="98989F"/>
                </a:solidFill>
                <a:latin typeface="Helvetica Neue"/>
                <a:ea typeface="Helvetica Neue"/>
                <a:cs typeface="Helvetica Neue"/>
              </a:defRPr>
            </a:lvl7pPr>
            <a:lvl8pPr algn="l">
              <a:buNone/>
              <a:defRPr sz="1425" b="0">
                <a:solidFill>
                  <a:srgbClr val="98989F"/>
                </a:solidFill>
                <a:latin typeface="Helvetica Neue"/>
                <a:ea typeface="Helvetica Neue"/>
                <a:cs typeface="Helvetica Neue"/>
              </a:defRPr>
            </a:lvl8pPr>
            <a:lvl9pPr algn="l">
              <a:buNone/>
              <a:defRPr sz="1425" b="0">
                <a:solidFill>
                  <a:srgbClr val="98989F"/>
                </a:solidFill>
                <a:latin typeface="Helvetica Neue"/>
                <a:ea typeface="Helvetica Neue"/>
                <a:cs typeface="Helvetica Neue"/>
              </a:defRPr>
            </a:lvl9pPr>
          </a:lstStyle>
          <a:p xmlns:a="http://schemas.openxmlformats.org/drawingml/2006/main">
            <a:pPr algn="l">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text-1">
            <a:extLst xmlns:a="http://schemas.openxmlformats.org/drawingml/2006/main">
              <a:ext uri="{FF2B5EF4-FFF2-40B4-BE49-F238E27FC236}">
                <a16:creationId xmlns:a16="http://schemas.microsoft.com/office/drawing/2014/main" id="{693A3E6A-5A52-41CA-8DC5-369DD14D8D29}"/>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13</a:t>
            </a:r>
          </a:p>
        </p:txBody>
      </p:sp>
      <p:sp>
        <p:nvSpPr>
          <p:cNvPr id="3" name="">
            <a:extLst xmlns:a="http://schemas.openxmlformats.org/drawingml/2006/main">
              <a:ext uri="{FF2B5EF4-FFF2-40B4-BE49-F238E27FC236}">
                <a16:creationId xmlns:a16="http://schemas.microsoft.com/office/drawing/2014/main" id="{55B78FB6-F441-41FE-A838-850AD6B2FFC1}"/>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prstDash val="solid"/>
          </a:ln>
        </p:spPr>
      </p:sp>
      <p:sp>
        <p:nvSpPr>
          <p:cNvPr id="4" name="text-3">
            <a:extLst xmlns:a="http://schemas.openxmlformats.org/drawingml/2006/main">
              <a:ext uri="{FF2B5EF4-FFF2-40B4-BE49-F238E27FC236}">
                <a16:creationId xmlns:a16="http://schemas.microsoft.com/office/drawing/2014/main" id="{FAE4BEB3-80EF-47B0-8099-CCDDB3644EFA}"/>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5F7"/>
                </a:solidFill>
                <a:latin typeface="Helvetica Neue"/>
                <a:ea typeface="Helvetica Neue"/>
                <a:cs typeface="Helvetica Neue"/>
              </a:defRPr>
            </a:defPPr>
            <a:lvl1pPr algn="l">
              <a:buNone/>
              <a:defRPr sz="3450" b="1">
                <a:solidFill>
                  <a:srgbClr val="F5F5F7"/>
                </a:solidFill>
                <a:latin typeface="Helvetica Neue"/>
                <a:ea typeface="Helvetica Neue"/>
                <a:cs typeface="Helvetica Neue"/>
              </a:defRPr>
            </a:lvl1pPr>
            <a:lvl2pPr algn="l">
              <a:buNone/>
              <a:defRPr sz="3450" b="1">
                <a:solidFill>
                  <a:srgbClr val="F5F5F7"/>
                </a:solidFill>
                <a:latin typeface="Helvetica Neue"/>
                <a:ea typeface="Helvetica Neue"/>
                <a:cs typeface="Helvetica Neue"/>
              </a:defRPr>
            </a:lvl2pPr>
            <a:lvl3pPr algn="l">
              <a:buNone/>
              <a:defRPr sz="3450" b="1">
                <a:solidFill>
                  <a:srgbClr val="F5F5F7"/>
                </a:solidFill>
                <a:latin typeface="Helvetica Neue"/>
                <a:ea typeface="Helvetica Neue"/>
                <a:cs typeface="Helvetica Neue"/>
              </a:defRPr>
            </a:lvl3pPr>
            <a:lvl4pPr algn="l">
              <a:buNone/>
              <a:defRPr sz="3450" b="1">
                <a:solidFill>
                  <a:srgbClr val="F5F5F7"/>
                </a:solidFill>
                <a:latin typeface="Helvetica Neue"/>
                <a:ea typeface="Helvetica Neue"/>
                <a:cs typeface="Helvetica Neue"/>
              </a:defRPr>
            </a:lvl4pPr>
            <a:lvl5pPr algn="l">
              <a:buNone/>
              <a:defRPr sz="3450" b="1">
                <a:solidFill>
                  <a:srgbClr val="F5F5F7"/>
                </a:solidFill>
                <a:latin typeface="Helvetica Neue"/>
                <a:ea typeface="Helvetica Neue"/>
                <a:cs typeface="Helvetica Neue"/>
              </a:defRPr>
            </a:lvl5pPr>
            <a:lvl6pPr algn="l">
              <a:buNone/>
              <a:defRPr sz="3450" b="1">
                <a:solidFill>
                  <a:srgbClr val="F5F5F7"/>
                </a:solidFill>
                <a:latin typeface="Helvetica Neue"/>
                <a:ea typeface="Helvetica Neue"/>
                <a:cs typeface="Helvetica Neue"/>
              </a:defRPr>
            </a:lvl6pPr>
            <a:lvl7pPr algn="l">
              <a:buNone/>
              <a:defRPr sz="3450" b="1">
                <a:solidFill>
                  <a:srgbClr val="F5F5F7"/>
                </a:solidFill>
                <a:latin typeface="Helvetica Neue"/>
                <a:ea typeface="Helvetica Neue"/>
                <a:cs typeface="Helvetica Neue"/>
              </a:defRPr>
            </a:lvl7pPr>
            <a:lvl8pPr algn="l">
              <a:buNone/>
              <a:defRPr sz="3450" b="1">
                <a:solidFill>
                  <a:srgbClr val="F5F5F7"/>
                </a:solidFill>
                <a:latin typeface="Helvetica Neue"/>
                <a:ea typeface="Helvetica Neue"/>
                <a:cs typeface="Helvetica Neue"/>
              </a:defRPr>
            </a:lvl8pPr>
            <a:lvl9pPr algn="l">
              <a:buNone/>
              <a:defRPr sz="3450" b="1">
                <a:solidFill>
                  <a:srgbClr val="F5F5F7"/>
                </a:solidFill>
                <a:latin typeface="Helvetica Neue"/>
                <a:ea typeface="Helvetica Neue"/>
                <a:cs typeface="Helvetica Neue"/>
              </a:defRPr>
            </a:lvl9pPr>
          </a:lstStyle>
          <a:p xmlns:a="http://schemas.openxmlformats.org/drawingml/2006/main">
            <a:pPr algn="l">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Rule-based и statistical NLP</a:t>
            </a:r>
          </a:p>
        </p:txBody>
      </p:sp>
      <p:sp>
        <p:nvSpPr>
          <p:cNvPr id="25" name="ysda-4">
            <a:extLst xmlns:a="http://schemas.openxmlformats.org/drawingml/2006/main">
              <a:ext uri="{FF2B5EF4-FFF2-40B4-BE49-F238E27FC236}">
                <a16:creationId xmlns:a16="http://schemas.microsoft.com/office/drawing/2014/main" id="{14D5F17D-E339-4A1E-8038-48BE6D3F1DDB}"/>
              </a:ext>
            </a:extLst>
          </p:cNvPr>
          <p:cNvSpPr>
            <a:spLocks xmlns:a="http://schemas.openxmlformats.org/drawingml/2006/main" noGrp="1"/>
          </p:cNvSpPr>
          <p:nvPr/>
        </p:nvSpPr>
        <p:spPr>
          <a:xfrm xmlns:a="http://schemas.openxmlformats.org/drawingml/2006/main">
            <a:off x="685800" y="20478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Rule-based NLP</a:t>
            </a:r>
          </a:p>
        </p:txBody>
      </p:sp>
      <p:sp>
        <p:nvSpPr>
          <p:cNvPr id="26" name="ysda-5">
            <a:extLst xmlns:a="http://schemas.openxmlformats.org/drawingml/2006/main">
              <a:ext uri="{FF2B5EF4-FFF2-40B4-BE49-F238E27FC236}">
                <a16:creationId xmlns:a16="http://schemas.microsoft.com/office/drawing/2014/main" id="{7CB4016D-EDEE-43A1-9790-F5E8C84BDC33}"/>
              </a:ext>
            </a:extLst>
          </p:cNvPr>
          <p:cNvSpPr>
            <a:spLocks xmlns:a="http://schemas.openxmlformats.org/drawingml/2006/main" noGrp="1"/>
          </p:cNvSpPr>
          <p:nvPr/>
        </p:nvSpPr>
        <p:spPr>
          <a:xfrm xmlns:a="http://schemas.openxmlformats.org/drawingml/2006/main">
            <a:off x="685800" y="2514600"/>
            <a:ext cx="108204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Ранние прикладные системы широко использовали словари, грамматики и правила, заданные экспертами. Правило может проверять наличие слова, шаблон записи или синтаксическую конструкцию. Такое поведение удобно контролировать в узкой области, но новые формулировки и исключения требуют ручной поддержки. Regex и словари по-прежнему полезны как отдельные компоненты обработки данных.</a:t>
            </a:r>
          </a:p>
        </p:txBody>
      </p:sp>
      <p:sp>
        <p:nvSpPr>
          <p:cNvPr id="27" name="ysda-6">
            <a:extLst xmlns:a="http://schemas.openxmlformats.org/drawingml/2006/main">
              <a:ext uri="{FF2B5EF4-FFF2-40B4-BE49-F238E27FC236}">
                <a16:creationId xmlns:a16="http://schemas.microsoft.com/office/drawing/2014/main" id="{0A168C56-0AE7-4DB1-9AE3-5D14B0FB103E}"/>
              </a:ext>
            </a:extLst>
          </p:cNvPr>
          <p:cNvSpPr>
            <a:spLocks xmlns:a="http://schemas.openxmlformats.org/drawingml/2006/main" noGrp="1"/>
          </p:cNvSpPr>
          <p:nvPr/>
        </p:nvSpPr>
        <p:spPr>
          <a:xfrm xmlns:a="http://schemas.openxmlformats.org/drawingml/2006/main">
            <a:off x="685800" y="4229100"/>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Statistical NLP</a:t>
            </a:r>
          </a:p>
        </p:txBody>
      </p:sp>
      <p:sp>
        <p:nvSpPr>
          <p:cNvPr id="28" name="ysda-7">
            <a:extLst xmlns:a="http://schemas.openxmlformats.org/drawingml/2006/main">
              <a:ext uri="{FF2B5EF4-FFF2-40B4-BE49-F238E27FC236}">
                <a16:creationId xmlns:a16="http://schemas.microsoft.com/office/drawing/2014/main" id="{3542ACEA-9520-448C-B638-AE7D777C48C5}"/>
              </a:ext>
            </a:extLst>
          </p:cNvPr>
          <p:cNvSpPr>
            <a:spLocks xmlns:a="http://schemas.openxmlformats.org/drawingml/2006/main" noGrp="1"/>
          </p:cNvSpPr>
          <p:nvPr/>
        </p:nvSpPr>
        <p:spPr>
          <a:xfrm xmlns:a="http://schemas.openxmlformats.org/drawingml/2006/main">
            <a:off x="685800" y="4695825"/>
            <a:ext cx="10820400" cy="1914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Statistical approaches оценивают закономерности по corpus: частоты слов, совместные появления, параметры classification или language modeling. Важными становятся размер и состав данных, feature engineering и независимая оценка. N-gram language models, Naive Bayes и линейные classifiers относятся к этому этапу. Переход между подходами происходил постепенно; они продолжают использоваться совместно.</a:t>
            </a:r>
          </a:p>
        </p:txBody>
      </p:sp>
    </p:spTree>
    <p:extLst>
      <p:ext uri="{BB962C8B-B14F-4D97-AF65-F5344CB8AC3E}">
        <p14:creationId xmlns:p14="http://schemas.microsoft.com/office/powerpoint/2010/main" val="587640044"/>
      </p:ext>
    </p:extLst>
  </p:cSld>
</p:sld>
</file>

<file path=ppt/slides/slide1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9" name="exp90-0">
            <a:extLst xmlns:a="http://schemas.openxmlformats.org/drawingml/2006/main">
              <a:ext uri="{FF2B5EF4-FFF2-40B4-BE49-F238E27FC236}">
                <a16:creationId xmlns:a16="http://schemas.microsoft.com/office/drawing/2014/main" id="{3BC73BA5-1E53-46F0-9455-348B58BCF61C}"/>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90-1">
            <a:extLst xmlns:a="http://schemas.openxmlformats.org/drawingml/2006/main">
              <a:ext uri="{FF2B5EF4-FFF2-40B4-BE49-F238E27FC236}">
                <a16:creationId xmlns:a16="http://schemas.microsoft.com/office/drawing/2014/main" id="{ACF093C0-CD28-4733-993F-D721810D1630}"/>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14</a:t>
            </a:r>
          </a:p>
        </p:txBody>
      </p:sp>
      <p:sp>
        <p:nvSpPr>
          <p:cNvPr id="3" name="">
            <a:extLst xmlns:a="http://schemas.openxmlformats.org/drawingml/2006/main">
              <a:ext uri="{FF2B5EF4-FFF2-40B4-BE49-F238E27FC236}">
                <a16:creationId xmlns:a16="http://schemas.microsoft.com/office/drawing/2014/main" id="{5126BDB0-4875-4ADF-8F64-717D1F54DEF2}"/>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0">
            <a:solidFill>
              <a:srgbClr val="28282B"/>
            </a:solidFill>
          </a:ln>
        </p:spPr>
      </p:sp>
      <p:sp>
        <p:nvSpPr>
          <p:cNvPr id="4" name="exp90-3">
            <a:extLst xmlns:a="http://schemas.openxmlformats.org/drawingml/2006/main">
              <a:ext uri="{FF2B5EF4-FFF2-40B4-BE49-F238E27FC236}">
                <a16:creationId xmlns:a16="http://schemas.microsoft.com/office/drawing/2014/main" id="{683DA44C-D287-4ED1-B976-324D71F4215F}"/>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Neural NLP и Large Language Models</a:t>
            </a:r>
          </a:p>
        </p:txBody>
      </p:sp>
      <p:sp>
        <p:nvSpPr>
          <p:cNvPr id="10" name="ysda-4">
            <a:extLst xmlns:a="http://schemas.openxmlformats.org/drawingml/2006/main">
              <a:ext uri="{FF2B5EF4-FFF2-40B4-BE49-F238E27FC236}">
                <a16:creationId xmlns:a16="http://schemas.microsoft.com/office/drawing/2014/main" id="{0587EBDD-11BF-4C9A-8834-2C6D20705D90}"/>
              </a:ext>
            </a:extLst>
          </p:cNvPr>
          <p:cNvSpPr>
            <a:spLocks xmlns:a="http://schemas.openxmlformats.org/drawingml/2006/main" noGrp="1"/>
          </p:cNvSpPr>
          <p:nvPr/>
        </p:nvSpPr>
        <p:spPr>
          <a:xfrm xmlns:a="http://schemas.openxmlformats.org/drawingml/2006/main">
            <a:off x="685800" y="20478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Neural NLP</a:t>
            </a:r>
          </a:p>
        </p:txBody>
      </p:sp>
      <p:sp>
        <p:nvSpPr>
          <p:cNvPr id="11" name="ysda-5">
            <a:extLst xmlns:a="http://schemas.openxmlformats.org/drawingml/2006/main">
              <a:ext uri="{FF2B5EF4-FFF2-40B4-BE49-F238E27FC236}">
                <a16:creationId xmlns:a16="http://schemas.microsoft.com/office/drawing/2014/main" id="{676DC622-435D-48AB-9AD2-F9E933A0D88B}"/>
              </a:ext>
            </a:extLst>
          </p:cNvPr>
          <p:cNvSpPr>
            <a:spLocks xmlns:a="http://schemas.openxmlformats.org/drawingml/2006/main" noGrp="1"/>
          </p:cNvSpPr>
          <p:nvPr/>
        </p:nvSpPr>
        <p:spPr>
          <a:xfrm xmlns:a="http://schemas.openxmlformats.org/drawingml/2006/main">
            <a:off x="685800" y="2514600"/>
            <a:ext cx="108204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Neural networks позволяют обучать feature representation по данным. Word embeddings задают численное описание слов, RNN и CNN обрабатывают последовательность и её локальные закономерности. С pretraining часть знаний переносится между задачами: модель сначала обучается на большом corpus, затем адаптируется к конкретному применению. Это уменьшает объём работы, который начинается с нуля.</a:t>
            </a:r>
          </a:p>
        </p:txBody>
      </p:sp>
      <p:sp>
        <p:nvSpPr>
          <p:cNvPr id="12" name="ysda-6">
            <a:extLst xmlns:a="http://schemas.openxmlformats.org/drawingml/2006/main">
              <a:ext uri="{FF2B5EF4-FFF2-40B4-BE49-F238E27FC236}">
                <a16:creationId xmlns:a16="http://schemas.microsoft.com/office/drawing/2014/main" id="{E7C5A5C7-50AB-4F29-B9F0-6B27B2857CCA}"/>
              </a:ext>
            </a:extLst>
          </p:cNvPr>
          <p:cNvSpPr>
            <a:spLocks xmlns:a="http://schemas.openxmlformats.org/drawingml/2006/main" noGrp="1"/>
          </p:cNvSpPr>
          <p:nvPr/>
        </p:nvSpPr>
        <p:spPr>
          <a:xfrm xmlns:a="http://schemas.openxmlformats.org/drawingml/2006/main">
            <a:off x="685800" y="4229100"/>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Transformer и LLM</a:t>
            </a:r>
          </a:p>
        </p:txBody>
      </p:sp>
      <p:sp>
        <p:nvSpPr>
          <p:cNvPr id="13" name="ysda-7">
            <a:extLst xmlns:a="http://schemas.openxmlformats.org/drawingml/2006/main">
              <a:ext uri="{FF2B5EF4-FFF2-40B4-BE49-F238E27FC236}">
                <a16:creationId xmlns:a16="http://schemas.microsoft.com/office/drawing/2014/main" id="{071E0467-F205-41C1-BFA1-CE9253B5E433}"/>
              </a:ext>
            </a:extLst>
          </p:cNvPr>
          <p:cNvSpPr>
            <a:spLocks xmlns:a="http://schemas.openxmlformats.org/drawingml/2006/main" noGrp="1"/>
          </p:cNvSpPr>
          <p:nvPr/>
        </p:nvSpPr>
        <p:spPr>
          <a:xfrm xmlns:a="http://schemas.openxmlformats.org/drawingml/2006/main">
            <a:off x="685800" y="4695825"/>
            <a:ext cx="10820400" cy="1914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Transformer использует attention для взаимодействия между позициями последовательности. Масштабирование моделей и данных, pretraining и последующая адаптация привели к широкому применению LLM. Такие модели решают задачи через prompting и fine-tuning, но по-прежнему требуют качественных данных и evaluation. Первая лекция вводит необходимые понятия; архитектуры и способы применения разбираются в следующих блоках.</a:t>
            </a:r>
          </a:p>
        </p:txBody>
      </p:sp>
    </p:spTree>
    <p:extLst>
      <p:ext uri="{BB962C8B-B14F-4D97-AF65-F5344CB8AC3E}">
        <p14:creationId xmlns:p14="http://schemas.microsoft.com/office/powerpoint/2010/main" val="1467724818"/>
      </p:ext>
    </p:extLst>
  </p:cSld>
</p:sld>
</file>

<file path=ppt/slides/slide1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text-0">
            <a:extLst xmlns:a="http://schemas.openxmlformats.org/drawingml/2006/main">
              <a:ext uri="{FF2B5EF4-FFF2-40B4-BE49-F238E27FC236}">
                <a16:creationId xmlns:a16="http://schemas.microsoft.com/office/drawing/2014/main" id="{E81BDB82-4290-4AB0-9286-661A65662C1E}"/>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98989F"/>
                </a:solidFill>
                <a:latin typeface="Helvetica Neue"/>
                <a:ea typeface="Helvetica Neue"/>
                <a:cs typeface="Helvetica Neue"/>
              </a:defRPr>
            </a:defPPr>
            <a:lvl1pPr algn="l">
              <a:buNone/>
              <a:defRPr sz="1425" b="0">
                <a:solidFill>
                  <a:srgbClr val="98989F"/>
                </a:solidFill>
                <a:latin typeface="Helvetica Neue"/>
                <a:ea typeface="Helvetica Neue"/>
                <a:cs typeface="Helvetica Neue"/>
              </a:defRPr>
            </a:lvl1pPr>
            <a:lvl2pPr algn="l">
              <a:buNone/>
              <a:defRPr sz="1425" b="0">
                <a:solidFill>
                  <a:srgbClr val="98989F"/>
                </a:solidFill>
                <a:latin typeface="Helvetica Neue"/>
                <a:ea typeface="Helvetica Neue"/>
                <a:cs typeface="Helvetica Neue"/>
              </a:defRPr>
            </a:lvl2pPr>
            <a:lvl3pPr algn="l">
              <a:buNone/>
              <a:defRPr sz="1425" b="0">
                <a:solidFill>
                  <a:srgbClr val="98989F"/>
                </a:solidFill>
                <a:latin typeface="Helvetica Neue"/>
                <a:ea typeface="Helvetica Neue"/>
                <a:cs typeface="Helvetica Neue"/>
              </a:defRPr>
            </a:lvl3pPr>
            <a:lvl4pPr algn="l">
              <a:buNone/>
              <a:defRPr sz="1425" b="0">
                <a:solidFill>
                  <a:srgbClr val="98989F"/>
                </a:solidFill>
                <a:latin typeface="Helvetica Neue"/>
                <a:ea typeface="Helvetica Neue"/>
                <a:cs typeface="Helvetica Neue"/>
              </a:defRPr>
            </a:lvl4pPr>
            <a:lvl5pPr algn="l">
              <a:buNone/>
              <a:defRPr sz="1425" b="0">
                <a:solidFill>
                  <a:srgbClr val="98989F"/>
                </a:solidFill>
                <a:latin typeface="Helvetica Neue"/>
                <a:ea typeface="Helvetica Neue"/>
                <a:cs typeface="Helvetica Neue"/>
              </a:defRPr>
            </a:lvl5pPr>
            <a:lvl6pPr algn="l">
              <a:buNone/>
              <a:defRPr sz="1425" b="0">
                <a:solidFill>
                  <a:srgbClr val="98989F"/>
                </a:solidFill>
                <a:latin typeface="Helvetica Neue"/>
                <a:ea typeface="Helvetica Neue"/>
                <a:cs typeface="Helvetica Neue"/>
              </a:defRPr>
            </a:lvl6pPr>
            <a:lvl7pPr algn="l">
              <a:buNone/>
              <a:defRPr sz="1425" b="0">
                <a:solidFill>
                  <a:srgbClr val="98989F"/>
                </a:solidFill>
                <a:latin typeface="Helvetica Neue"/>
                <a:ea typeface="Helvetica Neue"/>
                <a:cs typeface="Helvetica Neue"/>
              </a:defRPr>
            </a:lvl7pPr>
            <a:lvl8pPr algn="l">
              <a:buNone/>
              <a:defRPr sz="1425" b="0">
                <a:solidFill>
                  <a:srgbClr val="98989F"/>
                </a:solidFill>
                <a:latin typeface="Helvetica Neue"/>
                <a:ea typeface="Helvetica Neue"/>
                <a:cs typeface="Helvetica Neue"/>
              </a:defRPr>
            </a:lvl8pPr>
            <a:lvl9pPr algn="l">
              <a:buNone/>
              <a:defRPr sz="1425" b="0">
                <a:solidFill>
                  <a:srgbClr val="98989F"/>
                </a:solidFill>
                <a:latin typeface="Helvetica Neue"/>
                <a:ea typeface="Helvetica Neue"/>
                <a:cs typeface="Helvetica Neue"/>
              </a:defRPr>
            </a:lvl9pPr>
          </a:lstStyle>
          <a:p xmlns:a="http://schemas.openxmlformats.org/drawingml/2006/main">
            <a:pPr algn="l">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text-1">
            <a:extLst xmlns:a="http://schemas.openxmlformats.org/drawingml/2006/main">
              <a:ext uri="{FF2B5EF4-FFF2-40B4-BE49-F238E27FC236}">
                <a16:creationId xmlns:a16="http://schemas.microsoft.com/office/drawing/2014/main" id="{692173A2-7B29-4C06-9782-95C9B6BA81EC}"/>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15</a:t>
            </a:r>
          </a:p>
        </p:txBody>
      </p:sp>
      <p:sp>
        <p:nvSpPr>
          <p:cNvPr id="3" name="">
            <a:extLst xmlns:a="http://schemas.openxmlformats.org/drawingml/2006/main">
              <a:ext uri="{FF2B5EF4-FFF2-40B4-BE49-F238E27FC236}">
                <a16:creationId xmlns:a16="http://schemas.microsoft.com/office/drawing/2014/main" id="{5ED1D84E-592B-490E-9DA7-2486581EE658}"/>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prstDash val="solid"/>
          </a:ln>
        </p:spPr>
      </p:sp>
      <p:sp>
        <p:nvSpPr>
          <p:cNvPr id="4" name="text-3">
            <a:extLst xmlns:a="http://schemas.openxmlformats.org/drawingml/2006/main">
              <a:ext uri="{FF2B5EF4-FFF2-40B4-BE49-F238E27FC236}">
                <a16:creationId xmlns:a16="http://schemas.microsoft.com/office/drawing/2014/main" id="{BC83DA46-D153-4322-AE86-172D8B68ADE1}"/>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5F7"/>
                </a:solidFill>
                <a:latin typeface="Helvetica Neue"/>
                <a:ea typeface="Helvetica Neue"/>
                <a:cs typeface="Helvetica Neue"/>
              </a:defRPr>
            </a:defPPr>
            <a:lvl1pPr algn="l">
              <a:buNone/>
              <a:defRPr sz="3450" b="1">
                <a:solidFill>
                  <a:srgbClr val="F5F5F7"/>
                </a:solidFill>
                <a:latin typeface="Helvetica Neue"/>
                <a:ea typeface="Helvetica Neue"/>
                <a:cs typeface="Helvetica Neue"/>
              </a:defRPr>
            </a:lvl1pPr>
            <a:lvl2pPr algn="l">
              <a:buNone/>
              <a:defRPr sz="3450" b="1">
                <a:solidFill>
                  <a:srgbClr val="F5F5F7"/>
                </a:solidFill>
                <a:latin typeface="Helvetica Neue"/>
                <a:ea typeface="Helvetica Neue"/>
                <a:cs typeface="Helvetica Neue"/>
              </a:defRPr>
            </a:lvl2pPr>
            <a:lvl3pPr algn="l">
              <a:buNone/>
              <a:defRPr sz="3450" b="1">
                <a:solidFill>
                  <a:srgbClr val="F5F5F7"/>
                </a:solidFill>
                <a:latin typeface="Helvetica Neue"/>
                <a:ea typeface="Helvetica Neue"/>
                <a:cs typeface="Helvetica Neue"/>
              </a:defRPr>
            </a:lvl3pPr>
            <a:lvl4pPr algn="l">
              <a:buNone/>
              <a:defRPr sz="3450" b="1">
                <a:solidFill>
                  <a:srgbClr val="F5F5F7"/>
                </a:solidFill>
                <a:latin typeface="Helvetica Neue"/>
                <a:ea typeface="Helvetica Neue"/>
                <a:cs typeface="Helvetica Neue"/>
              </a:defRPr>
            </a:lvl4pPr>
            <a:lvl5pPr algn="l">
              <a:buNone/>
              <a:defRPr sz="3450" b="1">
                <a:solidFill>
                  <a:srgbClr val="F5F5F7"/>
                </a:solidFill>
                <a:latin typeface="Helvetica Neue"/>
                <a:ea typeface="Helvetica Neue"/>
                <a:cs typeface="Helvetica Neue"/>
              </a:defRPr>
            </a:lvl5pPr>
            <a:lvl6pPr algn="l">
              <a:buNone/>
              <a:defRPr sz="3450" b="1">
                <a:solidFill>
                  <a:srgbClr val="F5F5F7"/>
                </a:solidFill>
                <a:latin typeface="Helvetica Neue"/>
                <a:ea typeface="Helvetica Neue"/>
                <a:cs typeface="Helvetica Neue"/>
              </a:defRPr>
            </a:lvl6pPr>
            <a:lvl7pPr algn="l">
              <a:buNone/>
              <a:defRPr sz="3450" b="1">
                <a:solidFill>
                  <a:srgbClr val="F5F5F7"/>
                </a:solidFill>
                <a:latin typeface="Helvetica Neue"/>
                <a:ea typeface="Helvetica Neue"/>
                <a:cs typeface="Helvetica Neue"/>
              </a:defRPr>
            </a:lvl7pPr>
            <a:lvl8pPr algn="l">
              <a:buNone/>
              <a:defRPr sz="3450" b="1">
                <a:solidFill>
                  <a:srgbClr val="F5F5F7"/>
                </a:solidFill>
                <a:latin typeface="Helvetica Neue"/>
                <a:ea typeface="Helvetica Neue"/>
                <a:cs typeface="Helvetica Neue"/>
              </a:defRPr>
            </a:lvl8pPr>
            <a:lvl9pPr algn="l">
              <a:buNone/>
              <a:defRPr sz="3450" b="1">
                <a:solidFill>
                  <a:srgbClr val="F5F5F7"/>
                </a:solidFill>
                <a:latin typeface="Helvetica Neue"/>
                <a:ea typeface="Helvetica Neue"/>
                <a:cs typeface="Helvetica Neue"/>
              </a:defRPr>
            </a:lvl9pPr>
          </a:lstStyle>
          <a:p xmlns:a="http://schemas.openxmlformats.org/drawingml/2006/main">
            <a:pPr algn="l">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Supervised learning</a:t>
            </a:r>
          </a:p>
        </p:txBody>
      </p:sp>
      <p:pic>
        <p:nvPicPr>
          <p:cNvPr id="17" name="">
            <a:extLst xmlns:a="http://schemas.openxmlformats.org/drawingml/2006/main">
              <a:ext uri="{FF2B5EF4-FFF2-40B4-BE49-F238E27FC236}">
                <a16:creationId xmlns:a16="http://schemas.microsoft.com/office/drawing/2014/main" id="{AA60FBC4-2F05-477E-9A8A-C03330D26026}"/>
              </a:ext>
            </a:extLst>
          </p:cNvPr>
          <p:cNvPicPr>
            <a:picLocks xmlns:a="http://schemas.openxmlformats.org/drawingml/2006/main" noChangeAspect="1"/>
          </p:cNvPicPr>
          <p:nvPr/>
        </p:nvPicPr>
        <p:blipFill>
          <a:blip xmlns:r="http://schemas.openxmlformats.org/officeDocument/2006/relationships" xmlns:a="http://schemas.openxmlformats.org/drawingml/2006/main" r:embed="R86eb02964859455c"/>
          <a:srcRect xmlns:a="http://schemas.openxmlformats.org/drawingml/2006/main" l="0" t="0" r="0" b="0"/>
          <a:stretch xmlns:a="http://schemas.openxmlformats.org/drawingml/2006/main">
            <a:fillRect l="0" t="0" r="0" b="0"/>
          </a:stretch>
        </p:blipFill>
        <p:spPr>
          <a:xfrm xmlns:a="http://schemas.openxmlformats.org/drawingml/2006/main">
            <a:off x="685800" y="2443893"/>
            <a:ext cx="5905500" cy="3046539"/>
          </a:xfrm>
          <a:prstGeom xmlns:a="http://schemas.openxmlformats.org/drawingml/2006/main" prst="rect">
            <a:avLst/>
          </a:prstGeom>
        </p:spPr>
      </p:pic>
      <p:sp>
        <p:nvSpPr>
          <p:cNvPr id="18" name="theory-4">
            <a:extLst xmlns:a="http://schemas.openxmlformats.org/drawingml/2006/main">
              <a:ext uri="{FF2B5EF4-FFF2-40B4-BE49-F238E27FC236}">
                <a16:creationId xmlns:a16="http://schemas.microsoft.com/office/drawing/2014/main" id="{8416A360-A86E-48A6-A695-AAA3950F6790}"/>
              </a:ext>
            </a:extLst>
          </p:cNvPr>
          <p:cNvSpPr>
            <a:spLocks xmlns:a="http://schemas.openxmlformats.org/drawingml/2006/main" noGrp="1"/>
          </p:cNvSpPr>
          <p:nvPr/>
        </p:nvSpPr>
        <p:spPr>
          <a:xfrm xmlns:a="http://schemas.openxmlformats.org/drawingml/2006/main">
            <a:off x="6934200" y="2076450"/>
            <a:ext cx="4572000" cy="406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38" b="0">
                <a:solidFill>
                  <a:srgbClr val="CDCDD3"/>
                </a:solidFill>
                <a:latin typeface="Helvetica Neue"/>
                <a:ea typeface="Helvetica Neue"/>
                <a:cs typeface="Helvetica Neue"/>
              </a:defRPr>
            </a:defPPr>
            <a:lvl1pPr>
              <a:buNone/>
              <a:defRPr sz="1838" b="0">
                <a:solidFill>
                  <a:srgbClr val="CDCDD3"/>
                </a:solidFill>
                <a:latin typeface="Helvetica Neue"/>
                <a:ea typeface="Helvetica Neue"/>
                <a:cs typeface="Helvetica Neue"/>
              </a:defRPr>
            </a:lvl1pPr>
            <a:lvl2pPr>
              <a:buNone/>
              <a:defRPr sz="1838" b="0">
                <a:solidFill>
                  <a:srgbClr val="CDCDD3"/>
                </a:solidFill>
                <a:latin typeface="Helvetica Neue"/>
                <a:ea typeface="Helvetica Neue"/>
                <a:cs typeface="Helvetica Neue"/>
              </a:defRPr>
            </a:lvl2pPr>
            <a:lvl3pPr>
              <a:buNone/>
              <a:defRPr sz="1838" b="0">
                <a:solidFill>
                  <a:srgbClr val="CDCDD3"/>
                </a:solidFill>
                <a:latin typeface="Helvetica Neue"/>
                <a:ea typeface="Helvetica Neue"/>
                <a:cs typeface="Helvetica Neue"/>
              </a:defRPr>
            </a:lvl3pPr>
            <a:lvl4pPr>
              <a:buNone/>
              <a:defRPr sz="1838" b="0">
                <a:solidFill>
                  <a:srgbClr val="CDCDD3"/>
                </a:solidFill>
                <a:latin typeface="Helvetica Neue"/>
                <a:ea typeface="Helvetica Neue"/>
                <a:cs typeface="Helvetica Neue"/>
              </a:defRPr>
            </a:lvl4pPr>
            <a:lvl5pPr>
              <a:buNone/>
              <a:defRPr sz="1838" b="0">
                <a:solidFill>
                  <a:srgbClr val="CDCDD3"/>
                </a:solidFill>
                <a:latin typeface="Helvetica Neue"/>
                <a:ea typeface="Helvetica Neue"/>
                <a:cs typeface="Helvetica Neue"/>
              </a:defRPr>
            </a:lvl5pPr>
            <a:lvl6pPr>
              <a:buNone/>
              <a:defRPr sz="1838" b="0">
                <a:solidFill>
                  <a:srgbClr val="CDCDD3"/>
                </a:solidFill>
                <a:latin typeface="Helvetica Neue"/>
                <a:ea typeface="Helvetica Neue"/>
                <a:cs typeface="Helvetica Neue"/>
              </a:defRPr>
            </a:lvl6pPr>
            <a:lvl7pPr>
              <a:buNone/>
              <a:defRPr sz="1838" b="0">
                <a:solidFill>
                  <a:srgbClr val="CDCDD3"/>
                </a:solidFill>
                <a:latin typeface="Helvetica Neue"/>
                <a:ea typeface="Helvetica Neue"/>
                <a:cs typeface="Helvetica Neue"/>
              </a:defRPr>
            </a:lvl7pPr>
            <a:lvl8pPr>
              <a:buNone/>
              <a:defRPr sz="1838" b="0">
                <a:solidFill>
                  <a:srgbClr val="CDCDD3"/>
                </a:solidFill>
                <a:latin typeface="Helvetica Neue"/>
                <a:ea typeface="Helvetica Neue"/>
                <a:cs typeface="Helvetica Neue"/>
              </a:defRPr>
            </a:lvl8pPr>
            <a:lvl9pPr>
              <a:buNone/>
              <a:defRPr sz="1838" b="0">
                <a:solidFill>
                  <a:srgbClr val="CDCDD3"/>
                </a:solidFill>
                <a:latin typeface="Helvetica Neue"/>
                <a:ea typeface="Helvetica Neue"/>
                <a:cs typeface="Helvetica Neue"/>
              </a:defRPr>
            </a:lvl9pPr>
          </a:lstStyle>
          <a:p xmlns:a="http://schemas.openxmlformats.org/drawingml/2006/main">
            <a:pPr>
              <a:buNone/>
              <a:defRPr sz="1838" b="0">
                <a:solidFill>
                  <a:srgbClr val="CDCDD3"/>
                </a:solidFill>
                <a:latin typeface="Helvetica Neue"/>
                <a:ea typeface="Helvetica Neue"/>
                <a:cs typeface="Helvetica Neue"/>
              </a:defRPr>
            </a:pPr>
            <a:r>
              <a:rPr sz="1838" b="0">
                <a:solidFill>
                  <a:srgbClr val="CDCDD3"/>
                </a:solidFill>
                <a:latin typeface="Helvetica Neue"/>
                <a:ea typeface="Helvetica Neue"/>
                <a:cs typeface="Helvetica Neue"/>
              </a:rPr>
              <a:t>При обучении доступны входной текст и его целевая метка. Из текста получают признаки, а алгоритм оценивает параметры классификатора.</a:t>
            </a:r>
          </a:p>
          <a:p xmlns:a="http://schemas.openxmlformats.org/drawingml/2006/main">
            <a:r>
              <a:t/>
            </a:r>
          </a:p>
          <a:p xmlns:a="http://schemas.openxmlformats.org/drawingml/2006/main">
            <a:pPr>
              <a:buNone/>
              <a:defRPr sz="1838" b="0">
                <a:solidFill>
                  <a:srgbClr val="CDCDD3"/>
                </a:solidFill>
                <a:latin typeface="Helvetica Neue"/>
                <a:ea typeface="Helvetica Neue"/>
                <a:cs typeface="Helvetica Neue"/>
              </a:defRPr>
            </a:pPr>
            <a:r>
              <a:rPr sz="1838" b="0">
                <a:solidFill>
                  <a:srgbClr val="CDCDD3"/>
                </a:solidFill>
                <a:latin typeface="Helvetica Neue"/>
                <a:ea typeface="Helvetica Neue"/>
                <a:cs typeface="Helvetica Neue"/>
              </a:rPr>
              <a:t>При применении модель получает признаки нового текста и предсказывает метку. Проверочные ответы используют только для оценки. Такая организация отделяет подбор параметров от проверки обобщения. Высокое качество на тренировочных примерах ещё не показывает, насколько успешно модель обработает новые документы.</a:t>
            </a:r>
          </a:p>
        </p:txBody>
      </p:sp>
      <p:sp>
        <p:nvSpPr>
          <p:cNvPr id="19" name="theory-5">
            <a:extLst xmlns:a="http://schemas.openxmlformats.org/drawingml/2006/main">
              <a:ext uri="{FF2B5EF4-FFF2-40B4-BE49-F238E27FC236}">
                <a16:creationId xmlns:a16="http://schemas.microsoft.com/office/drawing/2014/main" id="{F605F04F-94E0-4EA6-AD25-69ECA0CDADC4}"/>
              </a:ext>
            </a:extLst>
          </p:cNvPr>
          <p:cNvSpPr>
            <a:spLocks xmlns:a="http://schemas.openxmlformats.org/drawingml/2006/main" noGrp="1"/>
          </p:cNvSpPr>
          <p:nvPr/>
        </p:nvSpPr>
        <p:spPr>
          <a:xfrm xmlns:a="http://schemas.openxmlformats.org/drawingml/2006/main">
            <a:off x="685800" y="6076950"/>
            <a:ext cx="10820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63" b="0">
                <a:solidFill>
                  <a:srgbClr val="98989F"/>
                </a:solidFill>
                <a:latin typeface="Helvetica Neue"/>
                <a:ea typeface="Helvetica Neue"/>
                <a:cs typeface="Helvetica Neue"/>
              </a:defRPr>
            </a:defPPr>
            <a:lvl1pPr>
              <a:buNone/>
              <a:defRPr sz="1463" b="0">
                <a:solidFill>
                  <a:srgbClr val="98989F"/>
                </a:solidFill>
                <a:latin typeface="Helvetica Neue"/>
                <a:ea typeface="Helvetica Neue"/>
                <a:cs typeface="Helvetica Neue"/>
              </a:defRPr>
            </a:lvl1pPr>
            <a:lvl2pPr>
              <a:buNone/>
              <a:defRPr sz="1463" b="0">
                <a:solidFill>
                  <a:srgbClr val="98989F"/>
                </a:solidFill>
                <a:latin typeface="Helvetica Neue"/>
                <a:ea typeface="Helvetica Neue"/>
                <a:cs typeface="Helvetica Neue"/>
              </a:defRPr>
            </a:lvl2pPr>
            <a:lvl3pPr>
              <a:buNone/>
              <a:defRPr sz="1463" b="0">
                <a:solidFill>
                  <a:srgbClr val="98989F"/>
                </a:solidFill>
                <a:latin typeface="Helvetica Neue"/>
                <a:ea typeface="Helvetica Neue"/>
                <a:cs typeface="Helvetica Neue"/>
              </a:defRPr>
            </a:lvl3pPr>
            <a:lvl4pPr>
              <a:buNone/>
              <a:defRPr sz="1463" b="0">
                <a:solidFill>
                  <a:srgbClr val="98989F"/>
                </a:solidFill>
                <a:latin typeface="Helvetica Neue"/>
                <a:ea typeface="Helvetica Neue"/>
                <a:cs typeface="Helvetica Neue"/>
              </a:defRPr>
            </a:lvl4pPr>
            <a:lvl5pPr>
              <a:buNone/>
              <a:defRPr sz="1463" b="0">
                <a:solidFill>
                  <a:srgbClr val="98989F"/>
                </a:solidFill>
                <a:latin typeface="Helvetica Neue"/>
                <a:ea typeface="Helvetica Neue"/>
                <a:cs typeface="Helvetica Neue"/>
              </a:defRPr>
            </a:lvl5pPr>
            <a:lvl6pPr>
              <a:buNone/>
              <a:defRPr sz="1463" b="0">
                <a:solidFill>
                  <a:srgbClr val="98989F"/>
                </a:solidFill>
                <a:latin typeface="Helvetica Neue"/>
                <a:ea typeface="Helvetica Neue"/>
                <a:cs typeface="Helvetica Neue"/>
              </a:defRPr>
            </a:lvl6pPr>
            <a:lvl7pPr>
              <a:buNone/>
              <a:defRPr sz="1463" b="0">
                <a:solidFill>
                  <a:srgbClr val="98989F"/>
                </a:solidFill>
                <a:latin typeface="Helvetica Neue"/>
                <a:ea typeface="Helvetica Neue"/>
                <a:cs typeface="Helvetica Neue"/>
              </a:defRPr>
            </a:lvl7pPr>
            <a:lvl8pPr>
              <a:buNone/>
              <a:defRPr sz="1463" b="0">
                <a:solidFill>
                  <a:srgbClr val="98989F"/>
                </a:solidFill>
                <a:latin typeface="Helvetica Neue"/>
                <a:ea typeface="Helvetica Neue"/>
                <a:cs typeface="Helvetica Neue"/>
              </a:defRPr>
            </a:lvl8pPr>
            <a:lvl9pPr>
              <a:buNone/>
              <a:defRPr sz="1463" b="0">
                <a:solidFill>
                  <a:srgbClr val="98989F"/>
                </a:solidFill>
                <a:latin typeface="Helvetica Neue"/>
                <a:ea typeface="Helvetica Neue"/>
                <a:cs typeface="Helvetica Neue"/>
              </a:defRPr>
            </a:lvl9pPr>
          </a:lstStyle>
          <a:p xmlns:a="http://schemas.openxmlformats.org/drawingml/2006/main">
            <a:pPr>
              <a:buNone/>
              <a:defRPr sz="1463" b="0">
                <a:solidFill>
                  <a:srgbClr val="98989F"/>
                </a:solidFill>
                <a:latin typeface="Helvetica Neue"/>
                <a:ea typeface="Helvetica Neue"/>
                <a:cs typeface="Helvetica Neue"/>
              </a:defRPr>
            </a:pPr>
            <a:r>
              <a:rPr sz="1463" b="0">
                <a:solidFill>
                  <a:srgbClr val="98989F"/>
                </a:solidFill>
                <a:latin typeface="Helvetica Neue"/>
                <a:ea typeface="Helvetica Neue"/>
                <a:cs typeface="Helvetica Neue"/>
              </a:rPr>
              <a:t>Обучение использует размеченные примеры, применение использует сохранённую модель.</a:t>
            </a:r>
          </a:p>
        </p:txBody>
      </p:sp>
      <p:sp>
        <p:nvSpPr>
          <p:cNvPr id="20" name="theory-6">
            <a:extLst xmlns:a="http://schemas.openxmlformats.org/drawingml/2006/main">
              <a:ext uri="{FF2B5EF4-FFF2-40B4-BE49-F238E27FC236}">
                <a16:creationId xmlns:a16="http://schemas.microsoft.com/office/drawing/2014/main" id="{A0EDDC05-9962-4CC9-AE7D-7476131C9066}"/>
              </a:ext>
            </a:extLst>
          </p:cNvPr>
          <p:cNvSpPr>
            <a:spLocks xmlns:a="http://schemas.openxmlformats.org/drawingml/2006/main" noGrp="1"/>
          </p:cNvSpPr>
          <p:nvPr/>
        </p:nvSpPr>
        <p:spPr>
          <a:xfrm xmlns:a="http://schemas.openxmlformats.org/drawingml/2006/main">
            <a:off x="685800" y="6572250"/>
            <a:ext cx="108204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38" b="0">
                <a:solidFill>
                  <a:srgbClr val="98989F"/>
                </a:solidFill>
                <a:latin typeface="Helvetica Neue"/>
                <a:ea typeface="Helvetica Neue"/>
                <a:cs typeface="Helvetica Neue"/>
              </a:defRPr>
            </a:defPPr>
            <a:lvl1pPr>
              <a:buNone/>
              <a:defRPr sz="1238" b="0">
                <a:solidFill>
                  <a:srgbClr val="98989F"/>
                </a:solidFill>
                <a:latin typeface="Helvetica Neue"/>
                <a:ea typeface="Helvetica Neue"/>
                <a:cs typeface="Helvetica Neue"/>
              </a:defRPr>
            </a:lvl1pPr>
            <a:lvl2pPr>
              <a:buNone/>
              <a:defRPr sz="1238" b="0">
                <a:solidFill>
                  <a:srgbClr val="98989F"/>
                </a:solidFill>
                <a:latin typeface="Helvetica Neue"/>
                <a:ea typeface="Helvetica Neue"/>
                <a:cs typeface="Helvetica Neue"/>
              </a:defRPr>
            </a:lvl2pPr>
            <a:lvl3pPr>
              <a:buNone/>
              <a:defRPr sz="1238" b="0">
                <a:solidFill>
                  <a:srgbClr val="98989F"/>
                </a:solidFill>
                <a:latin typeface="Helvetica Neue"/>
                <a:ea typeface="Helvetica Neue"/>
                <a:cs typeface="Helvetica Neue"/>
              </a:defRPr>
            </a:lvl3pPr>
            <a:lvl4pPr>
              <a:buNone/>
              <a:defRPr sz="1238" b="0">
                <a:solidFill>
                  <a:srgbClr val="98989F"/>
                </a:solidFill>
                <a:latin typeface="Helvetica Neue"/>
                <a:ea typeface="Helvetica Neue"/>
                <a:cs typeface="Helvetica Neue"/>
              </a:defRPr>
            </a:lvl4pPr>
            <a:lvl5pPr>
              <a:buNone/>
              <a:defRPr sz="1238" b="0">
                <a:solidFill>
                  <a:srgbClr val="98989F"/>
                </a:solidFill>
                <a:latin typeface="Helvetica Neue"/>
                <a:ea typeface="Helvetica Neue"/>
                <a:cs typeface="Helvetica Neue"/>
              </a:defRPr>
            </a:lvl5pPr>
            <a:lvl6pPr>
              <a:buNone/>
              <a:defRPr sz="1238" b="0">
                <a:solidFill>
                  <a:srgbClr val="98989F"/>
                </a:solidFill>
                <a:latin typeface="Helvetica Neue"/>
                <a:ea typeface="Helvetica Neue"/>
                <a:cs typeface="Helvetica Neue"/>
              </a:defRPr>
            </a:lvl6pPr>
            <a:lvl7pPr>
              <a:buNone/>
              <a:defRPr sz="1238" b="0">
                <a:solidFill>
                  <a:srgbClr val="98989F"/>
                </a:solidFill>
                <a:latin typeface="Helvetica Neue"/>
                <a:ea typeface="Helvetica Neue"/>
                <a:cs typeface="Helvetica Neue"/>
              </a:defRPr>
            </a:lvl7pPr>
            <a:lvl8pPr>
              <a:buNone/>
              <a:defRPr sz="1238" b="0">
                <a:solidFill>
                  <a:srgbClr val="98989F"/>
                </a:solidFill>
                <a:latin typeface="Helvetica Neue"/>
                <a:ea typeface="Helvetica Neue"/>
                <a:cs typeface="Helvetica Neue"/>
              </a:defRPr>
            </a:lvl8pPr>
            <a:lvl9pPr>
              <a:buNone/>
              <a:defRPr sz="1238" b="0">
                <a:solidFill>
                  <a:srgbClr val="98989F"/>
                </a:solidFill>
                <a:latin typeface="Helvetica Neue"/>
                <a:ea typeface="Helvetica Neue"/>
                <a:cs typeface="Helvetica Neue"/>
              </a:defRPr>
            </a:lvl9pPr>
          </a:lstStyle>
          <a:p xmlns:a="http://schemas.openxmlformats.org/drawingml/2006/main">
            <a:pPr>
              <a:buNone/>
              <a:defRPr sz="1238" b="0">
                <a:solidFill>
                  <a:srgbClr val="98989F"/>
                </a:solidFill>
                <a:latin typeface="Helvetica Neue"/>
                <a:ea typeface="Helvetica Neue"/>
                <a:cs typeface="Helvetica Neue"/>
              </a:defRPr>
            </a:pPr>
            <a:r>
              <a:rPr sz="1238" b="0">
                <a:solidFill>
                  <a:srgbClr val="98989F"/>
                </a:solidFill>
                <a:latin typeface="Helvetica Neue"/>
                <a:ea typeface="Helvetica Neue"/>
                <a:cs typeface="Helvetica Neue"/>
                <a:hlinkClick xmlns:r="http://schemas.openxmlformats.org/officeDocument/2006/relationships" r:id="R1328edbf7cf94370"/>
              </a:rPr>
              <a:t>Источник: NLTK Book, гл. 6</a:t>
            </a:r>
          </a:p>
        </p:txBody>
      </p:sp>
    </p:spTree>
    <p:extLst>
      <p:ext uri="{BB962C8B-B14F-4D97-AF65-F5344CB8AC3E}">
        <p14:creationId xmlns:p14="http://schemas.microsoft.com/office/powerpoint/2010/main" val="1910000168"/>
      </p:ext>
    </p:extLst>
  </p:cSld>
</p:sld>
</file>

<file path=ppt/slides/slide1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5" name="text-0">
            <a:extLst xmlns:a="http://schemas.openxmlformats.org/drawingml/2006/main">
              <a:ext uri="{FF2B5EF4-FFF2-40B4-BE49-F238E27FC236}">
                <a16:creationId xmlns:a16="http://schemas.microsoft.com/office/drawing/2014/main" id="{DCE0916B-49D6-48F3-8F66-66FB57B51AF8}"/>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98989F"/>
                </a:solidFill>
                <a:latin typeface="Helvetica Neue"/>
                <a:ea typeface="Helvetica Neue"/>
                <a:cs typeface="Helvetica Neue"/>
              </a:defRPr>
            </a:defPPr>
            <a:lvl1pPr algn="l">
              <a:buNone/>
              <a:defRPr sz="1425" b="0">
                <a:solidFill>
                  <a:srgbClr val="98989F"/>
                </a:solidFill>
                <a:latin typeface="Helvetica Neue"/>
                <a:ea typeface="Helvetica Neue"/>
                <a:cs typeface="Helvetica Neue"/>
              </a:defRPr>
            </a:lvl1pPr>
            <a:lvl2pPr algn="l">
              <a:buNone/>
              <a:defRPr sz="1425" b="0">
                <a:solidFill>
                  <a:srgbClr val="98989F"/>
                </a:solidFill>
                <a:latin typeface="Helvetica Neue"/>
                <a:ea typeface="Helvetica Neue"/>
                <a:cs typeface="Helvetica Neue"/>
              </a:defRPr>
            </a:lvl2pPr>
            <a:lvl3pPr algn="l">
              <a:buNone/>
              <a:defRPr sz="1425" b="0">
                <a:solidFill>
                  <a:srgbClr val="98989F"/>
                </a:solidFill>
                <a:latin typeface="Helvetica Neue"/>
                <a:ea typeface="Helvetica Neue"/>
                <a:cs typeface="Helvetica Neue"/>
              </a:defRPr>
            </a:lvl3pPr>
            <a:lvl4pPr algn="l">
              <a:buNone/>
              <a:defRPr sz="1425" b="0">
                <a:solidFill>
                  <a:srgbClr val="98989F"/>
                </a:solidFill>
                <a:latin typeface="Helvetica Neue"/>
                <a:ea typeface="Helvetica Neue"/>
                <a:cs typeface="Helvetica Neue"/>
              </a:defRPr>
            </a:lvl4pPr>
            <a:lvl5pPr algn="l">
              <a:buNone/>
              <a:defRPr sz="1425" b="0">
                <a:solidFill>
                  <a:srgbClr val="98989F"/>
                </a:solidFill>
                <a:latin typeface="Helvetica Neue"/>
                <a:ea typeface="Helvetica Neue"/>
                <a:cs typeface="Helvetica Neue"/>
              </a:defRPr>
            </a:lvl5pPr>
            <a:lvl6pPr algn="l">
              <a:buNone/>
              <a:defRPr sz="1425" b="0">
                <a:solidFill>
                  <a:srgbClr val="98989F"/>
                </a:solidFill>
                <a:latin typeface="Helvetica Neue"/>
                <a:ea typeface="Helvetica Neue"/>
                <a:cs typeface="Helvetica Neue"/>
              </a:defRPr>
            </a:lvl6pPr>
            <a:lvl7pPr algn="l">
              <a:buNone/>
              <a:defRPr sz="1425" b="0">
                <a:solidFill>
                  <a:srgbClr val="98989F"/>
                </a:solidFill>
                <a:latin typeface="Helvetica Neue"/>
                <a:ea typeface="Helvetica Neue"/>
                <a:cs typeface="Helvetica Neue"/>
              </a:defRPr>
            </a:lvl7pPr>
            <a:lvl8pPr algn="l">
              <a:buNone/>
              <a:defRPr sz="1425" b="0">
                <a:solidFill>
                  <a:srgbClr val="98989F"/>
                </a:solidFill>
                <a:latin typeface="Helvetica Neue"/>
                <a:ea typeface="Helvetica Neue"/>
                <a:cs typeface="Helvetica Neue"/>
              </a:defRPr>
            </a:lvl8pPr>
            <a:lvl9pPr algn="l">
              <a:buNone/>
              <a:defRPr sz="1425" b="0">
                <a:solidFill>
                  <a:srgbClr val="98989F"/>
                </a:solidFill>
                <a:latin typeface="Helvetica Neue"/>
                <a:ea typeface="Helvetica Neue"/>
                <a:cs typeface="Helvetica Neue"/>
              </a:defRPr>
            </a:lvl9pPr>
          </a:lstStyle>
          <a:p xmlns:a="http://schemas.openxmlformats.org/drawingml/2006/main">
            <a:pPr algn="l">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text-1">
            <a:extLst xmlns:a="http://schemas.openxmlformats.org/drawingml/2006/main">
              <a:ext uri="{FF2B5EF4-FFF2-40B4-BE49-F238E27FC236}">
                <a16:creationId xmlns:a16="http://schemas.microsoft.com/office/drawing/2014/main" id="{8E69A151-1D3B-44EB-ACD5-AB3F3A81F214}"/>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16</a:t>
            </a:r>
          </a:p>
        </p:txBody>
      </p:sp>
      <p:sp>
        <p:nvSpPr>
          <p:cNvPr id="3" name="">
            <a:extLst xmlns:a="http://schemas.openxmlformats.org/drawingml/2006/main">
              <a:ext uri="{FF2B5EF4-FFF2-40B4-BE49-F238E27FC236}">
                <a16:creationId xmlns:a16="http://schemas.microsoft.com/office/drawing/2014/main" id="{A984EEA0-FE37-436B-B921-3DA5B8397A8A}"/>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prstDash val="solid"/>
          </a:ln>
        </p:spPr>
      </p:sp>
      <p:sp>
        <p:nvSpPr>
          <p:cNvPr id="4" name="text-3">
            <a:extLst xmlns:a="http://schemas.openxmlformats.org/drawingml/2006/main">
              <a:ext uri="{FF2B5EF4-FFF2-40B4-BE49-F238E27FC236}">
                <a16:creationId xmlns:a16="http://schemas.microsoft.com/office/drawing/2014/main" id="{EA87E894-F6AC-4C62-A339-14290408D281}"/>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5F7"/>
                </a:solidFill>
                <a:latin typeface="Helvetica Neue"/>
                <a:ea typeface="Helvetica Neue"/>
                <a:cs typeface="Helvetica Neue"/>
              </a:defRPr>
            </a:defPPr>
            <a:lvl1pPr algn="l">
              <a:buNone/>
              <a:defRPr sz="3450" b="1">
                <a:solidFill>
                  <a:srgbClr val="F5F5F7"/>
                </a:solidFill>
                <a:latin typeface="Helvetica Neue"/>
                <a:ea typeface="Helvetica Neue"/>
                <a:cs typeface="Helvetica Neue"/>
              </a:defRPr>
            </a:lvl1pPr>
            <a:lvl2pPr algn="l">
              <a:buNone/>
              <a:defRPr sz="3450" b="1">
                <a:solidFill>
                  <a:srgbClr val="F5F5F7"/>
                </a:solidFill>
                <a:latin typeface="Helvetica Neue"/>
                <a:ea typeface="Helvetica Neue"/>
                <a:cs typeface="Helvetica Neue"/>
              </a:defRPr>
            </a:lvl2pPr>
            <a:lvl3pPr algn="l">
              <a:buNone/>
              <a:defRPr sz="3450" b="1">
                <a:solidFill>
                  <a:srgbClr val="F5F5F7"/>
                </a:solidFill>
                <a:latin typeface="Helvetica Neue"/>
                <a:ea typeface="Helvetica Neue"/>
                <a:cs typeface="Helvetica Neue"/>
              </a:defRPr>
            </a:lvl3pPr>
            <a:lvl4pPr algn="l">
              <a:buNone/>
              <a:defRPr sz="3450" b="1">
                <a:solidFill>
                  <a:srgbClr val="F5F5F7"/>
                </a:solidFill>
                <a:latin typeface="Helvetica Neue"/>
                <a:ea typeface="Helvetica Neue"/>
                <a:cs typeface="Helvetica Neue"/>
              </a:defRPr>
            </a:lvl4pPr>
            <a:lvl5pPr algn="l">
              <a:buNone/>
              <a:defRPr sz="3450" b="1">
                <a:solidFill>
                  <a:srgbClr val="F5F5F7"/>
                </a:solidFill>
                <a:latin typeface="Helvetica Neue"/>
                <a:ea typeface="Helvetica Neue"/>
                <a:cs typeface="Helvetica Neue"/>
              </a:defRPr>
            </a:lvl5pPr>
            <a:lvl6pPr algn="l">
              <a:buNone/>
              <a:defRPr sz="3450" b="1">
                <a:solidFill>
                  <a:srgbClr val="F5F5F7"/>
                </a:solidFill>
                <a:latin typeface="Helvetica Neue"/>
                <a:ea typeface="Helvetica Neue"/>
                <a:cs typeface="Helvetica Neue"/>
              </a:defRPr>
            </a:lvl6pPr>
            <a:lvl7pPr algn="l">
              <a:buNone/>
              <a:defRPr sz="3450" b="1">
                <a:solidFill>
                  <a:srgbClr val="F5F5F7"/>
                </a:solidFill>
                <a:latin typeface="Helvetica Neue"/>
                <a:ea typeface="Helvetica Neue"/>
                <a:cs typeface="Helvetica Neue"/>
              </a:defRPr>
            </a:lvl7pPr>
            <a:lvl8pPr algn="l">
              <a:buNone/>
              <a:defRPr sz="3450" b="1">
                <a:solidFill>
                  <a:srgbClr val="F5F5F7"/>
                </a:solidFill>
                <a:latin typeface="Helvetica Neue"/>
                <a:ea typeface="Helvetica Neue"/>
                <a:cs typeface="Helvetica Neue"/>
              </a:defRPr>
            </a:lvl8pPr>
            <a:lvl9pPr algn="l">
              <a:buNone/>
              <a:defRPr sz="3450" b="1">
                <a:solidFill>
                  <a:srgbClr val="F5F5F7"/>
                </a:solidFill>
                <a:latin typeface="Helvetica Neue"/>
                <a:ea typeface="Helvetica Neue"/>
                <a:cs typeface="Helvetica Neue"/>
              </a:defRPr>
            </a:lvl9pPr>
          </a:lstStyle>
          <a:p xmlns:a="http://schemas.openxmlformats.org/drawingml/2006/main">
            <a:pPr algn="l">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General framework: features + classifier</a:t>
            </a:r>
          </a:p>
        </p:txBody>
      </p:sp>
      <p:pic>
        <p:nvPicPr>
          <p:cNvPr id="16" name="">
            <a:extLst xmlns:a="http://schemas.openxmlformats.org/drawingml/2006/main">
              <a:ext uri="{FF2B5EF4-FFF2-40B4-BE49-F238E27FC236}">
                <a16:creationId xmlns:a16="http://schemas.microsoft.com/office/drawing/2014/main" id="{1024F521-5331-4F44-A33F-7B84D7CF05CE}"/>
              </a:ext>
            </a:extLst>
          </p:cNvPr>
          <p:cNvPicPr>
            <a:picLocks xmlns:a="http://schemas.openxmlformats.org/drawingml/2006/main" noChangeAspect="1"/>
          </p:cNvPicPr>
          <p:nvPr/>
        </p:nvPicPr>
        <p:blipFill>
          <a:blip xmlns:r="http://schemas.openxmlformats.org/officeDocument/2006/relationships" xmlns:a="http://schemas.openxmlformats.org/drawingml/2006/main" r:embed="R4418cb65965c4c29"/>
          <a:stretch xmlns:a="http://schemas.openxmlformats.org/drawingml/2006/main"/>
        </p:blipFill>
        <p:spPr>
          <a:xfrm xmlns:a="http://schemas.openxmlformats.org/drawingml/2006/main">
            <a:off x="927633" y="2105025"/>
            <a:ext cx="5707585" cy="3886200"/>
          </a:xfrm>
          <a:prstGeom xmlns:a="http://schemas.openxmlformats.org/drawingml/2006/main" prst="rect">
            <a:avLst/>
          </a:prstGeom>
        </p:spPr>
      </p:pic>
      <p:sp>
        <p:nvSpPr>
          <p:cNvPr id="17" name="ysda-4">
            <a:extLst xmlns:a="http://schemas.openxmlformats.org/drawingml/2006/main">
              <a:ext uri="{FF2B5EF4-FFF2-40B4-BE49-F238E27FC236}">
                <a16:creationId xmlns:a16="http://schemas.microsoft.com/office/drawing/2014/main" id="{4F30B17B-82F0-41DF-9229-B80B555A7673}"/>
              </a:ext>
            </a:extLst>
          </p:cNvPr>
          <p:cNvSpPr>
            <a:spLocks xmlns:a="http://schemas.openxmlformats.org/drawingml/2006/main" noGrp="1"/>
          </p:cNvSpPr>
          <p:nvPr/>
        </p:nvSpPr>
        <p:spPr>
          <a:xfrm xmlns:a="http://schemas.openxmlformats.org/drawingml/2006/main">
            <a:off x="7239000" y="2076450"/>
            <a:ext cx="4267200" cy="422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38" b="0">
                <a:solidFill>
                  <a:srgbClr val="CDCDD3"/>
                </a:solidFill>
                <a:latin typeface="Helvetica Neue"/>
                <a:ea typeface="Helvetica Neue"/>
                <a:cs typeface="Helvetica Neue"/>
              </a:defRPr>
            </a:defPPr>
            <a:lvl1pPr>
              <a:defRPr sz="1838" b="0">
                <a:solidFill>
                  <a:srgbClr val="CDCDD3"/>
                </a:solidFill>
                <a:latin typeface="Helvetica Neue"/>
                <a:ea typeface="Helvetica Neue"/>
                <a:cs typeface="Helvetica Neue"/>
              </a:defRPr>
            </a:lvl1pPr>
            <a:lvl2pPr>
              <a:defRPr sz="1838" b="0">
                <a:solidFill>
                  <a:srgbClr val="CDCDD3"/>
                </a:solidFill>
                <a:latin typeface="Helvetica Neue"/>
                <a:ea typeface="Helvetica Neue"/>
                <a:cs typeface="Helvetica Neue"/>
              </a:defRPr>
            </a:lvl2pPr>
            <a:lvl3pPr>
              <a:defRPr sz="1838" b="0">
                <a:solidFill>
                  <a:srgbClr val="CDCDD3"/>
                </a:solidFill>
                <a:latin typeface="Helvetica Neue"/>
                <a:ea typeface="Helvetica Neue"/>
                <a:cs typeface="Helvetica Neue"/>
              </a:defRPr>
            </a:lvl3pPr>
            <a:lvl4pPr>
              <a:defRPr sz="1838" b="0">
                <a:solidFill>
                  <a:srgbClr val="CDCDD3"/>
                </a:solidFill>
                <a:latin typeface="Helvetica Neue"/>
                <a:ea typeface="Helvetica Neue"/>
                <a:cs typeface="Helvetica Neue"/>
              </a:defRPr>
            </a:lvl4pPr>
            <a:lvl5pPr>
              <a:defRPr sz="1838" b="0">
                <a:solidFill>
                  <a:srgbClr val="CDCDD3"/>
                </a:solidFill>
                <a:latin typeface="Helvetica Neue"/>
                <a:ea typeface="Helvetica Neue"/>
                <a:cs typeface="Helvetica Neue"/>
              </a:defRPr>
            </a:lvl5pPr>
            <a:lvl6pPr>
              <a:defRPr sz="1838" b="0">
                <a:solidFill>
                  <a:srgbClr val="CDCDD3"/>
                </a:solidFill>
                <a:latin typeface="Helvetica Neue"/>
                <a:ea typeface="Helvetica Neue"/>
                <a:cs typeface="Helvetica Neue"/>
              </a:defRPr>
            </a:lvl6pPr>
            <a:lvl7pPr>
              <a:defRPr sz="1838" b="0">
                <a:solidFill>
                  <a:srgbClr val="CDCDD3"/>
                </a:solidFill>
                <a:latin typeface="Helvetica Neue"/>
                <a:ea typeface="Helvetica Neue"/>
                <a:cs typeface="Helvetica Neue"/>
              </a:defRPr>
            </a:lvl7pPr>
            <a:lvl8pPr>
              <a:defRPr sz="1838" b="0">
                <a:solidFill>
                  <a:srgbClr val="CDCDD3"/>
                </a:solidFill>
                <a:latin typeface="Helvetica Neue"/>
                <a:ea typeface="Helvetica Neue"/>
                <a:cs typeface="Helvetica Neue"/>
              </a:defRPr>
            </a:lvl8pPr>
            <a:lvl9pPr>
              <a:defRPr sz="1838" b="0">
                <a:solidFill>
                  <a:srgbClr val="CDCDD3"/>
                </a:solidFill>
                <a:latin typeface="Helvetica Neue"/>
                <a:ea typeface="Helvetica Neue"/>
                <a:cs typeface="Helvetica Neue"/>
              </a:defRPr>
            </a:lvl9pPr>
          </a:lstStyle>
          <a:p xmlns:a="http://schemas.openxmlformats.org/drawingml/2006/main">
            <a:pPr>
              <a:defRPr sz="1838" b="0">
                <a:solidFill>
                  <a:srgbClr val="CDCDD3"/>
                </a:solidFill>
                <a:latin typeface="Helvetica Neue"/>
                <a:ea typeface="Helvetica Neue"/>
                <a:cs typeface="Helvetica Neue"/>
              </a:defRPr>
            </a:pPr>
            <a:r>
              <a:rPr sz="1838" b="0">
                <a:solidFill>
                  <a:srgbClr val="CDCDD3"/>
                </a:solidFill>
                <a:latin typeface="Helvetica Neue"/>
                <a:ea typeface="Helvetica Neue"/>
                <a:cs typeface="Helvetica Neue"/>
              </a:rPr>
              <a:t>Feature extractor получает исходный документ x и строит representation h. Classifier сопоставляет h оценкам классов и итоговому ответу. Разделение этих частей помогает планировать эксперимент: можно заменить TF-IDF на другое representation при сохранении classifier или сравнить classifiers на одинаковых features. Результат зависит от обеих частей и от данных, на которых оценивается качество.</a:t>
            </a:r>
          </a:p>
        </p:txBody>
      </p:sp>
    </p:spTree>
    <p:extLst>
      <p:ext uri="{BB962C8B-B14F-4D97-AF65-F5344CB8AC3E}">
        <p14:creationId xmlns:p14="http://schemas.microsoft.com/office/powerpoint/2010/main" val="51013027"/>
      </p:ext>
    </p:extLst>
  </p:cSld>
</p:sld>
</file>

<file path=ppt/slides/slide1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1" name="text-0">
            <a:extLst xmlns:a="http://schemas.openxmlformats.org/drawingml/2006/main">
              <a:ext uri="{FF2B5EF4-FFF2-40B4-BE49-F238E27FC236}">
                <a16:creationId xmlns:a16="http://schemas.microsoft.com/office/drawing/2014/main" id="{AA81E572-01F7-43BA-BEDE-3B6F90F87EBF}"/>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98989F"/>
                </a:solidFill>
                <a:latin typeface="Helvetica Neue"/>
                <a:ea typeface="Helvetica Neue"/>
                <a:cs typeface="Helvetica Neue"/>
              </a:defRPr>
            </a:defPPr>
            <a:lvl1pPr algn="l">
              <a:buNone/>
              <a:defRPr sz="1425" b="0">
                <a:solidFill>
                  <a:srgbClr val="98989F"/>
                </a:solidFill>
                <a:latin typeface="Helvetica Neue"/>
                <a:ea typeface="Helvetica Neue"/>
                <a:cs typeface="Helvetica Neue"/>
              </a:defRPr>
            </a:lvl1pPr>
            <a:lvl2pPr algn="l">
              <a:buNone/>
              <a:defRPr sz="1425" b="0">
                <a:solidFill>
                  <a:srgbClr val="98989F"/>
                </a:solidFill>
                <a:latin typeface="Helvetica Neue"/>
                <a:ea typeface="Helvetica Neue"/>
                <a:cs typeface="Helvetica Neue"/>
              </a:defRPr>
            </a:lvl2pPr>
            <a:lvl3pPr algn="l">
              <a:buNone/>
              <a:defRPr sz="1425" b="0">
                <a:solidFill>
                  <a:srgbClr val="98989F"/>
                </a:solidFill>
                <a:latin typeface="Helvetica Neue"/>
                <a:ea typeface="Helvetica Neue"/>
                <a:cs typeface="Helvetica Neue"/>
              </a:defRPr>
            </a:lvl3pPr>
            <a:lvl4pPr algn="l">
              <a:buNone/>
              <a:defRPr sz="1425" b="0">
                <a:solidFill>
                  <a:srgbClr val="98989F"/>
                </a:solidFill>
                <a:latin typeface="Helvetica Neue"/>
                <a:ea typeface="Helvetica Neue"/>
                <a:cs typeface="Helvetica Neue"/>
              </a:defRPr>
            </a:lvl4pPr>
            <a:lvl5pPr algn="l">
              <a:buNone/>
              <a:defRPr sz="1425" b="0">
                <a:solidFill>
                  <a:srgbClr val="98989F"/>
                </a:solidFill>
                <a:latin typeface="Helvetica Neue"/>
                <a:ea typeface="Helvetica Neue"/>
                <a:cs typeface="Helvetica Neue"/>
              </a:defRPr>
            </a:lvl5pPr>
            <a:lvl6pPr algn="l">
              <a:buNone/>
              <a:defRPr sz="1425" b="0">
                <a:solidFill>
                  <a:srgbClr val="98989F"/>
                </a:solidFill>
                <a:latin typeface="Helvetica Neue"/>
                <a:ea typeface="Helvetica Neue"/>
                <a:cs typeface="Helvetica Neue"/>
              </a:defRPr>
            </a:lvl6pPr>
            <a:lvl7pPr algn="l">
              <a:buNone/>
              <a:defRPr sz="1425" b="0">
                <a:solidFill>
                  <a:srgbClr val="98989F"/>
                </a:solidFill>
                <a:latin typeface="Helvetica Neue"/>
                <a:ea typeface="Helvetica Neue"/>
                <a:cs typeface="Helvetica Neue"/>
              </a:defRPr>
            </a:lvl7pPr>
            <a:lvl8pPr algn="l">
              <a:buNone/>
              <a:defRPr sz="1425" b="0">
                <a:solidFill>
                  <a:srgbClr val="98989F"/>
                </a:solidFill>
                <a:latin typeface="Helvetica Neue"/>
                <a:ea typeface="Helvetica Neue"/>
                <a:cs typeface="Helvetica Neue"/>
              </a:defRPr>
            </a:lvl8pPr>
            <a:lvl9pPr algn="l">
              <a:buNone/>
              <a:defRPr sz="1425" b="0">
                <a:solidFill>
                  <a:srgbClr val="98989F"/>
                </a:solidFill>
                <a:latin typeface="Helvetica Neue"/>
                <a:ea typeface="Helvetica Neue"/>
                <a:cs typeface="Helvetica Neue"/>
              </a:defRPr>
            </a:lvl9pPr>
          </a:lstStyle>
          <a:p xmlns:a="http://schemas.openxmlformats.org/drawingml/2006/main">
            <a:pPr algn="l">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text-1">
            <a:extLst xmlns:a="http://schemas.openxmlformats.org/drawingml/2006/main">
              <a:ext uri="{FF2B5EF4-FFF2-40B4-BE49-F238E27FC236}">
                <a16:creationId xmlns:a16="http://schemas.microsoft.com/office/drawing/2014/main" id="{6C8ABB60-0302-4EDA-8846-DBA7C4654AE8}"/>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17</a:t>
            </a:r>
          </a:p>
        </p:txBody>
      </p:sp>
      <p:sp>
        <p:nvSpPr>
          <p:cNvPr id="3" name="">
            <a:extLst xmlns:a="http://schemas.openxmlformats.org/drawingml/2006/main">
              <a:ext uri="{FF2B5EF4-FFF2-40B4-BE49-F238E27FC236}">
                <a16:creationId xmlns:a16="http://schemas.microsoft.com/office/drawing/2014/main" id="{D67C5AED-F561-4AE7-9DB0-9C0543A2A3EB}"/>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prstDash val="solid"/>
          </a:ln>
        </p:spPr>
      </p:sp>
      <p:sp>
        <p:nvSpPr>
          <p:cNvPr id="4" name="text-3">
            <a:extLst xmlns:a="http://schemas.openxmlformats.org/drawingml/2006/main">
              <a:ext uri="{FF2B5EF4-FFF2-40B4-BE49-F238E27FC236}">
                <a16:creationId xmlns:a16="http://schemas.microsoft.com/office/drawing/2014/main" id="{535B9CBA-D52E-4F74-A4C2-724B10723F10}"/>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5F7"/>
                </a:solidFill>
                <a:latin typeface="Helvetica Neue"/>
                <a:ea typeface="Helvetica Neue"/>
                <a:cs typeface="Helvetica Neue"/>
              </a:defRPr>
            </a:defPPr>
            <a:lvl1pPr algn="l">
              <a:buNone/>
              <a:defRPr sz="3450" b="1">
                <a:solidFill>
                  <a:srgbClr val="F5F5F7"/>
                </a:solidFill>
                <a:latin typeface="Helvetica Neue"/>
                <a:ea typeface="Helvetica Neue"/>
                <a:cs typeface="Helvetica Neue"/>
              </a:defRPr>
            </a:lvl1pPr>
            <a:lvl2pPr algn="l">
              <a:buNone/>
              <a:defRPr sz="3450" b="1">
                <a:solidFill>
                  <a:srgbClr val="F5F5F7"/>
                </a:solidFill>
                <a:latin typeface="Helvetica Neue"/>
                <a:ea typeface="Helvetica Neue"/>
                <a:cs typeface="Helvetica Neue"/>
              </a:defRPr>
            </a:lvl2pPr>
            <a:lvl3pPr algn="l">
              <a:buNone/>
              <a:defRPr sz="3450" b="1">
                <a:solidFill>
                  <a:srgbClr val="F5F5F7"/>
                </a:solidFill>
                <a:latin typeface="Helvetica Neue"/>
                <a:ea typeface="Helvetica Neue"/>
                <a:cs typeface="Helvetica Neue"/>
              </a:defRPr>
            </a:lvl3pPr>
            <a:lvl4pPr algn="l">
              <a:buNone/>
              <a:defRPr sz="3450" b="1">
                <a:solidFill>
                  <a:srgbClr val="F5F5F7"/>
                </a:solidFill>
                <a:latin typeface="Helvetica Neue"/>
                <a:ea typeface="Helvetica Neue"/>
                <a:cs typeface="Helvetica Neue"/>
              </a:defRPr>
            </a:lvl4pPr>
            <a:lvl5pPr algn="l">
              <a:buNone/>
              <a:defRPr sz="3450" b="1">
                <a:solidFill>
                  <a:srgbClr val="F5F5F7"/>
                </a:solidFill>
                <a:latin typeface="Helvetica Neue"/>
                <a:ea typeface="Helvetica Neue"/>
                <a:cs typeface="Helvetica Neue"/>
              </a:defRPr>
            </a:lvl5pPr>
            <a:lvl6pPr algn="l">
              <a:buNone/>
              <a:defRPr sz="3450" b="1">
                <a:solidFill>
                  <a:srgbClr val="F5F5F7"/>
                </a:solidFill>
                <a:latin typeface="Helvetica Neue"/>
                <a:ea typeface="Helvetica Neue"/>
                <a:cs typeface="Helvetica Neue"/>
              </a:defRPr>
            </a:lvl6pPr>
            <a:lvl7pPr algn="l">
              <a:buNone/>
              <a:defRPr sz="3450" b="1">
                <a:solidFill>
                  <a:srgbClr val="F5F5F7"/>
                </a:solidFill>
                <a:latin typeface="Helvetica Neue"/>
                <a:ea typeface="Helvetica Neue"/>
                <a:cs typeface="Helvetica Neue"/>
              </a:defRPr>
            </a:lvl7pPr>
            <a:lvl8pPr algn="l">
              <a:buNone/>
              <a:defRPr sz="3450" b="1">
                <a:solidFill>
                  <a:srgbClr val="F5F5F7"/>
                </a:solidFill>
                <a:latin typeface="Helvetica Neue"/>
                <a:ea typeface="Helvetica Neue"/>
                <a:cs typeface="Helvetica Neue"/>
              </a:defRPr>
            </a:lvl8pPr>
            <a:lvl9pPr algn="l">
              <a:buNone/>
              <a:defRPr sz="3450" b="1">
                <a:solidFill>
                  <a:srgbClr val="F5F5F7"/>
                </a:solidFill>
                <a:latin typeface="Helvetica Neue"/>
                <a:ea typeface="Helvetica Neue"/>
                <a:cs typeface="Helvetica Neue"/>
              </a:defRPr>
            </a:lvl9pPr>
          </a:lstStyle>
          <a:p xmlns:a="http://schemas.openxmlformats.org/drawingml/2006/main">
            <a:pPr algn="l">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Representation learning</a:t>
            </a:r>
          </a:p>
        </p:txBody>
      </p:sp>
      <p:pic>
        <p:nvPicPr>
          <p:cNvPr id="22" name="">
            <a:extLst xmlns:a="http://schemas.openxmlformats.org/drawingml/2006/main">
              <a:ext uri="{FF2B5EF4-FFF2-40B4-BE49-F238E27FC236}">
                <a16:creationId xmlns:a16="http://schemas.microsoft.com/office/drawing/2014/main" id="{8DBA0C1C-0743-419A-A86F-1BEA07E13367}"/>
              </a:ext>
            </a:extLst>
          </p:cNvPr>
          <p:cNvPicPr>
            <a:picLocks xmlns:a="http://schemas.openxmlformats.org/drawingml/2006/main" noChangeAspect="1"/>
          </p:cNvPicPr>
          <p:nvPr/>
        </p:nvPicPr>
        <p:blipFill>
          <a:blip xmlns:r="http://schemas.openxmlformats.org/officeDocument/2006/relationships" xmlns:a="http://schemas.openxmlformats.org/drawingml/2006/main" r:embed="R4262790873fa4acb"/>
          <a:stretch xmlns:a="http://schemas.openxmlformats.org/drawingml/2006/main"/>
        </p:blipFill>
        <p:spPr>
          <a:xfrm xmlns:a="http://schemas.openxmlformats.org/drawingml/2006/main">
            <a:off x="1474944" y="2000250"/>
            <a:ext cx="9242111" cy="3981450"/>
          </a:xfrm>
          <a:prstGeom xmlns:a="http://schemas.openxmlformats.org/drawingml/2006/main" prst="rect">
            <a:avLst/>
          </a:prstGeom>
        </p:spPr>
      </p:pic>
      <p:sp>
        <p:nvSpPr>
          <p:cNvPr id="23" name="ysda-4">
            <a:extLst xmlns:a="http://schemas.openxmlformats.org/drawingml/2006/main">
              <a:ext uri="{FF2B5EF4-FFF2-40B4-BE49-F238E27FC236}">
                <a16:creationId xmlns:a16="http://schemas.microsoft.com/office/drawing/2014/main" id="{6692C769-7478-4207-9105-109AFDB9E75A}"/>
              </a:ext>
            </a:extLst>
          </p:cNvPr>
          <p:cNvSpPr>
            <a:spLocks xmlns:a="http://schemas.openxmlformats.org/drawingml/2006/main" noGrp="1"/>
          </p:cNvSpPr>
          <p:nvPr/>
        </p:nvSpPr>
        <p:spPr>
          <a:xfrm xmlns:a="http://schemas.openxmlformats.org/drawingml/2006/main">
            <a:off x="685800" y="6124575"/>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CDCDD3"/>
                </a:solidFill>
                <a:latin typeface="Helvetica Neue"/>
                <a:ea typeface="Helvetica Neue"/>
                <a:cs typeface="Helvetica Neue"/>
              </a:defRPr>
            </a:defPPr>
            <a:lvl1pPr>
              <a:defRPr sz="1725" b="0">
                <a:solidFill>
                  <a:srgbClr val="CDCDD3"/>
                </a:solidFill>
                <a:latin typeface="Helvetica Neue"/>
                <a:ea typeface="Helvetica Neue"/>
                <a:cs typeface="Helvetica Neue"/>
              </a:defRPr>
            </a:lvl1pPr>
            <a:lvl2pPr>
              <a:defRPr sz="1725" b="0">
                <a:solidFill>
                  <a:srgbClr val="CDCDD3"/>
                </a:solidFill>
                <a:latin typeface="Helvetica Neue"/>
                <a:ea typeface="Helvetica Neue"/>
                <a:cs typeface="Helvetica Neue"/>
              </a:defRPr>
            </a:lvl2pPr>
            <a:lvl3pPr>
              <a:defRPr sz="1725" b="0">
                <a:solidFill>
                  <a:srgbClr val="CDCDD3"/>
                </a:solidFill>
                <a:latin typeface="Helvetica Neue"/>
                <a:ea typeface="Helvetica Neue"/>
                <a:cs typeface="Helvetica Neue"/>
              </a:defRPr>
            </a:lvl3pPr>
            <a:lvl4pPr>
              <a:defRPr sz="1725" b="0">
                <a:solidFill>
                  <a:srgbClr val="CDCDD3"/>
                </a:solidFill>
                <a:latin typeface="Helvetica Neue"/>
                <a:ea typeface="Helvetica Neue"/>
                <a:cs typeface="Helvetica Neue"/>
              </a:defRPr>
            </a:lvl4pPr>
            <a:lvl5pPr>
              <a:defRPr sz="1725" b="0">
                <a:solidFill>
                  <a:srgbClr val="CDCDD3"/>
                </a:solidFill>
                <a:latin typeface="Helvetica Neue"/>
                <a:ea typeface="Helvetica Neue"/>
                <a:cs typeface="Helvetica Neue"/>
              </a:defRPr>
            </a:lvl5pPr>
            <a:lvl6pPr>
              <a:defRPr sz="1725" b="0">
                <a:solidFill>
                  <a:srgbClr val="CDCDD3"/>
                </a:solidFill>
                <a:latin typeface="Helvetica Neue"/>
                <a:ea typeface="Helvetica Neue"/>
                <a:cs typeface="Helvetica Neue"/>
              </a:defRPr>
            </a:lvl6pPr>
            <a:lvl7pPr>
              <a:defRPr sz="1725" b="0">
                <a:solidFill>
                  <a:srgbClr val="CDCDD3"/>
                </a:solidFill>
                <a:latin typeface="Helvetica Neue"/>
                <a:ea typeface="Helvetica Neue"/>
                <a:cs typeface="Helvetica Neue"/>
              </a:defRPr>
            </a:lvl7pPr>
            <a:lvl8pPr>
              <a:defRPr sz="1725" b="0">
                <a:solidFill>
                  <a:srgbClr val="CDCDD3"/>
                </a:solidFill>
                <a:latin typeface="Helvetica Neue"/>
                <a:ea typeface="Helvetica Neue"/>
                <a:cs typeface="Helvetica Neue"/>
              </a:defRPr>
            </a:lvl8pPr>
            <a:lvl9pPr>
              <a:defRPr sz="1725" b="0">
                <a:solidFill>
                  <a:srgbClr val="CDCDD3"/>
                </a:solidFill>
                <a:latin typeface="Helvetica Neue"/>
                <a:ea typeface="Helvetica Neue"/>
                <a:cs typeface="Helvetica Neue"/>
              </a:defRPr>
            </a:lvl9pPr>
          </a:lstStyle>
          <a:p xmlns:a="http://schemas.openxmlformats.org/drawingml/2006/main">
            <a:pPr>
              <a:defRPr sz="1725" b="0">
                <a:solidFill>
                  <a:srgbClr val="CDCDD3"/>
                </a:solidFill>
                <a:latin typeface="Helvetica Neue"/>
                <a:ea typeface="Helvetica Neue"/>
                <a:cs typeface="Helvetica Neue"/>
              </a:defRPr>
            </a:pPr>
            <a:r>
              <a:rPr sz="1725" b="0">
                <a:solidFill>
                  <a:srgbClr val="CDCDD3"/>
                </a:solidFill>
                <a:latin typeface="Helvetica Neue"/>
                <a:ea typeface="Helvetica Neue"/>
                <a:cs typeface="Helvetica Neue"/>
              </a:rPr>
              <a:t>Feature extractor строит representation текста. Classifier получает этот вектор и определяет class probabilities.</a:t>
            </a:r>
          </a:p>
        </p:txBody>
      </p:sp>
    </p:spTree>
    <p:extLst>
      <p:ext uri="{BB962C8B-B14F-4D97-AF65-F5344CB8AC3E}">
        <p14:creationId xmlns:p14="http://schemas.microsoft.com/office/powerpoint/2010/main" val="1175164395"/>
      </p:ext>
    </p:extLst>
  </p:cSld>
</p:sld>
</file>

<file path=ppt/slides/slide1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7" name="text-0">
            <a:extLst xmlns:a="http://schemas.openxmlformats.org/drawingml/2006/main">
              <a:ext uri="{FF2B5EF4-FFF2-40B4-BE49-F238E27FC236}">
                <a16:creationId xmlns:a16="http://schemas.microsoft.com/office/drawing/2014/main" id="{12B709DE-EE66-44BB-93B2-93EDAFA50603}"/>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98989F"/>
                </a:solidFill>
                <a:latin typeface="Helvetica Neue"/>
                <a:ea typeface="Helvetica Neue"/>
                <a:cs typeface="Helvetica Neue"/>
              </a:defRPr>
            </a:defPPr>
            <a:lvl1pPr algn="l">
              <a:buNone/>
              <a:defRPr sz="1425" b="0">
                <a:solidFill>
                  <a:srgbClr val="98989F"/>
                </a:solidFill>
                <a:latin typeface="Helvetica Neue"/>
                <a:ea typeface="Helvetica Neue"/>
                <a:cs typeface="Helvetica Neue"/>
              </a:defRPr>
            </a:lvl1pPr>
            <a:lvl2pPr algn="l">
              <a:buNone/>
              <a:defRPr sz="1425" b="0">
                <a:solidFill>
                  <a:srgbClr val="98989F"/>
                </a:solidFill>
                <a:latin typeface="Helvetica Neue"/>
                <a:ea typeface="Helvetica Neue"/>
                <a:cs typeface="Helvetica Neue"/>
              </a:defRPr>
            </a:lvl2pPr>
            <a:lvl3pPr algn="l">
              <a:buNone/>
              <a:defRPr sz="1425" b="0">
                <a:solidFill>
                  <a:srgbClr val="98989F"/>
                </a:solidFill>
                <a:latin typeface="Helvetica Neue"/>
                <a:ea typeface="Helvetica Neue"/>
                <a:cs typeface="Helvetica Neue"/>
              </a:defRPr>
            </a:lvl3pPr>
            <a:lvl4pPr algn="l">
              <a:buNone/>
              <a:defRPr sz="1425" b="0">
                <a:solidFill>
                  <a:srgbClr val="98989F"/>
                </a:solidFill>
                <a:latin typeface="Helvetica Neue"/>
                <a:ea typeface="Helvetica Neue"/>
                <a:cs typeface="Helvetica Neue"/>
              </a:defRPr>
            </a:lvl4pPr>
            <a:lvl5pPr algn="l">
              <a:buNone/>
              <a:defRPr sz="1425" b="0">
                <a:solidFill>
                  <a:srgbClr val="98989F"/>
                </a:solidFill>
                <a:latin typeface="Helvetica Neue"/>
                <a:ea typeface="Helvetica Neue"/>
                <a:cs typeface="Helvetica Neue"/>
              </a:defRPr>
            </a:lvl5pPr>
            <a:lvl6pPr algn="l">
              <a:buNone/>
              <a:defRPr sz="1425" b="0">
                <a:solidFill>
                  <a:srgbClr val="98989F"/>
                </a:solidFill>
                <a:latin typeface="Helvetica Neue"/>
                <a:ea typeface="Helvetica Neue"/>
                <a:cs typeface="Helvetica Neue"/>
              </a:defRPr>
            </a:lvl6pPr>
            <a:lvl7pPr algn="l">
              <a:buNone/>
              <a:defRPr sz="1425" b="0">
                <a:solidFill>
                  <a:srgbClr val="98989F"/>
                </a:solidFill>
                <a:latin typeface="Helvetica Neue"/>
                <a:ea typeface="Helvetica Neue"/>
                <a:cs typeface="Helvetica Neue"/>
              </a:defRPr>
            </a:lvl7pPr>
            <a:lvl8pPr algn="l">
              <a:buNone/>
              <a:defRPr sz="1425" b="0">
                <a:solidFill>
                  <a:srgbClr val="98989F"/>
                </a:solidFill>
                <a:latin typeface="Helvetica Neue"/>
                <a:ea typeface="Helvetica Neue"/>
                <a:cs typeface="Helvetica Neue"/>
              </a:defRPr>
            </a:lvl8pPr>
            <a:lvl9pPr algn="l">
              <a:buNone/>
              <a:defRPr sz="1425" b="0">
                <a:solidFill>
                  <a:srgbClr val="98989F"/>
                </a:solidFill>
                <a:latin typeface="Helvetica Neue"/>
                <a:ea typeface="Helvetica Neue"/>
                <a:cs typeface="Helvetica Neue"/>
              </a:defRPr>
            </a:lvl9pPr>
          </a:lstStyle>
          <a:p xmlns:a="http://schemas.openxmlformats.org/drawingml/2006/main">
            <a:pPr algn="l">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text-1">
            <a:extLst xmlns:a="http://schemas.openxmlformats.org/drawingml/2006/main">
              <a:ext uri="{FF2B5EF4-FFF2-40B4-BE49-F238E27FC236}">
                <a16:creationId xmlns:a16="http://schemas.microsoft.com/office/drawing/2014/main" id="{EB9C9ACD-FA79-4E1F-9102-493B07A9789F}"/>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18</a:t>
            </a:r>
          </a:p>
        </p:txBody>
      </p:sp>
      <p:sp>
        <p:nvSpPr>
          <p:cNvPr id="3" name="">
            <a:extLst xmlns:a="http://schemas.openxmlformats.org/drawingml/2006/main">
              <a:ext uri="{FF2B5EF4-FFF2-40B4-BE49-F238E27FC236}">
                <a16:creationId xmlns:a16="http://schemas.microsoft.com/office/drawing/2014/main" id="{0E74EDBE-AD88-41DF-BD13-595B378441EB}"/>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prstDash val="solid"/>
          </a:ln>
        </p:spPr>
      </p:sp>
      <p:sp>
        <p:nvSpPr>
          <p:cNvPr id="4" name="text-3">
            <a:extLst xmlns:a="http://schemas.openxmlformats.org/drawingml/2006/main">
              <a:ext uri="{FF2B5EF4-FFF2-40B4-BE49-F238E27FC236}">
                <a16:creationId xmlns:a16="http://schemas.microsoft.com/office/drawing/2014/main" id="{E99FDAD1-25D1-4D1E-B04F-5B1868FAD356}"/>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5F7"/>
                </a:solidFill>
                <a:latin typeface="Helvetica Neue"/>
                <a:ea typeface="Helvetica Neue"/>
                <a:cs typeface="Helvetica Neue"/>
              </a:defRPr>
            </a:defPPr>
            <a:lvl1pPr algn="l">
              <a:buNone/>
              <a:defRPr sz="3450" b="1">
                <a:solidFill>
                  <a:srgbClr val="F5F5F7"/>
                </a:solidFill>
                <a:latin typeface="Helvetica Neue"/>
                <a:ea typeface="Helvetica Neue"/>
                <a:cs typeface="Helvetica Neue"/>
              </a:defRPr>
            </a:lvl1pPr>
            <a:lvl2pPr algn="l">
              <a:buNone/>
              <a:defRPr sz="3450" b="1">
                <a:solidFill>
                  <a:srgbClr val="F5F5F7"/>
                </a:solidFill>
                <a:latin typeface="Helvetica Neue"/>
                <a:ea typeface="Helvetica Neue"/>
                <a:cs typeface="Helvetica Neue"/>
              </a:defRPr>
            </a:lvl2pPr>
            <a:lvl3pPr algn="l">
              <a:buNone/>
              <a:defRPr sz="3450" b="1">
                <a:solidFill>
                  <a:srgbClr val="F5F5F7"/>
                </a:solidFill>
                <a:latin typeface="Helvetica Neue"/>
                <a:ea typeface="Helvetica Neue"/>
                <a:cs typeface="Helvetica Neue"/>
              </a:defRPr>
            </a:lvl3pPr>
            <a:lvl4pPr algn="l">
              <a:buNone/>
              <a:defRPr sz="3450" b="1">
                <a:solidFill>
                  <a:srgbClr val="F5F5F7"/>
                </a:solidFill>
                <a:latin typeface="Helvetica Neue"/>
                <a:ea typeface="Helvetica Neue"/>
                <a:cs typeface="Helvetica Neue"/>
              </a:defRPr>
            </a:lvl4pPr>
            <a:lvl5pPr algn="l">
              <a:buNone/>
              <a:defRPr sz="3450" b="1">
                <a:solidFill>
                  <a:srgbClr val="F5F5F7"/>
                </a:solidFill>
                <a:latin typeface="Helvetica Neue"/>
                <a:ea typeface="Helvetica Neue"/>
                <a:cs typeface="Helvetica Neue"/>
              </a:defRPr>
            </a:lvl5pPr>
            <a:lvl6pPr algn="l">
              <a:buNone/>
              <a:defRPr sz="3450" b="1">
                <a:solidFill>
                  <a:srgbClr val="F5F5F7"/>
                </a:solidFill>
                <a:latin typeface="Helvetica Neue"/>
                <a:ea typeface="Helvetica Neue"/>
                <a:cs typeface="Helvetica Neue"/>
              </a:defRPr>
            </a:lvl6pPr>
            <a:lvl7pPr algn="l">
              <a:buNone/>
              <a:defRPr sz="3450" b="1">
                <a:solidFill>
                  <a:srgbClr val="F5F5F7"/>
                </a:solidFill>
                <a:latin typeface="Helvetica Neue"/>
                <a:ea typeface="Helvetica Neue"/>
                <a:cs typeface="Helvetica Neue"/>
              </a:defRPr>
            </a:lvl7pPr>
            <a:lvl8pPr algn="l">
              <a:buNone/>
              <a:defRPr sz="3450" b="1">
                <a:solidFill>
                  <a:srgbClr val="F5F5F7"/>
                </a:solidFill>
                <a:latin typeface="Helvetica Neue"/>
                <a:ea typeface="Helvetica Neue"/>
                <a:cs typeface="Helvetica Neue"/>
              </a:defRPr>
            </a:lvl8pPr>
            <a:lvl9pPr algn="l">
              <a:buNone/>
              <a:defRPr sz="3450" b="1">
                <a:solidFill>
                  <a:srgbClr val="F5F5F7"/>
                </a:solidFill>
                <a:latin typeface="Helvetica Neue"/>
                <a:ea typeface="Helvetica Neue"/>
                <a:cs typeface="Helvetica Neue"/>
              </a:defRPr>
            </a:lvl9pPr>
          </a:lstStyle>
          <a:p xmlns:a="http://schemas.openxmlformats.org/drawingml/2006/main">
            <a:pPr algn="l">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Text datasets: источники и состав</a:t>
            </a:r>
          </a:p>
        </p:txBody>
      </p:sp>
      <p:sp>
        <p:nvSpPr>
          <p:cNvPr id="18" name="theory-4">
            <a:extLst xmlns:a="http://schemas.openxmlformats.org/drawingml/2006/main">
              <a:ext uri="{FF2B5EF4-FFF2-40B4-BE49-F238E27FC236}">
                <a16:creationId xmlns:a16="http://schemas.microsoft.com/office/drawing/2014/main" id="{E943AEC7-91F5-4668-A37A-73C5B076F729}"/>
              </a:ext>
            </a:extLst>
          </p:cNvPr>
          <p:cNvSpPr>
            <a:spLocks xmlns:a="http://schemas.openxmlformats.org/drawingml/2006/main" noGrp="1"/>
          </p:cNvSpPr>
          <p:nvPr/>
        </p:nvSpPr>
        <p:spPr>
          <a:xfrm xmlns:a="http://schemas.openxmlformats.org/drawingml/2006/main">
            <a:off x="685800" y="20478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buNone/>
              <a:defRPr sz="1950" b="1">
                <a:solidFill>
                  <a:srgbClr val="BD9FE3"/>
                </a:solidFill>
                <a:latin typeface="Helvetica Neue"/>
                <a:ea typeface="Helvetica Neue"/>
                <a:cs typeface="Helvetica Neue"/>
              </a:defRPr>
            </a:lvl1pPr>
            <a:lvl2pPr>
              <a:buNone/>
              <a:defRPr sz="1950" b="1">
                <a:solidFill>
                  <a:srgbClr val="BD9FE3"/>
                </a:solidFill>
                <a:latin typeface="Helvetica Neue"/>
                <a:ea typeface="Helvetica Neue"/>
                <a:cs typeface="Helvetica Neue"/>
              </a:defRPr>
            </a:lvl2pPr>
            <a:lvl3pPr>
              <a:buNone/>
              <a:defRPr sz="1950" b="1">
                <a:solidFill>
                  <a:srgbClr val="BD9FE3"/>
                </a:solidFill>
                <a:latin typeface="Helvetica Neue"/>
                <a:ea typeface="Helvetica Neue"/>
                <a:cs typeface="Helvetica Neue"/>
              </a:defRPr>
            </a:lvl3pPr>
            <a:lvl4pPr>
              <a:buNone/>
              <a:defRPr sz="1950" b="1">
                <a:solidFill>
                  <a:srgbClr val="BD9FE3"/>
                </a:solidFill>
                <a:latin typeface="Helvetica Neue"/>
                <a:ea typeface="Helvetica Neue"/>
                <a:cs typeface="Helvetica Neue"/>
              </a:defRPr>
            </a:lvl4pPr>
            <a:lvl5pPr>
              <a:buNone/>
              <a:defRPr sz="1950" b="1">
                <a:solidFill>
                  <a:srgbClr val="BD9FE3"/>
                </a:solidFill>
                <a:latin typeface="Helvetica Neue"/>
                <a:ea typeface="Helvetica Neue"/>
                <a:cs typeface="Helvetica Neue"/>
              </a:defRPr>
            </a:lvl5pPr>
            <a:lvl6pPr>
              <a:buNone/>
              <a:defRPr sz="1950" b="1">
                <a:solidFill>
                  <a:srgbClr val="BD9FE3"/>
                </a:solidFill>
                <a:latin typeface="Helvetica Neue"/>
                <a:ea typeface="Helvetica Neue"/>
                <a:cs typeface="Helvetica Neue"/>
              </a:defRPr>
            </a:lvl6pPr>
            <a:lvl7pPr>
              <a:buNone/>
              <a:defRPr sz="1950" b="1">
                <a:solidFill>
                  <a:srgbClr val="BD9FE3"/>
                </a:solidFill>
                <a:latin typeface="Helvetica Neue"/>
                <a:ea typeface="Helvetica Neue"/>
                <a:cs typeface="Helvetica Neue"/>
              </a:defRPr>
            </a:lvl7pPr>
            <a:lvl8pPr>
              <a:buNone/>
              <a:defRPr sz="1950" b="1">
                <a:solidFill>
                  <a:srgbClr val="BD9FE3"/>
                </a:solidFill>
                <a:latin typeface="Helvetica Neue"/>
                <a:ea typeface="Helvetica Neue"/>
                <a:cs typeface="Helvetica Neue"/>
              </a:defRPr>
            </a:lvl8pPr>
            <a:lvl9pPr>
              <a:buNone/>
              <a:defRPr sz="1950" b="1">
                <a:solidFill>
                  <a:srgbClr val="BD9FE3"/>
                </a:solidFill>
                <a:latin typeface="Helvetica Neue"/>
                <a:ea typeface="Helvetica Neue"/>
                <a:cs typeface="Helvetica Neue"/>
              </a:defRPr>
            </a:lvl9pPr>
          </a:lstStyle>
          <a:p xmlns:a="http://schemas.openxmlformats.org/drawingml/2006/main">
            <a:pPr>
              <a:buNone/>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Соответствие будущему применению</a:t>
            </a:r>
          </a:p>
        </p:txBody>
      </p:sp>
      <p:sp>
        <p:nvSpPr>
          <p:cNvPr id="19" name="theory-5">
            <a:extLst xmlns:a="http://schemas.openxmlformats.org/drawingml/2006/main">
              <a:ext uri="{FF2B5EF4-FFF2-40B4-BE49-F238E27FC236}">
                <a16:creationId xmlns:a16="http://schemas.microsoft.com/office/drawing/2014/main" id="{3C4A30C3-9756-4424-9604-57FDC147F8CF}"/>
              </a:ext>
            </a:extLst>
          </p:cNvPr>
          <p:cNvSpPr>
            <a:spLocks xmlns:a="http://schemas.openxmlformats.org/drawingml/2006/main" noGrp="1"/>
          </p:cNvSpPr>
          <p:nvPr/>
        </p:nvSpPr>
        <p:spPr>
          <a:xfrm xmlns:a="http://schemas.openxmlformats.org/drawingml/2006/main">
            <a:off x="685800" y="2514600"/>
            <a:ext cx="108204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buNone/>
              <a:defRPr sz="2025" b="0">
                <a:solidFill>
                  <a:srgbClr val="CDCDD3"/>
                </a:solidFill>
                <a:latin typeface="Helvetica Neue"/>
                <a:ea typeface="Helvetica Neue"/>
                <a:cs typeface="Helvetica Neue"/>
              </a:defRPr>
            </a:lvl1pPr>
            <a:lvl2pPr>
              <a:buNone/>
              <a:defRPr sz="2025" b="0">
                <a:solidFill>
                  <a:srgbClr val="CDCDD3"/>
                </a:solidFill>
                <a:latin typeface="Helvetica Neue"/>
                <a:ea typeface="Helvetica Neue"/>
                <a:cs typeface="Helvetica Neue"/>
              </a:defRPr>
            </a:lvl2pPr>
            <a:lvl3pPr>
              <a:buNone/>
              <a:defRPr sz="2025" b="0">
                <a:solidFill>
                  <a:srgbClr val="CDCDD3"/>
                </a:solidFill>
                <a:latin typeface="Helvetica Neue"/>
                <a:ea typeface="Helvetica Neue"/>
                <a:cs typeface="Helvetica Neue"/>
              </a:defRPr>
            </a:lvl3pPr>
            <a:lvl4pPr>
              <a:buNone/>
              <a:defRPr sz="2025" b="0">
                <a:solidFill>
                  <a:srgbClr val="CDCDD3"/>
                </a:solidFill>
                <a:latin typeface="Helvetica Neue"/>
                <a:ea typeface="Helvetica Neue"/>
                <a:cs typeface="Helvetica Neue"/>
              </a:defRPr>
            </a:lvl4pPr>
            <a:lvl5pPr>
              <a:buNone/>
              <a:defRPr sz="2025" b="0">
                <a:solidFill>
                  <a:srgbClr val="CDCDD3"/>
                </a:solidFill>
                <a:latin typeface="Helvetica Neue"/>
                <a:ea typeface="Helvetica Neue"/>
                <a:cs typeface="Helvetica Neue"/>
              </a:defRPr>
            </a:lvl5pPr>
            <a:lvl6pPr>
              <a:buNone/>
              <a:defRPr sz="2025" b="0">
                <a:solidFill>
                  <a:srgbClr val="CDCDD3"/>
                </a:solidFill>
                <a:latin typeface="Helvetica Neue"/>
                <a:ea typeface="Helvetica Neue"/>
                <a:cs typeface="Helvetica Neue"/>
              </a:defRPr>
            </a:lvl6pPr>
            <a:lvl7pPr>
              <a:buNone/>
              <a:defRPr sz="2025" b="0">
                <a:solidFill>
                  <a:srgbClr val="CDCDD3"/>
                </a:solidFill>
                <a:latin typeface="Helvetica Neue"/>
                <a:ea typeface="Helvetica Neue"/>
                <a:cs typeface="Helvetica Neue"/>
              </a:defRPr>
            </a:lvl7pPr>
            <a:lvl8pPr>
              <a:buNone/>
              <a:defRPr sz="2025" b="0">
                <a:solidFill>
                  <a:srgbClr val="CDCDD3"/>
                </a:solidFill>
                <a:latin typeface="Helvetica Neue"/>
                <a:ea typeface="Helvetica Neue"/>
                <a:cs typeface="Helvetica Neue"/>
              </a:defRPr>
            </a:lvl8pPr>
            <a:lvl9pPr>
              <a:buNone/>
              <a:defRPr sz="2025" b="0">
                <a:solidFill>
                  <a:srgbClr val="CDCDD3"/>
                </a:solidFill>
                <a:latin typeface="Helvetica Neue"/>
                <a:ea typeface="Helvetica Neue"/>
                <a:cs typeface="Helvetica Neue"/>
              </a:defRPr>
            </a:lvl9pPr>
          </a:lstStyle>
          <a:p xmlns:a="http://schemas.openxmlformats.org/drawingml/2006/main">
            <a:pPr>
              <a:buNone/>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Корпус может состоять из открытых наборов, продуктовых данных или специально собранных текстов. Доступность большого объёма не гарантирует соответствия задаче. Отзывы о фильмах отличаются от жалоб на доставку по лексике, типам оценок и структуре. При выборе данных учитывают язык, источник, период, жанр и правила получения целевых меток.</a:t>
            </a:r>
          </a:p>
        </p:txBody>
      </p:sp>
      <p:sp>
        <p:nvSpPr>
          <p:cNvPr id="20" name="theory-6">
            <a:extLst xmlns:a="http://schemas.openxmlformats.org/drawingml/2006/main">
              <a:ext uri="{FF2B5EF4-FFF2-40B4-BE49-F238E27FC236}">
                <a16:creationId xmlns:a16="http://schemas.microsoft.com/office/drawing/2014/main" id="{B4AD5097-806E-4C2F-8E0D-734341E9028E}"/>
              </a:ext>
            </a:extLst>
          </p:cNvPr>
          <p:cNvSpPr>
            <a:spLocks xmlns:a="http://schemas.openxmlformats.org/drawingml/2006/main" noGrp="1"/>
          </p:cNvSpPr>
          <p:nvPr/>
        </p:nvSpPr>
        <p:spPr>
          <a:xfrm xmlns:a="http://schemas.openxmlformats.org/drawingml/2006/main">
            <a:off x="685800" y="4229100"/>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buNone/>
              <a:defRPr sz="1950" b="1">
                <a:solidFill>
                  <a:srgbClr val="BD9FE3"/>
                </a:solidFill>
                <a:latin typeface="Helvetica Neue"/>
                <a:ea typeface="Helvetica Neue"/>
                <a:cs typeface="Helvetica Neue"/>
              </a:defRPr>
            </a:lvl1pPr>
            <a:lvl2pPr>
              <a:buNone/>
              <a:defRPr sz="1950" b="1">
                <a:solidFill>
                  <a:srgbClr val="BD9FE3"/>
                </a:solidFill>
                <a:latin typeface="Helvetica Neue"/>
                <a:ea typeface="Helvetica Neue"/>
                <a:cs typeface="Helvetica Neue"/>
              </a:defRPr>
            </a:lvl2pPr>
            <a:lvl3pPr>
              <a:buNone/>
              <a:defRPr sz="1950" b="1">
                <a:solidFill>
                  <a:srgbClr val="BD9FE3"/>
                </a:solidFill>
                <a:latin typeface="Helvetica Neue"/>
                <a:ea typeface="Helvetica Neue"/>
                <a:cs typeface="Helvetica Neue"/>
              </a:defRPr>
            </a:lvl3pPr>
            <a:lvl4pPr>
              <a:buNone/>
              <a:defRPr sz="1950" b="1">
                <a:solidFill>
                  <a:srgbClr val="BD9FE3"/>
                </a:solidFill>
                <a:latin typeface="Helvetica Neue"/>
                <a:ea typeface="Helvetica Neue"/>
                <a:cs typeface="Helvetica Neue"/>
              </a:defRPr>
            </a:lvl4pPr>
            <a:lvl5pPr>
              <a:buNone/>
              <a:defRPr sz="1950" b="1">
                <a:solidFill>
                  <a:srgbClr val="BD9FE3"/>
                </a:solidFill>
                <a:latin typeface="Helvetica Neue"/>
                <a:ea typeface="Helvetica Neue"/>
                <a:cs typeface="Helvetica Neue"/>
              </a:defRPr>
            </a:lvl5pPr>
            <a:lvl6pPr>
              <a:buNone/>
              <a:defRPr sz="1950" b="1">
                <a:solidFill>
                  <a:srgbClr val="BD9FE3"/>
                </a:solidFill>
                <a:latin typeface="Helvetica Neue"/>
                <a:ea typeface="Helvetica Neue"/>
                <a:cs typeface="Helvetica Neue"/>
              </a:defRPr>
            </a:lvl6pPr>
            <a:lvl7pPr>
              <a:buNone/>
              <a:defRPr sz="1950" b="1">
                <a:solidFill>
                  <a:srgbClr val="BD9FE3"/>
                </a:solidFill>
                <a:latin typeface="Helvetica Neue"/>
                <a:ea typeface="Helvetica Neue"/>
                <a:cs typeface="Helvetica Neue"/>
              </a:defRPr>
            </a:lvl7pPr>
            <a:lvl8pPr>
              <a:buNone/>
              <a:defRPr sz="1950" b="1">
                <a:solidFill>
                  <a:srgbClr val="BD9FE3"/>
                </a:solidFill>
                <a:latin typeface="Helvetica Neue"/>
                <a:ea typeface="Helvetica Neue"/>
                <a:cs typeface="Helvetica Neue"/>
              </a:defRPr>
            </a:lvl8pPr>
            <a:lvl9pPr>
              <a:buNone/>
              <a:defRPr sz="1950" b="1">
                <a:solidFill>
                  <a:srgbClr val="BD9FE3"/>
                </a:solidFill>
                <a:latin typeface="Helvetica Neue"/>
                <a:ea typeface="Helvetica Neue"/>
                <a:cs typeface="Helvetica Neue"/>
              </a:defRPr>
            </a:lvl9pPr>
          </a:lstStyle>
          <a:p xmlns:a="http://schemas.openxmlformats.org/drawingml/2006/main">
            <a:pPr>
              <a:buNone/>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Проверка состава</a:t>
            </a:r>
          </a:p>
        </p:txBody>
      </p:sp>
      <p:sp>
        <p:nvSpPr>
          <p:cNvPr id="21" name="theory-7">
            <a:extLst xmlns:a="http://schemas.openxmlformats.org/drawingml/2006/main">
              <a:ext uri="{FF2B5EF4-FFF2-40B4-BE49-F238E27FC236}">
                <a16:creationId xmlns:a16="http://schemas.microsoft.com/office/drawing/2014/main" id="{7EB2FF8B-6D21-45AA-8462-CBFF6D0DE0B5}"/>
              </a:ext>
            </a:extLst>
          </p:cNvPr>
          <p:cNvSpPr>
            <a:spLocks xmlns:a="http://schemas.openxmlformats.org/drawingml/2006/main" noGrp="1"/>
          </p:cNvSpPr>
          <p:nvPr/>
        </p:nvSpPr>
        <p:spPr>
          <a:xfrm xmlns:a="http://schemas.openxmlformats.org/drawingml/2006/main">
            <a:off x="685800" y="4695825"/>
            <a:ext cx="10820400" cy="1743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buNone/>
              <a:defRPr sz="2025" b="0">
                <a:solidFill>
                  <a:srgbClr val="CDCDD3"/>
                </a:solidFill>
                <a:latin typeface="Helvetica Neue"/>
                <a:ea typeface="Helvetica Neue"/>
                <a:cs typeface="Helvetica Neue"/>
              </a:defRPr>
            </a:lvl1pPr>
            <a:lvl2pPr>
              <a:buNone/>
              <a:defRPr sz="2025" b="0">
                <a:solidFill>
                  <a:srgbClr val="CDCDD3"/>
                </a:solidFill>
                <a:latin typeface="Helvetica Neue"/>
                <a:ea typeface="Helvetica Neue"/>
                <a:cs typeface="Helvetica Neue"/>
              </a:defRPr>
            </a:lvl2pPr>
            <a:lvl3pPr>
              <a:buNone/>
              <a:defRPr sz="2025" b="0">
                <a:solidFill>
                  <a:srgbClr val="CDCDD3"/>
                </a:solidFill>
                <a:latin typeface="Helvetica Neue"/>
                <a:ea typeface="Helvetica Neue"/>
                <a:cs typeface="Helvetica Neue"/>
              </a:defRPr>
            </a:lvl3pPr>
            <a:lvl4pPr>
              <a:buNone/>
              <a:defRPr sz="2025" b="0">
                <a:solidFill>
                  <a:srgbClr val="CDCDD3"/>
                </a:solidFill>
                <a:latin typeface="Helvetica Neue"/>
                <a:ea typeface="Helvetica Neue"/>
                <a:cs typeface="Helvetica Neue"/>
              </a:defRPr>
            </a:lvl4pPr>
            <a:lvl5pPr>
              <a:buNone/>
              <a:defRPr sz="2025" b="0">
                <a:solidFill>
                  <a:srgbClr val="CDCDD3"/>
                </a:solidFill>
                <a:latin typeface="Helvetica Neue"/>
                <a:ea typeface="Helvetica Neue"/>
                <a:cs typeface="Helvetica Neue"/>
              </a:defRPr>
            </a:lvl5pPr>
            <a:lvl6pPr>
              <a:buNone/>
              <a:defRPr sz="2025" b="0">
                <a:solidFill>
                  <a:srgbClr val="CDCDD3"/>
                </a:solidFill>
                <a:latin typeface="Helvetica Neue"/>
                <a:ea typeface="Helvetica Neue"/>
                <a:cs typeface="Helvetica Neue"/>
              </a:defRPr>
            </a:lvl6pPr>
            <a:lvl7pPr>
              <a:buNone/>
              <a:defRPr sz="2025" b="0">
                <a:solidFill>
                  <a:srgbClr val="CDCDD3"/>
                </a:solidFill>
                <a:latin typeface="Helvetica Neue"/>
                <a:ea typeface="Helvetica Neue"/>
                <a:cs typeface="Helvetica Neue"/>
              </a:defRPr>
            </a:lvl7pPr>
            <a:lvl8pPr>
              <a:buNone/>
              <a:defRPr sz="2025" b="0">
                <a:solidFill>
                  <a:srgbClr val="CDCDD3"/>
                </a:solidFill>
                <a:latin typeface="Helvetica Neue"/>
                <a:ea typeface="Helvetica Neue"/>
                <a:cs typeface="Helvetica Neue"/>
              </a:defRPr>
            </a:lvl8pPr>
            <a:lvl9pPr>
              <a:buNone/>
              <a:defRPr sz="2025" b="0">
                <a:solidFill>
                  <a:srgbClr val="CDCDD3"/>
                </a:solidFill>
                <a:latin typeface="Helvetica Neue"/>
                <a:ea typeface="Helvetica Neue"/>
                <a:cs typeface="Helvetica Neue"/>
              </a:defRPr>
            </a:lvl9pPr>
          </a:lstStyle>
          <a:p xmlns:a="http://schemas.openxmlformats.org/drawingml/2006/main">
            <a:pPr>
              <a:buNone/>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До обучения анализируют пропуски, дубликаты, длины текстов и распределение классов. Полезно проверять данные по источникам и времени, чтобы обнаружить перекосы. Если отрицательные и положительные примеры поступили из разных каналов, модель может выучить особенности канала вместо тональности. Такой эффект необходимо отделять от решения исходной задачи.</a:t>
            </a:r>
          </a:p>
        </p:txBody>
      </p:sp>
    </p:spTree>
    <p:extLst>
      <p:ext uri="{BB962C8B-B14F-4D97-AF65-F5344CB8AC3E}">
        <p14:creationId xmlns:p14="http://schemas.microsoft.com/office/powerpoint/2010/main" val="48982712"/>
      </p:ext>
    </p:extLst>
  </p:cSld>
</p:sld>
</file>

<file path=ppt/slides/slide1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9" name="exp90-0">
            <a:extLst xmlns:a="http://schemas.openxmlformats.org/drawingml/2006/main">
              <a:ext uri="{FF2B5EF4-FFF2-40B4-BE49-F238E27FC236}">
                <a16:creationId xmlns:a16="http://schemas.microsoft.com/office/drawing/2014/main" id="{3262FAA6-9362-484F-B094-65131915143C}"/>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90-1">
            <a:extLst xmlns:a="http://schemas.openxmlformats.org/drawingml/2006/main">
              <a:ext uri="{FF2B5EF4-FFF2-40B4-BE49-F238E27FC236}">
                <a16:creationId xmlns:a16="http://schemas.microsoft.com/office/drawing/2014/main" id="{15C3A569-E815-4D29-92DD-7F139CF94021}"/>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19</a:t>
            </a:r>
          </a:p>
        </p:txBody>
      </p:sp>
      <p:sp>
        <p:nvSpPr>
          <p:cNvPr id="3" name="">
            <a:extLst xmlns:a="http://schemas.openxmlformats.org/drawingml/2006/main">
              <a:ext uri="{FF2B5EF4-FFF2-40B4-BE49-F238E27FC236}">
                <a16:creationId xmlns:a16="http://schemas.microsoft.com/office/drawing/2014/main" id="{A329461C-B59A-424D-9E0C-FEB5B3DD361C}"/>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0">
            <a:solidFill>
              <a:srgbClr val="28282B"/>
            </a:solidFill>
          </a:ln>
        </p:spPr>
      </p:sp>
      <p:sp>
        <p:nvSpPr>
          <p:cNvPr id="4" name="exp90-3">
            <a:extLst xmlns:a="http://schemas.openxmlformats.org/drawingml/2006/main">
              <a:ext uri="{FF2B5EF4-FFF2-40B4-BE49-F238E27FC236}">
                <a16:creationId xmlns:a16="http://schemas.microsoft.com/office/drawing/2014/main" id="{FBD28938-1172-4F60-861C-A1A5EAE12326}"/>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Организация corpus</a:t>
            </a:r>
          </a:p>
        </p:txBody>
      </p:sp>
      <p:pic>
        <p:nvPicPr>
          <p:cNvPr id="5" name="">
            <a:extLst xmlns:a="http://schemas.openxmlformats.org/drawingml/2006/main">
              <a:ext uri="{FF2B5EF4-FFF2-40B4-BE49-F238E27FC236}">
                <a16:creationId xmlns:a16="http://schemas.microsoft.com/office/drawing/2014/main" id="{508EF118-AEC1-4CE4-B910-257DA4643528}"/>
              </a:ext>
            </a:extLst>
          </p:cNvPr>
          <p:cNvPicPr>
            <a:picLocks xmlns:a="http://schemas.openxmlformats.org/drawingml/2006/main" noChangeAspect="1"/>
          </p:cNvPicPr>
          <p:nvPr/>
        </p:nvPicPr>
        <p:blipFill>
          <a:blip xmlns:r="http://schemas.openxmlformats.org/officeDocument/2006/relationships" xmlns:a="http://schemas.openxmlformats.org/drawingml/2006/main" r:embed="R42601d69fa694883"/>
          <a:srcRect xmlns:a="http://schemas.openxmlformats.org/drawingml/2006/main" l="0" t="0" r="0" b="0"/>
          <a:stretch xmlns:a="http://schemas.openxmlformats.org/drawingml/2006/main">
            <a:fillRect l="0" t="0" r="0" b="0"/>
          </a:stretch>
        </p:blipFill>
        <p:spPr>
          <a:xfrm xmlns:a="http://schemas.openxmlformats.org/drawingml/2006/main">
            <a:off x="685800" y="2045654"/>
            <a:ext cx="10820400" cy="2309492"/>
          </a:xfrm>
          <a:prstGeom xmlns:a="http://schemas.openxmlformats.org/drawingml/2006/main" prst="rect">
            <a:avLst/>
          </a:prstGeom>
        </p:spPr>
      </p:pic>
      <p:sp>
        <p:nvSpPr>
          <p:cNvPr id="6" name="exp90-4">
            <a:extLst xmlns:a="http://schemas.openxmlformats.org/drawingml/2006/main">
              <a:ext uri="{FF2B5EF4-FFF2-40B4-BE49-F238E27FC236}">
                <a16:creationId xmlns:a16="http://schemas.microsoft.com/office/drawing/2014/main" id="{3CB6B86C-A972-4CCC-91FF-1CC43A9A21B4}"/>
              </a:ext>
            </a:extLst>
          </p:cNvPr>
          <p:cNvSpPr>
            <a:spLocks xmlns:a="http://schemas.openxmlformats.org/drawingml/2006/main" noGrp="1"/>
          </p:cNvSpPr>
          <p:nvPr/>
        </p:nvSpPr>
        <p:spPr>
          <a:xfrm xmlns:a="http://schemas.openxmlformats.org/drawingml/2006/main">
            <a:off x="685800" y="4610100"/>
            <a:ext cx="10820400" cy="1552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13" b="0">
                <a:solidFill>
                  <a:srgbClr val="CDCDD3"/>
                </a:solidFill>
                <a:latin typeface="Helvetica Neue"/>
                <a:ea typeface="Helvetica Neue"/>
                <a:cs typeface="Helvetica Neue"/>
              </a:defRPr>
            </a:defPPr>
            <a:lvl1pPr>
              <a:buNone/>
              <a:defRPr sz="1913" b="0">
                <a:solidFill>
                  <a:srgbClr val="CDCDD3"/>
                </a:solidFill>
                <a:latin typeface="Helvetica Neue"/>
                <a:ea typeface="Helvetica Neue"/>
                <a:cs typeface="Helvetica Neue"/>
              </a:defRPr>
            </a:lvl1pPr>
            <a:lvl2pPr>
              <a:buNone/>
              <a:defRPr sz="1913" b="0">
                <a:solidFill>
                  <a:srgbClr val="CDCDD3"/>
                </a:solidFill>
                <a:latin typeface="Helvetica Neue"/>
                <a:ea typeface="Helvetica Neue"/>
                <a:cs typeface="Helvetica Neue"/>
              </a:defRPr>
            </a:lvl2pPr>
            <a:lvl3pPr>
              <a:buNone/>
              <a:defRPr sz="1913" b="0">
                <a:solidFill>
                  <a:srgbClr val="CDCDD3"/>
                </a:solidFill>
                <a:latin typeface="Helvetica Neue"/>
                <a:ea typeface="Helvetica Neue"/>
                <a:cs typeface="Helvetica Neue"/>
              </a:defRPr>
            </a:lvl3pPr>
            <a:lvl4pPr>
              <a:buNone/>
              <a:defRPr sz="1913" b="0">
                <a:solidFill>
                  <a:srgbClr val="CDCDD3"/>
                </a:solidFill>
                <a:latin typeface="Helvetica Neue"/>
                <a:ea typeface="Helvetica Neue"/>
                <a:cs typeface="Helvetica Neue"/>
              </a:defRPr>
            </a:lvl4pPr>
            <a:lvl5pPr>
              <a:buNone/>
              <a:defRPr sz="1913" b="0">
                <a:solidFill>
                  <a:srgbClr val="CDCDD3"/>
                </a:solidFill>
                <a:latin typeface="Helvetica Neue"/>
                <a:ea typeface="Helvetica Neue"/>
                <a:cs typeface="Helvetica Neue"/>
              </a:defRPr>
            </a:lvl5pPr>
            <a:lvl6pPr>
              <a:buNone/>
              <a:defRPr sz="1913" b="0">
                <a:solidFill>
                  <a:srgbClr val="CDCDD3"/>
                </a:solidFill>
                <a:latin typeface="Helvetica Neue"/>
                <a:ea typeface="Helvetica Neue"/>
                <a:cs typeface="Helvetica Neue"/>
              </a:defRPr>
            </a:lvl6pPr>
            <a:lvl7pPr>
              <a:buNone/>
              <a:defRPr sz="1913" b="0">
                <a:solidFill>
                  <a:srgbClr val="CDCDD3"/>
                </a:solidFill>
                <a:latin typeface="Helvetica Neue"/>
                <a:ea typeface="Helvetica Neue"/>
                <a:cs typeface="Helvetica Neue"/>
              </a:defRPr>
            </a:lvl7pPr>
            <a:lvl8pPr>
              <a:buNone/>
              <a:defRPr sz="1913" b="0">
                <a:solidFill>
                  <a:srgbClr val="CDCDD3"/>
                </a:solidFill>
                <a:latin typeface="Helvetica Neue"/>
                <a:ea typeface="Helvetica Neue"/>
                <a:cs typeface="Helvetica Neue"/>
              </a:defRPr>
            </a:lvl8pPr>
            <a:lvl9pPr>
              <a:buNone/>
              <a:defRPr sz="1913" b="0">
                <a:solidFill>
                  <a:srgbClr val="CDCDD3"/>
                </a:solidFill>
                <a:latin typeface="Helvetica Neue"/>
                <a:ea typeface="Helvetica Neue"/>
                <a:cs typeface="Helvetica Neue"/>
              </a:defRPr>
            </a:lvl9pPr>
          </a:lstStyle>
          <a:p xmlns:a="http://schemas.openxmlformats.org/drawingml/2006/main">
            <a:pPr>
              <a:buNone/>
              <a:defRPr sz="1913" b="0">
                <a:solidFill>
                  <a:srgbClr val="CDCDD3"/>
                </a:solidFill>
                <a:latin typeface="Helvetica Neue"/>
                <a:ea typeface="Helvetica Neue"/>
                <a:cs typeface="Helvetica Neue"/>
              </a:defRPr>
            </a:pPr>
            <a:r>
              <a:rPr sz="1913" b="0">
                <a:solidFill>
                  <a:srgbClr val="CDCDD3"/>
                </a:solidFill>
                <a:latin typeface="Helvetica Neue"/>
                <a:ea typeface="Helvetica Neue"/>
                <a:cs typeface="Helvetica Neue"/>
              </a:rPr>
              <a:t>Документы можно хранить как независимую коллекцию, распределять по категориям, относить сразу к нескольким категориям или упорядочивать во времени. Структура корпуса определяет доступные сравнения и допустимые способы разбиения. Например, пересекающиеся категории соответствуют многометочной постановке, а временной порядок важен при проверке переноса модели на будущие данные.</a:t>
            </a:r>
          </a:p>
        </p:txBody>
      </p:sp>
      <p:sp>
        <p:nvSpPr>
          <p:cNvPr id="7" name="exp90-5">
            <a:extLst xmlns:a="http://schemas.openxmlformats.org/drawingml/2006/main">
              <a:ext uri="{FF2B5EF4-FFF2-40B4-BE49-F238E27FC236}">
                <a16:creationId xmlns:a16="http://schemas.microsoft.com/office/drawing/2014/main" id="{04F9C7CC-8D98-4162-A345-5CB15CFAE536}"/>
              </a:ext>
            </a:extLst>
          </p:cNvPr>
          <p:cNvSpPr>
            <a:spLocks xmlns:a="http://schemas.openxmlformats.org/drawingml/2006/main" noGrp="1"/>
          </p:cNvSpPr>
          <p:nvPr/>
        </p:nvSpPr>
        <p:spPr>
          <a:xfrm xmlns:a="http://schemas.openxmlformats.org/drawingml/2006/main">
            <a:off x="685800" y="6210300"/>
            <a:ext cx="108204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88" b="0">
                <a:solidFill>
                  <a:srgbClr val="98989F"/>
                </a:solidFill>
                <a:latin typeface="Helvetica Neue"/>
                <a:ea typeface="Helvetica Neue"/>
                <a:cs typeface="Helvetica Neue"/>
              </a:defRPr>
            </a:defPPr>
            <a:lvl1pPr>
              <a:buNone/>
              <a:defRPr sz="1388" b="0">
                <a:solidFill>
                  <a:srgbClr val="98989F"/>
                </a:solidFill>
                <a:latin typeface="Helvetica Neue"/>
                <a:ea typeface="Helvetica Neue"/>
                <a:cs typeface="Helvetica Neue"/>
              </a:defRPr>
            </a:lvl1pPr>
            <a:lvl2pPr>
              <a:buNone/>
              <a:defRPr sz="1388" b="0">
                <a:solidFill>
                  <a:srgbClr val="98989F"/>
                </a:solidFill>
                <a:latin typeface="Helvetica Neue"/>
                <a:ea typeface="Helvetica Neue"/>
                <a:cs typeface="Helvetica Neue"/>
              </a:defRPr>
            </a:lvl2pPr>
            <a:lvl3pPr>
              <a:buNone/>
              <a:defRPr sz="1388" b="0">
                <a:solidFill>
                  <a:srgbClr val="98989F"/>
                </a:solidFill>
                <a:latin typeface="Helvetica Neue"/>
                <a:ea typeface="Helvetica Neue"/>
                <a:cs typeface="Helvetica Neue"/>
              </a:defRPr>
            </a:lvl3pPr>
            <a:lvl4pPr>
              <a:buNone/>
              <a:defRPr sz="1388" b="0">
                <a:solidFill>
                  <a:srgbClr val="98989F"/>
                </a:solidFill>
                <a:latin typeface="Helvetica Neue"/>
                <a:ea typeface="Helvetica Neue"/>
                <a:cs typeface="Helvetica Neue"/>
              </a:defRPr>
            </a:lvl4pPr>
            <a:lvl5pPr>
              <a:buNone/>
              <a:defRPr sz="1388" b="0">
                <a:solidFill>
                  <a:srgbClr val="98989F"/>
                </a:solidFill>
                <a:latin typeface="Helvetica Neue"/>
                <a:ea typeface="Helvetica Neue"/>
                <a:cs typeface="Helvetica Neue"/>
              </a:defRPr>
            </a:lvl5pPr>
            <a:lvl6pPr>
              <a:buNone/>
              <a:defRPr sz="1388" b="0">
                <a:solidFill>
                  <a:srgbClr val="98989F"/>
                </a:solidFill>
                <a:latin typeface="Helvetica Neue"/>
                <a:ea typeface="Helvetica Neue"/>
                <a:cs typeface="Helvetica Neue"/>
              </a:defRPr>
            </a:lvl6pPr>
            <a:lvl7pPr>
              <a:buNone/>
              <a:defRPr sz="1388" b="0">
                <a:solidFill>
                  <a:srgbClr val="98989F"/>
                </a:solidFill>
                <a:latin typeface="Helvetica Neue"/>
                <a:ea typeface="Helvetica Neue"/>
                <a:cs typeface="Helvetica Neue"/>
              </a:defRPr>
            </a:lvl7pPr>
            <a:lvl8pPr>
              <a:buNone/>
              <a:defRPr sz="1388" b="0">
                <a:solidFill>
                  <a:srgbClr val="98989F"/>
                </a:solidFill>
                <a:latin typeface="Helvetica Neue"/>
                <a:ea typeface="Helvetica Neue"/>
                <a:cs typeface="Helvetica Neue"/>
              </a:defRPr>
            </a:lvl8pPr>
            <a:lvl9pPr>
              <a:buNone/>
              <a:defRPr sz="1388" b="0">
                <a:solidFill>
                  <a:srgbClr val="98989F"/>
                </a:solidFill>
                <a:latin typeface="Helvetica Neue"/>
                <a:ea typeface="Helvetica Neue"/>
                <a:cs typeface="Helvetica Neue"/>
              </a:defRPr>
            </a:lvl9pPr>
          </a:lstStyle>
          <a:p xmlns:a="http://schemas.openxmlformats.org/drawingml/2006/main">
            <a:pPr>
              <a:buNone/>
              <a:defRPr sz="1388" b="0">
                <a:solidFill>
                  <a:srgbClr val="98989F"/>
                </a:solidFill>
                <a:latin typeface="Helvetica Neue"/>
                <a:ea typeface="Helvetica Neue"/>
                <a:cs typeface="Helvetica Neue"/>
              </a:defRPr>
            </a:pPr>
            <a:r>
              <a:rPr sz="1388" b="0">
                <a:solidFill>
                  <a:srgbClr val="98989F"/>
                </a:solidFill>
                <a:latin typeface="Helvetica Neue"/>
                <a:ea typeface="Helvetica Neue"/>
                <a:cs typeface="Helvetica Neue"/>
              </a:rPr>
              <a:t>Типы организации корпуса из NLTK Book: isolated, categorized, overlapping и temporal.</a:t>
            </a:r>
          </a:p>
        </p:txBody>
      </p:sp>
      <p:sp>
        <p:nvSpPr>
          <p:cNvPr id="8" name="exp90-6">
            <a:extLst xmlns:a="http://schemas.openxmlformats.org/drawingml/2006/main">
              <a:ext uri="{FF2B5EF4-FFF2-40B4-BE49-F238E27FC236}">
                <a16:creationId xmlns:a16="http://schemas.microsoft.com/office/drawing/2014/main" id="{14DC6428-4E93-4D3D-8A37-D5685BF7BCC7}"/>
              </a:ext>
            </a:extLst>
          </p:cNvPr>
          <p:cNvSpPr>
            <a:spLocks xmlns:a="http://schemas.openxmlformats.org/drawingml/2006/main" noGrp="1"/>
          </p:cNvSpPr>
          <p:nvPr/>
        </p:nvSpPr>
        <p:spPr>
          <a:xfrm xmlns:a="http://schemas.openxmlformats.org/drawingml/2006/main">
            <a:off x="685800" y="6648450"/>
            <a:ext cx="10820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63" b="0">
                <a:solidFill>
                  <a:srgbClr val="98989F"/>
                </a:solidFill>
                <a:latin typeface="Helvetica Neue"/>
                <a:ea typeface="Helvetica Neue"/>
                <a:cs typeface="Helvetica Neue"/>
              </a:defRPr>
            </a:defPPr>
            <a:lvl1pPr>
              <a:buNone/>
              <a:defRPr sz="1163" b="0">
                <a:solidFill>
                  <a:srgbClr val="98989F"/>
                </a:solidFill>
                <a:latin typeface="Helvetica Neue"/>
                <a:ea typeface="Helvetica Neue"/>
                <a:cs typeface="Helvetica Neue"/>
              </a:defRPr>
            </a:lvl1pPr>
            <a:lvl2pPr>
              <a:buNone/>
              <a:defRPr sz="1163" b="0">
                <a:solidFill>
                  <a:srgbClr val="98989F"/>
                </a:solidFill>
                <a:latin typeface="Helvetica Neue"/>
                <a:ea typeface="Helvetica Neue"/>
                <a:cs typeface="Helvetica Neue"/>
              </a:defRPr>
            </a:lvl2pPr>
            <a:lvl3pPr>
              <a:buNone/>
              <a:defRPr sz="1163" b="0">
                <a:solidFill>
                  <a:srgbClr val="98989F"/>
                </a:solidFill>
                <a:latin typeface="Helvetica Neue"/>
                <a:ea typeface="Helvetica Neue"/>
                <a:cs typeface="Helvetica Neue"/>
              </a:defRPr>
            </a:lvl3pPr>
            <a:lvl4pPr>
              <a:buNone/>
              <a:defRPr sz="1163" b="0">
                <a:solidFill>
                  <a:srgbClr val="98989F"/>
                </a:solidFill>
                <a:latin typeface="Helvetica Neue"/>
                <a:ea typeface="Helvetica Neue"/>
                <a:cs typeface="Helvetica Neue"/>
              </a:defRPr>
            </a:lvl4pPr>
            <a:lvl5pPr>
              <a:buNone/>
              <a:defRPr sz="1163" b="0">
                <a:solidFill>
                  <a:srgbClr val="98989F"/>
                </a:solidFill>
                <a:latin typeface="Helvetica Neue"/>
                <a:ea typeface="Helvetica Neue"/>
                <a:cs typeface="Helvetica Neue"/>
              </a:defRPr>
            </a:lvl5pPr>
            <a:lvl6pPr>
              <a:buNone/>
              <a:defRPr sz="1163" b="0">
                <a:solidFill>
                  <a:srgbClr val="98989F"/>
                </a:solidFill>
                <a:latin typeface="Helvetica Neue"/>
                <a:ea typeface="Helvetica Neue"/>
                <a:cs typeface="Helvetica Neue"/>
              </a:defRPr>
            </a:lvl6pPr>
            <a:lvl7pPr>
              <a:buNone/>
              <a:defRPr sz="1163" b="0">
                <a:solidFill>
                  <a:srgbClr val="98989F"/>
                </a:solidFill>
                <a:latin typeface="Helvetica Neue"/>
                <a:ea typeface="Helvetica Neue"/>
                <a:cs typeface="Helvetica Neue"/>
              </a:defRPr>
            </a:lvl7pPr>
            <a:lvl8pPr>
              <a:buNone/>
              <a:defRPr sz="1163" b="0">
                <a:solidFill>
                  <a:srgbClr val="98989F"/>
                </a:solidFill>
                <a:latin typeface="Helvetica Neue"/>
                <a:ea typeface="Helvetica Neue"/>
                <a:cs typeface="Helvetica Neue"/>
              </a:defRPr>
            </a:lvl8pPr>
            <a:lvl9pPr>
              <a:buNone/>
              <a:defRPr sz="1163" b="0">
                <a:solidFill>
                  <a:srgbClr val="98989F"/>
                </a:solidFill>
                <a:latin typeface="Helvetica Neue"/>
                <a:ea typeface="Helvetica Neue"/>
                <a:cs typeface="Helvetica Neue"/>
              </a:defRPr>
            </a:lvl9pPr>
          </a:lstStyle>
          <a:p xmlns:a="http://schemas.openxmlformats.org/drawingml/2006/main">
            <a:pPr>
              <a:buNone/>
              <a:defRPr sz="1163" b="0">
                <a:solidFill>
                  <a:srgbClr val="98989F"/>
                </a:solidFill>
                <a:latin typeface="Helvetica Neue"/>
                <a:ea typeface="Helvetica Neue"/>
                <a:cs typeface="Helvetica Neue"/>
              </a:defRPr>
            </a:pPr>
            <a:r>
              <a:rPr sz="1163" b="0">
                <a:solidFill>
                  <a:srgbClr val="98989F"/>
                </a:solidFill>
                <a:latin typeface="Helvetica Neue"/>
                <a:ea typeface="Helvetica Neue"/>
                <a:cs typeface="Helvetica Neue"/>
                <a:hlinkClick xmlns:r="http://schemas.openxmlformats.org/officeDocument/2006/relationships" r:id="R198533f74a1e4d9f"/>
              </a:rPr>
              <a:t>Источник: NLTK Book, гл. 2</a:t>
            </a:r>
          </a:p>
        </p:txBody>
      </p:sp>
    </p:spTree>
    <p:extLst>
      <p:ext uri="{BB962C8B-B14F-4D97-AF65-F5344CB8AC3E}">
        <p14:creationId xmlns:p14="http://schemas.microsoft.com/office/powerpoint/2010/main" val="32046490"/>
      </p:ext>
    </p:extLst>
  </p:cSld>
</p:sld>
</file>

<file path=ppt/slides/slide2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5" name="text-0">
            <a:extLst xmlns:a="http://schemas.openxmlformats.org/drawingml/2006/main">
              <a:ext uri="{FF2B5EF4-FFF2-40B4-BE49-F238E27FC236}">
                <a16:creationId xmlns:a16="http://schemas.microsoft.com/office/drawing/2014/main" id="{F1907EEE-096E-4C28-829F-F2C980BA7603}"/>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98989F"/>
                </a:solidFill>
                <a:latin typeface="Helvetica Neue"/>
                <a:ea typeface="Helvetica Neue"/>
                <a:cs typeface="Helvetica Neue"/>
              </a:defRPr>
            </a:defPPr>
            <a:lvl1pPr algn="l">
              <a:buNone/>
              <a:defRPr sz="1425" b="0">
                <a:solidFill>
                  <a:srgbClr val="98989F"/>
                </a:solidFill>
                <a:latin typeface="Helvetica Neue"/>
                <a:ea typeface="Helvetica Neue"/>
                <a:cs typeface="Helvetica Neue"/>
              </a:defRPr>
            </a:lvl1pPr>
            <a:lvl2pPr algn="l">
              <a:buNone/>
              <a:defRPr sz="1425" b="0">
                <a:solidFill>
                  <a:srgbClr val="98989F"/>
                </a:solidFill>
                <a:latin typeface="Helvetica Neue"/>
                <a:ea typeface="Helvetica Neue"/>
                <a:cs typeface="Helvetica Neue"/>
              </a:defRPr>
            </a:lvl2pPr>
            <a:lvl3pPr algn="l">
              <a:buNone/>
              <a:defRPr sz="1425" b="0">
                <a:solidFill>
                  <a:srgbClr val="98989F"/>
                </a:solidFill>
                <a:latin typeface="Helvetica Neue"/>
                <a:ea typeface="Helvetica Neue"/>
                <a:cs typeface="Helvetica Neue"/>
              </a:defRPr>
            </a:lvl3pPr>
            <a:lvl4pPr algn="l">
              <a:buNone/>
              <a:defRPr sz="1425" b="0">
                <a:solidFill>
                  <a:srgbClr val="98989F"/>
                </a:solidFill>
                <a:latin typeface="Helvetica Neue"/>
                <a:ea typeface="Helvetica Neue"/>
                <a:cs typeface="Helvetica Neue"/>
              </a:defRPr>
            </a:lvl4pPr>
            <a:lvl5pPr algn="l">
              <a:buNone/>
              <a:defRPr sz="1425" b="0">
                <a:solidFill>
                  <a:srgbClr val="98989F"/>
                </a:solidFill>
                <a:latin typeface="Helvetica Neue"/>
                <a:ea typeface="Helvetica Neue"/>
                <a:cs typeface="Helvetica Neue"/>
              </a:defRPr>
            </a:lvl5pPr>
            <a:lvl6pPr algn="l">
              <a:buNone/>
              <a:defRPr sz="1425" b="0">
                <a:solidFill>
                  <a:srgbClr val="98989F"/>
                </a:solidFill>
                <a:latin typeface="Helvetica Neue"/>
                <a:ea typeface="Helvetica Neue"/>
                <a:cs typeface="Helvetica Neue"/>
              </a:defRPr>
            </a:lvl6pPr>
            <a:lvl7pPr algn="l">
              <a:buNone/>
              <a:defRPr sz="1425" b="0">
                <a:solidFill>
                  <a:srgbClr val="98989F"/>
                </a:solidFill>
                <a:latin typeface="Helvetica Neue"/>
                <a:ea typeface="Helvetica Neue"/>
                <a:cs typeface="Helvetica Neue"/>
              </a:defRPr>
            </a:lvl7pPr>
            <a:lvl8pPr algn="l">
              <a:buNone/>
              <a:defRPr sz="1425" b="0">
                <a:solidFill>
                  <a:srgbClr val="98989F"/>
                </a:solidFill>
                <a:latin typeface="Helvetica Neue"/>
                <a:ea typeface="Helvetica Neue"/>
                <a:cs typeface="Helvetica Neue"/>
              </a:defRPr>
            </a:lvl8pPr>
            <a:lvl9pPr algn="l">
              <a:buNone/>
              <a:defRPr sz="1425" b="0">
                <a:solidFill>
                  <a:srgbClr val="98989F"/>
                </a:solidFill>
                <a:latin typeface="Helvetica Neue"/>
                <a:ea typeface="Helvetica Neue"/>
                <a:cs typeface="Helvetica Neue"/>
              </a:defRPr>
            </a:lvl9pPr>
          </a:lstStyle>
          <a:p xmlns:a="http://schemas.openxmlformats.org/drawingml/2006/main">
            <a:pPr algn="l">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text-1">
            <a:extLst xmlns:a="http://schemas.openxmlformats.org/drawingml/2006/main">
              <a:ext uri="{FF2B5EF4-FFF2-40B4-BE49-F238E27FC236}">
                <a16:creationId xmlns:a16="http://schemas.microsoft.com/office/drawing/2014/main" id="{2BB2BEA1-6040-4030-A62B-DCD9A0C22DB7}"/>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20</a:t>
            </a:r>
          </a:p>
        </p:txBody>
      </p:sp>
      <p:sp>
        <p:nvSpPr>
          <p:cNvPr id="3" name="">
            <a:extLst xmlns:a="http://schemas.openxmlformats.org/drawingml/2006/main">
              <a:ext uri="{FF2B5EF4-FFF2-40B4-BE49-F238E27FC236}">
                <a16:creationId xmlns:a16="http://schemas.microsoft.com/office/drawing/2014/main" id="{380EF481-AFDE-4252-B49B-B9C4DB5AD246}"/>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prstDash val="solid"/>
          </a:ln>
        </p:spPr>
      </p:sp>
      <p:sp>
        <p:nvSpPr>
          <p:cNvPr id="4" name="text-3">
            <a:extLst xmlns:a="http://schemas.openxmlformats.org/drawingml/2006/main">
              <a:ext uri="{FF2B5EF4-FFF2-40B4-BE49-F238E27FC236}">
                <a16:creationId xmlns:a16="http://schemas.microsoft.com/office/drawing/2014/main" id="{AEC02416-D9A2-4DE6-86D5-8963510817CE}"/>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5F7"/>
                </a:solidFill>
                <a:latin typeface="Helvetica Neue"/>
                <a:ea typeface="Helvetica Neue"/>
                <a:cs typeface="Helvetica Neue"/>
              </a:defRPr>
            </a:defPPr>
            <a:lvl1pPr algn="l">
              <a:buNone/>
              <a:defRPr sz="3450" b="1">
                <a:solidFill>
                  <a:srgbClr val="F5F5F7"/>
                </a:solidFill>
                <a:latin typeface="Helvetica Neue"/>
                <a:ea typeface="Helvetica Neue"/>
                <a:cs typeface="Helvetica Neue"/>
              </a:defRPr>
            </a:lvl1pPr>
            <a:lvl2pPr algn="l">
              <a:buNone/>
              <a:defRPr sz="3450" b="1">
                <a:solidFill>
                  <a:srgbClr val="F5F5F7"/>
                </a:solidFill>
                <a:latin typeface="Helvetica Neue"/>
                <a:ea typeface="Helvetica Neue"/>
                <a:cs typeface="Helvetica Neue"/>
              </a:defRPr>
            </a:lvl2pPr>
            <a:lvl3pPr algn="l">
              <a:buNone/>
              <a:defRPr sz="3450" b="1">
                <a:solidFill>
                  <a:srgbClr val="F5F5F7"/>
                </a:solidFill>
                <a:latin typeface="Helvetica Neue"/>
                <a:ea typeface="Helvetica Neue"/>
                <a:cs typeface="Helvetica Neue"/>
              </a:defRPr>
            </a:lvl3pPr>
            <a:lvl4pPr algn="l">
              <a:buNone/>
              <a:defRPr sz="3450" b="1">
                <a:solidFill>
                  <a:srgbClr val="F5F5F7"/>
                </a:solidFill>
                <a:latin typeface="Helvetica Neue"/>
                <a:ea typeface="Helvetica Neue"/>
                <a:cs typeface="Helvetica Neue"/>
              </a:defRPr>
            </a:lvl4pPr>
            <a:lvl5pPr algn="l">
              <a:buNone/>
              <a:defRPr sz="3450" b="1">
                <a:solidFill>
                  <a:srgbClr val="F5F5F7"/>
                </a:solidFill>
                <a:latin typeface="Helvetica Neue"/>
                <a:ea typeface="Helvetica Neue"/>
                <a:cs typeface="Helvetica Neue"/>
              </a:defRPr>
            </a:lvl5pPr>
            <a:lvl6pPr algn="l">
              <a:buNone/>
              <a:defRPr sz="3450" b="1">
                <a:solidFill>
                  <a:srgbClr val="F5F5F7"/>
                </a:solidFill>
                <a:latin typeface="Helvetica Neue"/>
                <a:ea typeface="Helvetica Neue"/>
                <a:cs typeface="Helvetica Neue"/>
              </a:defRPr>
            </a:lvl6pPr>
            <a:lvl7pPr algn="l">
              <a:buNone/>
              <a:defRPr sz="3450" b="1">
                <a:solidFill>
                  <a:srgbClr val="F5F5F7"/>
                </a:solidFill>
                <a:latin typeface="Helvetica Neue"/>
                <a:ea typeface="Helvetica Neue"/>
                <a:cs typeface="Helvetica Neue"/>
              </a:defRPr>
            </a:lvl7pPr>
            <a:lvl8pPr algn="l">
              <a:buNone/>
              <a:defRPr sz="3450" b="1">
                <a:solidFill>
                  <a:srgbClr val="F5F5F7"/>
                </a:solidFill>
                <a:latin typeface="Helvetica Neue"/>
                <a:ea typeface="Helvetica Neue"/>
                <a:cs typeface="Helvetica Neue"/>
              </a:defRPr>
            </a:lvl8pPr>
            <a:lvl9pPr algn="l">
              <a:buNone/>
              <a:defRPr sz="3450" b="1">
                <a:solidFill>
                  <a:srgbClr val="F5F5F7"/>
                </a:solidFill>
                <a:latin typeface="Helvetica Neue"/>
                <a:ea typeface="Helvetica Neue"/>
                <a:cs typeface="Helvetica Neue"/>
              </a:defRPr>
            </a:lvl9pPr>
          </a:lstStyle>
          <a:p xmlns:a="http://schemas.openxmlformats.org/drawingml/2006/main">
            <a:pPr algn="l">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Data collection</a:t>
            </a:r>
          </a:p>
        </p:txBody>
      </p:sp>
      <p:sp>
        <p:nvSpPr>
          <p:cNvPr id="16" name="ysda-4">
            <a:extLst xmlns:a="http://schemas.openxmlformats.org/drawingml/2006/main">
              <a:ext uri="{FF2B5EF4-FFF2-40B4-BE49-F238E27FC236}">
                <a16:creationId xmlns:a16="http://schemas.microsoft.com/office/drawing/2014/main" id="{56642616-F73E-4BB5-9D95-74D70BBB5F22}"/>
              </a:ext>
            </a:extLst>
          </p:cNvPr>
          <p:cNvSpPr>
            <a:spLocks xmlns:a="http://schemas.openxmlformats.org/drawingml/2006/main" noGrp="1"/>
          </p:cNvSpPr>
          <p:nvPr/>
        </p:nvSpPr>
        <p:spPr>
          <a:xfrm xmlns:a="http://schemas.openxmlformats.org/drawingml/2006/main">
            <a:off x="685800" y="20478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Выбор источника</a:t>
            </a:r>
          </a:p>
        </p:txBody>
      </p:sp>
      <p:sp>
        <p:nvSpPr>
          <p:cNvPr id="17" name="ysda-5">
            <a:extLst xmlns:a="http://schemas.openxmlformats.org/drawingml/2006/main">
              <a:ext uri="{FF2B5EF4-FFF2-40B4-BE49-F238E27FC236}">
                <a16:creationId xmlns:a16="http://schemas.microsoft.com/office/drawing/2014/main" id="{408F1FEA-3491-4273-A565-E3CBACC431C3}"/>
              </a:ext>
            </a:extLst>
          </p:cNvPr>
          <p:cNvSpPr>
            <a:spLocks xmlns:a="http://schemas.openxmlformats.org/drawingml/2006/main" noGrp="1"/>
          </p:cNvSpPr>
          <p:nvPr/>
        </p:nvSpPr>
        <p:spPr>
          <a:xfrm xmlns:a="http://schemas.openxmlformats.org/drawingml/2006/main">
            <a:off x="685800" y="2514600"/>
            <a:ext cx="108204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Data collection начинается с определения будущего потока данных: кто пишет тексты, на каком языке, в каком жанре и с какой длиной. Источниками могут быть открытые corpora, разрешённые выгрузки из продукта, публичные документы или специально собранные примеры. Доступность коллекции ещё не означает, что она соответствует целевой задаче.</a:t>
            </a:r>
          </a:p>
        </p:txBody>
      </p:sp>
      <p:sp>
        <p:nvSpPr>
          <p:cNvPr id="18" name="ysda-6">
            <a:extLst xmlns:a="http://schemas.openxmlformats.org/drawingml/2006/main">
              <a:ext uri="{FF2B5EF4-FFF2-40B4-BE49-F238E27FC236}">
                <a16:creationId xmlns:a16="http://schemas.microsoft.com/office/drawing/2014/main" id="{851AAB60-7257-4FA2-B1E1-571A167337E9}"/>
              </a:ext>
            </a:extLst>
          </p:cNvPr>
          <p:cNvSpPr>
            <a:spLocks xmlns:a="http://schemas.openxmlformats.org/drawingml/2006/main" noGrp="1"/>
          </p:cNvSpPr>
          <p:nvPr/>
        </p:nvSpPr>
        <p:spPr>
          <a:xfrm xmlns:a="http://schemas.openxmlformats.org/drawingml/2006/main">
            <a:off x="685800" y="4229100"/>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Состав и происхождение примеров</a:t>
            </a:r>
          </a:p>
        </p:txBody>
      </p:sp>
      <p:sp>
        <p:nvSpPr>
          <p:cNvPr id="19" name="ysda-7">
            <a:extLst xmlns:a="http://schemas.openxmlformats.org/drawingml/2006/main">
              <a:ext uri="{FF2B5EF4-FFF2-40B4-BE49-F238E27FC236}">
                <a16:creationId xmlns:a16="http://schemas.microsoft.com/office/drawing/2014/main" id="{05233F4A-056C-47A0-B691-5777BD4EE47C}"/>
              </a:ext>
            </a:extLst>
          </p:cNvPr>
          <p:cNvSpPr>
            <a:spLocks xmlns:a="http://schemas.openxmlformats.org/drawingml/2006/main" noGrp="1"/>
          </p:cNvSpPr>
          <p:nvPr/>
        </p:nvSpPr>
        <p:spPr>
          <a:xfrm xmlns:a="http://schemas.openxmlformats.org/drawingml/2006/main">
            <a:off x="685800" y="4695825"/>
            <a:ext cx="10820400" cy="1914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Для каждого документа полезно сохранять source, время, идентификатор автора или объекта и связь с другими документами. Эти поля помогают удалять дубликаты и строить group split или time-based split. Учитываются лицензии, разрешения на использование и наличие персональных данных. Ошибки encoding, пустые тексты и перекосы состава проверяют до annotation и обучения.</a:t>
            </a:r>
          </a:p>
        </p:txBody>
      </p:sp>
    </p:spTree>
    <p:extLst>
      <p:ext uri="{BB962C8B-B14F-4D97-AF65-F5344CB8AC3E}">
        <p14:creationId xmlns:p14="http://schemas.microsoft.com/office/powerpoint/2010/main" val="2060421391"/>
      </p:ext>
    </p:extLst>
  </p:cSld>
</p:sld>
</file>

<file path=ppt/slides/slide2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5" name="text-0">
            <a:extLst xmlns:a="http://schemas.openxmlformats.org/drawingml/2006/main">
              <a:ext uri="{FF2B5EF4-FFF2-40B4-BE49-F238E27FC236}">
                <a16:creationId xmlns:a16="http://schemas.microsoft.com/office/drawing/2014/main" id="{6175D380-6C74-4F4D-B58B-AA91F1B0E839}"/>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98989F"/>
                </a:solidFill>
                <a:latin typeface="Helvetica Neue"/>
                <a:ea typeface="Helvetica Neue"/>
                <a:cs typeface="Helvetica Neue"/>
              </a:defRPr>
            </a:defPPr>
            <a:lvl1pPr algn="l">
              <a:buNone/>
              <a:defRPr sz="1425" b="0">
                <a:solidFill>
                  <a:srgbClr val="98989F"/>
                </a:solidFill>
                <a:latin typeface="Helvetica Neue"/>
                <a:ea typeface="Helvetica Neue"/>
                <a:cs typeface="Helvetica Neue"/>
              </a:defRPr>
            </a:lvl1pPr>
            <a:lvl2pPr algn="l">
              <a:buNone/>
              <a:defRPr sz="1425" b="0">
                <a:solidFill>
                  <a:srgbClr val="98989F"/>
                </a:solidFill>
                <a:latin typeface="Helvetica Neue"/>
                <a:ea typeface="Helvetica Neue"/>
                <a:cs typeface="Helvetica Neue"/>
              </a:defRPr>
            </a:lvl2pPr>
            <a:lvl3pPr algn="l">
              <a:buNone/>
              <a:defRPr sz="1425" b="0">
                <a:solidFill>
                  <a:srgbClr val="98989F"/>
                </a:solidFill>
                <a:latin typeface="Helvetica Neue"/>
                <a:ea typeface="Helvetica Neue"/>
                <a:cs typeface="Helvetica Neue"/>
              </a:defRPr>
            </a:lvl3pPr>
            <a:lvl4pPr algn="l">
              <a:buNone/>
              <a:defRPr sz="1425" b="0">
                <a:solidFill>
                  <a:srgbClr val="98989F"/>
                </a:solidFill>
                <a:latin typeface="Helvetica Neue"/>
                <a:ea typeface="Helvetica Neue"/>
                <a:cs typeface="Helvetica Neue"/>
              </a:defRPr>
            </a:lvl4pPr>
            <a:lvl5pPr algn="l">
              <a:buNone/>
              <a:defRPr sz="1425" b="0">
                <a:solidFill>
                  <a:srgbClr val="98989F"/>
                </a:solidFill>
                <a:latin typeface="Helvetica Neue"/>
                <a:ea typeface="Helvetica Neue"/>
                <a:cs typeface="Helvetica Neue"/>
              </a:defRPr>
            </a:lvl5pPr>
            <a:lvl6pPr algn="l">
              <a:buNone/>
              <a:defRPr sz="1425" b="0">
                <a:solidFill>
                  <a:srgbClr val="98989F"/>
                </a:solidFill>
                <a:latin typeface="Helvetica Neue"/>
                <a:ea typeface="Helvetica Neue"/>
                <a:cs typeface="Helvetica Neue"/>
              </a:defRPr>
            </a:lvl6pPr>
            <a:lvl7pPr algn="l">
              <a:buNone/>
              <a:defRPr sz="1425" b="0">
                <a:solidFill>
                  <a:srgbClr val="98989F"/>
                </a:solidFill>
                <a:latin typeface="Helvetica Neue"/>
                <a:ea typeface="Helvetica Neue"/>
                <a:cs typeface="Helvetica Neue"/>
              </a:defRPr>
            </a:lvl7pPr>
            <a:lvl8pPr algn="l">
              <a:buNone/>
              <a:defRPr sz="1425" b="0">
                <a:solidFill>
                  <a:srgbClr val="98989F"/>
                </a:solidFill>
                <a:latin typeface="Helvetica Neue"/>
                <a:ea typeface="Helvetica Neue"/>
                <a:cs typeface="Helvetica Neue"/>
              </a:defRPr>
            </a:lvl8pPr>
            <a:lvl9pPr algn="l">
              <a:buNone/>
              <a:defRPr sz="1425" b="0">
                <a:solidFill>
                  <a:srgbClr val="98989F"/>
                </a:solidFill>
                <a:latin typeface="Helvetica Neue"/>
                <a:ea typeface="Helvetica Neue"/>
                <a:cs typeface="Helvetica Neue"/>
              </a:defRPr>
            </a:lvl9pPr>
          </a:lstStyle>
          <a:p xmlns:a="http://schemas.openxmlformats.org/drawingml/2006/main">
            <a:pPr algn="l">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text-1">
            <a:extLst xmlns:a="http://schemas.openxmlformats.org/drawingml/2006/main">
              <a:ext uri="{FF2B5EF4-FFF2-40B4-BE49-F238E27FC236}">
                <a16:creationId xmlns:a16="http://schemas.microsoft.com/office/drawing/2014/main" id="{839F1651-D230-4D59-8F03-7D7F4A863F78}"/>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21</a:t>
            </a:r>
          </a:p>
        </p:txBody>
      </p:sp>
      <p:sp>
        <p:nvSpPr>
          <p:cNvPr id="3" name="">
            <a:extLst xmlns:a="http://schemas.openxmlformats.org/drawingml/2006/main">
              <a:ext uri="{FF2B5EF4-FFF2-40B4-BE49-F238E27FC236}">
                <a16:creationId xmlns:a16="http://schemas.microsoft.com/office/drawing/2014/main" id="{2B679AD7-5A69-4DA7-8A36-36AB42D0EC60}"/>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prstDash val="solid"/>
          </a:ln>
        </p:spPr>
      </p:sp>
      <p:sp>
        <p:nvSpPr>
          <p:cNvPr id="4" name="text-3">
            <a:extLst xmlns:a="http://schemas.openxmlformats.org/drawingml/2006/main">
              <a:ext uri="{FF2B5EF4-FFF2-40B4-BE49-F238E27FC236}">
                <a16:creationId xmlns:a16="http://schemas.microsoft.com/office/drawing/2014/main" id="{E3D40F5B-D6CA-4CE6-8B8A-53CF9CCF10AA}"/>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5F7"/>
                </a:solidFill>
                <a:latin typeface="Helvetica Neue"/>
                <a:ea typeface="Helvetica Neue"/>
                <a:cs typeface="Helvetica Neue"/>
              </a:defRPr>
            </a:defPPr>
            <a:lvl1pPr algn="l">
              <a:buNone/>
              <a:defRPr sz="3450" b="1">
                <a:solidFill>
                  <a:srgbClr val="F5F5F7"/>
                </a:solidFill>
                <a:latin typeface="Helvetica Neue"/>
                <a:ea typeface="Helvetica Neue"/>
                <a:cs typeface="Helvetica Neue"/>
              </a:defRPr>
            </a:lvl1pPr>
            <a:lvl2pPr algn="l">
              <a:buNone/>
              <a:defRPr sz="3450" b="1">
                <a:solidFill>
                  <a:srgbClr val="F5F5F7"/>
                </a:solidFill>
                <a:latin typeface="Helvetica Neue"/>
                <a:ea typeface="Helvetica Neue"/>
                <a:cs typeface="Helvetica Neue"/>
              </a:defRPr>
            </a:lvl2pPr>
            <a:lvl3pPr algn="l">
              <a:buNone/>
              <a:defRPr sz="3450" b="1">
                <a:solidFill>
                  <a:srgbClr val="F5F5F7"/>
                </a:solidFill>
                <a:latin typeface="Helvetica Neue"/>
                <a:ea typeface="Helvetica Neue"/>
                <a:cs typeface="Helvetica Neue"/>
              </a:defRPr>
            </a:lvl3pPr>
            <a:lvl4pPr algn="l">
              <a:buNone/>
              <a:defRPr sz="3450" b="1">
                <a:solidFill>
                  <a:srgbClr val="F5F5F7"/>
                </a:solidFill>
                <a:latin typeface="Helvetica Neue"/>
                <a:ea typeface="Helvetica Neue"/>
                <a:cs typeface="Helvetica Neue"/>
              </a:defRPr>
            </a:lvl4pPr>
            <a:lvl5pPr algn="l">
              <a:buNone/>
              <a:defRPr sz="3450" b="1">
                <a:solidFill>
                  <a:srgbClr val="F5F5F7"/>
                </a:solidFill>
                <a:latin typeface="Helvetica Neue"/>
                <a:ea typeface="Helvetica Neue"/>
                <a:cs typeface="Helvetica Neue"/>
              </a:defRPr>
            </a:lvl5pPr>
            <a:lvl6pPr algn="l">
              <a:buNone/>
              <a:defRPr sz="3450" b="1">
                <a:solidFill>
                  <a:srgbClr val="F5F5F7"/>
                </a:solidFill>
                <a:latin typeface="Helvetica Neue"/>
                <a:ea typeface="Helvetica Neue"/>
                <a:cs typeface="Helvetica Neue"/>
              </a:defRPr>
            </a:lvl6pPr>
            <a:lvl7pPr algn="l">
              <a:buNone/>
              <a:defRPr sz="3450" b="1">
                <a:solidFill>
                  <a:srgbClr val="F5F5F7"/>
                </a:solidFill>
                <a:latin typeface="Helvetica Neue"/>
                <a:ea typeface="Helvetica Neue"/>
                <a:cs typeface="Helvetica Neue"/>
              </a:defRPr>
            </a:lvl7pPr>
            <a:lvl8pPr algn="l">
              <a:buNone/>
              <a:defRPr sz="3450" b="1">
                <a:solidFill>
                  <a:srgbClr val="F5F5F7"/>
                </a:solidFill>
                <a:latin typeface="Helvetica Neue"/>
                <a:ea typeface="Helvetica Neue"/>
                <a:cs typeface="Helvetica Neue"/>
              </a:defRPr>
            </a:lvl8pPr>
            <a:lvl9pPr algn="l">
              <a:buNone/>
              <a:defRPr sz="3450" b="1">
                <a:solidFill>
                  <a:srgbClr val="F5F5F7"/>
                </a:solidFill>
                <a:latin typeface="Helvetica Neue"/>
                <a:ea typeface="Helvetica Neue"/>
                <a:cs typeface="Helvetica Neue"/>
              </a:defRPr>
            </a:lvl9pPr>
          </a:lstStyle>
          <a:p xmlns:a="http://schemas.openxmlformats.org/drawingml/2006/main">
            <a:pPr algn="l">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Annotation guidelines</a:t>
            </a:r>
          </a:p>
        </p:txBody>
      </p:sp>
      <p:sp>
        <p:nvSpPr>
          <p:cNvPr id="16" name="theory-4">
            <a:extLst xmlns:a="http://schemas.openxmlformats.org/drawingml/2006/main">
              <a:ext uri="{FF2B5EF4-FFF2-40B4-BE49-F238E27FC236}">
                <a16:creationId xmlns:a16="http://schemas.microsoft.com/office/drawing/2014/main" id="{9F681269-AA55-4D89-82A4-AE47E2A80092}"/>
              </a:ext>
            </a:extLst>
          </p:cNvPr>
          <p:cNvSpPr>
            <a:spLocks xmlns:a="http://schemas.openxmlformats.org/drawingml/2006/main" noGrp="1"/>
          </p:cNvSpPr>
          <p:nvPr/>
        </p:nvSpPr>
        <p:spPr>
          <a:xfrm xmlns:a="http://schemas.openxmlformats.org/drawingml/2006/main">
            <a:off x="685800" y="20478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buNone/>
              <a:defRPr sz="1950" b="1">
                <a:solidFill>
                  <a:srgbClr val="BD9FE3"/>
                </a:solidFill>
                <a:latin typeface="Helvetica Neue"/>
                <a:ea typeface="Helvetica Neue"/>
                <a:cs typeface="Helvetica Neue"/>
              </a:defRPr>
            </a:lvl1pPr>
            <a:lvl2pPr>
              <a:buNone/>
              <a:defRPr sz="1950" b="1">
                <a:solidFill>
                  <a:srgbClr val="BD9FE3"/>
                </a:solidFill>
                <a:latin typeface="Helvetica Neue"/>
                <a:ea typeface="Helvetica Neue"/>
                <a:cs typeface="Helvetica Neue"/>
              </a:defRPr>
            </a:lvl2pPr>
            <a:lvl3pPr>
              <a:buNone/>
              <a:defRPr sz="1950" b="1">
                <a:solidFill>
                  <a:srgbClr val="BD9FE3"/>
                </a:solidFill>
                <a:latin typeface="Helvetica Neue"/>
                <a:ea typeface="Helvetica Neue"/>
                <a:cs typeface="Helvetica Neue"/>
              </a:defRPr>
            </a:lvl3pPr>
            <a:lvl4pPr>
              <a:buNone/>
              <a:defRPr sz="1950" b="1">
                <a:solidFill>
                  <a:srgbClr val="BD9FE3"/>
                </a:solidFill>
                <a:latin typeface="Helvetica Neue"/>
                <a:ea typeface="Helvetica Neue"/>
                <a:cs typeface="Helvetica Neue"/>
              </a:defRPr>
            </a:lvl4pPr>
            <a:lvl5pPr>
              <a:buNone/>
              <a:defRPr sz="1950" b="1">
                <a:solidFill>
                  <a:srgbClr val="BD9FE3"/>
                </a:solidFill>
                <a:latin typeface="Helvetica Neue"/>
                <a:ea typeface="Helvetica Neue"/>
                <a:cs typeface="Helvetica Neue"/>
              </a:defRPr>
            </a:lvl5pPr>
            <a:lvl6pPr>
              <a:buNone/>
              <a:defRPr sz="1950" b="1">
                <a:solidFill>
                  <a:srgbClr val="BD9FE3"/>
                </a:solidFill>
                <a:latin typeface="Helvetica Neue"/>
                <a:ea typeface="Helvetica Neue"/>
                <a:cs typeface="Helvetica Neue"/>
              </a:defRPr>
            </a:lvl6pPr>
            <a:lvl7pPr>
              <a:buNone/>
              <a:defRPr sz="1950" b="1">
                <a:solidFill>
                  <a:srgbClr val="BD9FE3"/>
                </a:solidFill>
                <a:latin typeface="Helvetica Neue"/>
                <a:ea typeface="Helvetica Neue"/>
                <a:cs typeface="Helvetica Neue"/>
              </a:defRPr>
            </a:lvl7pPr>
            <a:lvl8pPr>
              <a:buNone/>
              <a:defRPr sz="1950" b="1">
                <a:solidFill>
                  <a:srgbClr val="BD9FE3"/>
                </a:solidFill>
                <a:latin typeface="Helvetica Neue"/>
                <a:ea typeface="Helvetica Neue"/>
                <a:cs typeface="Helvetica Neue"/>
              </a:defRPr>
            </a:lvl8pPr>
            <a:lvl9pPr>
              <a:buNone/>
              <a:defRPr sz="1950" b="1">
                <a:solidFill>
                  <a:srgbClr val="BD9FE3"/>
                </a:solidFill>
                <a:latin typeface="Helvetica Neue"/>
                <a:ea typeface="Helvetica Neue"/>
                <a:cs typeface="Helvetica Neue"/>
              </a:defRPr>
            </a:lvl9pPr>
          </a:lstStyle>
          <a:p xmlns:a="http://schemas.openxmlformats.org/drawingml/2006/main">
            <a:pPr>
              <a:buNone/>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Определение классов</a:t>
            </a:r>
          </a:p>
        </p:txBody>
      </p:sp>
      <p:sp>
        <p:nvSpPr>
          <p:cNvPr id="17" name="theory-5">
            <a:extLst xmlns:a="http://schemas.openxmlformats.org/drawingml/2006/main">
              <a:ext uri="{FF2B5EF4-FFF2-40B4-BE49-F238E27FC236}">
                <a16:creationId xmlns:a16="http://schemas.microsoft.com/office/drawing/2014/main" id="{93013D6B-09A1-4E50-979A-300396F5BA2A}"/>
              </a:ext>
            </a:extLst>
          </p:cNvPr>
          <p:cNvSpPr>
            <a:spLocks xmlns:a="http://schemas.openxmlformats.org/drawingml/2006/main" noGrp="1"/>
          </p:cNvSpPr>
          <p:nvPr/>
        </p:nvSpPr>
        <p:spPr>
          <a:xfrm xmlns:a="http://schemas.openxmlformats.org/drawingml/2006/main">
            <a:off x="685800" y="2514600"/>
            <a:ext cx="108204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buNone/>
              <a:defRPr sz="2025" b="0">
                <a:solidFill>
                  <a:srgbClr val="CDCDD3"/>
                </a:solidFill>
                <a:latin typeface="Helvetica Neue"/>
                <a:ea typeface="Helvetica Neue"/>
                <a:cs typeface="Helvetica Neue"/>
              </a:defRPr>
            </a:lvl1pPr>
            <a:lvl2pPr>
              <a:buNone/>
              <a:defRPr sz="2025" b="0">
                <a:solidFill>
                  <a:srgbClr val="CDCDD3"/>
                </a:solidFill>
                <a:latin typeface="Helvetica Neue"/>
                <a:ea typeface="Helvetica Neue"/>
                <a:cs typeface="Helvetica Neue"/>
              </a:defRPr>
            </a:lvl2pPr>
            <a:lvl3pPr>
              <a:buNone/>
              <a:defRPr sz="2025" b="0">
                <a:solidFill>
                  <a:srgbClr val="CDCDD3"/>
                </a:solidFill>
                <a:latin typeface="Helvetica Neue"/>
                <a:ea typeface="Helvetica Neue"/>
                <a:cs typeface="Helvetica Neue"/>
              </a:defRPr>
            </a:lvl3pPr>
            <a:lvl4pPr>
              <a:buNone/>
              <a:defRPr sz="2025" b="0">
                <a:solidFill>
                  <a:srgbClr val="CDCDD3"/>
                </a:solidFill>
                <a:latin typeface="Helvetica Neue"/>
                <a:ea typeface="Helvetica Neue"/>
                <a:cs typeface="Helvetica Neue"/>
              </a:defRPr>
            </a:lvl4pPr>
            <a:lvl5pPr>
              <a:buNone/>
              <a:defRPr sz="2025" b="0">
                <a:solidFill>
                  <a:srgbClr val="CDCDD3"/>
                </a:solidFill>
                <a:latin typeface="Helvetica Neue"/>
                <a:ea typeface="Helvetica Neue"/>
                <a:cs typeface="Helvetica Neue"/>
              </a:defRPr>
            </a:lvl5pPr>
            <a:lvl6pPr>
              <a:buNone/>
              <a:defRPr sz="2025" b="0">
                <a:solidFill>
                  <a:srgbClr val="CDCDD3"/>
                </a:solidFill>
                <a:latin typeface="Helvetica Neue"/>
                <a:ea typeface="Helvetica Neue"/>
                <a:cs typeface="Helvetica Neue"/>
              </a:defRPr>
            </a:lvl6pPr>
            <a:lvl7pPr>
              <a:buNone/>
              <a:defRPr sz="2025" b="0">
                <a:solidFill>
                  <a:srgbClr val="CDCDD3"/>
                </a:solidFill>
                <a:latin typeface="Helvetica Neue"/>
                <a:ea typeface="Helvetica Neue"/>
                <a:cs typeface="Helvetica Neue"/>
              </a:defRPr>
            </a:lvl7pPr>
            <a:lvl8pPr>
              <a:buNone/>
              <a:defRPr sz="2025" b="0">
                <a:solidFill>
                  <a:srgbClr val="CDCDD3"/>
                </a:solidFill>
                <a:latin typeface="Helvetica Neue"/>
                <a:ea typeface="Helvetica Neue"/>
                <a:cs typeface="Helvetica Neue"/>
              </a:defRPr>
            </a:lvl8pPr>
            <a:lvl9pPr>
              <a:buNone/>
              <a:defRPr sz="2025" b="0">
                <a:solidFill>
                  <a:srgbClr val="CDCDD3"/>
                </a:solidFill>
                <a:latin typeface="Helvetica Neue"/>
                <a:ea typeface="Helvetica Neue"/>
                <a:cs typeface="Helvetica Neue"/>
              </a:defRPr>
            </a:lvl9pPr>
          </a:lstStyle>
          <a:p xmlns:a="http://schemas.openxmlformats.org/drawingml/2006/main">
            <a:pPr>
              <a:buNone/>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Инструкция должна описывать единицу анализа, значения меток и правила выбора ответа. Для тональности необходимо определить объект оценки и обработку смешанных случаев. Рейтинг, поставленный пользователем, может служить источником метки, но его соответствие содержанию текста требует проверки. Пограничные случаи лучше пояснять конкретными примерами.</a:t>
            </a:r>
          </a:p>
        </p:txBody>
      </p:sp>
      <p:sp>
        <p:nvSpPr>
          <p:cNvPr id="18" name="theory-6">
            <a:extLst xmlns:a="http://schemas.openxmlformats.org/drawingml/2006/main">
              <a:ext uri="{FF2B5EF4-FFF2-40B4-BE49-F238E27FC236}">
                <a16:creationId xmlns:a16="http://schemas.microsoft.com/office/drawing/2014/main" id="{7A1FBF29-632C-498A-B0BE-69597A5E22AD}"/>
              </a:ext>
            </a:extLst>
          </p:cNvPr>
          <p:cNvSpPr>
            <a:spLocks xmlns:a="http://schemas.openxmlformats.org/drawingml/2006/main" noGrp="1"/>
          </p:cNvSpPr>
          <p:nvPr/>
        </p:nvSpPr>
        <p:spPr>
          <a:xfrm xmlns:a="http://schemas.openxmlformats.org/drawingml/2006/main">
            <a:off x="685800" y="4229100"/>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buNone/>
              <a:defRPr sz="1950" b="1">
                <a:solidFill>
                  <a:srgbClr val="BD9FE3"/>
                </a:solidFill>
                <a:latin typeface="Helvetica Neue"/>
                <a:ea typeface="Helvetica Neue"/>
                <a:cs typeface="Helvetica Neue"/>
              </a:defRPr>
            </a:lvl1pPr>
            <a:lvl2pPr>
              <a:buNone/>
              <a:defRPr sz="1950" b="1">
                <a:solidFill>
                  <a:srgbClr val="BD9FE3"/>
                </a:solidFill>
                <a:latin typeface="Helvetica Neue"/>
                <a:ea typeface="Helvetica Neue"/>
                <a:cs typeface="Helvetica Neue"/>
              </a:defRPr>
            </a:lvl2pPr>
            <a:lvl3pPr>
              <a:buNone/>
              <a:defRPr sz="1950" b="1">
                <a:solidFill>
                  <a:srgbClr val="BD9FE3"/>
                </a:solidFill>
                <a:latin typeface="Helvetica Neue"/>
                <a:ea typeface="Helvetica Neue"/>
                <a:cs typeface="Helvetica Neue"/>
              </a:defRPr>
            </a:lvl3pPr>
            <a:lvl4pPr>
              <a:buNone/>
              <a:defRPr sz="1950" b="1">
                <a:solidFill>
                  <a:srgbClr val="BD9FE3"/>
                </a:solidFill>
                <a:latin typeface="Helvetica Neue"/>
                <a:ea typeface="Helvetica Neue"/>
                <a:cs typeface="Helvetica Neue"/>
              </a:defRPr>
            </a:lvl4pPr>
            <a:lvl5pPr>
              <a:buNone/>
              <a:defRPr sz="1950" b="1">
                <a:solidFill>
                  <a:srgbClr val="BD9FE3"/>
                </a:solidFill>
                <a:latin typeface="Helvetica Neue"/>
                <a:ea typeface="Helvetica Neue"/>
                <a:cs typeface="Helvetica Neue"/>
              </a:defRPr>
            </a:lvl5pPr>
            <a:lvl6pPr>
              <a:buNone/>
              <a:defRPr sz="1950" b="1">
                <a:solidFill>
                  <a:srgbClr val="BD9FE3"/>
                </a:solidFill>
                <a:latin typeface="Helvetica Neue"/>
                <a:ea typeface="Helvetica Neue"/>
                <a:cs typeface="Helvetica Neue"/>
              </a:defRPr>
            </a:lvl6pPr>
            <a:lvl7pPr>
              <a:buNone/>
              <a:defRPr sz="1950" b="1">
                <a:solidFill>
                  <a:srgbClr val="BD9FE3"/>
                </a:solidFill>
                <a:latin typeface="Helvetica Neue"/>
                <a:ea typeface="Helvetica Neue"/>
                <a:cs typeface="Helvetica Neue"/>
              </a:defRPr>
            </a:lvl7pPr>
            <a:lvl8pPr>
              <a:buNone/>
              <a:defRPr sz="1950" b="1">
                <a:solidFill>
                  <a:srgbClr val="BD9FE3"/>
                </a:solidFill>
                <a:latin typeface="Helvetica Neue"/>
                <a:ea typeface="Helvetica Neue"/>
                <a:cs typeface="Helvetica Neue"/>
              </a:defRPr>
            </a:lvl8pPr>
            <a:lvl9pPr>
              <a:buNone/>
              <a:defRPr sz="1950" b="1">
                <a:solidFill>
                  <a:srgbClr val="BD9FE3"/>
                </a:solidFill>
                <a:latin typeface="Helvetica Neue"/>
                <a:ea typeface="Helvetica Neue"/>
                <a:cs typeface="Helvetica Neue"/>
              </a:defRPr>
            </a:lvl9pPr>
          </a:lstStyle>
          <a:p xmlns:a="http://schemas.openxmlformats.org/drawingml/2006/main">
            <a:pPr>
              <a:buNone/>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Согласованность разметки</a:t>
            </a:r>
          </a:p>
        </p:txBody>
      </p:sp>
      <p:sp>
        <p:nvSpPr>
          <p:cNvPr id="19" name="theory-7">
            <a:extLst xmlns:a="http://schemas.openxmlformats.org/drawingml/2006/main">
              <a:ext uri="{FF2B5EF4-FFF2-40B4-BE49-F238E27FC236}">
                <a16:creationId xmlns:a16="http://schemas.microsoft.com/office/drawing/2014/main" id="{79471F5A-E84A-4B82-B135-7BC161D20621}"/>
              </a:ext>
            </a:extLst>
          </p:cNvPr>
          <p:cNvSpPr>
            <a:spLocks xmlns:a="http://schemas.openxmlformats.org/drawingml/2006/main" noGrp="1"/>
          </p:cNvSpPr>
          <p:nvPr/>
        </p:nvSpPr>
        <p:spPr>
          <a:xfrm xmlns:a="http://schemas.openxmlformats.org/drawingml/2006/main">
            <a:off x="685800" y="4695825"/>
            <a:ext cx="10820400" cy="1743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buNone/>
              <a:defRPr sz="2025" b="0">
                <a:solidFill>
                  <a:srgbClr val="CDCDD3"/>
                </a:solidFill>
                <a:latin typeface="Helvetica Neue"/>
                <a:ea typeface="Helvetica Neue"/>
                <a:cs typeface="Helvetica Neue"/>
              </a:defRPr>
            </a:lvl1pPr>
            <a:lvl2pPr>
              <a:buNone/>
              <a:defRPr sz="2025" b="0">
                <a:solidFill>
                  <a:srgbClr val="CDCDD3"/>
                </a:solidFill>
                <a:latin typeface="Helvetica Neue"/>
                <a:ea typeface="Helvetica Neue"/>
                <a:cs typeface="Helvetica Neue"/>
              </a:defRPr>
            </a:lvl2pPr>
            <a:lvl3pPr>
              <a:buNone/>
              <a:defRPr sz="2025" b="0">
                <a:solidFill>
                  <a:srgbClr val="CDCDD3"/>
                </a:solidFill>
                <a:latin typeface="Helvetica Neue"/>
                <a:ea typeface="Helvetica Neue"/>
                <a:cs typeface="Helvetica Neue"/>
              </a:defRPr>
            </a:lvl3pPr>
            <a:lvl4pPr>
              <a:buNone/>
              <a:defRPr sz="2025" b="0">
                <a:solidFill>
                  <a:srgbClr val="CDCDD3"/>
                </a:solidFill>
                <a:latin typeface="Helvetica Neue"/>
                <a:ea typeface="Helvetica Neue"/>
                <a:cs typeface="Helvetica Neue"/>
              </a:defRPr>
            </a:lvl4pPr>
            <a:lvl5pPr>
              <a:buNone/>
              <a:defRPr sz="2025" b="0">
                <a:solidFill>
                  <a:srgbClr val="CDCDD3"/>
                </a:solidFill>
                <a:latin typeface="Helvetica Neue"/>
                <a:ea typeface="Helvetica Neue"/>
                <a:cs typeface="Helvetica Neue"/>
              </a:defRPr>
            </a:lvl5pPr>
            <a:lvl6pPr>
              <a:buNone/>
              <a:defRPr sz="2025" b="0">
                <a:solidFill>
                  <a:srgbClr val="CDCDD3"/>
                </a:solidFill>
                <a:latin typeface="Helvetica Neue"/>
                <a:ea typeface="Helvetica Neue"/>
                <a:cs typeface="Helvetica Neue"/>
              </a:defRPr>
            </a:lvl6pPr>
            <a:lvl7pPr>
              <a:buNone/>
              <a:defRPr sz="2025" b="0">
                <a:solidFill>
                  <a:srgbClr val="CDCDD3"/>
                </a:solidFill>
                <a:latin typeface="Helvetica Neue"/>
                <a:ea typeface="Helvetica Neue"/>
                <a:cs typeface="Helvetica Neue"/>
              </a:defRPr>
            </a:lvl7pPr>
            <a:lvl8pPr>
              <a:buNone/>
              <a:defRPr sz="2025" b="0">
                <a:solidFill>
                  <a:srgbClr val="CDCDD3"/>
                </a:solidFill>
                <a:latin typeface="Helvetica Neue"/>
                <a:ea typeface="Helvetica Neue"/>
                <a:cs typeface="Helvetica Neue"/>
              </a:defRPr>
            </a:lvl8pPr>
            <a:lvl9pPr>
              <a:buNone/>
              <a:defRPr sz="2025" b="0">
                <a:solidFill>
                  <a:srgbClr val="CDCDD3"/>
                </a:solidFill>
                <a:latin typeface="Helvetica Neue"/>
                <a:ea typeface="Helvetica Neue"/>
                <a:cs typeface="Helvetica Neue"/>
              </a:defRPr>
            </a:lvl9pPr>
          </a:lstStyle>
          <a:p xmlns:a="http://schemas.openxmlformats.org/drawingml/2006/main">
            <a:pPr>
              <a:buNone/>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Несколько разметчиков могут по-разному интерпретировать иронию, нейтральные факты и противоречивые оценки. Расхождения помогают обнаружить неясные определения классов и ошибки инструкции. После уточнения правил спорные примеры разбирают повторно. Согласованность меток важна для обучения и для того, чтобы ошибки модели имели однозначную интерпретацию.</a:t>
            </a:r>
          </a:p>
        </p:txBody>
      </p:sp>
    </p:spTree>
    <p:extLst>
      <p:ext uri="{BB962C8B-B14F-4D97-AF65-F5344CB8AC3E}">
        <p14:creationId xmlns:p14="http://schemas.microsoft.com/office/powerpoint/2010/main" val="546551432"/>
      </p:ext>
    </p:extLst>
  </p:cSld>
</p:sld>
</file>

<file path=ppt/slides/slide2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8" name="exp90-0">
            <a:extLst xmlns:a="http://schemas.openxmlformats.org/drawingml/2006/main">
              <a:ext uri="{FF2B5EF4-FFF2-40B4-BE49-F238E27FC236}">
                <a16:creationId xmlns:a16="http://schemas.microsoft.com/office/drawing/2014/main" id="{2A45742D-2622-4A61-9263-BE3191FEF122}"/>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90-1">
            <a:extLst xmlns:a="http://schemas.openxmlformats.org/drawingml/2006/main">
              <a:ext uri="{FF2B5EF4-FFF2-40B4-BE49-F238E27FC236}">
                <a16:creationId xmlns:a16="http://schemas.microsoft.com/office/drawing/2014/main" id="{C772AF33-FA3E-4EE4-BF4D-5CDDFBF68E73}"/>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22</a:t>
            </a:r>
          </a:p>
        </p:txBody>
      </p:sp>
      <p:sp>
        <p:nvSpPr>
          <p:cNvPr id="3" name="">
            <a:extLst xmlns:a="http://schemas.openxmlformats.org/drawingml/2006/main">
              <a:ext uri="{FF2B5EF4-FFF2-40B4-BE49-F238E27FC236}">
                <a16:creationId xmlns:a16="http://schemas.microsoft.com/office/drawing/2014/main" id="{78E32DA8-BCBB-4223-B105-7B1ACD28C698}"/>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0">
            <a:solidFill>
              <a:srgbClr val="28282B"/>
            </a:solidFill>
          </a:ln>
        </p:spPr>
      </p:sp>
      <p:sp>
        <p:nvSpPr>
          <p:cNvPr id="4" name="exp90-3">
            <a:extLst xmlns:a="http://schemas.openxmlformats.org/drawingml/2006/main">
              <a:ext uri="{FF2B5EF4-FFF2-40B4-BE49-F238E27FC236}">
                <a16:creationId xmlns:a16="http://schemas.microsoft.com/office/drawing/2014/main" id="{2DCBFF8E-0CEF-435A-8974-A0227FE90652}"/>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Datasets для text classification</a:t>
            </a:r>
          </a:p>
        </p:txBody>
      </p:sp>
      <p:sp>
        <p:nvSpPr>
          <p:cNvPr id="9" name="ysda-4">
            <a:extLst xmlns:a="http://schemas.openxmlformats.org/drawingml/2006/main">
              <a:ext uri="{FF2B5EF4-FFF2-40B4-BE49-F238E27FC236}">
                <a16:creationId xmlns:a16="http://schemas.microsoft.com/office/drawing/2014/main" id="{A3F65193-CD1B-40E3-8E36-2FAEDCF69BCC}"/>
              </a:ext>
            </a:extLst>
          </p:cNvPr>
          <p:cNvSpPr>
            <a:spLocks xmlns:a="http://schemas.openxmlformats.org/drawingml/2006/main" noGrp="1"/>
          </p:cNvSpPr>
          <p:nvPr/>
        </p:nvSpPr>
        <p:spPr>
          <a:xfrm xmlns:a="http://schemas.openxmlformats.org/drawingml/2006/main">
            <a:off x="685800" y="2009775"/>
            <a:ext cx="10820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F5F5F7"/>
                </a:solidFill>
                <a:latin typeface="Helvetica Neue"/>
                <a:ea typeface="Helvetica Neue"/>
                <a:cs typeface="Helvetica Neue"/>
              </a:defRPr>
            </a:defPPr>
            <a:lvl1pPr>
              <a:defRPr sz="1950" b="0">
                <a:solidFill>
                  <a:srgbClr val="F5F5F7"/>
                </a:solidFill>
                <a:latin typeface="Helvetica Neue"/>
                <a:ea typeface="Helvetica Neue"/>
                <a:cs typeface="Helvetica Neue"/>
              </a:defRPr>
            </a:lvl1pPr>
            <a:lvl2pPr>
              <a:defRPr sz="1950" b="0">
                <a:solidFill>
                  <a:srgbClr val="F5F5F7"/>
                </a:solidFill>
                <a:latin typeface="Helvetica Neue"/>
                <a:ea typeface="Helvetica Neue"/>
                <a:cs typeface="Helvetica Neue"/>
              </a:defRPr>
            </a:lvl2pPr>
            <a:lvl3pPr>
              <a:defRPr sz="1950" b="0">
                <a:solidFill>
                  <a:srgbClr val="F5F5F7"/>
                </a:solidFill>
                <a:latin typeface="Helvetica Neue"/>
                <a:ea typeface="Helvetica Neue"/>
                <a:cs typeface="Helvetica Neue"/>
              </a:defRPr>
            </a:lvl3pPr>
            <a:lvl4pPr>
              <a:defRPr sz="1950" b="0">
                <a:solidFill>
                  <a:srgbClr val="F5F5F7"/>
                </a:solidFill>
                <a:latin typeface="Helvetica Neue"/>
                <a:ea typeface="Helvetica Neue"/>
                <a:cs typeface="Helvetica Neue"/>
              </a:defRPr>
            </a:lvl4pPr>
            <a:lvl5pPr>
              <a:defRPr sz="1950" b="0">
                <a:solidFill>
                  <a:srgbClr val="F5F5F7"/>
                </a:solidFill>
                <a:latin typeface="Helvetica Neue"/>
                <a:ea typeface="Helvetica Neue"/>
                <a:cs typeface="Helvetica Neue"/>
              </a:defRPr>
            </a:lvl5pPr>
            <a:lvl6pPr>
              <a:defRPr sz="1950" b="0">
                <a:solidFill>
                  <a:srgbClr val="F5F5F7"/>
                </a:solidFill>
                <a:latin typeface="Helvetica Neue"/>
                <a:ea typeface="Helvetica Neue"/>
                <a:cs typeface="Helvetica Neue"/>
              </a:defRPr>
            </a:lvl6pPr>
            <a:lvl7pPr>
              <a:defRPr sz="1950" b="0">
                <a:solidFill>
                  <a:srgbClr val="F5F5F7"/>
                </a:solidFill>
                <a:latin typeface="Helvetica Neue"/>
                <a:ea typeface="Helvetica Neue"/>
                <a:cs typeface="Helvetica Neue"/>
              </a:defRPr>
            </a:lvl7pPr>
            <a:lvl8pPr>
              <a:defRPr sz="1950" b="0">
                <a:solidFill>
                  <a:srgbClr val="F5F5F7"/>
                </a:solidFill>
                <a:latin typeface="Helvetica Neue"/>
                <a:ea typeface="Helvetica Neue"/>
                <a:cs typeface="Helvetica Neue"/>
              </a:defRPr>
            </a:lvl8pPr>
            <a:lvl9pPr>
              <a:defRPr sz="1950" b="0">
                <a:solidFill>
                  <a:srgbClr val="F5F5F7"/>
                </a:solidFill>
                <a:latin typeface="Helvetica Neue"/>
                <a:ea typeface="Helvetica Neue"/>
                <a:cs typeface="Helvetica Neue"/>
              </a:defRPr>
            </a:lvl9pPr>
          </a:lstStyle>
          <a:p xmlns:a="http://schemas.openxmlformats.org/drawingml/2006/main">
            <a:pPr>
              <a:defRPr sz="1950" b="0">
                <a:solidFill>
                  <a:srgbClr val="F5F5F7"/>
                </a:solidFill>
                <a:latin typeface="Helvetica Neue"/>
                <a:ea typeface="Helvetica Neue"/>
                <a:cs typeface="Helvetica Neue"/>
              </a:defRPr>
            </a:pPr>
            <a:r>
              <a:rPr sz="1950" b="0">
                <a:solidFill>
                  <a:srgbClr val="F5F5F7"/>
                </a:solidFill>
                <a:latin typeface="Helvetica Neue"/>
                <a:ea typeface="Helvetica Neue"/>
                <a:cs typeface="Helvetica Neue"/>
              </a:rPr>
              <a:t>Примеры из материалов курса ШАД. Dataset определяет задачу и правила работы с метками; готовая коллекция не заменяет анализ собственных данных.</a:t>
            </a:r>
          </a:p>
        </p:txBody>
      </p:sp>
      <p:graphicFrame>
        <p:nvGraphicFramePr>
          <p:cNvPr id="10" name="">
            <a:extLst xmlns:a="http://schemas.openxmlformats.org/drawingml/2006/main">
              <a:ext uri="{FF2B5EF4-FFF2-40B4-BE49-F238E27FC236}">
                <a16:creationId xmlns:a16="http://schemas.microsoft.com/office/drawing/2014/main" id="{171A7D6E-8DE4-4A44-BE8D-379C80286D12}"/>
              </a:ext>
            </a:extLst>
          </p:cNvPr>
          <p:cNvGraphicFramePr/>
          <p:nvPr/>
        </p:nvGraphicFramePr>
        <p:xfrm>
          <a:off xmlns:a="http://schemas.openxmlformats.org/drawingml/2006/main" x="685800" y="2943225"/>
          <a:ext xmlns:a="http://schemas.openxmlformats.org/drawingml/2006/main" cx="10820400" cy="2905125"/>
        </p:xfrm>
        <a:graphic xmlns:a="http://schemas.openxmlformats.org/drawingml/2006/main">
          <a:graphicData uri="http://schemas.openxmlformats.org/drawingml/2006/table">
            <a:tbl>
              <a:tblPr/>
              <a:tblGrid>
                <a:gridCol w="2571750"/>
                <a:gridCol w="3333750"/>
                <a:gridCol w="4914900"/>
              </a:tblGrid>
              <a:tr h="581025">
                <a:tc>
                  <a:txBody>
                    <a:bodyPr lIns="133350" tIns="76200" rIns="133350" bIns="76200"/>
                    <a:lstStyle/>
                    <a:p>
                      <a:r>
                        <a:rPr sz="1725" b="1">
                          <a:solidFill>
                            <a:srgbClr val="98989F"/>
                          </a:solidFill>
                          <a:latin typeface="Helvetica Neue"/>
                          <a:ea typeface="Helvetica Neue"/>
                          <a:cs typeface="Helvetica Neue"/>
                        </a:rPr>
                        <a:t>Dataset</a:t>
                      </a:r>
                    </a:p>
                  </a:txBody>
                  <a:tcPr marL="91440" marR="91440" marT="45720" marB="45720" anchor="ctr">
                    <a:lnL w="9525">
                      <a:solidFill>
                        <a:srgbClr val="28282B"/>
                      </a:solidFill>
                      <a:prstDash val="solid"/>
                    </a:lnL>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c>
                  <a:txBody>
                    <a:bodyPr lIns="133350" tIns="76200" rIns="133350" bIns="76200"/>
                    <a:lstStyle/>
                    <a:p>
                      <a:r>
                        <a:rPr sz="1725" b="1">
                          <a:solidFill>
                            <a:srgbClr val="98989F"/>
                          </a:solidFill>
                          <a:latin typeface="Helvetica Neue"/>
                          <a:ea typeface="Helvetica Neue"/>
                          <a:cs typeface="Helvetica Neue"/>
                        </a:rPr>
                        <a:t>Задача</a:t>
                      </a:r>
                    </a:p>
                  </a:txBody>
                  <a:tcPr marL="91440" marR="91440" marT="45720" marB="45720" anchor="ctr">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c>
                  <a:txBody>
                    <a:bodyPr lIns="133350" tIns="76200" rIns="133350" bIns="76200"/>
                    <a:lstStyle/>
                    <a:p>
                      <a:r>
                        <a:rPr sz="1725" b="1">
                          <a:solidFill>
                            <a:srgbClr val="98989F"/>
                          </a:solidFill>
                          <a:latin typeface="Helvetica Neue"/>
                          <a:ea typeface="Helvetica Neue"/>
                          <a:cs typeface="Helvetica Neue"/>
                        </a:rPr>
                        <a:t>Особенность</a:t>
                      </a:r>
                    </a:p>
                  </a:txBody>
                  <a:tcPr marL="91440" marR="91440" marT="45720" marB="45720" anchor="ctr">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r>
              <a:tr h="581025">
                <a:tc>
                  <a:txBody>
                    <a:bodyPr lIns="133350" tIns="76200" rIns="133350" bIns="76200"/>
                    <a:lstStyle/>
                    <a:p>
                      <a:r>
                        <a:rPr sz="1725" b="0">
                          <a:solidFill>
                            <a:srgbClr val="F5F5F7"/>
                          </a:solidFill>
                          <a:latin typeface="Helvetica Neue"/>
                          <a:ea typeface="Helvetica Neue"/>
                          <a:cs typeface="Helvetica Neue"/>
                        </a:rPr>
                        <a:t>SST-2 / SST-5</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725" b="0">
                          <a:solidFill>
                            <a:srgbClr val="F5F5F7"/>
                          </a:solidFill>
                          <a:latin typeface="Helvetica Neue"/>
                          <a:ea typeface="Helvetica Neue"/>
                          <a:cs typeface="Helvetica Neue"/>
                        </a:rPr>
                        <a:t>Sentiment analysis</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725" b="0">
                          <a:solidFill>
                            <a:srgbClr val="F5F5F7"/>
                          </a:solidFill>
                          <a:latin typeface="Helvetica Neue"/>
                          <a:ea typeface="Helvetica Neue"/>
                          <a:cs typeface="Helvetica Neue"/>
                        </a:rPr>
                        <a:t>Два или пять классов</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r h="581025">
                <a:tc>
                  <a:txBody>
                    <a:bodyPr lIns="133350" tIns="76200" rIns="133350" bIns="76200"/>
                    <a:lstStyle/>
                    <a:p>
                      <a:r>
                        <a:rPr sz="1725" b="0">
                          <a:solidFill>
                            <a:srgbClr val="F5F5F7"/>
                          </a:solidFill>
                          <a:latin typeface="Helvetica Neue"/>
                          <a:ea typeface="Helvetica Neue"/>
                          <a:cs typeface="Helvetica Neue"/>
                        </a:rPr>
                        <a:t>IMDb Reviews</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725" b="0">
                          <a:solidFill>
                            <a:srgbClr val="F5F5F7"/>
                          </a:solidFill>
                          <a:latin typeface="Helvetica Neue"/>
                          <a:ea typeface="Helvetica Neue"/>
                          <a:cs typeface="Helvetica Neue"/>
                        </a:rPr>
                        <a:t>Sentiment analysis</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725" b="0">
                          <a:solidFill>
                            <a:srgbClr val="F5F5F7"/>
                          </a:solidFill>
                          <a:latin typeface="Helvetica Neue"/>
                          <a:ea typeface="Helvetica Neue"/>
                          <a:cs typeface="Helvetica Neue"/>
                        </a:rPr>
                        <a:t>Отзывы о фильмах</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r h="581025">
                <a:tc>
                  <a:txBody>
                    <a:bodyPr lIns="133350" tIns="76200" rIns="133350" bIns="76200"/>
                    <a:lstStyle/>
                    <a:p>
                      <a:r>
                        <a:rPr sz="1725" b="0">
                          <a:solidFill>
                            <a:srgbClr val="F5F5F7"/>
                          </a:solidFill>
                          <a:latin typeface="Helvetica Neue"/>
                          <a:ea typeface="Helvetica Neue"/>
                          <a:cs typeface="Helvetica Neue"/>
                        </a:rPr>
                        <a:t>AG’s News</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725" b="0">
                          <a:solidFill>
                            <a:srgbClr val="F5F5F7"/>
                          </a:solidFill>
                          <a:latin typeface="Helvetica Neue"/>
                          <a:ea typeface="Helvetica Neue"/>
                          <a:cs typeface="Helvetica Neue"/>
                        </a:rPr>
                        <a:t>Topic classification</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725" b="0">
                          <a:solidFill>
                            <a:srgbClr val="F5F5F7"/>
                          </a:solidFill>
                          <a:latin typeface="Helvetica Neue"/>
                          <a:ea typeface="Helvetica Neue"/>
                          <a:cs typeface="Helvetica Neue"/>
                        </a:rPr>
                        <a:t>Четыре темы новостей</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r h="581025">
                <a:tc>
                  <a:txBody>
                    <a:bodyPr lIns="133350" tIns="76200" rIns="133350" bIns="76200"/>
                    <a:lstStyle/>
                    <a:p>
                      <a:r>
                        <a:rPr sz="1725" b="0">
                          <a:solidFill>
                            <a:srgbClr val="F5F5F7"/>
                          </a:solidFill>
                          <a:latin typeface="Helvetica Neue"/>
                          <a:ea typeface="Helvetica Neue"/>
                          <a:cs typeface="Helvetica Neue"/>
                        </a:rPr>
                        <a:t>TREC</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725" b="0">
                          <a:solidFill>
                            <a:srgbClr val="F5F5F7"/>
                          </a:solidFill>
                          <a:latin typeface="Helvetica Neue"/>
                          <a:ea typeface="Helvetica Neue"/>
                          <a:cs typeface="Helvetica Neue"/>
                        </a:rPr>
                        <a:t>Question classification</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725" b="0">
                          <a:solidFill>
                            <a:srgbClr val="F5F5F7"/>
                          </a:solidFill>
                          <a:latin typeface="Helvetica Neue"/>
                          <a:ea typeface="Helvetica Neue"/>
                          <a:cs typeface="Helvetica Neue"/>
                        </a:rPr>
                        <a:t>Тип ожидаемого ответа</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bl>
          </a:graphicData>
        </a:graphic>
      </p:graphicFrame>
      <p:sp>
        <p:nvSpPr>
          <p:cNvPr id="11" name="ysda-5">
            <a:extLst xmlns:a="http://schemas.openxmlformats.org/drawingml/2006/main">
              <a:ext uri="{FF2B5EF4-FFF2-40B4-BE49-F238E27FC236}">
                <a16:creationId xmlns:a16="http://schemas.microsoft.com/office/drawing/2014/main" id="{933FBB33-2749-4CB2-98BB-BF438E9EAF16}"/>
              </a:ext>
            </a:extLst>
          </p:cNvPr>
          <p:cNvSpPr>
            <a:spLocks xmlns:a="http://schemas.openxmlformats.org/drawingml/2006/main" noGrp="1"/>
          </p:cNvSpPr>
          <p:nvPr/>
        </p:nvSpPr>
        <p:spPr>
          <a:xfrm xmlns:a="http://schemas.openxmlformats.org/drawingml/2006/main">
            <a:off x="685800" y="6048375"/>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88" b="0">
                <a:solidFill>
                  <a:srgbClr val="CDCDD3"/>
                </a:solidFill>
                <a:latin typeface="Helvetica Neue"/>
                <a:ea typeface="Helvetica Neue"/>
                <a:cs typeface="Helvetica Neue"/>
              </a:defRPr>
            </a:defPPr>
            <a:lvl1pPr>
              <a:defRPr sz="1688" b="0">
                <a:solidFill>
                  <a:srgbClr val="CDCDD3"/>
                </a:solidFill>
                <a:latin typeface="Helvetica Neue"/>
                <a:ea typeface="Helvetica Neue"/>
                <a:cs typeface="Helvetica Neue"/>
              </a:defRPr>
            </a:lvl1pPr>
            <a:lvl2pPr>
              <a:defRPr sz="1688" b="0">
                <a:solidFill>
                  <a:srgbClr val="CDCDD3"/>
                </a:solidFill>
                <a:latin typeface="Helvetica Neue"/>
                <a:ea typeface="Helvetica Neue"/>
                <a:cs typeface="Helvetica Neue"/>
              </a:defRPr>
            </a:lvl2pPr>
            <a:lvl3pPr>
              <a:defRPr sz="1688" b="0">
                <a:solidFill>
                  <a:srgbClr val="CDCDD3"/>
                </a:solidFill>
                <a:latin typeface="Helvetica Neue"/>
                <a:ea typeface="Helvetica Neue"/>
                <a:cs typeface="Helvetica Neue"/>
              </a:defRPr>
            </a:lvl3pPr>
            <a:lvl4pPr>
              <a:defRPr sz="1688" b="0">
                <a:solidFill>
                  <a:srgbClr val="CDCDD3"/>
                </a:solidFill>
                <a:latin typeface="Helvetica Neue"/>
                <a:ea typeface="Helvetica Neue"/>
                <a:cs typeface="Helvetica Neue"/>
              </a:defRPr>
            </a:lvl4pPr>
            <a:lvl5pPr>
              <a:defRPr sz="1688" b="0">
                <a:solidFill>
                  <a:srgbClr val="CDCDD3"/>
                </a:solidFill>
                <a:latin typeface="Helvetica Neue"/>
                <a:ea typeface="Helvetica Neue"/>
                <a:cs typeface="Helvetica Neue"/>
              </a:defRPr>
            </a:lvl5pPr>
            <a:lvl6pPr>
              <a:defRPr sz="1688" b="0">
                <a:solidFill>
                  <a:srgbClr val="CDCDD3"/>
                </a:solidFill>
                <a:latin typeface="Helvetica Neue"/>
                <a:ea typeface="Helvetica Neue"/>
                <a:cs typeface="Helvetica Neue"/>
              </a:defRPr>
            </a:lvl6pPr>
            <a:lvl7pPr>
              <a:defRPr sz="1688" b="0">
                <a:solidFill>
                  <a:srgbClr val="CDCDD3"/>
                </a:solidFill>
                <a:latin typeface="Helvetica Neue"/>
                <a:ea typeface="Helvetica Neue"/>
                <a:cs typeface="Helvetica Neue"/>
              </a:defRPr>
            </a:lvl7pPr>
            <a:lvl8pPr>
              <a:defRPr sz="1688" b="0">
                <a:solidFill>
                  <a:srgbClr val="CDCDD3"/>
                </a:solidFill>
                <a:latin typeface="Helvetica Neue"/>
                <a:ea typeface="Helvetica Neue"/>
                <a:cs typeface="Helvetica Neue"/>
              </a:defRPr>
            </a:lvl8pPr>
            <a:lvl9pPr>
              <a:defRPr sz="1688" b="0">
                <a:solidFill>
                  <a:srgbClr val="CDCDD3"/>
                </a:solidFill>
                <a:latin typeface="Helvetica Neue"/>
                <a:ea typeface="Helvetica Neue"/>
                <a:cs typeface="Helvetica Neue"/>
              </a:defRPr>
            </a:lvl9pPr>
          </a:lstStyle>
          <a:p xmlns:a="http://schemas.openxmlformats.org/drawingml/2006/main">
            <a:pPr>
              <a:defRPr sz="1688" b="0">
                <a:solidFill>
                  <a:srgbClr val="CDCDD3"/>
                </a:solidFill>
                <a:latin typeface="Helvetica Neue"/>
                <a:ea typeface="Helvetica Neue"/>
                <a:cs typeface="Helvetica Neue"/>
              </a:defRPr>
            </a:pPr>
            <a:r>
              <a:rPr sz="1688" b="0">
                <a:solidFill>
                  <a:srgbClr val="CDCDD3"/>
                </a:solidFill>
                <a:latin typeface="Helvetica Neue"/>
                <a:ea typeface="Helvetica Neue"/>
                <a:cs typeface="Helvetica Neue"/>
              </a:rPr>
              <a:t>При выборе dataset проверяют язык, единицу annotation, label space, доступный контекст и официальное разбиение. Числа из разных версий коллекции могут различаться.</a:t>
            </a:r>
          </a:p>
        </p:txBody>
      </p:sp>
    </p:spTree>
    <p:extLst>
      <p:ext uri="{BB962C8B-B14F-4D97-AF65-F5344CB8AC3E}">
        <p14:creationId xmlns:p14="http://schemas.microsoft.com/office/powerpoint/2010/main" val="1339157956"/>
      </p:ext>
    </p:extLst>
  </p:cSld>
</p:sld>
</file>

<file path=ppt/slides/slide2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5" name="text-0">
            <a:extLst xmlns:a="http://schemas.openxmlformats.org/drawingml/2006/main">
              <a:ext uri="{FF2B5EF4-FFF2-40B4-BE49-F238E27FC236}">
                <a16:creationId xmlns:a16="http://schemas.microsoft.com/office/drawing/2014/main" id="{94CCFFFE-C38B-4341-A036-0847B01C700D}"/>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98989F"/>
                </a:solidFill>
                <a:latin typeface="Helvetica Neue"/>
                <a:ea typeface="Helvetica Neue"/>
                <a:cs typeface="Helvetica Neue"/>
              </a:defRPr>
            </a:defPPr>
            <a:lvl1pPr algn="l">
              <a:buNone/>
              <a:defRPr sz="1425" b="0">
                <a:solidFill>
                  <a:srgbClr val="98989F"/>
                </a:solidFill>
                <a:latin typeface="Helvetica Neue"/>
                <a:ea typeface="Helvetica Neue"/>
                <a:cs typeface="Helvetica Neue"/>
              </a:defRPr>
            </a:lvl1pPr>
            <a:lvl2pPr algn="l">
              <a:buNone/>
              <a:defRPr sz="1425" b="0">
                <a:solidFill>
                  <a:srgbClr val="98989F"/>
                </a:solidFill>
                <a:latin typeface="Helvetica Neue"/>
                <a:ea typeface="Helvetica Neue"/>
                <a:cs typeface="Helvetica Neue"/>
              </a:defRPr>
            </a:lvl2pPr>
            <a:lvl3pPr algn="l">
              <a:buNone/>
              <a:defRPr sz="1425" b="0">
                <a:solidFill>
                  <a:srgbClr val="98989F"/>
                </a:solidFill>
                <a:latin typeface="Helvetica Neue"/>
                <a:ea typeface="Helvetica Neue"/>
                <a:cs typeface="Helvetica Neue"/>
              </a:defRPr>
            </a:lvl3pPr>
            <a:lvl4pPr algn="l">
              <a:buNone/>
              <a:defRPr sz="1425" b="0">
                <a:solidFill>
                  <a:srgbClr val="98989F"/>
                </a:solidFill>
                <a:latin typeface="Helvetica Neue"/>
                <a:ea typeface="Helvetica Neue"/>
                <a:cs typeface="Helvetica Neue"/>
              </a:defRPr>
            </a:lvl4pPr>
            <a:lvl5pPr algn="l">
              <a:buNone/>
              <a:defRPr sz="1425" b="0">
                <a:solidFill>
                  <a:srgbClr val="98989F"/>
                </a:solidFill>
                <a:latin typeface="Helvetica Neue"/>
                <a:ea typeface="Helvetica Neue"/>
                <a:cs typeface="Helvetica Neue"/>
              </a:defRPr>
            </a:lvl5pPr>
            <a:lvl6pPr algn="l">
              <a:buNone/>
              <a:defRPr sz="1425" b="0">
                <a:solidFill>
                  <a:srgbClr val="98989F"/>
                </a:solidFill>
                <a:latin typeface="Helvetica Neue"/>
                <a:ea typeface="Helvetica Neue"/>
                <a:cs typeface="Helvetica Neue"/>
              </a:defRPr>
            </a:lvl6pPr>
            <a:lvl7pPr algn="l">
              <a:buNone/>
              <a:defRPr sz="1425" b="0">
                <a:solidFill>
                  <a:srgbClr val="98989F"/>
                </a:solidFill>
                <a:latin typeface="Helvetica Neue"/>
                <a:ea typeface="Helvetica Neue"/>
                <a:cs typeface="Helvetica Neue"/>
              </a:defRPr>
            </a:lvl7pPr>
            <a:lvl8pPr algn="l">
              <a:buNone/>
              <a:defRPr sz="1425" b="0">
                <a:solidFill>
                  <a:srgbClr val="98989F"/>
                </a:solidFill>
                <a:latin typeface="Helvetica Neue"/>
                <a:ea typeface="Helvetica Neue"/>
                <a:cs typeface="Helvetica Neue"/>
              </a:defRPr>
            </a:lvl8pPr>
            <a:lvl9pPr algn="l">
              <a:buNone/>
              <a:defRPr sz="1425" b="0">
                <a:solidFill>
                  <a:srgbClr val="98989F"/>
                </a:solidFill>
                <a:latin typeface="Helvetica Neue"/>
                <a:ea typeface="Helvetica Neue"/>
                <a:cs typeface="Helvetica Neue"/>
              </a:defRPr>
            </a:lvl9pPr>
          </a:lstStyle>
          <a:p xmlns:a="http://schemas.openxmlformats.org/drawingml/2006/main">
            <a:pPr algn="l">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text-1">
            <a:extLst xmlns:a="http://schemas.openxmlformats.org/drawingml/2006/main">
              <a:ext uri="{FF2B5EF4-FFF2-40B4-BE49-F238E27FC236}">
                <a16:creationId xmlns:a16="http://schemas.microsoft.com/office/drawing/2014/main" id="{2A989F40-4CED-49F3-B89F-7802A2CF874D}"/>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23</a:t>
            </a:r>
          </a:p>
        </p:txBody>
      </p:sp>
      <p:sp>
        <p:nvSpPr>
          <p:cNvPr id="3" name="">
            <a:extLst xmlns:a="http://schemas.openxmlformats.org/drawingml/2006/main">
              <a:ext uri="{FF2B5EF4-FFF2-40B4-BE49-F238E27FC236}">
                <a16:creationId xmlns:a16="http://schemas.microsoft.com/office/drawing/2014/main" id="{4E183CC5-BE54-4262-8598-A8DB5D6A47B2}"/>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prstDash val="solid"/>
          </a:ln>
        </p:spPr>
      </p:sp>
      <p:sp>
        <p:nvSpPr>
          <p:cNvPr id="4" name="text-3">
            <a:extLst xmlns:a="http://schemas.openxmlformats.org/drawingml/2006/main">
              <a:ext uri="{FF2B5EF4-FFF2-40B4-BE49-F238E27FC236}">
                <a16:creationId xmlns:a16="http://schemas.microsoft.com/office/drawing/2014/main" id="{D8632C4D-135F-41CC-9849-ED6576D5BD9A}"/>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5F7"/>
                </a:solidFill>
                <a:latin typeface="Helvetica Neue"/>
                <a:ea typeface="Helvetica Neue"/>
                <a:cs typeface="Helvetica Neue"/>
              </a:defRPr>
            </a:defPPr>
            <a:lvl1pPr algn="l">
              <a:buNone/>
              <a:defRPr sz="3450" b="1">
                <a:solidFill>
                  <a:srgbClr val="F5F5F7"/>
                </a:solidFill>
                <a:latin typeface="Helvetica Neue"/>
                <a:ea typeface="Helvetica Neue"/>
                <a:cs typeface="Helvetica Neue"/>
              </a:defRPr>
            </a:lvl1pPr>
            <a:lvl2pPr algn="l">
              <a:buNone/>
              <a:defRPr sz="3450" b="1">
                <a:solidFill>
                  <a:srgbClr val="F5F5F7"/>
                </a:solidFill>
                <a:latin typeface="Helvetica Neue"/>
                <a:ea typeface="Helvetica Neue"/>
                <a:cs typeface="Helvetica Neue"/>
              </a:defRPr>
            </a:lvl2pPr>
            <a:lvl3pPr algn="l">
              <a:buNone/>
              <a:defRPr sz="3450" b="1">
                <a:solidFill>
                  <a:srgbClr val="F5F5F7"/>
                </a:solidFill>
                <a:latin typeface="Helvetica Neue"/>
                <a:ea typeface="Helvetica Neue"/>
                <a:cs typeface="Helvetica Neue"/>
              </a:defRPr>
            </a:lvl3pPr>
            <a:lvl4pPr algn="l">
              <a:buNone/>
              <a:defRPr sz="3450" b="1">
                <a:solidFill>
                  <a:srgbClr val="F5F5F7"/>
                </a:solidFill>
                <a:latin typeface="Helvetica Neue"/>
                <a:ea typeface="Helvetica Neue"/>
                <a:cs typeface="Helvetica Neue"/>
              </a:defRPr>
            </a:lvl4pPr>
            <a:lvl5pPr algn="l">
              <a:buNone/>
              <a:defRPr sz="3450" b="1">
                <a:solidFill>
                  <a:srgbClr val="F5F5F7"/>
                </a:solidFill>
                <a:latin typeface="Helvetica Neue"/>
                <a:ea typeface="Helvetica Neue"/>
                <a:cs typeface="Helvetica Neue"/>
              </a:defRPr>
            </a:lvl5pPr>
            <a:lvl6pPr algn="l">
              <a:buNone/>
              <a:defRPr sz="3450" b="1">
                <a:solidFill>
                  <a:srgbClr val="F5F5F7"/>
                </a:solidFill>
                <a:latin typeface="Helvetica Neue"/>
                <a:ea typeface="Helvetica Neue"/>
                <a:cs typeface="Helvetica Neue"/>
              </a:defRPr>
            </a:lvl6pPr>
            <a:lvl7pPr algn="l">
              <a:buNone/>
              <a:defRPr sz="3450" b="1">
                <a:solidFill>
                  <a:srgbClr val="F5F5F7"/>
                </a:solidFill>
                <a:latin typeface="Helvetica Neue"/>
                <a:ea typeface="Helvetica Neue"/>
                <a:cs typeface="Helvetica Neue"/>
              </a:defRPr>
            </a:lvl7pPr>
            <a:lvl8pPr algn="l">
              <a:buNone/>
              <a:defRPr sz="3450" b="1">
                <a:solidFill>
                  <a:srgbClr val="F5F5F7"/>
                </a:solidFill>
                <a:latin typeface="Helvetica Neue"/>
                <a:ea typeface="Helvetica Neue"/>
                <a:cs typeface="Helvetica Neue"/>
              </a:defRPr>
            </a:lvl8pPr>
            <a:lvl9pPr algn="l">
              <a:buNone/>
              <a:defRPr sz="3450" b="1">
                <a:solidFill>
                  <a:srgbClr val="F5F5F7"/>
                </a:solidFill>
                <a:latin typeface="Helvetica Neue"/>
                <a:ea typeface="Helvetica Neue"/>
                <a:cs typeface="Helvetica Neue"/>
              </a:defRPr>
            </a:lvl9pPr>
          </a:lstStyle>
          <a:p xmlns:a="http://schemas.openxmlformats.org/drawingml/2006/main">
            <a:pPr algn="l">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Train, dev и test</a:t>
            </a:r>
          </a:p>
        </p:txBody>
      </p:sp>
      <p:pic>
        <p:nvPicPr>
          <p:cNvPr id="16" name="">
            <a:extLst xmlns:a="http://schemas.openxmlformats.org/drawingml/2006/main">
              <a:ext uri="{FF2B5EF4-FFF2-40B4-BE49-F238E27FC236}">
                <a16:creationId xmlns:a16="http://schemas.microsoft.com/office/drawing/2014/main" id="{5736BBFF-AB55-4B22-B222-1A48AC539535}"/>
              </a:ext>
            </a:extLst>
          </p:cNvPr>
          <p:cNvPicPr>
            <a:picLocks xmlns:a="http://schemas.openxmlformats.org/drawingml/2006/main" noChangeAspect="1"/>
          </p:cNvPicPr>
          <p:nvPr/>
        </p:nvPicPr>
        <p:blipFill>
          <a:blip xmlns:r="http://schemas.openxmlformats.org/officeDocument/2006/relationships" xmlns:a="http://schemas.openxmlformats.org/drawingml/2006/main" r:embed="R8f947afda97a4c29"/>
          <a:srcRect xmlns:a="http://schemas.openxmlformats.org/drawingml/2006/main" l="0" t="0" r="0" b="0"/>
          <a:stretch xmlns:a="http://schemas.openxmlformats.org/drawingml/2006/main">
            <a:fillRect l="0" t="0" r="0" b="0"/>
          </a:stretch>
        </p:blipFill>
        <p:spPr>
          <a:xfrm xmlns:a="http://schemas.openxmlformats.org/drawingml/2006/main">
            <a:off x="685800" y="2430622"/>
            <a:ext cx="5905500" cy="3073082"/>
          </a:xfrm>
          <a:prstGeom xmlns:a="http://schemas.openxmlformats.org/drawingml/2006/main" prst="rect">
            <a:avLst/>
          </a:prstGeom>
        </p:spPr>
      </p:pic>
      <p:sp>
        <p:nvSpPr>
          <p:cNvPr id="17" name="theory-4">
            <a:extLst xmlns:a="http://schemas.openxmlformats.org/drawingml/2006/main">
              <a:ext uri="{FF2B5EF4-FFF2-40B4-BE49-F238E27FC236}">
                <a16:creationId xmlns:a16="http://schemas.microsoft.com/office/drawing/2014/main" id="{70BD6E9E-A1C6-44AA-ABBB-34716160CFFF}"/>
              </a:ext>
            </a:extLst>
          </p:cNvPr>
          <p:cNvSpPr>
            <a:spLocks xmlns:a="http://schemas.openxmlformats.org/drawingml/2006/main" noGrp="1"/>
          </p:cNvSpPr>
          <p:nvPr/>
        </p:nvSpPr>
        <p:spPr>
          <a:xfrm xmlns:a="http://schemas.openxmlformats.org/drawingml/2006/main">
            <a:off x="6934200" y="2076450"/>
            <a:ext cx="4572000" cy="406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38" b="0">
                <a:solidFill>
                  <a:srgbClr val="CDCDD3"/>
                </a:solidFill>
                <a:latin typeface="Helvetica Neue"/>
                <a:ea typeface="Helvetica Neue"/>
                <a:cs typeface="Helvetica Neue"/>
              </a:defRPr>
            </a:defPPr>
            <a:lvl1pPr>
              <a:buNone/>
              <a:defRPr sz="1838" b="0">
                <a:solidFill>
                  <a:srgbClr val="CDCDD3"/>
                </a:solidFill>
                <a:latin typeface="Helvetica Neue"/>
                <a:ea typeface="Helvetica Neue"/>
                <a:cs typeface="Helvetica Neue"/>
              </a:defRPr>
            </a:lvl1pPr>
            <a:lvl2pPr>
              <a:buNone/>
              <a:defRPr sz="1838" b="0">
                <a:solidFill>
                  <a:srgbClr val="CDCDD3"/>
                </a:solidFill>
                <a:latin typeface="Helvetica Neue"/>
                <a:ea typeface="Helvetica Neue"/>
                <a:cs typeface="Helvetica Neue"/>
              </a:defRPr>
            </a:lvl2pPr>
            <a:lvl3pPr>
              <a:buNone/>
              <a:defRPr sz="1838" b="0">
                <a:solidFill>
                  <a:srgbClr val="CDCDD3"/>
                </a:solidFill>
                <a:latin typeface="Helvetica Neue"/>
                <a:ea typeface="Helvetica Neue"/>
                <a:cs typeface="Helvetica Neue"/>
              </a:defRPr>
            </a:lvl3pPr>
            <a:lvl4pPr>
              <a:buNone/>
              <a:defRPr sz="1838" b="0">
                <a:solidFill>
                  <a:srgbClr val="CDCDD3"/>
                </a:solidFill>
                <a:latin typeface="Helvetica Neue"/>
                <a:ea typeface="Helvetica Neue"/>
                <a:cs typeface="Helvetica Neue"/>
              </a:defRPr>
            </a:lvl4pPr>
            <a:lvl5pPr>
              <a:buNone/>
              <a:defRPr sz="1838" b="0">
                <a:solidFill>
                  <a:srgbClr val="CDCDD3"/>
                </a:solidFill>
                <a:latin typeface="Helvetica Neue"/>
                <a:ea typeface="Helvetica Neue"/>
                <a:cs typeface="Helvetica Neue"/>
              </a:defRPr>
            </a:lvl5pPr>
            <a:lvl6pPr>
              <a:buNone/>
              <a:defRPr sz="1838" b="0">
                <a:solidFill>
                  <a:srgbClr val="CDCDD3"/>
                </a:solidFill>
                <a:latin typeface="Helvetica Neue"/>
                <a:ea typeface="Helvetica Neue"/>
                <a:cs typeface="Helvetica Neue"/>
              </a:defRPr>
            </a:lvl6pPr>
            <a:lvl7pPr>
              <a:buNone/>
              <a:defRPr sz="1838" b="0">
                <a:solidFill>
                  <a:srgbClr val="CDCDD3"/>
                </a:solidFill>
                <a:latin typeface="Helvetica Neue"/>
                <a:ea typeface="Helvetica Neue"/>
                <a:cs typeface="Helvetica Neue"/>
              </a:defRPr>
            </a:lvl7pPr>
            <a:lvl8pPr>
              <a:buNone/>
              <a:defRPr sz="1838" b="0">
                <a:solidFill>
                  <a:srgbClr val="CDCDD3"/>
                </a:solidFill>
                <a:latin typeface="Helvetica Neue"/>
                <a:ea typeface="Helvetica Neue"/>
                <a:cs typeface="Helvetica Neue"/>
              </a:defRPr>
            </a:lvl8pPr>
            <a:lvl9pPr>
              <a:buNone/>
              <a:defRPr sz="1838" b="0">
                <a:solidFill>
                  <a:srgbClr val="CDCDD3"/>
                </a:solidFill>
                <a:latin typeface="Helvetica Neue"/>
                <a:ea typeface="Helvetica Neue"/>
                <a:cs typeface="Helvetica Neue"/>
              </a:defRPr>
            </a:lvl9pPr>
          </a:lstStyle>
          <a:p xmlns:a="http://schemas.openxmlformats.org/drawingml/2006/main">
            <a:pPr>
              <a:buNone/>
              <a:defRPr sz="1838" b="0">
                <a:solidFill>
                  <a:srgbClr val="CDCDD3"/>
                </a:solidFill>
                <a:latin typeface="Helvetica Neue"/>
                <a:ea typeface="Helvetica Neue"/>
                <a:cs typeface="Helvetica Neue"/>
              </a:defRPr>
            </a:pPr>
            <a:r>
              <a:rPr sz="1838" b="0">
                <a:solidFill>
                  <a:srgbClr val="CDCDD3"/>
                </a:solidFill>
                <a:latin typeface="Helvetica Neue"/>
                <a:ea typeface="Helvetica Neue"/>
                <a:cs typeface="Helvetica Neue"/>
              </a:rPr>
              <a:t>Training Set используют для обучения. Dev-Test Set в этой схеме соответствует валидации: по нему выбирают настройки и варианты решения. Test Set сохраняют для итоговой оценки.</a:t>
            </a:r>
          </a:p>
          <a:p xmlns:a="http://schemas.openxmlformats.org/drawingml/2006/main">
            <a:r>
              <a:t/>
            </a:r>
          </a:p>
          <a:p xmlns:a="http://schemas.openxmlformats.org/drawingml/2006/main">
            <a:pPr>
              <a:buNone/>
              <a:defRPr sz="1838" b="0">
                <a:solidFill>
                  <a:srgbClr val="CDCDD3"/>
                </a:solidFill>
                <a:latin typeface="Helvetica Neue"/>
                <a:ea typeface="Helvetica Neue"/>
                <a:cs typeface="Helvetica Neue"/>
              </a:defRPr>
            </a:pPr>
            <a:r>
              <a:rPr sz="1838" b="0">
                <a:solidFill>
                  <a:srgbClr val="CDCDD3"/>
                </a:solidFill>
                <a:latin typeface="Helvetica Neue"/>
                <a:ea typeface="Helvetica Neue"/>
                <a:cs typeface="Helvetica Neue"/>
              </a:rPr>
              <a:t>Дубликаты и связанные документы не должны создавать утечку между частями. В зависимости от применения разбиение проводят по авторам, объектам или времени. Словарь и статистики признаков оценивают только по тренировочным данным внутри выбранной процедуры проверки.</a:t>
            </a:r>
          </a:p>
        </p:txBody>
      </p:sp>
      <p:sp>
        <p:nvSpPr>
          <p:cNvPr id="18" name="theory-5">
            <a:extLst xmlns:a="http://schemas.openxmlformats.org/drawingml/2006/main">
              <a:ext uri="{FF2B5EF4-FFF2-40B4-BE49-F238E27FC236}">
                <a16:creationId xmlns:a16="http://schemas.microsoft.com/office/drawing/2014/main" id="{497EC834-15F1-4DE8-8164-389D1BE38F5D}"/>
              </a:ext>
            </a:extLst>
          </p:cNvPr>
          <p:cNvSpPr>
            <a:spLocks xmlns:a="http://schemas.openxmlformats.org/drawingml/2006/main" noGrp="1"/>
          </p:cNvSpPr>
          <p:nvPr/>
        </p:nvSpPr>
        <p:spPr>
          <a:xfrm xmlns:a="http://schemas.openxmlformats.org/drawingml/2006/main">
            <a:off x="685800" y="6076950"/>
            <a:ext cx="10820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63" b="0">
                <a:solidFill>
                  <a:srgbClr val="98989F"/>
                </a:solidFill>
                <a:latin typeface="Helvetica Neue"/>
                <a:ea typeface="Helvetica Neue"/>
                <a:cs typeface="Helvetica Neue"/>
              </a:defRPr>
            </a:defPPr>
            <a:lvl1pPr>
              <a:buNone/>
              <a:defRPr sz="1463" b="0">
                <a:solidFill>
                  <a:srgbClr val="98989F"/>
                </a:solidFill>
                <a:latin typeface="Helvetica Neue"/>
                <a:ea typeface="Helvetica Neue"/>
                <a:cs typeface="Helvetica Neue"/>
              </a:defRPr>
            </a:lvl1pPr>
            <a:lvl2pPr>
              <a:buNone/>
              <a:defRPr sz="1463" b="0">
                <a:solidFill>
                  <a:srgbClr val="98989F"/>
                </a:solidFill>
                <a:latin typeface="Helvetica Neue"/>
                <a:ea typeface="Helvetica Neue"/>
                <a:cs typeface="Helvetica Neue"/>
              </a:defRPr>
            </a:lvl2pPr>
            <a:lvl3pPr>
              <a:buNone/>
              <a:defRPr sz="1463" b="0">
                <a:solidFill>
                  <a:srgbClr val="98989F"/>
                </a:solidFill>
                <a:latin typeface="Helvetica Neue"/>
                <a:ea typeface="Helvetica Neue"/>
                <a:cs typeface="Helvetica Neue"/>
              </a:defRPr>
            </a:lvl3pPr>
            <a:lvl4pPr>
              <a:buNone/>
              <a:defRPr sz="1463" b="0">
                <a:solidFill>
                  <a:srgbClr val="98989F"/>
                </a:solidFill>
                <a:latin typeface="Helvetica Neue"/>
                <a:ea typeface="Helvetica Neue"/>
                <a:cs typeface="Helvetica Neue"/>
              </a:defRPr>
            </a:lvl4pPr>
            <a:lvl5pPr>
              <a:buNone/>
              <a:defRPr sz="1463" b="0">
                <a:solidFill>
                  <a:srgbClr val="98989F"/>
                </a:solidFill>
                <a:latin typeface="Helvetica Neue"/>
                <a:ea typeface="Helvetica Neue"/>
                <a:cs typeface="Helvetica Neue"/>
              </a:defRPr>
            </a:lvl5pPr>
            <a:lvl6pPr>
              <a:buNone/>
              <a:defRPr sz="1463" b="0">
                <a:solidFill>
                  <a:srgbClr val="98989F"/>
                </a:solidFill>
                <a:latin typeface="Helvetica Neue"/>
                <a:ea typeface="Helvetica Neue"/>
                <a:cs typeface="Helvetica Neue"/>
              </a:defRPr>
            </a:lvl6pPr>
            <a:lvl7pPr>
              <a:buNone/>
              <a:defRPr sz="1463" b="0">
                <a:solidFill>
                  <a:srgbClr val="98989F"/>
                </a:solidFill>
                <a:latin typeface="Helvetica Neue"/>
                <a:ea typeface="Helvetica Neue"/>
                <a:cs typeface="Helvetica Neue"/>
              </a:defRPr>
            </a:lvl7pPr>
            <a:lvl8pPr>
              <a:buNone/>
              <a:defRPr sz="1463" b="0">
                <a:solidFill>
                  <a:srgbClr val="98989F"/>
                </a:solidFill>
                <a:latin typeface="Helvetica Neue"/>
                <a:ea typeface="Helvetica Neue"/>
                <a:cs typeface="Helvetica Neue"/>
              </a:defRPr>
            </a:lvl8pPr>
            <a:lvl9pPr>
              <a:buNone/>
              <a:defRPr sz="1463" b="0">
                <a:solidFill>
                  <a:srgbClr val="98989F"/>
                </a:solidFill>
                <a:latin typeface="Helvetica Neue"/>
                <a:ea typeface="Helvetica Neue"/>
                <a:cs typeface="Helvetica Neue"/>
              </a:defRPr>
            </a:lvl9pPr>
          </a:lstStyle>
          <a:p xmlns:a="http://schemas.openxmlformats.org/drawingml/2006/main">
            <a:pPr>
              <a:buNone/>
              <a:defRPr sz="1463" b="0">
                <a:solidFill>
                  <a:srgbClr val="98989F"/>
                </a:solidFill>
                <a:latin typeface="Helvetica Neue"/>
                <a:ea typeface="Helvetica Neue"/>
                <a:cs typeface="Helvetica Neue"/>
              </a:defRPr>
            </a:pPr>
            <a:r>
              <a:rPr sz="1463" b="0">
                <a:solidFill>
                  <a:srgbClr val="98989F"/>
                </a:solidFill>
                <a:latin typeface="Helvetica Neue"/>
                <a:ea typeface="Helvetica Neue"/>
                <a:cs typeface="Helvetica Neue"/>
              </a:rPr>
              <a:t>Отдельные части корпуса предназначены для обучения, настройки и итоговой проверки.</a:t>
            </a:r>
          </a:p>
        </p:txBody>
      </p:sp>
      <p:sp>
        <p:nvSpPr>
          <p:cNvPr id="19" name="theory-6">
            <a:extLst xmlns:a="http://schemas.openxmlformats.org/drawingml/2006/main">
              <a:ext uri="{FF2B5EF4-FFF2-40B4-BE49-F238E27FC236}">
                <a16:creationId xmlns:a16="http://schemas.microsoft.com/office/drawing/2014/main" id="{53BB5BBE-61A0-4DAD-BBA8-A829093B6872}"/>
              </a:ext>
            </a:extLst>
          </p:cNvPr>
          <p:cNvSpPr>
            <a:spLocks xmlns:a="http://schemas.openxmlformats.org/drawingml/2006/main" noGrp="1"/>
          </p:cNvSpPr>
          <p:nvPr/>
        </p:nvSpPr>
        <p:spPr>
          <a:xfrm xmlns:a="http://schemas.openxmlformats.org/drawingml/2006/main">
            <a:off x="685800" y="6572250"/>
            <a:ext cx="108204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38" b="0">
                <a:solidFill>
                  <a:srgbClr val="98989F"/>
                </a:solidFill>
                <a:latin typeface="Helvetica Neue"/>
                <a:ea typeface="Helvetica Neue"/>
                <a:cs typeface="Helvetica Neue"/>
              </a:defRPr>
            </a:defPPr>
            <a:lvl1pPr>
              <a:buNone/>
              <a:defRPr sz="1238" b="0">
                <a:solidFill>
                  <a:srgbClr val="98989F"/>
                </a:solidFill>
                <a:latin typeface="Helvetica Neue"/>
                <a:ea typeface="Helvetica Neue"/>
                <a:cs typeface="Helvetica Neue"/>
              </a:defRPr>
            </a:lvl1pPr>
            <a:lvl2pPr>
              <a:buNone/>
              <a:defRPr sz="1238" b="0">
                <a:solidFill>
                  <a:srgbClr val="98989F"/>
                </a:solidFill>
                <a:latin typeface="Helvetica Neue"/>
                <a:ea typeface="Helvetica Neue"/>
                <a:cs typeface="Helvetica Neue"/>
              </a:defRPr>
            </a:lvl2pPr>
            <a:lvl3pPr>
              <a:buNone/>
              <a:defRPr sz="1238" b="0">
                <a:solidFill>
                  <a:srgbClr val="98989F"/>
                </a:solidFill>
                <a:latin typeface="Helvetica Neue"/>
                <a:ea typeface="Helvetica Neue"/>
                <a:cs typeface="Helvetica Neue"/>
              </a:defRPr>
            </a:lvl3pPr>
            <a:lvl4pPr>
              <a:buNone/>
              <a:defRPr sz="1238" b="0">
                <a:solidFill>
                  <a:srgbClr val="98989F"/>
                </a:solidFill>
                <a:latin typeface="Helvetica Neue"/>
                <a:ea typeface="Helvetica Neue"/>
                <a:cs typeface="Helvetica Neue"/>
              </a:defRPr>
            </a:lvl4pPr>
            <a:lvl5pPr>
              <a:buNone/>
              <a:defRPr sz="1238" b="0">
                <a:solidFill>
                  <a:srgbClr val="98989F"/>
                </a:solidFill>
                <a:latin typeface="Helvetica Neue"/>
                <a:ea typeface="Helvetica Neue"/>
                <a:cs typeface="Helvetica Neue"/>
              </a:defRPr>
            </a:lvl5pPr>
            <a:lvl6pPr>
              <a:buNone/>
              <a:defRPr sz="1238" b="0">
                <a:solidFill>
                  <a:srgbClr val="98989F"/>
                </a:solidFill>
                <a:latin typeface="Helvetica Neue"/>
                <a:ea typeface="Helvetica Neue"/>
                <a:cs typeface="Helvetica Neue"/>
              </a:defRPr>
            </a:lvl6pPr>
            <a:lvl7pPr>
              <a:buNone/>
              <a:defRPr sz="1238" b="0">
                <a:solidFill>
                  <a:srgbClr val="98989F"/>
                </a:solidFill>
                <a:latin typeface="Helvetica Neue"/>
                <a:ea typeface="Helvetica Neue"/>
                <a:cs typeface="Helvetica Neue"/>
              </a:defRPr>
            </a:lvl7pPr>
            <a:lvl8pPr>
              <a:buNone/>
              <a:defRPr sz="1238" b="0">
                <a:solidFill>
                  <a:srgbClr val="98989F"/>
                </a:solidFill>
                <a:latin typeface="Helvetica Neue"/>
                <a:ea typeface="Helvetica Neue"/>
                <a:cs typeface="Helvetica Neue"/>
              </a:defRPr>
            </a:lvl8pPr>
            <a:lvl9pPr>
              <a:buNone/>
              <a:defRPr sz="1238" b="0">
                <a:solidFill>
                  <a:srgbClr val="98989F"/>
                </a:solidFill>
                <a:latin typeface="Helvetica Neue"/>
                <a:ea typeface="Helvetica Neue"/>
                <a:cs typeface="Helvetica Neue"/>
              </a:defRPr>
            </a:lvl9pPr>
          </a:lstStyle>
          <a:p xmlns:a="http://schemas.openxmlformats.org/drawingml/2006/main">
            <a:pPr>
              <a:buNone/>
              <a:defRPr sz="1238" b="0">
                <a:solidFill>
                  <a:srgbClr val="98989F"/>
                </a:solidFill>
                <a:latin typeface="Helvetica Neue"/>
                <a:ea typeface="Helvetica Neue"/>
                <a:cs typeface="Helvetica Neue"/>
              </a:defRPr>
            </a:pPr>
            <a:r>
              <a:rPr sz="1238" b="0">
                <a:solidFill>
                  <a:srgbClr val="98989F"/>
                </a:solidFill>
                <a:latin typeface="Helvetica Neue"/>
                <a:ea typeface="Helvetica Neue"/>
                <a:cs typeface="Helvetica Neue"/>
                <a:hlinkClick xmlns:r="http://schemas.openxmlformats.org/officeDocument/2006/relationships" r:id="R1a73353664a54eb8"/>
              </a:rPr>
              <a:t>Источник: NLTK Book, гл. 6</a:t>
            </a:r>
          </a:p>
        </p:txBody>
      </p:sp>
    </p:spTree>
    <p:extLst>
      <p:ext uri="{BB962C8B-B14F-4D97-AF65-F5344CB8AC3E}">
        <p14:creationId xmlns:p14="http://schemas.microsoft.com/office/powerpoint/2010/main" val="1771092886"/>
      </p:ext>
    </p:extLst>
  </p:cSld>
</p:sld>
</file>

<file path=ppt/slides/slide2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8" name="exp90-0">
            <a:extLst xmlns:a="http://schemas.openxmlformats.org/drawingml/2006/main">
              <a:ext uri="{FF2B5EF4-FFF2-40B4-BE49-F238E27FC236}">
                <a16:creationId xmlns:a16="http://schemas.microsoft.com/office/drawing/2014/main" id="{E95F5BE5-D301-4A32-B7A1-F918DD887B1B}"/>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90-1">
            <a:extLst xmlns:a="http://schemas.openxmlformats.org/drawingml/2006/main">
              <a:ext uri="{FF2B5EF4-FFF2-40B4-BE49-F238E27FC236}">
                <a16:creationId xmlns:a16="http://schemas.microsoft.com/office/drawing/2014/main" id="{40CBFE68-78CD-42A6-A828-DB07C07E3D9A}"/>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24</a:t>
            </a:r>
          </a:p>
        </p:txBody>
      </p:sp>
      <p:sp>
        <p:nvSpPr>
          <p:cNvPr id="3" name="">
            <a:extLst xmlns:a="http://schemas.openxmlformats.org/drawingml/2006/main">
              <a:ext uri="{FF2B5EF4-FFF2-40B4-BE49-F238E27FC236}">
                <a16:creationId xmlns:a16="http://schemas.microsoft.com/office/drawing/2014/main" id="{900D6702-AD46-4AC9-850B-D6E1000E78C8}"/>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0">
            <a:solidFill>
              <a:srgbClr val="28282B"/>
            </a:solidFill>
          </a:ln>
        </p:spPr>
      </p:sp>
      <p:sp>
        <p:nvSpPr>
          <p:cNvPr id="4" name="exp90-3">
            <a:extLst xmlns:a="http://schemas.openxmlformats.org/drawingml/2006/main">
              <a:ext uri="{FF2B5EF4-FFF2-40B4-BE49-F238E27FC236}">
                <a16:creationId xmlns:a16="http://schemas.microsoft.com/office/drawing/2014/main" id="{C369F3E3-EE0C-46FA-9C74-3BFCD91F576B}"/>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Group split</a:t>
            </a:r>
          </a:p>
        </p:txBody>
      </p:sp>
      <p:pic>
        <p:nvPicPr>
          <p:cNvPr id="5" name="">
            <a:extLst xmlns:a="http://schemas.openxmlformats.org/drawingml/2006/main">
              <a:ext uri="{FF2B5EF4-FFF2-40B4-BE49-F238E27FC236}">
                <a16:creationId xmlns:a16="http://schemas.microsoft.com/office/drawing/2014/main" id="{619B9A09-2F28-468E-8FD6-2E7F36D27108}"/>
              </a:ext>
            </a:extLst>
          </p:cNvPr>
          <p:cNvPicPr>
            <a:picLocks xmlns:a="http://schemas.openxmlformats.org/drawingml/2006/main" noChangeAspect="1"/>
          </p:cNvPicPr>
          <p:nvPr/>
        </p:nvPicPr>
        <p:blipFill>
          <a:blip xmlns:r="http://schemas.openxmlformats.org/officeDocument/2006/relationships" xmlns:a="http://schemas.openxmlformats.org/drawingml/2006/main" r:embed="R92fa30d32d8a4153"/>
          <a:srcRect xmlns:a="http://schemas.openxmlformats.org/drawingml/2006/main" l="0" t="0" r="0" b="0"/>
          <a:stretch xmlns:a="http://schemas.openxmlformats.org/drawingml/2006/main">
            <a:fillRect l="0" t="0" r="0" b="0"/>
          </a:stretch>
        </p:blipFill>
        <p:spPr>
          <a:xfrm xmlns:a="http://schemas.openxmlformats.org/drawingml/2006/main">
            <a:off x="2047875" y="1943100"/>
            <a:ext cx="8096250" cy="4048125"/>
          </a:xfrm>
          <a:prstGeom xmlns:a="http://schemas.openxmlformats.org/drawingml/2006/main" prst="rect">
            <a:avLst/>
          </a:prstGeom>
        </p:spPr>
      </p:pic>
      <p:sp>
        <p:nvSpPr>
          <p:cNvPr id="6" name="exp90-4">
            <a:extLst xmlns:a="http://schemas.openxmlformats.org/drawingml/2006/main">
              <a:ext uri="{FF2B5EF4-FFF2-40B4-BE49-F238E27FC236}">
                <a16:creationId xmlns:a16="http://schemas.microsoft.com/office/drawing/2014/main" id="{BDFE82E6-B732-42FC-9142-2B4165C420BD}"/>
              </a:ext>
            </a:extLst>
          </p:cNvPr>
          <p:cNvSpPr>
            <a:spLocks xmlns:a="http://schemas.openxmlformats.org/drawingml/2006/main" noGrp="1"/>
          </p:cNvSpPr>
          <p:nvPr/>
        </p:nvSpPr>
        <p:spPr>
          <a:xfrm xmlns:a="http://schemas.openxmlformats.org/drawingml/2006/main">
            <a:off x="685800" y="6153150"/>
            <a:ext cx="10820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CDCDD3"/>
                </a:solidFill>
                <a:latin typeface="Helvetica Neue"/>
                <a:ea typeface="Helvetica Neue"/>
                <a:cs typeface="Helvetica Neue"/>
              </a:defRPr>
            </a:defPPr>
            <a:lvl1pPr>
              <a:buNone/>
              <a:defRPr sz="1650" b="0">
                <a:solidFill>
                  <a:srgbClr val="CDCDD3"/>
                </a:solidFill>
                <a:latin typeface="Helvetica Neue"/>
                <a:ea typeface="Helvetica Neue"/>
                <a:cs typeface="Helvetica Neue"/>
              </a:defRPr>
            </a:lvl1pPr>
            <a:lvl2pPr>
              <a:buNone/>
              <a:defRPr sz="1650" b="0">
                <a:solidFill>
                  <a:srgbClr val="CDCDD3"/>
                </a:solidFill>
                <a:latin typeface="Helvetica Neue"/>
                <a:ea typeface="Helvetica Neue"/>
                <a:cs typeface="Helvetica Neue"/>
              </a:defRPr>
            </a:lvl2pPr>
            <a:lvl3pPr>
              <a:buNone/>
              <a:defRPr sz="1650" b="0">
                <a:solidFill>
                  <a:srgbClr val="CDCDD3"/>
                </a:solidFill>
                <a:latin typeface="Helvetica Neue"/>
                <a:ea typeface="Helvetica Neue"/>
                <a:cs typeface="Helvetica Neue"/>
              </a:defRPr>
            </a:lvl3pPr>
            <a:lvl4pPr>
              <a:buNone/>
              <a:defRPr sz="1650" b="0">
                <a:solidFill>
                  <a:srgbClr val="CDCDD3"/>
                </a:solidFill>
                <a:latin typeface="Helvetica Neue"/>
                <a:ea typeface="Helvetica Neue"/>
                <a:cs typeface="Helvetica Neue"/>
              </a:defRPr>
            </a:lvl4pPr>
            <a:lvl5pPr>
              <a:buNone/>
              <a:defRPr sz="1650" b="0">
                <a:solidFill>
                  <a:srgbClr val="CDCDD3"/>
                </a:solidFill>
                <a:latin typeface="Helvetica Neue"/>
                <a:ea typeface="Helvetica Neue"/>
                <a:cs typeface="Helvetica Neue"/>
              </a:defRPr>
            </a:lvl5pPr>
            <a:lvl6pPr>
              <a:buNone/>
              <a:defRPr sz="1650" b="0">
                <a:solidFill>
                  <a:srgbClr val="CDCDD3"/>
                </a:solidFill>
                <a:latin typeface="Helvetica Neue"/>
                <a:ea typeface="Helvetica Neue"/>
                <a:cs typeface="Helvetica Neue"/>
              </a:defRPr>
            </a:lvl6pPr>
            <a:lvl7pPr>
              <a:buNone/>
              <a:defRPr sz="1650" b="0">
                <a:solidFill>
                  <a:srgbClr val="CDCDD3"/>
                </a:solidFill>
                <a:latin typeface="Helvetica Neue"/>
                <a:ea typeface="Helvetica Neue"/>
                <a:cs typeface="Helvetica Neue"/>
              </a:defRPr>
            </a:lvl7pPr>
            <a:lvl8pPr>
              <a:buNone/>
              <a:defRPr sz="1650" b="0">
                <a:solidFill>
                  <a:srgbClr val="CDCDD3"/>
                </a:solidFill>
                <a:latin typeface="Helvetica Neue"/>
                <a:ea typeface="Helvetica Neue"/>
                <a:cs typeface="Helvetica Neue"/>
              </a:defRPr>
            </a:lvl8pPr>
            <a:lvl9pPr>
              <a:buNone/>
              <a:defRPr sz="1650" b="0">
                <a:solidFill>
                  <a:srgbClr val="CDCDD3"/>
                </a:solidFill>
                <a:latin typeface="Helvetica Neue"/>
                <a:ea typeface="Helvetica Neue"/>
                <a:cs typeface="Helvetica Neue"/>
              </a:defRPr>
            </a:lvl9pPr>
          </a:lstStyle>
          <a:p xmlns:a="http://schemas.openxmlformats.org/drawingml/2006/main">
            <a:pPr>
              <a:buNone/>
              <a:defRPr sz="1650" b="0">
                <a:solidFill>
                  <a:srgbClr val="CDCDD3"/>
                </a:solidFill>
                <a:latin typeface="Helvetica Neue"/>
                <a:ea typeface="Helvetica Neue"/>
                <a:cs typeface="Helvetica Neue"/>
              </a:defRPr>
            </a:pPr>
            <a:r>
              <a:rPr sz="1650" b="0">
                <a:solidFill>
                  <a:srgbClr val="CDCDD3"/>
                </a:solidFill>
                <a:latin typeface="Helvetica Neue"/>
                <a:ea typeface="Helvetica Neue"/>
                <a:cs typeface="Helvetica Neue"/>
              </a:rPr>
              <a:t>Синим показано обучение, оранжевым проверка. Документы одной группы не пересекают границу внутри разбиения.</a:t>
            </a:r>
          </a:p>
        </p:txBody>
      </p:sp>
      <p:sp>
        <p:nvSpPr>
          <p:cNvPr id="7" name="exp90-5">
            <a:extLst xmlns:a="http://schemas.openxmlformats.org/drawingml/2006/main">
              <a:ext uri="{FF2B5EF4-FFF2-40B4-BE49-F238E27FC236}">
                <a16:creationId xmlns:a16="http://schemas.microsoft.com/office/drawing/2014/main" id="{DB484AE4-D771-4453-8707-F88089758A07}"/>
              </a:ext>
            </a:extLst>
          </p:cNvPr>
          <p:cNvSpPr>
            <a:spLocks xmlns:a="http://schemas.openxmlformats.org/drawingml/2006/main" noGrp="1"/>
          </p:cNvSpPr>
          <p:nvPr/>
        </p:nvSpPr>
        <p:spPr>
          <a:xfrm xmlns:a="http://schemas.openxmlformats.org/drawingml/2006/main">
            <a:off x="685800" y="6648450"/>
            <a:ext cx="10820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63" b="0">
                <a:solidFill>
                  <a:srgbClr val="98989F"/>
                </a:solidFill>
                <a:latin typeface="Helvetica Neue"/>
                <a:ea typeface="Helvetica Neue"/>
                <a:cs typeface="Helvetica Neue"/>
              </a:defRPr>
            </a:defPPr>
            <a:lvl1pPr>
              <a:buNone/>
              <a:defRPr sz="1163" b="0">
                <a:solidFill>
                  <a:srgbClr val="98989F"/>
                </a:solidFill>
                <a:latin typeface="Helvetica Neue"/>
                <a:ea typeface="Helvetica Neue"/>
                <a:cs typeface="Helvetica Neue"/>
              </a:defRPr>
            </a:lvl1pPr>
            <a:lvl2pPr>
              <a:buNone/>
              <a:defRPr sz="1163" b="0">
                <a:solidFill>
                  <a:srgbClr val="98989F"/>
                </a:solidFill>
                <a:latin typeface="Helvetica Neue"/>
                <a:ea typeface="Helvetica Neue"/>
                <a:cs typeface="Helvetica Neue"/>
              </a:defRPr>
            </a:lvl2pPr>
            <a:lvl3pPr>
              <a:buNone/>
              <a:defRPr sz="1163" b="0">
                <a:solidFill>
                  <a:srgbClr val="98989F"/>
                </a:solidFill>
                <a:latin typeface="Helvetica Neue"/>
                <a:ea typeface="Helvetica Neue"/>
                <a:cs typeface="Helvetica Neue"/>
              </a:defRPr>
            </a:lvl3pPr>
            <a:lvl4pPr>
              <a:buNone/>
              <a:defRPr sz="1163" b="0">
                <a:solidFill>
                  <a:srgbClr val="98989F"/>
                </a:solidFill>
                <a:latin typeface="Helvetica Neue"/>
                <a:ea typeface="Helvetica Neue"/>
                <a:cs typeface="Helvetica Neue"/>
              </a:defRPr>
            </a:lvl4pPr>
            <a:lvl5pPr>
              <a:buNone/>
              <a:defRPr sz="1163" b="0">
                <a:solidFill>
                  <a:srgbClr val="98989F"/>
                </a:solidFill>
                <a:latin typeface="Helvetica Neue"/>
                <a:ea typeface="Helvetica Neue"/>
                <a:cs typeface="Helvetica Neue"/>
              </a:defRPr>
            </a:lvl5pPr>
            <a:lvl6pPr>
              <a:buNone/>
              <a:defRPr sz="1163" b="0">
                <a:solidFill>
                  <a:srgbClr val="98989F"/>
                </a:solidFill>
                <a:latin typeface="Helvetica Neue"/>
                <a:ea typeface="Helvetica Neue"/>
                <a:cs typeface="Helvetica Neue"/>
              </a:defRPr>
            </a:lvl6pPr>
            <a:lvl7pPr>
              <a:buNone/>
              <a:defRPr sz="1163" b="0">
                <a:solidFill>
                  <a:srgbClr val="98989F"/>
                </a:solidFill>
                <a:latin typeface="Helvetica Neue"/>
                <a:ea typeface="Helvetica Neue"/>
                <a:cs typeface="Helvetica Neue"/>
              </a:defRPr>
            </a:lvl7pPr>
            <a:lvl8pPr>
              <a:buNone/>
              <a:defRPr sz="1163" b="0">
                <a:solidFill>
                  <a:srgbClr val="98989F"/>
                </a:solidFill>
                <a:latin typeface="Helvetica Neue"/>
                <a:ea typeface="Helvetica Neue"/>
                <a:cs typeface="Helvetica Neue"/>
              </a:defRPr>
            </a:lvl8pPr>
            <a:lvl9pPr>
              <a:buNone/>
              <a:defRPr sz="1163" b="0">
                <a:solidFill>
                  <a:srgbClr val="98989F"/>
                </a:solidFill>
                <a:latin typeface="Helvetica Neue"/>
                <a:ea typeface="Helvetica Neue"/>
                <a:cs typeface="Helvetica Neue"/>
              </a:defRPr>
            </a:lvl9pPr>
          </a:lstStyle>
          <a:p xmlns:a="http://schemas.openxmlformats.org/drawingml/2006/main">
            <a:pPr>
              <a:buNone/>
              <a:defRPr sz="1163" b="0">
                <a:solidFill>
                  <a:srgbClr val="98989F"/>
                </a:solidFill>
                <a:latin typeface="Helvetica Neue"/>
                <a:ea typeface="Helvetica Neue"/>
                <a:cs typeface="Helvetica Neue"/>
              </a:defRPr>
            </a:pPr>
            <a:r>
              <a:rPr sz="1163" b="0">
                <a:solidFill>
                  <a:srgbClr val="98989F"/>
                </a:solidFill>
                <a:latin typeface="Helvetica Neue"/>
                <a:ea typeface="Helvetica Neue"/>
                <a:cs typeface="Helvetica Neue"/>
                <a:hlinkClick xmlns:r="http://schemas.openxmlformats.org/officeDocument/2006/relationships" r:id="Re94c301c966c4a05"/>
              </a:rPr>
              <a:t>Источник: Документация scikit-learn</a:t>
            </a:r>
          </a:p>
        </p:txBody>
      </p:sp>
    </p:spTree>
    <p:extLst>
      <p:ext uri="{BB962C8B-B14F-4D97-AF65-F5344CB8AC3E}">
        <p14:creationId xmlns:p14="http://schemas.microsoft.com/office/powerpoint/2010/main" val="248101505"/>
      </p:ext>
    </p:extLst>
  </p:cSld>
</p:sld>
</file>

<file path=ppt/slides/slide2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8" name="exp90-0">
            <a:extLst xmlns:a="http://schemas.openxmlformats.org/drawingml/2006/main">
              <a:ext uri="{FF2B5EF4-FFF2-40B4-BE49-F238E27FC236}">
                <a16:creationId xmlns:a16="http://schemas.microsoft.com/office/drawing/2014/main" id="{1F0323B9-8122-4583-909C-5ABBE84B09ED}"/>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90-1">
            <a:extLst xmlns:a="http://schemas.openxmlformats.org/drawingml/2006/main">
              <a:ext uri="{FF2B5EF4-FFF2-40B4-BE49-F238E27FC236}">
                <a16:creationId xmlns:a16="http://schemas.microsoft.com/office/drawing/2014/main" id="{399E57F5-44B5-4836-ACC6-4E8F51C8419B}"/>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25</a:t>
            </a:r>
          </a:p>
        </p:txBody>
      </p:sp>
      <p:sp>
        <p:nvSpPr>
          <p:cNvPr id="3" name="">
            <a:extLst xmlns:a="http://schemas.openxmlformats.org/drawingml/2006/main">
              <a:ext uri="{FF2B5EF4-FFF2-40B4-BE49-F238E27FC236}">
                <a16:creationId xmlns:a16="http://schemas.microsoft.com/office/drawing/2014/main" id="{B873DCD4-29F8-4B29-A8C0-1562D49C2107}"/>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0">
            <a:solidFill>
              <a:srgbClr val="28282B"/>
            </a:solidFill>
          </a:ln>
        </p:spPr>
      </p:sp>
      <p:sp>
        <p:nvSpPr>
          <p:cNvPr id="4" name="exp90-3">
            <a:extLst xmlns:a="http://schemas.openxmlformats.org/drawingml/2006/main">
              <a:ext uri="{FF2B5EF4-FFF2-40B4-BE49-F238E27FC236}">
                <a16:creationId xmlns:a16="http://schemas.microsoft.com/office/drawing/2014/main" id="{2F02FFE5-6B05-4CFB-B72C-062A377EB030}"/>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Time-based split</a:t>
            </a:r>
          </a:p>
        </p:txBody>
      </p:sp>
      <p:pic>
        <p:nvPicPr>
          <p:cNvPr id="5" name="">
            <a:extLst xmlns:a="http://schemas.openxmlformats.org/drawingml/2006/main">
              <a:ext uri="{FF2B5EF4-FFF2-40B4-BE49-F238E27FC236}">
                <a16:creationId xmlns:a16="http://schemas.microsoft.com/office/drawing/2014/main" id="{34192E47-1383-44CD-AF28-D37F0C07F643}"/>
              </a:ext>
            </a:extLst>
          </p:cNvPr>
          <p:cNvPicPr>
            <a:picLocks xmlns:a="http://schemas.openxmlformats.org/drawingml/2006/main" noChangeAspect="1"/>
          </p:cNvPicPr>
          <p:nvPr/>
        </p:nvPicPr>
        <p:blipFill>
          <a:blip xmlns:r="http://schemas.openxmlformats.org/officeDocument/2006/relationships" xmlns:a="http://schemas.openxmlformats.org/drawingml/2006/main" r:embed="Rbc4ac3b65a8c45c0"/>
          <a:srcRect xmlns:a="http://schemas.openxmlformats.org/drawingml/2006/main" l="0" t="0" r="0" b="0"/>
          <a:stretch xmlns:a="http://schemas.openxmlformats.org/drawingml/2006/main">
            <a:fillRect l="0" t="0" r="0" b="0"/>
          </a:stretch>
        </p:blipFill>
        <p:spPr>
          <a:xfrm xmlns:a="http://schemas.openxmlformats.org/drawingml/2006/main">
            <a:off x="2047875" y="1943100"/>
            <a:ext cx="8096250" cy="4048125"/>
          </a:xfrm>
          <a:prstGeom xmlns:a="http://schemas.openxmlformats.org/drawingml/2006/main" prst="rect">
            <a:avLst/>
          </a:prstGeom>
        </p:spPr>
      </p:pic>
      <p:sp>
        <p:nvSpPr>
          <p:cNvPr id="6" name="exp90-4">
            <a:extLst xmlns:a="http://schemas.openxmlformats.org/drawingml/2006/main">
              <a:ext uri="{FF2B5EF4-FFF2-40B4-BE49-F238E27FC236}">
                <a16:creationId xmlns:a16="http://schemas.microsoft.com/office/drawing/2014/main" id="{BB800393-8920-44B5-A199-801EE9853ED1}"/>
              </a:ext>
            </a:extLst>
          </p:cNvPr>
          <p:cNvSpPr>
            <a:spLocks xmlns:a="http://schemas.openxmlformats.org/drawingml/2006/main" noGrp="1"/>
          </p:cNvSpPr>
          <p:nvPr/>
        </p:nvSpPr>
        <p:spPr>
          <a:xfrm xmlns:a="http://schemas.openxmlformats.org/drawingml/2006/main">
            <a:off x="685800" y="6153150"/>
            <a:ext cx="10820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CDCDD3"/>
                </a:solidFill>
                <a:latin typeface="Helvetica Neue"/>
                <a:ea typeface="Helvetica Neue"/>
                <a:cs typeface="Helvetica Neue"/>
              </a:defRPr>
            </a:defPPr>
            <a:lvl1pPr>
              <a:buNone/>
              <a:defRPr sz="1650" b="0">
                <a:solidFill>
                  <a:srgbClr val="CDCDD3"/>
                </a:solidFill>
                <a:latin typeface="Helvetica Neue"/>
                <a:ea typeface="Helvetica Neue"/>
                <a:cs typeface="Helvetica Neue"/>
              </a:defRPr>
            </a:lvl1pPr>
            <a:lvl2pPr>
              <a:buNone/>
              <a:defRPr sz="1650" b="0">
                <a:solidFill>
                  <a:srgbClr val="CDCDD3"/>
                </a:solidFill>
                <a:latin typeface="Helvetica Neue"/>
                <a:ea typeface="Helvetica Neue"/>
                <a:cs typeface="Helvetica Neue"/>
              </a:defRPr>
            </a:lvl2pPr>
            <a:lvl3pPr>
              <a:buNone/>
              <a:defRPr sz="1650" b="0">
                <a:solidFill>
                  <a:srgbClr val="CDCDD3"/>
                </a:solidFill>
                <a:latin typeface="Helvetica Neue"/>
                <a:ea typeface="Helvetica Neue"/>
                <a:cs typeface="Helvetica Neue"/>
              </a:defRPr>
            </a:lvl3pPr>
            <a:lvl4pPr>
              <a:buNone/>
              <a:defRPr sz="1650" b="0">
                <a:solidFill>
                  <a:srgbClr val="CDCDD3"/>
                </a:solidFill>
                <a:latin typeface="Helvetica Neue"/>
                <a:ea typeface="Helvetica Neue"/>
                <a:cs typeface="Helvetica Neue"/>
              </a:defRPr>
            </a:lvl4pPr>
            <a:lvl5pPr>
              <a:buNone/>
              <a:defRPr sz="1650" b="0">
                <a:solidFill>
                  <a:srgbClr val="CDCDD3"/>
                </a:solidFill>
                <a:latin typeface="Helvetica Neue"/>
                <a:ea typeface="Helvetica Neue"/>
                <a:cs typeface="Helvetica Neue"/>
              </a:defRPr>
            </a:lvl5pPr>
            <a:lvl6pPr>
              <a:buNone/>
              <a:defRPr sz="1650" b="0">
                <a:solidFill>
                  <a:srgbClr val="CDCDD3"/>
                </a:solidFill>
                <a:latin typeface="Helvetica Neue"/>
                <a:ea typeface="Helvetica Neue"/>
                <a:cs typeface="Helvetica Neue"/>
              </a:defRPr>
            </a:lvl6pPr>
            <a:lvl7pPr>
              <a:buNone/>
              <a:defRPr sz="1650" b="0">
                <a:solidFill>
                  <a:srgbClr val="CDCDD3"/>
                </a:solidFill>
                <a:latin typeface="Helvetica Neue"/>
                <a:ea typeface="Helvetica Neue"/>
                <a:cs typeface="Helvetica Neue"/>
              </a:defRPr>
            </a:lvl7pPr>
            <a:lvl8pPr>
              <a:buNone/>
              <a:defRPr sz="1650" b="0">
                <a:solidFill>
                  <a:srgbClr val="CDCDD3"/>
                </a:solidFill>
                <a:latin typeface="Helvetica Neue"/>
                <a:ea typeface="Helvetica Neue"/>
                <a:cs typeface="Helvetica Neue"/>
              </a:defRPr>
            </a:lvl8pPr>
            <a:lvl9pPr>
              <a:buNone/>
              <a:defRPr sz="1650" b="0">
                <a:solidFill>
                  <a:srgbClr val="CDCDD3"/>
                </a:solidFill>
                <a:latin typeface="Helvetica Neue"/>
                <a:ea typeface="Helvetica Neue"/>
                <a:cs typeface="Helvetica Neue"/>
              </a:defRPr>
            </a:lvl9pPr>
          </a:lstStyle>
          <a:p xmlns:a="http://schemas.openxmlformats.org/drawingml/2006/main">
            <a:pPr>
              <a:buNone/>
              <a:defRPr sz="1650" b="0">
                <a:solidFill>
                  <a:srgbClr val="CDCDD3"/>
                </a:solidFill>
                <a:latin typeface="Helvetica Neue"/>
                <a:ea typeface="Helvetica Neue"/>
                <a:cs typeface="Helvetica Neue"/>
              </a:defRPr>
            </a:pPr>
            <a:r>
              <a:rPr sz="1650" b="0">
                <a:solidFill>
                  <a:srgbClr val="CDCDD3"/>
                </a:solidFill>
                <a:latin typeface="Helvetica Neue"/>
                <a:ea typeface="Helvetica Neue"/>
                <a:cs typeface="Helvetica Neue"/>
              </a:rPr>
              <a:t>Обучение использует прошлые данные, проверка использует следующий интервал. По оси X отложен порядок объектов.</a:t>
            </a:r>
          </a:p>
        </p:txBody>
      </p:sp>
      <p:sp>
        <p:nvSpPr>
          <p:cNvPr id="7" name="exp90-5">
            <a:extLst xmlns:a="http://schemas.openxmlformats.org/drawingml/2006/main">
              <a:ext uri="{FF2B5EF4-FFF2-40B4-BE49-F238E27FC236}">
                <a16:creationId xmlns:a16="http://schemas.microsoft.com/office/drawing/2014/main" id="{9ADF5573-1C52-4F8B-AB9D-8FB2155F8A77}"/>
              </a:ext>
            </a:extLst>
          </p:cNvPr>
          <p:cNvSpPr>
            <a:spLocks xmlns:a="http://schemas.openxmlformats.org/drawingml/2006/main" noGrp="1"/>
          </p:cNvSpPr>
          <p:nvPr/>
        </p:nvSpPr>
        <p:spPr>
          <a:xfrm xmlns:a="http://schemas.openxmlformats.org/drawingml/2006/main">
            <a:off x="685800" y="6648450"/>
            <a:ext cx="10820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63" b="0">
                <a:solidFill>
                  <a:srgbClr val="98989F"/>
                </a:solidFill>
                <a:latin typeface="Helvetica Neue"/>
                <a:ea typeface="Helvetica Neue"/>
                <a:cs typeface="Helvetica Neue"/>
              </a:defRPr>
            </a:defPPr>
            <a:lvl1pPr>
              <a:buNone/>
              <a:defRPr sz="1163" b="0">
                <a:solidFill>
                  <a:srgbClr val="98989F"/>
                </a:solidFill>
                <a:latin typeface="Helvetica Neue"/>
                <a:ea typeface="Helvetica Neue"/>
                <a:cs typeface="Helvetica Neue"/>
              </a:defRPr>
            </a:lvl1pPr>
            <a:lvl2pPr>
              <a:buNone/>
              <a:defRPr sz="1163" b="0">
                <a:solidFill>
                  <a:srgbClr val="98989F"/>
                </a:solidFill>
                <a:latin typeface="Helvetica Neue"/>
                <a:ea typeface="Helvetica Neue"/>
                <a:cs typeface="Helvetica Neue"/>
              </a:defRPr>
            </a:lvl2pPr>
            <a:lvl3pPr>
              <a:buNone/>
              <a:defRPr sz="1163" b="0">
                <a:solidFill>
                  <a:srgbClr val="98989F"/>
                </a:solidFill>
                <a:latin typeface="Helvetica Neue"/>
                <a:ea typeface="Helvetica Neue"/>
                <a:cs typeface="Helvetica Neue"/>
              </a:defRPr>
            </a:lvl3pPr>
            <a:lvl4pPr>
              <a:buNone/>
              <a:defRPr sz="1163" b="0">
                <a:solidFill>
                  <a:srgbClr val="98989F"/>
                </a:solidFill>
                <a:latin typeface="Helvetica Neue"/>
                <a:ea typeface="Helvetica Neue"/>
                <a:cs typeface="Helvetica Neue"/>
              </a:defRPr>
            </a:lvl4pPr>
            <a:lvl5pPr>
              <a:buNone/>
              <a:defRPr sz="1163" b="0">
                <a:solidFill>
                  <a:srgbClr val="98989F"/>
                </a:solidFill>
                <a:latin typeface="Helvetica Neue"/>
                <a:ea typeface="Helvetica Neue"/>
                <a:cs typeface="Helvetica Neue"/>
              </a:defRPr>
            </a:lvl5pPr>
            <a:lvl6pPr>
              <a:buNone/>
              <a:defRPr sz="1163" b="0">
                <a:solidFill>
                  <a:srgbClr val="98989F"/>
                </a:solidFill>
                <a:latin typeface="Helvetica Neue"/>
                <a:ea typeface="Helvetica Neue"/>
                <a:cs typeface="Helvetica Neue"/>
              </a:defRPr>
            </a:lvl6pPr>
            <a:lvl7pPr>
              <a:buNone/>
              <a:defRPr sz="1163" b="0">
                <a:solidFill>
                  <a:srgbClr val="98989F"/>
                </a:solidFill>
                <a:latin typeface="Helvetica Neue"/>
                <a:ea typeface="Helvetica Neue"/>
                <a:cs typeface="Helvetica Neue"/>
              </a:defRPr>
            </a:lvl7pPr>
            <a:lvl8pPr>
              <a:buNone/>
              <a:defRPr sz="1163" b="0">
                <a:solidFill>
                  <a:srgbClr val="98989F"/>
                </a:solidFill>
                <a:latin typeface="Helvetica Neue"/>
                <a:ea typeface="Helvetica Neue"/>
                <a:cs typeface="Helvetica Neue"/>
              </a:defRPr>
            </a:lvl8pPr>
            <a:lvl9pPr>
              <a:buNone/>
              <a:defRPr sz="1163" b="0">
                <a:solidFill>
                  <a:srgbClr val="98989F"/>
                </a:solidFill>
                <a:latin typeface="Helvetica Neue"/>
                <a:ea typeface="Helvetica Neue"/>
                <a:cs typeface="Helvetica Neue"/>
              </a:defRPr>
            </a:lvl9pPr>
          </a:lstStyle>
          <a:p xmlns:a="http://schemas.openxmlformats.org/drawingml/2006/main">
            <a:pPr>
              <a:buNone/>
              <a:defRPr sz="1163" b="0">
                <a:solidFill>
                  <a:srgbClr val="98989F"/>
                </a:solidFill>
                <a:latin typeface="Helvetica Neue"/>
                <a:ea typeface="Helvetica Neue"/>
                <a:cs typeface="Helvetica Neue"/>
              </a:defRPr>
            </a:pPr>
            <a:r>
              <a:rPr sz="1163" b="0">
                <a:solidFill>
                  <a:srgbClr val="98989F"/>
                </a:solidFill>
                <a:latin typeface="Helvetica Neue"/>
                <a:ea typeface="Helvetica Neue"/>
                <a:cs typeface="Helvetica Neue"/>
                <a:hlinkClick xmlns:r="http://schemas.openxmlformats.org/officeDocument/2006/relationships" r:id="R79d8c663485e410d"/>
              </a:rPr>
              <a:t>Источник: Документация scikit-learn</a:t>
            </a:r>
          </a:p>
        </p:txBody>
      </p:sp>
    </p:spTree>
    <p:extLst>
      <p:ext uri="{BB962C8B-B14F-4D97-AF65-F5344CB8AC3E}">
        <p14:creationId xmlns:p14="http://schemas.microsoft.com/office/powerpoint/2010/main" val="769315289"/>
      </p:ext>
    </p:extLst>
  </p:cSld>
</p:sld>
</file>

<file path=ppt/slides/slide2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7DCCC007-2B7A-4AF6-8BD2-72AD64813221}"/>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98989F"/>
                </a:solidFill>
                <a:latin typeface="Helvetica Neue"/>
                <a:ea typeface="Helvetica Neue"/>
                <a:cs typeface="Helvetica Neue"/>
              </a:defRPr>
            </a:defPPr>
            <a:lvl1pPr algn="l">
              <a:buNone/>
              <a:defRPr sz="1425" b="0">
                <a:solidFill>
                  <a:srgbClr val="98989F"/>
                </a:solidFill>
                <a:latin typeface="Helvetica Neue"/>
                <a:ea typeface="Helvetica Neue"/>
                <a:cs typeface="Helvetica Neue"/>
              </a:defRPr>
            </a:lvl1pPr>
            <a:lvl2pPr algn="l">
              <a:buNone/>
              <a:defRPr sz="1425" b="0">
                <a:solidFill>
                  <a:srgbClr val="98989F"/>
                </a:solidFill>
                <a:latin typeface="Helvetica Neue"/>
                <a:ea typeface="Helvetica Neue"/>
                <a:cs typeface="Helvetica Neue"/>
              </a:defRPr>
            </a:lvl2pPr>
            <a:lvl3pPr algn="l">
              <a:buNone/>
              <a:defRPr sz="1425" b="0">
                <a:solidFill>
                  <a:srgbClr val="98989F"/>
                </a:solidFill>
                <a:latin typeface="Helvetica Neue"/>
                <a:ea typeface="Helvetica Neue"/>
                <a:cs typeface="Helvetica Neue"/>
              </a:defRPr>
            </a:lvl3pPr>
            <a:lvl4pPr algn="l">
              <a:buNone/>
              <a:defRPr sz="1425" b="0">
                <a:solidFill>
                  <a:srgbClr val="98989F"/>
                </a:solidFill>
                <a:latin typeface="Helvetica Neue"/>
                <a:ea typeface="Helvetica Neue"/>
                <a:cs typeface="Helvetica Neue"/>
              </a:defRPr>
            </a:lvl4pPr>
            <a:lvl5pPr algn="l">
              <a:buNone/>
              <a:defRPr sz="1425" b="0">
                <a:solidFill>
                  <a:srgbClr val="98989F"/>
                </a:solidFill>
                <a:latin typeface="Helvetica Neue"/>
                <a:ea typeface="Helvetica Neue"/>
                <a:cs typeface="Helvetica Neue"/>
              </a:defRPr>
            </a:lvl5pPr>
            <a:lvl6pPr algn="l">
              <a:buNone/>
              <a:defRPr sz="1425" b="0">
                <a:solidFill>
                  <a:srgbClr val="98989F"/>
                </a:solidFill>
                <a:latin typeface="Helvetica Neue"/>
                <a:ea typeface="Helvetica Neue"/>
                <a:cs typeface="Helvetica Neue"/>
              </a:defRPr>
            </a:lvl6pPr>
            <a:lvl7pPr algn="l">
              <a:buNone/>
              <a:defRPr sz="1425" b="0">
                <a:solidFill>
                  <a:srgbClr val="98989F"/>
                </a:solidFill>
                <a:latin typeface="Helvetica Neue"/>
                <a:ea typeface="Helvetica Neue"/>
                <a:cs typeface="Helvetica Neue"/>
              </a:defRPr>
            </a:lvl7pPr>
            <a:lvl8pPr algn="l">
              <a:buNone/>
              <a:defRPr sz="1425" b="0">
                <a:solidFill>
                  <a:srgbClr val="98989F"/>
                </a:solidFill>
                <a:latin typeface="Helvetica Neue"/>
                <a:ea typeface="Helvetica Neue"/>
                <a:cs typeface="Helvetica Neue"/>
              </a:defRPr>
            </a:lvl8pPr>
            <a:lvl9pPr algn="l">
              <a:buNone/>
              <a:defRPr sz="1425" b="0">
                <a:solidFill>
                  <a:srgbClr val="98989F"/>
                </a:solidFill>
                <a:latin typeface="Helvetica Neue"/>
                <a:ea typeface="Helvetica Neue"/>
                <a:cs typeface="Helvetica Neue"/>
              </a:defRPr>
            </a:lvl9pPr>
          </a:lstStyle>
          <a:p xmlns:a="http://schemas.openxmlformats.org/drawingml/2006/main">
            <a:pPr algn="l">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text-1">
            <a:extLst xmlns:a="http://schemas.openxmlformats.org/drawingml/2006/main">
              <a:ext uri="{FF2B5EF4-FFF2-40B4-BE49-F238E27FC236}">
                <a16:creationId xmlns:a16="http://schemas.microsoft.com/office/drawing/2014/main" id="{48F7BAD3-BAF4-4D5E-A800-16C6E579904A}"/>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26</a:t>
            </a:r>
          </a:p>
        </p:txBody>
      </p:sp>
      <p:sp>
        <p:nvSpPr>
          <p:cNvPr id="3" name="">
            <a:extLst xmlns:a="http://schemas.openxmlformats.org/drawingml/2006/main">
              <a:ext uri="{FF2B5EF4-FFF2-40B4-BE49-F238E27FC236}">
                <a16:creationId xmlns:a16="http://schemas.microsoft.com/office/drawing/2014/main" id="{255FE339-3E7F-4B60-8368-BB2DDC40327E}"/>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prstDash val="solid"/>
          </a:ln>
        </p:spPr>
      </p:sp>
      <p:sp>
        <p:nvSpPr>
          <p:cNvPr id="4" name="text-3">
            <a:extLst xmlns:a="http://schemas.openxmlformats.org/drawingml/2006/main">
              <a:ext uri="{FF2B5EF4-FFF2-40B4-BE49-F238E27FC236}">
                <a16:creationId xmlns:a16="http://schemas.microsoft.com/office/drawing/2014/main" id="{CF40AE97-7FC4-4394-8595-3EEA3DCBFB29}"/>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5F7"/>
                </a:solidFill>
                <a:latin typeface="Helvetica Neue"/>
                <a:ea typeface="Helvetica Neue"/>
                <a:cs typeface="Helvetica Neue"/>
              </a:defRPr>
            </a:defPPr>
            <a:lvl1pPr algn="l">
              <a:buNone/>
              <a:defRPr sz="3450" b="1">
                <a:solidFill>
                  <a:srgbClr val="F5F5F7"/>
                </a:solidFill>
                <a:latin typeface="Helvetica Neue"/>
                <a:ea typeface="Helvetica Neue"/>
                <a:cs typeface="Helvetica Neue"/>
              </a:defRPr>
            </a:lvl1pPr>
            <a:lvl2pPr algn="l">
              <a:buNone/>
              <a:defRPr sz="3450" b="1">
                <a:solidFill>
                  <a:srgbClr val="F5F5F7"/>
                </a:solidFill>
                <a:latin typeface="Helvetica Neue"/>
                <a:ea typeface="Helvetica Neue"/>
                <a:cs typeface="Helvetica Neue"/>
              </a:defRPr>
            </a:lvl2pPr>
            <a:lvl3pPr algn="l">
              <a:buNone/>
              <a:defRPr sz="3450" b="1">
                <a:solidFill>
                  <a:srgbClr val="F5F5F7"/>
                </a:solidFill>
                <a:latin typeface="Helvetica Neue"/>
                <a:ea typeface="Helvetica Neue"/>
                <a:cs typeface="Helvetica Neue"/>
              </a:defRPr>
            </a:lvl3pPr>
            <a:lvl4pPr algn="l">
              <a:buNone/>
              <a:defRPr sz="3450" b="1">
                <a:solidFill>
                  <a:srgbClr val="F5F5F7"/>
                </a:solidFill>
                <a:latin typeface="Helvetica Neue"/>
                <a:ea typeface="Helvetica Neue"/>
                <a:cs typeface="Helvetica Neue"/>
              </a:defRPr>
            </a:lvl4pPr>
            <a:lvl5pPr algn="l">
              <a:buNone/>
              <a:defRPr sz="3450" b="1">
                <a:solidFill>
                  <a:srgbClr val="F5F5F7"/>
                </a:solidFill>
                <a:latin typeface="Helvetica Neue"/>
                <a:ea typeface="Helvetica Neue"/>
                <a:cs typeface="Helvetica Neue"/>
              </a:defRPr>
            </a:lvl5pPr>
            <a:lvl6pPr algn="l">
              <a:buNone/>
              <a:defRPr sz="3450" b="1">
                <a:solidFill>
                  <a:srgbClr val="F5F5F7"/>
                </a:solidFill>
                <a:latin typeface="Helvetica Neue"/>
                <a:ea typeface="Helvetica Neue"/>
                <a:cs typeface="Helvetica Neue"/>
              </a:defRPr>
            </a:lvl6pPr>
            <a:lvl7pPr algn="l">
              <a:buNone/>
              <a:defRPr sz="3450" b="1">
                <a:solidFill>
                  <a:srgbClr val="F5F5F7"/>
                </a:solidFill>
                <a:latin typeface="Helvetica Neue"/>
                <a:ea typeface="Helvetica Neue"/>
                <a:cs typeface="Helvetica Neue"/>
              </a:defRPr>
            </a:lvl7pPr>
            <a:lvl8pPr algn="l">
              <a:buNone/>
              <a:defRPr sz="3450" b="1">
                <a:solidFill>
                  <a:srgbClr val="F5F5F7"/>
                </a:solidFill>
                <a:latin typeface="Helvetica Neue"/>
                <a:ea typeface="Helvetica Neue"/>
                <a:cs typeface="Helvetica Neue"/>
              </a:defRPr>
            </a:lvl8pPr>
            <a:lvl9pPr algn="l">
              <a:buNone/>
              <a:defRPr sz="3450" b="1">
                <a:solidFill>
                  <a:srgbClr val="F5F5F7"/>
                </a:solidFill>
                <a:latin typeface="Helvetica Neue"/>
                <a:ea typeface="Helvetica Neue"/>
                <a:cs typeface="Helvetica Neue"/>
              </a:defRPr>
            </a:lvl9pPr>
          </a:lstStyle>
          <a:p xmlns:a="http://schemas.openxmlformats.org/drawingml/2006/main">
            <a:pPr algn="l">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Text preprocessing</a:t>
            </a:r>
          </a:p>
        </p:txBody>
      </p:sp>
      <p:sp>
        <p:nvSpPr>
          <p:cNvPr id="9" name="theory-4">
            <a:extLst xmlns:a="http://schemas.openxmlformats.org/drawingml/2006/main">
              <a:ext uri="{FF2B5EF4-FFF2-40B4-BE49-F238E27FC236}">
                <a16:creationId xmlns:a16="http://schemas.microsoft.com/office/drawing/2014/main" id="{11FCD57B-FE51-4927-99DD-7BB8C76624EC}"/>
              </a:ext>
            </a:extLst>
          </p:cNvPr>
          <p:cNvSpPr>
            <a:spLocks xmlns:a="http://schemas.openxmlformats.org/drawingml/2006/main" noGrp="1"/>
          </p:cNvSpPr>
          <p:nvPr/>
        </p:nvSpPr>
        <p:spPr>
          <a:xfrm xmlns:a="http://schemas.openxmlformats.org/drawingml/2006/main">
            <a:off x="685800" y="20478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buNone/>
              <a:defRPr sz="1950" b="1">
                <a:solidFill>
                  <a:srgbClr val="BD9FE3"/>
                </a:solidFill>
                <a:latin typeface="Helvetica Neue"/>
                <a:ea typeface="Helvetica Neue"/>
                <a:cs typeface="Helvetica Neue"/>
              </a:defRPr>
            </a:lvl1pPr>
            <a:lvl2pPr>
              <a:buNone/>
              <a:defRPr sz="1950" b="1">
                <a:solidFill>
                  <a:srgbClr val="BD9FE3"/>
                </a:solidFill>
                <a:latin typeface="Helvetica Neue"/>
                <a:ea typeface="Helvetica Neue"/>
                <a:cs typeface="Helvetica Neue"/>
              </a:defRPr>
            </a:lvl2pPr>
            <a:lvl3pPr>
              <a:buNone/>
              <a:defRPr sz="1950" b="1">
                <a:solidFill>
                  <a:srgbClr val="BD9FE3"/>
                </a:solidFill>
                <a:latin typeface="Helvetica Neue"/>
                <a:ea typeface="Helvetica Neue"/>
                <a:cs typeface="Helvetica Neue"/>
              </a:defRPr>
            </a:lvl3pPr>
            <a:lvl4pPr>
              <a:buNone/>
              <a:defRPr sz="1950" b="1">
                <a:solidFill>
                  <a:srgbClr val="BD9FE3"/>
                </a:solidFill>
                <a:latin typeface="Helvetica Neue"/>
                <a:ea typeface="Helvetica Neue"/>
                <a:cs typeface="Helvetica Neue"/>
              </a:defRPr>
            </a:lvl4pPr>
            <a:lvl5pPr>
              <a:buNone/>
              <a:defRPr sz="1950" b="1">
                <a:solidFill>
                  <a:srgbClr val="BD9FE3"/>
                </a:solidFill>
                <a:latin typeface="Helvetica Neue"/>
                <a:ea typeface="Helvetica Neue"/>
                <a:cs typeface="Helvetica Neue"/>
              </a:defRPr>
            </a:lvl5pPr>
            <a:lvl6pPr>
              <a:buNone/>
              <a:defRPr sz="1950" b="1">
                <a:solidFill>
                  <a:srgbClr val="BD9FE3"/>
                </a:solidFill>
                <a:latin typeface="Helvetica Neue"/>
                <a:ea typeface="Helvetica Neue"/>
                <a:cs typeface="Helvetica Neue"/>
              </a:defRPr>
            </a:lvl6pPr>
            <a:lvl7pPr>
              <a:buNone/>
              <a:defRPr sz="1950" b="1">
                <a:solidFill>
                  <a:srgbClr val="BD9FE3"/>
                </a:solidFill>
                <a:latin typeface="Helvetica Neue"/>
                <a:ea typeface="Helvetica Neue"/>
                <a:cs typeface="Helvetica Neue"/>
              </a:defRPr>
            </a:lvl7pPr>
            <a:lvl8pPr>
              <a:buNone/>
              <a:defRPr sz="1950" b="1">
                <a:solidFill>
                  <a:srgbClr val="BD9FE3"/>
                </a:solidFill>
                <a:latin typeface="Helvetica Neue"/>
                <a:ea typeface="Helvetica Neue"/>
                <a:cs typeface="Helvetica Neue"/>
              </a:defRPr>
            </a:lvl8pPr>
            <a:lvl9pPr>
              <a:buNone/>
              <a:defRPr sz="1950" b="1">
                <a:solidFill>
                  <a:srgbClr val="BD9FE3"/>
                </a:solidFill>
                <a:latin typeface="Helvetica Neue"/>
                <a:ea typeface="Helvetica Neue"/>
                <a:cs typeface="Helvetica Neue"/>
              </a:defRPr>
            </a:lvl9pPr>
          </a:lstStyle>
          <a:p xmlns:a="http://schemas.openxmlformats.org/drawingml/2006/main">
            <a:pPr>
              <a:buNone/>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Техническая согласованность</a:t>
            </a:r>
          </a:p>
        </p:txBody>
      </p:sp>
      <p:sp>
        <p:nvSpPr>
          <p:cNvPr id="10" name="theory-5">
            <a:extLst xmlns:a="http://schemas.openxmlformats.org/drawingml/2006/main">
              <a:ext uri="{FF2B5EF4-FFF2-40B4-BE49-F238E27FC236}">
                <a16:creationId xmlns:a16="http://schemas.microsoft.com/office/drawing/2014/main" id="{3037C157-2403-4211-879D-7AE0E20227A7}"/>
              </a:ext>
            </a:extLst>
          </p:cNvPr>
          <p:cNvSpPr>
            <a:spLocks xmlns:a="http://schemas.openxmlformats.org/drawingml/2006/main" noGrp="1"/>
          </p:cNvSpPr>
          <p:nvPr/>
        </p:nvSpPr>
        <p:spPr>
          <a:xfrm xmlns:a="http://schemas.openxmlformats.org/drawingml/2006/main">
            <a:off x="685800" y="2514600"/>
            <a:ext cx="108204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buNone/>
              <a:defRPr sz="2025" b="0">
                <a:solidFill>
                  <a:srgbClr val="CDCDD3"/>
                </a:solidFill>
                <a:latin typeface="Helvetica Neue"/>
                <a:ea typeface="Helvetica Neue"/>
                <a:cs typeface="Helvetica Neue"/>
              </a:defRPr>
            </a:lvl1pPr>
            <a:lvl2pPr>
              <a:buNone/>
              <a:defRPr sz="2025" b="0">
                <a:solidFill>
                  <a:srgbClr val="CDCDD3"/>
                </a:solidFill>
                <a:latin typeface="Helvetica Neue"/>
                <a:ea typeface="Helvetica Neue"/>
                <a:cs typeface="Helvetica Neue"/>
              </a:defRPr>
            </a:lvl2pPr>
            <a:lvl3pPr>
              <a:buNone/>
              <a:defRPr sz="2025" b="0">
                <a:solidFill>
                  <a:srgbClr val="CDCDD3"/>
                </a:solidFill>
                <a:latin typeface="Helvetica Neue"/>
                <a:ea typeface="Helvetica Neue"/>
                <a:cs typeface="Helvetica Neue"/>
              </a:defRPr>
            </a:lvl3pPr>
            <a:lvl4pPr>
              <a:buNone/>
              <a:defRPr sz="2025" b="0">
                <a:solidFill>
                  <a:srgbClr val="CDCDD3"/>
                </a:solidFill>
                <a:latin typeface="Helvetica Neue"/>
                <a:ea typeface="Helvetica Neue"/>
                <a:cs typeface="Helvetica Neue"/>
              </a:defRPr>
            </a:lvl4pPr>
            <a:lvl5pPr>
              <a:buNone/>
              <a:defRPr sz="2025" b="0">
                <a:solidFill>
                  <a:srgbClr val="CDCDD3"/>
                </a:solidFill>
                <a:latin typeface="Helvetica Neue"/>
                <a:ea typeface="Helvetica Neue"/>
                <a:cs typeface="Helvetica Neue"/>
              </a:defRPr>
            </a:lvl5pPr>
            <a:lvl6pPr>
              <a:buNone/>
              <a:defRPr sz="2025" b="0">
                <a:solidFill>
                  <a:srgbClr val="CDCDD3"/>
                </a:solidFill>
                <a:latin typeface="Helvetica Neue"/>
                <a:ea typeface="Helvetica Neue"/>
                <a:cs typeface="Helvetica Neue"/>
              </a:defRPr>
            </a:lvl6pPr>
            <a:lvl7pPr>
              <a:buNone/>
              <a:defRPr sz="2025" b="0">
                <a:solidFill>
                  <a:srgbClr val="CDCDD3"/>
                </a:solidFill>
                <a:latin typeface="Helvetica Neue"/>
                <a:ea typeface="Helvetica Neue"/>
                <a:cs typeface="Helvetica Neue"/>
              </a:defRPr>
            </a:lvl7pPr>
            <a:lvl8pPr>
              <a:buNone/>
              <a:defRPr sz="2025" b="0">
                <a:solidFill>
                  <a:srgbClr val="CDCDD3"/>
                </a:solidFill>
                <a:latin typeface="Helvetica Neue"/>
                <a:ea typeface="Helvetica Neue"/>
                <a:cs typeface="Helvetica Neue"/>
              </a:defRPr>
            </a:lvl8pPr>
            <a:lvl9pPr>
              <a:buNone/>
              <a:defRPr sz="2025" b="0">
                <a:solidFill>
                  <a:srgbClr val="CDCDD3"/>
                </a:solidFill>
                <a:latin typeface="Helvetica Neue"/>
                <a:ea typeface="Helvetica Neue"/>
                <a:cs typeface="Helvetica Neue"/>
              </a:defRPr>
            </a:lvl9pPr>
          </a:lstStyle>
          <a:p xmlns:a="http://schemas.openxmlformats.org/drawingml/2006/main">
            <a:pPr>
              <a:buNone/>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Preprocessing приводит исходные данные к виду, который допускает выбранный метод. Этот этап может включать обработку пробелов и разметки, выделение предложений и токенов, нормализацию записи и морфологические преобразования. Решения принимают с учётом источника данных: письмо, поисковый запрос и пользовательский отзыв имеют разные особенности.</a:t>
            </a:r>
          </a:p>
        </p:txBody>
      </p:sp>
      <p:sp>
        <p:nvSpPr>
          <p:cNvPr id="11" name="theory-6">
            <a:extLst xmlns:a="http://schemas.openxmlformats.org/drawingml/2006/main">
              <a:ext uri="{FF2B5EF4-FFF2-40B4-BE49-F238E27FC236}">
                <a16:creationId xmlns:a16="http://schemas.microsoft.com/office/drawing/2014/main" id="{ADCBB638-29DF-4A49-BCDB-11363468E880}"/>
              </a:ext>
            </a:extLst>
          </p:cNvPr>
          <p:cNvSpPr>
            <a:spLocks xmlns:a="http://schemas.openxmlformats.org/drawingml/2006/main" noGrp="1"/>
          </p:cNvSpPr>
          <p:nvPr/>
        </p:nvSpPr>
        <p:spPr>
          <a:xfrm xmlns:a="http://schemas.openxmlformats.org/drawingml/2006/main">
            <a:off x="685800" y="4229100"/>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buNone/>
              <a:defRPr sz="1950" b="1">
                <a:solidFill>
                  <a:srgbClr val="BD9FE3"/>
                </a:solidFill>
                <a:latin typeface="Helvetica Neue"/>
                <a:ea typeface="Helvetica Neue"/>
                <a:cs typeface="Helvetica Neue"/>
              </a:defRPr>
            </a:lvl1pPr>
            <a:lvl2pPr>
              <a:buNone/>
              <a:defRPr sz="1950" b="1">
                <a:solidFill>
                  <a:srgbClr val="BD9FE3"/>
                </a:solidFill>
                <a:latin typeface="Helvetica Neue"/>
                <a:ea typeface="Helvetica Neue"/>
                <a:cs typeface="Helvetica Neue"/>
              </a:defRPr>
            </a:lvl2pPr>
            <a:lvl3pPr>
              <a:buNone/>
              <a:defRPr sz="1950" b="1">
                <a:solidFill>
                  <a:srgbClr val="BD9FE3"/>
                </a:solidFill>
                <a:latin typeface="Helvetica Neue"/>
                <a:ea typeface="Helvetica Neue"/>
                <a:cs typeface="Helvetica Neue"/>
              </a:defRPr>
            </a:lvl3pPr>
            <a:lvl4pPr>
              <a:buNone/>
              <a:defRPr sz="1950" b="1">
                <a:solidFill>
                  <a:srgbClr val="BD9FE3"/>
                </a:solidFill>
                <a:latin typeface="Helvetica Neue"/>
                <a:ea typeface="Helvetica Neue"/>
                <a:cs typeface="Helvetica Neue"/>
              </a:defRPr>
            </a:lvl4pPr>
            <a:lvl5pPr>
              <a:buNone/>
              <a:defRPr sz="1950" b="1">
                <a:solidFill>
                  <a:srgbClr val="BD9FE3"/>
                </a:solidFill>
                <a:latin typeface="Helvetica Neue"/>
                <a:ea typeface="Helvetica Neue"/>
                <a:cs typeface="Helvetica Neue"/>
              </a:defRPr>
            </a:lvl5pPr>
            <a:lvl6pPr>
              <a:buNone/>
              <a:defRPr sz="1950" b="1">
                <a:solidFill>
                  <a:srgbClr val="BD9FE3"/>
                </a:solidFill>
                <a:latin typeface="Helvetica Neue"/>
                <a:ea typeface="Helvetica Neue"/>
                <a:cs typeface="Helvetica Neue"/>
              </a:defRPr>
            </a:lvl6pPr>
            <a:lvl7pPr>
              <a:buNone/>
              <a:defRPr sz="1950" b="1">
                <a:solidFill>
                  <a:srgbClr val="BD9FE3"/>
                </a:solidFill>
                <a:latin typeface="Helvetica Neue"/>
                <a:ea typeface="Helvetica Neue"/>
                <a:cs typeface="Helvetica Neue"/>
              </a:defRPr>
            </a:lvl7pPr>
            <a:lvl8pPr>
              <a:buNone/>
              <a:defRPr sz="1950" b="1">
                <a:solidFill>
                  <a:srgbClr val="BD9FE3"/>
                </a:solidFill>
                <a:latin typeface="Helvetica Neue"/>
                <a:ea typeface="Helvetica Neue"/>
                <a:cs typeface="Helvetica Neue"/>
              </a:defRPr>
            </a:lvl8pPr>
            <a:lvl9pPr>
              <a:buNone/>
              <a:defRPr sz="1950" b="1">
                <a:solidFill>
                  <a:srgbClr val="BD9FE3"/>
                </a:solidFill>
                <a:latin typeface="Helvetica Neue"/>
                <a:ea typeface="Helvetica Neue"/>
                <a:cs typeface="Helvetica Neue"/>
              </a:defRPr>
            </a:lvl9pPr>
          </a:lstStyle>
          <a:p xmlns:a="http://schemas.openxmlformats.org/drawingml/2006/main">
            <a:pPr>
              <a:buNone/>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Сохранение значимой информации</a:t>
            </a:r>
          </a:p>
        </p:txBody>
      </p:sp>
      <p:sp>
        <p:nvSpPr>
          <p:cNvPr id="12" name="theory-7">
            <a:extLst xmlns:a="http://schemas.openxmlformats.org/drawingml/2006/main">
              <a:ext uri="{FF2B5EF4-FFF2-40B4-BE49-F238E27FC236}">
                <a16:creationId xmlns:a16="http://schemas.microsoft.com/office/drawing/2014/main" id="{89C27D48-8589-4DF5-95E4-14C6D8A9D115}"/>
              </a:ext>
            </a:extLst>
          </p:cNvPr>
          <p:cNvSpPr>
            <a:spLocks xmlns:a="http://schemas.openxmlformats.org/drawingml/2006/main" noGrp="1"/>
          </p:cNvSpPr>
          <p:nvPr/>
        </p:nvSpPr>
        <p:spPr>
          <a:xfrm xmlns:a="http://schemas.openxmlformats.org/drawingml/2006/main">
            <a:off x="685800" y="4695825"/>
            <a:ext cx="10820400" cy="1743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buNone/>
              <a:defRPr sz="2025" b="0">
                <a:solidFill>
                  <a:srgbClr val="CDCDD3"/>
                </a:solidFill>
                <a:latin typeface="Helvetica Neue"/>
                <a:ea typeface="Helvetica Neue"/>
                <a:cs typeface="Helvetica Neue"/>
              </a:defRPr>
            </a:lvl1pPr>
            <a:lvl2pPr>
              <a:buNone/>
              <a:defRPr sz="2025" b="0">
                <a:solidFill>
                  <a:srgbClr val="CDCDD3"/>
                </a:solidFill>
                <a:latin typeface="Helvetica Neue"/>
                <a:ea typeface="Helvetica Neue"/>
                <a:cs typeface="Helvetica Neue"/>
              </a:defRPr>
            </a:lvl2pPr>
            <a:lvl3pPr>
              <a:buNone/>
              <a:defRPr sz="2025" b="0">
                <a:solidFill>
                  <a:srgbClr val="CDCDD3"/>
                </a:solidFill>
                <a:latin typeface="Helvetica Neue"/>
                <a:ea typeface="Helvetica Neue"/>
                <a:cs typeface="Helvetica Neue"/>
              </a:defRPr>
            </a:lvl3pPr>
            <a:lvl4pPr>
              <a:buNone/>
              <a:defRPr sz="2025" b="0">
                <a:solidFill>
                  <a:srgbClr val="CDCDD3"/>
                </a:solidFill>
                <a:latin typeface="Helvetica Neue"/>
                <a:ea typeface="Helvetica Neue"/>
                <a:cs typeface="Helvetica Neue"/>
              </a:defRPr>
            </a:lvl4pPr>
            <a:lvl5pPr>
              <a:buNone/>
              <a:defRPr sz="2025" b="0">
                <a:solidFill>
                  <a:srgbClr val="CDCDD3"/>
                </a:solidFill>
                <a:latin typeface="Helvetica Neue"/>
                <a:ea typeface="Helvetica Neue"/>
                <a:cs typeface="Helvetica Neue"/>
              </a:defRPr>
            </a:lvl5pPr>
            <a:lvl6pPr>
              <a:buNone/>
              <a:defRPr sz="2025" b="0">
                <a:solidFill>
                  <a:srgbClr val="CDCDD3"/>
                </a:solidFill>
                <a:latin typeface="Helvetica Neue"/>
                <a:ea typeface="Helvetica Neue"/>
                <a:cs typeface="Helvetica Neue"/>
              </a:defRPr>
            </a:lvl6pPr>
            <a:lvl7pPr>
              <a:buNone/>
              <a:defRPr sz="2025" b="0">
                <a:solidFill>
                  <a:srgbClr val="CDCDD3"/>
                </a:solidFill>
                <a:latin typeface="Helvetica Neue"/>
                <a:ea typeface="Helvetica Neue"/>
                <a:cs typeface="Helvetica Neue"/>
              </a:defRPr>
            </a:lvl7pPr>
            <a:lvl8pPr>
              <a:buNone/>
              <a:defRPr sz="2025" b="0">
                <a:solidFill>
                  <a:srgbClr val="CDCDD3"/>
                </a:solidFill>
                <a:latin typeface="Helvetica Neue"/>
                <a:ea typeface="Helvetica Neue"/>
                <a:cs typeface="Helvetica Neue"/>
              </a:defRPr>
            </a:lvl8pPr>
            <a:lvl9pPr>
              <a:buNone/>
              <a:defRPr sz="2025" b="0">
                <a:solidFill>
                  <a:srgbClr val="CDCDD3"/>
                </a:solidFill>
                <a:latin typeface="Helvetica Neue"/>
                <a:ea typeface="Helvetica Neue"/>
                <a:cs typeface="Helvetica Neue"/>
              </a:defRPr>
            </a:lvl9pPr>
          </a:lstStyle>
          <a:p xmlns:a="http://schemas.openxmlformats.org/drawingml/2006/main">
            <a:pPr>
              <a:buNone/>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Любое преобразование меняет доступные модели сигналы. Регистр может указывать на название, пунктуация выражать эмоциональность, а отрицание определять смысл оценки. Поэтому максимальное сокращение текста не является самостоятельной целью. Сначала формулируют ожидаемую пользу операции, затем проверяют примеры и влияние на качество решения.</a:t>
            </a:r>
          </a:p>
        </p:txBody>
      </p:sp>
    </p:spTree>
    <p:extLst>
      <p:ext uri="{BB962C8B-B14F-4D97-AF65-F5344CB8AC3E}">
        <p14:creationId xmlns:p14="http://schemas.microsoft.com/office/powerpoint/2010/main" val="495339415"/>
      </p:ext>
    </p:extLst>
  </p:cSld>
</p:sld>
</file>

<file path=ppt/slides/slide2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8" name="exp90-0">
            <a:extLst xmlns:a="http://schemas.openxmlformats.org/drawingml/2006/main">
              <a:ext uri="{FF2B5EF4-FFF2-40B4-BE49-F238E27FC236}">
                <a16:creationId xmlns:a16="http://schemas.microsoft.com/office/drawing/2014/main" id="{A1BF737B-575D-477C-9D07-084937F5C12E}"/>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90-1">
            <a:extLst xmlns:a="http://schemas.openxmlformats.org/drawingml/2006/main">
              <a:ext uri="{FF2B5EF4-FFF2-40B4-BE49-F238E27FC236}">
                <a16:creationId xmlns:a16="http://schemas.microsoft.com/office/drawing/2014/main" id="{0A67C9C9-4D56-4F57-BBB0-689846E92071}"/>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27</a:t>
            </a:r>
          </a:p>
        </p:txBody>
      </p:sp>
      <p:sp>
        <p:nvSpPr>
          <p:cNvPr id="3" name="">
            <a:extLst xmlns:a="http://schemas.openxmlformats.org/drawingml/2006/main">
              <a:ext uri="{FF2B5EF4-FFF2-40B4-BE49-F238E27FC236}">
                <a16:creationId xmlns:a16="http://schemas.microsoft.com/office/drawing/2014/main" id="{E6AF1991-A525-4267-934C-884AC0AC34C6}"/>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0">
            <a:solidFill>
              <a:srgbClr val="28282B"/>
            </a:solidFill>
          </a:ln>
        </p:spPr>
      </p:sp>
      <p:sp>
        <p:nvSpPr>
          <p:cNvPr id="4" name="exp90-3">
            <a:extLst xmlns:a="http://schemas.openxmlformats.org/drawingml/2006/main">
              <a:ext uri="{FF2B5EF4-FFF2-40B4-BE49-F238E27FC236}">
                <a16:creationId xmlns:a16="http://schemas.microsoft.com/office/drawing/2014/main" id="{FD3EE2B3-A9E4-4C25-8CDD-B8E4A39A2DDF}"/>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Этапы подготовки текста</a:t>
            </a:r>
          </a:p>
        </p:txBody>
      </p:sp>
      <p:sp>
        <p:nvSpPr>
          <p:cNvPr id="5" name="exp90-4">
            <a:extLst xmlns:a="http://schemas.openxmlformats.org/drawingml/2006/main">
              <a:ext uri="{FF2B5EF4-FFF2-40B4-BE49-F238E27FC236}">
                <a16:creationId xmlns:a16="http://schemas.microsoft.com/office/drawing/2014/main" id="{95E68E41-15E3-4B9B-878A-EFF10E1E29FF}"/>
              </a:ext>
            </a:extLst>
          </p:cNvPr>
          <p:cNvSpPr>
            <a:spLocks xmlns:a="http://schemas.openxmlformats.org/drawingml/2006/main" noGrp="1"/>
          </p:cNvSpPr>
          <p:nvPr/>
        </p:nvSpPr>
        <p:spPr>
          <a:xfrm xmlns:a="http://schemas.openxmlformats.org/drawingml/2006/main">
            <a:off x="685800" y="20097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88" b="0">
                <a:solidFill>
                  <a:srgbClr val="F5F5F7"/>
                </a:solidFill>
                <a:latin typeface="Helvetica Neue"/>
                <a:ea typeface="Helvetica Neue"/>
                <a:cs typeface="Helvetica Neue"/>
              </a:defRPr>
            </a:defPPr>
            <a:lvl1pPr>
              <a:buNone/>
              <a:defRPr sz="1988" b="0">
                <a:solidFill>
                  <a:srgbClr val="F5F5F7"/>
                </a:solidFill>
                <a:latin typeface="Helvetica Neue"/>
                <a:ea typeface="Helvetica Neue"/>
                <a:cs typeface="Helvetica Neue"/>
              </a:defRPr>
            </a:lvl1pPr>
            <a:lvl2pPr>
              <a:buNone/>
              <a:defRPr sz="1988" b="0">
                <a:solidFill>
                  <a:srgbClr val="F5F5F7"/>
                </a:solidFill>
                <a:latin typeface="Helvetica Neue"/>
                <a:ea typeface="Helvetica Neue"/>
                <a:cs typeface="Helvetica Neue"/>
              </a:defRPr>
            </a:lvl2pPr>
            <a:lvl3pPr>
              <a:buNone/>
              <a:defRPr sz="1988" b="0">
                <a:solidFill>
                  <a:srgbClr val="F5F5F7"/>
                </a:solidFill>
                <a:latin typeface="Helvetica Neue"/>
                <a:ea typeface="Helvetica Neue"/>
                <a:cs typeface="Helvetica Neue"/>
              </a:defRPr>
            </a:lvl3pPr>
            <a:lvl4pPr>
              <a:buNone/>
              <a:defRPr sz="1988" b="0">
                <a:solidFill>
                  <a:srgbClr val="F5F5F7"/>
                </a:solidFill>
                <a:latin typeface="Helvetica Neue"/>
                <a:ea typeface="Helvetica Neue"/>
                <a:cs typeface="Helvetica Neue"/>
              </a:defRPr>
            </a:lvl4pPr>
            <a:lvl5pPr>
              <a:buNone/>
              <a:defRPr sz="1988" b="0">
                <a:solidFill>
                  <a:srgbClr val="F5F5F7"/>
                </a:solidFill>
                <a:latin typeface="Helvetica Neue"/>
                <a:ea typeface="Helvetica Neue"/>
                <a:cs typeface="Helvetica Neue"/>
              </a:defRPr>
            </a:lvl5pPr>
            <a:lvl6pPr>
              <a:buNone/>
              <a:defRPr sz="1988" b="0">
                <a:solidFill>
                  <a:srgbClr val="F5F5F7"/>
                </a:solidFill>
                <a:latin typeface="Helvetica Neue"/>
                <a:ea typeface="Helvetica Neue"/>
                <a:cs typeface="Helvetica Neue"/>
              </a:defRPr>
            </a:lvl6pPr>
            <a:lvl7pPr>
              <a:buNone/>
              <a:defRPr sz="1988" b="0">
                <a:solidFill>
                  <a:srgbClr val="F5F5F7"/>
                </a:solidFill>
                <a:latin typeface="Helvetica Neue"/>
                <a:ea typeface="Helvetica Neue"/>
                <a:cs typeface="Helvetica Neue"/>
              </a:defRPr>
            </a:lvl7pPr>
            <a:lvl8pPr>
              <a:buNone/>
              <a:defRPr sz="1988" b="0">
                <a:solidFill>
                  <a:srgbClr val="F5F5F7"/>
                </a:solidFill>
                <a:latin typeface="Helvetica Neue"/>
                <a:ea typeface="Helvetica Neue"/>
                <a:cs typeface="Helvetica Neue"/>
              </a:defRPr>
            </a:lvl8pPr>
            <a:lvl9pPr>
              <a:buNone/>
              <a:defRPr sz="1988" b="0">
                <a:solidFill>
                  <a:srgbClr val="F5F5F7"/>
                </a:solidFill>
                <a:latin typeface="Helvetica Neue"/>
                <a:ea typeface="Helvetica Neue"/>
                <a:cs typeface="Helvetica Neue"/>
              </a:defRPr>
            </a:lvl9pPr>
          </a:lstStyle>
          <a:p xmlns:a="http://schemas.openxmlformats.org/drawingml/2006/main">
            <a:pPr>
              <a:buNone/>
              <a:defRPr sz="1988" b="0">
                <a:solidFill>
                  <a:srgbClr val="F5F5F7"/>
                </a:solidFill>
                <a:latin typeface="Helvetica Neue"/>
                <a:ea typeface="Helvetica Neue"/>
                <a:cs typeface="Helvetica Neue"/>
              </a:defRPr>
            </a:pPr>
            <a:r>
              <a:rPr sz="1988" b="0">
                <a:solidFill>
                  <a:srgbClr val="F5F5F7"/>
                </a:solidFill>
                <a:latin typeface="Helvetica Neue"/>
                <a:ea typeface="Helvetica Neue"/>
                <a:cs typeface="Helvetica Neue"/>
              </a:rPr>
              <a:t>На каждом этапе меняется форма представления данных. Техническая очистка и языковой анализ решают разные задачи.</a:t>
            </a:r>
          </a:p>
        </p:txBody>
      </p:sp>
      <p:graphicFrame>
        <p:nvGraphicFramePr>
          <p:cNvPr id="6" name="">
            <a:extLst xmlns:a="http://schemas.openxmlformats.org/drawingml/2006/main">
              <a:ext uri="{FF2B5EF4-FFF2-40B4-BE49-F238E27FC236}">
                <a16:creationId xmlns:a16="http://schemas.microsoft.com/office/drawing/2014/main" id="{24EBD664-6FA9-4472-907F-FDD94C32C9CA}"/>
              </a:ext>
            </a:extLst>
          </p:cNvPr>
          <p:cNvGraphicFramePr/>
          <p:nvPr/>
        </p:nvGraphicFramePr>
        <p:xfrm>
          <a:off xmlns:a="http://schemas.openxmlformats.org/drawingml/2006/main" x="685800" y="2876550"/>
          <a:ext xmlns:a="http://schemas.openxmlformats.org/drawingml/2006/main" cx="10820400" cy="3143250"/>
        </p:xfrm>
        <a:graphic xmlns:a="http://schemas.openxmlformats.org/drawingml/2006/main">
          <a:graphicData uri="http://schemas.openxmlformats.org/drawingml/2006/table">
            <a:tbl>
              <a:tblPr/>
              <a:tblGrid>
                <a:gridCol w="2286000"/>
                <a:gridCol w="4429125"/>
                <a:gridCol w="4105275"/>
              </a:tblGrid>
              <a:tr h="628650">
                <a:tc>
                  <a:txBody>
                    <a:bodyPr lIns="133350" tIns="76200" rIns="133350" bIns="76200"/>
                    <a:lstStyle/>
                    <a:p>
                      <a:r>
                        <a:rPr sz="1800" b="1">
                          <a:solidFill>
                            <a:srgbClr val="98989F"/>
                          </a:solidFill>
                          <a:latin typeface="Helvetica Neue"/>
                          <a:ea typeface="Helvetica Neue"/>
                          <a:cs typeface="Helvetica Neue"/>
                        </a:rPr>
                        <a:t>Уровень</a:t>
                      </a:r>
                    </a:p>
                  </a:txBody>
                  <a:tcPr marL="91440" marR="91440" marT="45720" marB="45720" anchor="ctr">
                    <a:lnL w="9525">
                      <a:solidFill>
                        <a:srgbClr val="28282B"/>
                      </a:solidFill>
                      <a:prstDash val="solid"/>
                    </a:lnL>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c>
                  <a:txBody>
                    <a:bodyPr lIns="133350" tIns="76200" rIns="133350" bIns="76200"/>
                    <a:lstStyle/>
                    <a:p>
                      <a:r>
                        <a:rPr sz="1800" b="1">
                          <a:solidFill>
                            <a:srgbClr val="98989F"/>
                          </a:solidFill>
                          <a:latin typeface="Helvetica Neue"/>
                          <a:ea typeface="Helvetica Neue"/>
                          <a:cs typeface="Helvetica Neue"/>
                        </a:rPr>
                        <a:t>Пример результата</a:t>
                      </a:r>
                    </a:p>
                  </a:txBody>
                  <a:tcPr marL="91440" marR="91440" marT="45720" marB="45720" anchor="ctr">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c>
                  <a:txBody>
                    <a:bodyPr lIns="133350" tIns="76200" rIns="133350" bIns="76200"/>
                    <a:lstStyle/>
                    <a:p>
                      <a:r>
                        <a:rPr sz="1800" b="1">
                          <a:solidFill>
                            <a:srgbClr val="98989F"/>
                          </a:solidFill>
                          <a:latin typeface="Helvetica Neue"/>
                          <a:ea typeface="Helvetica Neue"/>
                          <a:cs typeface="Helvetica Neue"/>
                        </a:rPr>
                        <a:t>Назначение</a:t>
                      </a:r>
                    </a:p>
                  </a:txBody>
                  <a:tcPr marL="91440" marR="91440" marT="45720" marB="45720" anchor="ctr">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r>
              <a:tr h="628650">
                <a:tc>
                  <a:txBody>
                    <a:bodyPr lIns="133350" tIns="76200" rIns="133350" bIns="76200"/>
                    <a:lstStyle/>
                    <a:p>
                      <a:r>
                        <a:rPr sz="1800" b="0">
                          <a:solidFill>
                            <a:srgbClr val="F5F5F7"/>
                          </a:solidFill>
                          <a:latin typeface="Helvetica Neue"/>
                          <a:ea typeface="Helvetica Neue"/>
                          <a:cs typeface="Helvetica Neue"/>
                        </a:rPr>
                        <a:t>Документ</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800" b="0">
                          <a:solidFill>
                            <a:srgbClr val="F5F5F7"/>
                          </a:solidFill>
                          <a:latin typeface="Helvetica Neue"/>
                          <a:ea typeface="Helvetica Neue"/>
                          <a:cs typeface="Helvetica Neue"/>
                        </a:rPr>
                        <a:t>Текст и исходная разметка</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800" b="0">
                          <a:solidFill>
                            <a:srgbClr val="F5F5F7"/>
                          </a:solidFill>
                          <a:latin typeface="Helvetica Neue"/>
                          <a:ea typeface="Helvetica Neue"/>
                          <a:cs typeface="Helvetica Neue"/>
                        </a:rPr>
                        <a:t>Сохранение источника</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r h="628650">
                <a:tc>
                  <a:txBody>
                    <a:bodyPr lIns="133350" tIns="76200" rIns="133350" bIns="76200"/>
                    <a:lstStyle/>
                    <a:p>
                      <a:r>
                        <a:rPr sz="1800" b="0">
                          <a:solidFill>
                            <a:srgbClr val="F5F5F7"/>
                          </a:solidFill>
                          <a:latin typeface="Helvetica Neue"/>
                          <a:ea typeface="Helvetica Neue"/>
                          <a:cs typeface="Helvetica Neue"/>
                        </a:rPr>
                        <a:t>Извлечённый текст</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800" b="0">
                          <a:solidFill>
                            <a:srgbClr val="F5F5F7"/>
                          </a:solidFill>
                          <a:latin typeface="Helvetica Neue"/>
                          <a:ea typeface="Helvetica Neue"/>
                          <a:cs typeface="Helvetica Neue"/>
                        </a:rPr>
                        <a:t>Содержимое без навигации сайта</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800" b="0">
                          <a:solidFill>
                            <a:srgbClr val="F5F5F7"/>
                          </a:solidFill>
                          <a:latin typeface="Helvetica Neue"/>
                          <a:ea typeface="Helvetica Neue"/>
                          <a:cs typeface="Helvetica Neue"/>
                        </a:rPr>
                        <a:t>Выбор нужного материала</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r h="628650">
                <a:tc>
                  <a:txBody>
                    <a:bodyPr lIns="133350" tIns="76200" rIns="133350" bIns="76200"/>
                    <a:lstStyle/>
                    <a:p>
                      <a:r>
                        <a:rPr sz="1800" b="0">
                          <a:solidFill>
                            <a:srgbClr val="F5F5F7"/>
                          </a:solidFill>
                          <a:latin typeface="Helvetica Neue"/>
                          <a:ea typeface="Helvetica Neue"/>
                          <a:cs typeface="Helvetica Neue"/>
                        </a:rPr>
                        <a:t>Токены</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800" b="0">
                          <a:solidFill>
                            <a:srgbClr val="F5F5F7"/>
                          </a:solidFill>
                          <a:latin typeface="Helvetica Neue"/>
                          <a:ea typeface="Helvetica Neue"/>
                          <a:cs typeface="Helvetica Neue"/>
                        </a:rPr>
                        <a:t>Отдельные элементы текста</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800" b="0">
                          <a:solidFill>
                            <a:srgbClr val="F5F5F7"/>
                          </a:solidFill>
                          <a:latin typeface="Helvetica Neue"/>
                          <a:ea typeface="Helvetica Neue"/>
                          <a:cs typeface="Helvetica Neue"/>
                        </a:rPr>
                        <a:t>Определение единиц анализа</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r h="628650">
                <a:tc>
                  <a:txBody>
                    <a:bodyPr lIns="133350" tIns="76200" rIns="133350" bIns="76200"/>
                    <a:lstStyle/>
                    <a:p>
                      <a:r>
                        <a:rPr sz="1800" b="0">
                          <a:solidFill>
                            <a:srgbClr val="F5F5F7"/>
                          </a:solidFill>
                          <a:latin typeface="Helvetica Neue"/>
                          <a:ea typeface="Helvetica Neue"/>
                          <a:cs typeface="Helvetica Neue"/>
                        </a:rPr>
                        <a:t>Признаки</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800" b="0">
                          <a:solidFill>
                            <a:srgbClr val="F5F5F7"/>
                          </a:solidFill>
                          <a:latin typeface="Helvetica Neue"/>
                          <a:ea typeface="Helvetica Neue"/>
                          <a:cs typeface="Helvetica Neue"/>
                        </a:rPr>
                        <a:t>Числа в заданном пространстве</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800" b="0">
                          <a:solidFill>
                            <a:srgbClr val="F5F5F7"/>
                          </a:solidFill>
                          <a:latin typeface="Helvetica Neue"/>
                          <a:ea typeface="Helvetica Neue"/>
                          <a:cs typeface="Helvetica Neue"/>
                        </a:rPr>
                        <a:t>Вход классификатора</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bl>
          </a:graphicData>
        </a:graphic>
      </p:graphicFrame>
      <p:sp>
        <p:nvSpPr>
          <p:cNvPr id="7" name="exp90-5">
            <a:extLst xmlns:a="http://schemas.openxmlformats.org/drawingml/2006/main">
              <a:ext uri="{FF2B5EF4-FFF2-40B4-BE49-F238E27FC236}">
                <a16:creationId xmlns:a16="http://schemas.microsoft.com/office/drawing/2014/main" id="{E3EA6E47-F233-4DF6-9DAD-17D1E0AB7154}"/>
              </a:ext>
            </a:extLst>
          </p:cNvPr>
          <p:cNvSpPr>
            <a:spLocks xmlns:a="http://schemas.openxmlformats.org/drawingml/2006/main" noGrp="1"/>
          </p:cNvSpPr>
          <p:nvPr/>
        </p:nvSpPr>
        <p:spPr>
          <a:xfrm xmlns:a="http://schemas.openxmlformats.org/drawingml/2006/main">
            <a:off x="685800" y="618172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CDCDD3"/>
                </a:solidFill>
                <a:latin typeface="Helvetica Neue"/>
                <a:ea typeface="Helvetica Neue"/>
                <a:cs typeface="Helvetica Neue"/>
              </a:defRPr>
            </a:defPPr>
            <a:lvl1pPr>
              <a:buNone/>
              <a:defRPr sz="1650" b="0">
                <a:solidFill>
                  <a:srgbClr val="CDCDD3"/>
                </a:solidFill>
                <a:latin typeface="Helvetica Neue"/>
                <a:ea typeface="Helvetica Neue"/>
                <a:cs typeface="Helvetica Neue"/>
              </a:defRPr>
            </a:lvl1pPr>
            <a:lvl2pPr>
              <a:buNone/>
              <a:defRPr sz="1650" b="0">
                <a:solidFill>
                  <a:srgbClr val="CDCDD3"/>
                </a:solidFill>
                <a:latin typeface="Helvetica Neue"/>
                <a:ea typeface="Helvetica Neue"/>
                <a:cs typeface="Helvetica Neue"/>
              </a:defRPr>
            </a:lvl2pPr>
            <a:lvl3pPr>
              <a:buNone/>
              <a:defRPr sz="1650" b="0">
                <a:solidFill>
                  <a:srgbClr val="CDCDD3"/>
                </a:solidFill>
                <a:latin typeface="Helvetica Neue"/>
                <a:ea typeface="Helvetica Neue"/>
                <a:cs typeface="Helvetica Neue"/>
              </a:defRPr>
            </a:lvl3pPr>
            <a:lvl4pPr>
              <a:buNone/>
              <a:defRPr sz="1650" b="0">
                <a:solidFill>
                  <a:srgbClr val="CDCDD3"/>
                </a:solidFill>
                <a:latin typeface="Helvetica Neue"/>
                <a:ea typeface="Helvetica Neue"/>
                <a:cs typeface="Helvetica Neue"/>
              </a:defRPr>
            </a:lvl4pPr>
            <a:lvl5pPr>
              <a:buNone/>
              <a:defRPr sz="1650" b="0">
                <a:solidFill>
                  <a:srgbClr val="CDCDD3"/>
                </a:solidFill>
                <a:latin typeface="Helvetica Neue"/>
                <a:ea typeface="Helvetica Neue"/>
                <a:cs typeface="Helvetica Neue"/>
              </a:defRPr>
            </a:lvl5pPr>
            <a:lvl6pPr>
              <a:buNone/>
              <a:defRPr sz="1650" b="0">
                <a:solidFill>
                  <a:srgbClr val="CDCDD3"/>
                </a:solidFill>
                <a:latin typeface="Helvetica Neue"/>
                <a:ea typeface="Helvetica Neue"/>
                <a:cs typeface="Helvetica Neue"/>
              </a:defRPr>
            </a:lvl6pPr>
            <a:lvl7pPr>
              <a:buNone/>
              <a:defRPr sz="1650" b="0">
                <a:solidFill>
                  <a:srgbClr val="CDCDD3"/>
                </a:solidFill>
                <a:latin typeface="Helvetica Neue"/>
                <a:ea typeface="Helvetica Neue"/>
                <a:cs typeface="Helvetica Neue"/>
              </a:defRPr>
            </a:lvl7pPr>
            <a:lvl8pPr>
              <a:buNone/>
              <a:defRPr sz="1650" b="0">
                <a:solidFill>
                  <a:srgbClr val="CDCDD3"/>
                </a:solidFill>
                <a:latin typeface="Helvetica Neue"/>
                <a:ea typeface="Helvetica Neue"/>
                <a:cs typeface="Helvetica Neue"/>
              </a:defRPr>
            </a:lvl8pPr>
            <a:lvl9pPr>
              <a:buNone/>
              <a:defRPr sz="1650" b="0">
                <a:solidFill>
                  <a:srgbClr val="CDCDD3"/>
                </a:solidFill>
                <a:latin typeface="Helvetica Neue"/>
                <a:ea typeface="Helvetica Neue"/>
                <a:cs typeface="Helvetica Neue"/>
              </a:defRPr>
            </a:lvl9pPr>
          </a:lstStyle>
          <a:p xmlns:a="http://schemas.openxmlformats.org/drawingml/2006/main">
            <a:pPr>
              <a:buNone/>
              <a:defRPr sz="1650" b="0">
                <a:solidFill>
                  <a:srgbClr val="CDCDD3"/>
                </a:solidFill>
                <a:latin typeface="Helvetica Neue"/>
                <a:ea typeface="Helvetica Neue"/>
                <a:cs typeface="Helvetica Neue"/>
              </a:defRPr>
            </a:pPr>
            <a:r>
              <a:rPr sz="1650" b="0">
                <a:solidFill>
                  <a:srgbClr val="CDCDD3"/>
                </a:solidFill>
                <a:latin typeface="Helvetica Neue"/>
                <a:ea typeface="Helvetica Neue"/>
                <a:cs typeface="Helvetica Neue"/>
              </a:rPr>
              <a:t>Перед удалением разметки и служебных частей проверяют, не содержат ли они нужные факты. Исходный документ полезно сохранять для проверки ошибок.</a:t>
            </a:r>
          </a:p>
        </p:txBody>
      </p:sp>
    </p:spTree>
    <p:extLst>
      <p:ext uri="{BB962C8B-B14F-4D97-AF65-F5344CB8AC3E}">
        <p14:creationId xmlns:p14="http://schemas.microsoft.com/office/powerpoint/2010/main" val="1246241813"/>
      </p:ext>
    </p:extLst>
  </p:cSld>
</p:sld>
</file>

<file path=ppt/slides/slide2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6" name="text-0">
            <a:extLst xmlns:a="http://schemas.openxmlformats.org/drawingml/2006/main">
              <a:ext uri="{FF2B5EF4-FFF2-40B4-BE49-F238E27FC236}">
                <a16:creationId xmlns:a16="http://schemas.microsoft.com/office/drawing/2014/main" id="{8EBFD85B-2CB5-441B-9F6B-55FB3ED855BB}"/>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98989F"/>
                </a:solidFill>
                <a:latin typeface="Helvetica Neue"/>
                <a:ea typeface="Helvetica Neue"/>
                <a:cs typeface="Helvetica Neue"/>
              </a:defRPr>
            </a:defPPr>
            <a:lvl1pPr algn="l">
              <a:buNone/>
              <a:defRPr sz="1425" b="0">
                <a:solidFill>
                  <a:srgbClr val="98989F"/>
                </a:solidFill>
                <a:latin typeface="Helvetica Neue"/>
                <a:ea typeface="Helvetica Neue"/>
                <a:cs typeface="Helvetica Neue"/>
              </a:defRPr>
            </a:lvl1pPr>
            <a:lvl2pPr algn="l">
              <a:buNone/>
              <a:defRPr sz="1425" b="0">
                <a:solidFill>
                  <a:srgbClr val="98989F"/>
                </a:solidFill>
                <a:latin typeface="Helvetica Neue"/>
                <a:ea typeface="Helvetica Neue"/>
                <a:cs typeface="Helvetica Neue"/>
              </a:defRPr>
            </a:lvl2pPr>
            <a:lvl3pPr algn="l">
              <a:buNone/>
              <a:defRPr sz="1425" b="0">
                <a:solidFill>
                  <a:srgbClr val="98989F"/>
                </a:solidFill>
                <a:latin typeface="Helvetica Neue"/>
                <a:ea typeface="Helvetica Neue"/>
                <a:cs typeface="Helvetica Neue"/>
              </a:defRPr>
            </a:lvl3pPr>
            <a:lvl4pPr algn="l">
              <a:buNone/>
              <a:defRPr sz="1425" b="0">
                <a:solidFill>
                  <a:srgbClr val="98989F"/>
                </a:solidFill>
                <a:latin typeface="Helvetica Neue"/>
                <a:ea typeface="Helvetica Neue"/>
                <a:cs typeface="Helvetica Neue"/>
              </a:defRPr>
            </a:lvl4pPr>
            <a:lvl5pPr algn="l">
              <a:buNone/>
              <a:defRPr sz="1425" b="0">
                <a:solidFill>
                  <a:srgbClr val="98989F"/>
                </a:solidFill>
                <a:latin typeface="Helvetica Neue"/>
                <a:ea typeface="Helvetica Neue"/>
                <a:cs typeface="Helvetica Neue"/>
              </a:defRPr>
            </a:lvl5pPr>
            <a:lvl6pPr algn="l">
              <a:buNone/>
              <a:defRPr sz="1425" b="0">
                <a:solidFill>
                  <a:srgbClr val="98989F"/>
                </a:solidFill>
                <a:latin typeface="Helvetica Neue"/>
                <a:ea typeface="Helvetica Neue"/>
                <a:cs typeface="Helvetica Neue"/>
              </a:defRPr>
            </a:lvl6pPr>
            <a:lvl7pPr algn="l">
              <a:buNone/>
              <a:defRPr sz="1425" b="0">
                <a:solidFill>
                  <a:srgbClr val="98989F"/>
                </a:solidFill>
                <a:latin typeface="Helvetica Neue"/>
                <a:ea typeface="Helvetica Neue"/>
                <a:cs typeface="Helvetica Neue"/>
              </a:defRPr>
            </a:lvl7pPr>
            <a:lvl8pPr algn="l">
              <a:buNone/>
              <a:defRPr sz="1425" b="0">
                <a:solidFill>
                  <a:srgbClr val="98989F"/>
                </a:solidFill>
                <a:latin typeface="Helvetica Neue"/>
                <a:ea typeface="Helvetica Neue"/>
                <a:cs typeface="Helvetica Neue"/>
              </a:defRPr>
            </a:lvl8pPr>
            <a:lvl9pPr algn="l">
              <a:buNone/>
              <a:defRPr sz="1425" b="0">
                <a:solidFill>
                  <a:srgbClr val="98989F"/>
                </a:solidFill>
                <a:latin typeface="Helvetica Neue"/>
                <a:ea typeface="Helvetica Neue"/>
                <a:cs typeface="Helvetica Neue"/>
              </a:defRPr>
            </a:lvl9pPr>
          </a:lstStyle>
          <a:p xmlns:a="http://schemas.openxmlformats.org/drawingml/2006/main">
            <a:pPr algn="l">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text-1">
            <a:extLst xmlns:a="http://schemas.openxmlformats.org/drawingml/2006/main">
              <a:ext uri="{FF2B5EF4-FFF2-40B4-BE49-F238E27FC236}">
                <a16:creationId xmlns:a16="http://schemas.microsoft.com/office/drawing/2014/main" id="{EB2A5FA7-34B1-41C1-B341-DDF99DB69488}"/>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28</a:t>
            </a:r>
          </a:p>
        </p:txBody>
      </p:sp>
      <p:sp>
        <p:nvSpPr>
          <p:cNvPr id="3" name="">
            <a:extLst xmlns:a="http://schemas.openxmlformats.org/drawingml/2006/main">
              <a:ext uri="{FF2B5EF4-FFF2-40B4-BE49-F238E27FC236}">
                <a16:creationId xmlns:a16="http://schemas.microsoft.com/office/drawing/2014/main" id="{A2546440-800A-4AE7-803E-76B8238954C2}"/>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prstDash val="solid"/>
          </a:ln>
        </p:spPr>
      </p:sp>
      <p:sp>
        <p:nvSpPr>
          <p:cNvPr id="4" name="text-3">
            <a:extLst xmlns:a="http://schemas.openxmlformats.org/drawingml/2006/main">
              <a:ext uri="{FF2B5EF4-FFF2-40B4-BE49-F238E27FC236}">
                <a16:creationId xmlns:a16="http://schemas.microsoft.com/office/drawing/2014/main" id="{F31623CB-2737-4FC2-B920-05BFBE95DF8C}"/>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5F7"/>
                </a:solidFill>
                <a:latin typeface="Helvetica Neue"/>
                <a:ea typeface="Helvetica Neue"/>
                <a:cs typeface="Helvetica Neue"/>
              </a:defRPr>
            </a:defPPr>
            <a:lvl1pPr algn="l">
              <a:buNone/>
              <a:defRPr sz="3450" b="1">
                <a:solidFill>
                  <a:srgbClr val="F5F5F7"/>
                </a:solidFill>
                <a:latin typeface="Helvetica Neue"/>
                <a:ea typeface="Helvetica Neue"/>
                <a:cs typeface="Helvetica Neue"/>
              </a:defRPr>
            </a:lvl1pPr>
            <a:lvl2pPr algn="l">
              <a:buNone/>
              <a:defRPr sz="3450" b="1">
                <a:solidFill>
                  <a:srgbClr val="F5F5F7"/>
                </a:solidFill>
                <a:latin typeface="Helvetica Neue"/>
                <a:ea typeface="Helvetica Neue"/>
                <a:cs typeface="Helvetica Neue"/>
              </a:defRPr>
            </a:lvl2pPr>
            <a:lvl3pPr algn="l">
              <a:buNone/>
              <a:defRPr sz="3450" b="1">
                <a:solidFill>
                  <a:srgbClr val="F5F5F7"/>
                </a:solidFill>
                <a:latin typeface="Helvetica Neue"/>
                <a:ea typeface="Helvetica Neue"/>
                <a:cs typeface="Helvetica Neue"/>
              </a:defRPr>
            </a:lvl3pPr>
            <a:lvl4pPr algn="l">
              <a:buNone/>
              <a:defRPr sz="3450" b="1">
                <a:solidFill>
                  <a:srgbClr val="F5F5F7"/>
                </a:solidFill>
                <a:latin typeface="Helvetica Neue"/>
                <a:ea typeface="Helvetica Neue"/>
                <a:cs typeface="Helvetica Neue"/>
              </a:defRPr>
            </a:lvl4pPr>
            <a:lvl5pPr algn="l">
              <a:buNone/>
              <a:defRPr sz="3450" b="1">
                <a:solidFill>
                  <a:srgbClr val="F5F5F7"/>
                </a:solidFill>
                <a:latin typeface="Helvetica Neue"/>
                <a:ea typeface="Helvetica Neue"/>
                <a:cs typeface="Helvetica Neue"/>
              </a:defRPr>
            </a:lvl5pPr>
            <a:lvl6pPr algn="l">
              <a:buNone/>
              <a:defRPr sz="3450" b="1">
                <a:solidFill>
                  <a:srgbClr val="F5F5F7"/>
                </a:solidFill>
                <a:latin typeface="Helvetica Neue"/>
                <a:ea typeface="Helvetica Neue"/>
                <a:cs typeface="Helvetica Neue"/>
              </a:defRPr>
            </a:lvl6pPr>
            <a:lvl7pPr algn="l">
              <a:buNone/>
              <a:defRPr sz="3450" b="1">
                <a:solidFill>
                  <a:srgbClr val="F5F5F7"/>
                </a:solidFill>
                <a:latin typeface="Helvetica Neue"/>
                <a:ea typeface="Helvetica Neue"/>
                <a:cs typeface="Helvetica Neue"/>
              </a:defRPr>
            </a:lvl7pPr>
            <a:lvl8pPr algn="l">
              <a:buNone/>
              <a:defRPr sz="3450" b="1">
                <a:solidFill>
                  <a:srgbClr val="F5F5F7"/>
                </a:solidFill>
                <a:latin typeface="Helvetica Neue"/>
                <a:ea typeface="Helvetica Neue"/>
                <a:cs typeface="Helvetica Neue"/>
              </a:defRPr>
            </a:lvl8pPr>
            <a:lvl9pPr algn="l">
              <a:buNone/>
              <a:defRPr sz="3450" b="1">
                <a:solidFill>
                  <a:srgbClr val="F5F5F7"/>
                </a:solidFill>
                <a:latin typeface="Helvetica Neue"/>
                <a:ea typeface="Helvetica Neue"/>
                <a:cs typeface="Helvetica Neue"/>
              </a:defRPr>
            </a:lvl9pPr>
          </a:lstStyle>
          <a:p xmlns:a="http://schemas.openxmlformats.org/drawingml/2006/main">
            <a:pPr algn="l">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Token, type и vocabulary</a:t>
            </a:r>
          </a:p>
        </p:txBody>
      </p:sp>
      <p:sp>
        <p:nvSpPr>
          <p:cNvPr id="27" name="ysda-4">
            <a:extLst xmlns:a="http://schemas.openxmlformats.org/drawingml/2006/main">
              <a:ext uri="{FF2B5EF4-FFF2-40B4-BE49-F238E27FC236}">
                <a16:creationId xmlns:a16="http://schemas.microsoft.com/office/drawing/2014/main" id="{E84AA6D2-A7B3-4E5C-88A8-CC234693F0E0}"/>
              </a:ext>
            </a:extLst>
          </p:cNvPr>
          <p:cNvSpPr>
            <a:spLocks xmlns:a="http://schemas.openxmlformats.org/drawingml/2006/main" noGrp="1"/>
          </p:cNvSpPr>
          <p:nvPr/>
        </p:nvSpPr>
        <p:spPr>
          <a:xfrm xmlns:a="http://schemas.openxmlformats.org/drawingml/2006/main">
            <a:off x="685800" y="20478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Token и type</a:t>
            </a:r>
          </a:p>
        </p:txBody>
      </p:sp>
      <p:sp>
        <p:nvSpPr>
          <p:cNvPr id="28" name="ysda-5">
            <a:extLst xmlns:a="http://schemas.openxmlformats.org/drawingml/2006/main">
              <a:ext uri="{FF2B5EF4-FFF2-40B4-BE49-F238E27FC236}">
                <a16:creationId xmlns:a16="http://schemas.microsoft.com/office/drawing/2014/main" id="{A7A2645B-B64D-450E-BD75-96B5CD1C1B67}"/>
              </a:ext>
            </a:extLst>
          </p:cNvPr>
          <p:cNvSpPr>
            <a:spLocks xmlns:a="http://schemas.openxmlformats.org/drawingml/2006/main" noGrp="1"/>
          </p:cNvSpPr>
          <p:nvPr/>
        </p:nvSpPr>
        <p:spPr>
          <a:xfrm xmlns:a="http://schemas.openxmlformats.org/drawingml/2006/main">
            <a:off x="685800" y="2514600"/>
            <a:ext cx="108204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Token — отдельное вхождение элемента в последовательность после tokenization. Type — уникальный элемент выбранного представления. В строке «кот видит кота» при word tokenization получается три tokens и три types. После lemmatization две словоформы могут получить общую lemma. Число вхождений и число различных элементов описывают разные свойства corpus.</a:t>
            </a:r>
          </a:p>
        </p:txBody>
      </p:sp>
      <p:sp>
        <p:nvSpPr>
          <p:cNvPr id="29" name="ysda-6">
            <a:extLst xmlns:a="http://schemas.openxmlformats.org/drawingml/2006/main">
              <a:ext uri="{FF2B5EF4-FFF2-40B4-BE49-F238E27FC236}">
                <a16:creationId xmlns:a16="http://schemas.microsoft.com/office/drawing/2014/main" id="{E49F46D7-93AC-4E41-8D2F-764D52B23528}"/>
              </a:ext>
            </a:extLst>
          </p:cNvPr>
          <p:cNvSpPr>
            <a:spLocks xmlns:a="http://schemas.openxmlformats.org/drawingml/2006/main" noGrp="1"/>
          </p:cNvSpPr>
          <p:nvPr/>
        </p:nvSpPr>
        <p:spPr>
          <a:xfrm xmlns:a="http://schemas.openxmlformats.org/drawingml/2006/main">
            <a:off x="685800" y="4229100"/>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Vocabulary и OOV</a:t>
            </a:r>
          </a:p>
        </p:txBody>
      </p:sp>
      <p:sp>
        <p:nvSpPr>
          <p:cNvPr id="30" name="ysda-7">
            <a:extLst xmlns:a="http://schemas.openxmlformats.org/drawingml/2006/main">
              <a:ext uri="{FF2B5EF4-FFF2-40B4-BE49-F238E27FC236}">
                <a16:creationId xmlns:a16="http://schemas.microsoft.com/office/drawing/2014/main" id="{15385B22-EA81-4610-8C0F-EDAA700ACF4D}"/>
              </a:ext>
            </a:extLst>
          </p:cNvPr>
          <p:cNvSpPr>
            <a:spLocks xmlns:a="http://schemas.openxmlformats.org/drawingml/2006/main" noGrp="1"/>
          </p:cNvSpPr>
          <p:nvPr/>
        </p:nvSpPr>
        <p:spPr>
          <a:xfrm xmlns:a="http://schemas.openxmlformats.org/drawingml/2006/main">
            <a:off x="685800" y="4695825"/>
            <a:ext cx="10820400" cy="1914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Vocabulary фиксирует набор допустимых types и их идентификаторы. Для Bag of Words он задаёт координаты вектора; для pretrained neural model — соответствие между token IDs и embeddings. OOV означает элемент вне vocabulary. Его обработка зависит от representation: игнорирование неизвестного слова, специальный token или разбиение на известные subwords.</a:t>
            </a:r>
          </a:p>
        </p:txBody>
      </p:sp>
    </p:spTree>
    <p:extLst>
      <p:ext uri="{BB962C8B-B14F-4D97-AF65-F5344CB8AC3E}">
        <p14:creationId xmlns:p14="http://schemas.microsoft.com/office/powerpoint/2010/main" val="1795742933"/>
      </p:ext>
    </p:extLst>
  </p:cSld>
</p:sld>
</file>

<file path=ppt/slides/slide2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FC4A6250-AC21-42B2-96CB-6132243E09D8}"/>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98989F"/>
                </a:solidFill>
                <a:latin typeface="Helvetica Neue"/>
                <a:ea typeface="Helvetica Neue"/>
                <a:cs typeface="Helvetica Neue"/>
              </a:defRPr>
            </a:defPPr>
            <a:lvl1pPr algn="l">
              <a:buNone/>
              <a:defRPr sz="1425" b="0">
                <a:solidFill>
                  <a:srgbClr val="98989F"/>
                </a:solidFill>
                <a:latin typeface="Helvetica Neue"/>
                <a:ea typeface="Helvetica Neue"/>
                <a:cs typeface="Helvetica Neue"/>
              </a:defRPr>
            </a:lvl1pPr>
            <a:lvl2pPr algn="l">
              <a:buNone/>
              <a:defRPr sz="1425" b="0">
                <a:solidFill>
                  <a:srgbClr val="98989F"/>
                </a:solidFill>
                <a:latin typeface="Helvetica Neue"/>
                <a:ea typeface="Helvetica Neue"/>
                <a:cs typeface="Helvetica Neue"/>
              </a:defRPr>
            </a:lvl2pPr>
            <a:lvl3pPr algn="l">
              <a:buNone/>
              <a:defRPr sz="1425" b="0">
                <a:solidFill>
                  <a:srgbClr val="98989F"/>
                </a:solidFill>
                <a:latin typeface="Helvetica Neue"/>
                <a:ea typeface="Helvetica Neue"/>
                <a:cs typeface="Helvetica Neue"/>
              </a:defRPr>
            </a:lvl3pPr>
            <a:lvl4pPr algn="l">
              <a:buNone/>
              <a:defRPr sz="1425" b="0">
                <a:solidFill>
                  <a:srgbClr val="98989F"/>
                </a:solidFill>
                <a:latin typeface="Helvetica Neue"/>
                <a:ea typeface="Helvetica Neue"/>
                <a:cs typeface="Helvetica Neue"/>
              </a:defRPr>
            </a:lvl4pPr>
            <a:lvl5pPr algn="l">
              <a:buNone/>
              <a:defRPr sz="1425" b="0">
                <a:solidFill>
                  <a:srgbClr val="98989F"/>
                </a:solidFill>
                <a:latin typeface="Helvetica Neue"/>
                <a:ea typeface="Helvetica Neue"/>
                <a:cs typeface="Helvetica Neue"/>
              </a:defRPr>
            </a:lvl5pPr>
            <a:lvl6pPr algn="l">
              <a:buNone/>
              <a:defRPr sz="1425" b="0">
                <a:solidFill>
                  <a:srgbClr val="98989F"/>
                </a:solidFill>
                <a:latin typeface="Helvetica Neue"/>
                <a:ea typeface="Helvetica Neue"/>
                <a:cs typeface="Helvetica Neue"/>
              </a:defRPr>
            </a:lvl6pPr>
            <a:lvl7pPr algn="l">
              <a:buNone/>
              <a:defRPr sz="1425" b="0">
                <a:solidFill>
                  <a:srgbClr val="98989F"/>
                </a:solidFill>
                <a:latin typeface="Helvetica Neue"/>
                <a:ea typeface="Helvetica Neue"/>
                <a:cs typeface="Helvetica Neue"/>
              </a:defRPr>
            </a:lvl7pPr>
            <a:lvl8pPr algn="l">
              <a:buNone/>
              <a:defRPr sz="1425" b="0">
                <a:solidFill>
                  <a:srgbClr val="98989F"/>
                </a:solidFill>
                <a:latin typeface="Helvetica Neue"/>
                <a:ea typeface="Helvetica Neue"/>
                <a:cs typeface="Helvetica Neue"/>
              </a:defRPr>
            </a:lvl8pPr>
            <a:lvl9pPr algn="l">
              <a:buNone/>
              <a:defRPr sz="1425" b="0">
                <a:solidFill>
                  <a:srgbClr val="98989F"/>
                </a:solidFill>
                <a:latin typeface="Helvetica Neue"/>
                <a:ea typeface="Helvetica Neue"/>
                <a:cs typeface="Helvetica Neue"/>
              </a:defRPr>
            </a:lvl9pPr>
          </a:lstStyle>
          <a:p xmlns:a="http://schemas.openxmlformats.org/drawingml/2006/main">
            <a:pPr algn="l">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text-1">
            <a:extLst xmlns:a="http://schemas.openxmlformats.org/drawingml/2006/main">
              <a:ext uri="{FF2B5EF4-FFF2-40B4-BE49-F238E27FC236}">
                <a16:creationId xmlns:a16="http://schemas.microsoft.com/office/drawing/2014/main" id="{F920C70A-A5C9-415D-9690-E846F3C247E6}"/>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29</a:t>
            </a:r>
          </a:p>
        </p:txBody>
      </p:sp>
      <p:sp>
        <p:nvSpPr>
          <p:cNvPr id="3" name="">
            <a:extLst xmlns:a="http://schemas.openxmlformats.org/drawingml/2006/main">
              <a:ext uri="{FF2B5EF4-FFF2-40B4-BE49-F238E27FC236}">
                <a16:creationId xmlns:a16="http://schemas.microsoft.com/office/drawing/2014/main" id="{1C9EE93E-EE7F-428A-A18C-2ED2603D8CC3}"/>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prstDash val="solid"/>
          </a:ln>
        </p:spPr>
      </p:sp>
      <p:sp>
        <p:nvSpPr>
          <p:cNvPr id="4" name="text-3">
            <a:extLst xmlns:a="http://schemas.openxmlformats.org/drawingml/2006/main">
              <a:ext uri="{FF2B5EF4-FFF2-40B4-BE49-F238E27FC236}">
                <a16:creationId xmlns:a16="http://schemas.microsoft.com/office/drawing/2014/main" id="{E27A014F-9EDA-49FB-B55C-8675A960C515}"/>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5F7"/>
                </a:solidFill>
                <a:latin typeface="Helvetica Neue"/>
                <a:ea typeface="Helvetica Neue"/>
                <a:cs typeface="Helvetica Neue"/>
              </a:defRPr>
            </a:defPPr>
            <a:lvl1pPr algn="l">
              <a:buNone/>
              <a:defRPr sz="3450" b="1">
                <a:solidFill>
                  <a:srgbClr val="F5F5F7"/>
                </a:solidFill>
                <a:latin typeface="Helvetica Neue"/>
                <a:ea typeface="Helvetica Neue"/>
                <a:cs typeface="Helvetica Neue"/>
              </a:defRPr>
            </a:lvl1pPr>
            <a:lvl2pPr algn="l">
              <a:buNone/>
              <a:defRPr sz="3450" b="1">
                <a:solidFill>
                  <a:srgbClr val="F5F5F7"/>
                </a:solidFill>
                <a:latin typeface="Helvetica Neue"/>
                <a:ea typeface="Helvetica Neue"/>
                <a:cs typeface="Helvetica Neue"/>
              </a:defRPr>
            </a:lvl2pPr>
            <a:lvl3pPr algn="l">
              <a:buNone/>
              <a:defRPr sz="3450" b="1">
                <a:solidFill>
                  <a:srgbClr val="F5F5F7"/>
                </a:solidFill>
                <a:latin typeface="Helvetica Neue"/>
                <a:ea typeface="Helvetica Neue"/>
                <a:cs typeface="Helvetica Neue"/>
              </a:defRPr>
            </a:lvl3pPr>
            <a:lvl4pPr algn="l">
              <a:buNone/>
              <a:defRPr sz="3450" b="1">
                <a:solidFill>
                  <a:srgbClr val="F5F5F7"/>
                </a:solidFill>
                <a:latin typeface="Helvetica Neue"/>
                <a:ea typeface="Helvetica Neue"/>
                <a:cs typeface="Helvetica Neue"/>
              </a:defRPr>
            </a:lvl4pPr>
            <a:lvl5pPr algn="l">
              <a:buNone/>
              <a:defRPr sz="3450" b="1">
                <a:solidFill>
                  <a:srgbClr val="F5F5F7"/>
                </a:solidFill>
                <a:latin typeface="Helvetica Neue"/>
                <a:ea typeface="Helvetica Neue"/>
                <a:cs typeface="Helvetica Neue"/>
              </a:defRPr>
            </a:lvl5pPr>
            <a:lvl6pPr algn="l">
              <a:buNone/>
              <a:defRPr sz="3450" b="1">
                <a:solidFill>
                  <a:srgbClr val="F5F5F7"/>
                </a:solidFill>
                <a:latin typeface="Helvetica Neue"/>
                <a:ea typeface="Helvetica Neue"/>
                <a:cs typeface="Helvetica Neue"/>
              </a:defRPr>
            </a:lvl6pPr>
            <a:lvl7pPr algn="l">
              <a:buNone/>
              <a:defRPr sz="3450" b="1">
                <a:solidFill>
                  <a:srgbClr val="F5F5F7"/>
                </a:solidFill>
                <a:latin typeface="Helvetica Neue"/>
                <a:ea typeface="Helvetica Neue"/>
                <a:cs typeface="Helvetica Neue"/>
              </a:defRPr>
            </a:lvl7pPr>
            <a:lvl8pPr algn="l">
              <a:buNone/>
              <a:defRPr sz="3450" b="1">
                <a:solidFill>
                  <a:srgbClr val="F5F5F7"/>
                </a:solidFill>
                <a:latin typeface="Helvetica Neue"/>
                <a:ea typeface="Helvetica Neue"/>
                <a:cs typeface="Helvetica Neue"/>
              </a:defRPr>
            </a:lvl8pPr>
            <a:lvl9pPr algn="l">
              <a:buNone/>
              <a:defRPr sz="3450" b="1">
                <a:solidFill>
                  <a:srgbClr val="F5F5F7"/>
                </a:solidFill>
                <a:latin typeface="Helvetica Neue"/>
                <a:ea typeface="Helvetica Neue"/>
                <a:cs typeface="Helvetica Neue"/>
              </a:defRPr>
            </a:lvl9pPr>
          </a:lstStyle>
          <a:p xmlns:a="http://schemas.openxmlformats.org/drawingml/2006/main">
            <a:pPr algn="l">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Tokenization</a:t>
            </a:r>
          </a:p>
        </p:txBody>
      </p:sp>
      <p:pic>
        <p:nvPicPr>
          <p:cNvPr id="15" name="">
            <a:extLst xmlns:a="http://schemas.openxmlformats.org/drawingml/2006/main">
              <a:ext uri="{FF2B5EF4-FFF2-40B4-BE49-F238E27FC236}">
                <a16:creationId xmlns:a16="http://schemas.microsoft.com/office/drawing/2014/main" id="{2D2EBC1B-1D7E-4118-973C-9556BA78159A}"/>
              </a:ext>
            </a:extLst>
          </p:cNvPr>
          <p:cNvPicPr>
            <a:picLocks xmlns:a="http://schemas.openxmlformats.org/drawingml/2006/main" noChangeAspect="1"/>
          </p:cNvPicPr>
          <p:nvPr/>
        </p:nvPicPr>
        <p:blipFill>
          <a:blip xmlns:r="http://schemas.openxmlformats.org/officeDocument/2006/relationships" xmlns:a="http://schemas.openxmlformats.org/drawingml/2006/main" r:embed="Ra3fdc92fa9e24d0a"/>
          <a:srcRect xmlns:a="http://schemas.openxmlformats.org/drawingml/2006/main" l="0" t="0" r="0" b="0"/>
          <a:stretch xmlns:a="http://schemas.openxmlformats.org/drawingml/2006/main">
            <a:fillRect l="0" t="0" r="0" b="0"/>
          </a:stretch>
        </p:blipFill>
        <p:spPr>
          <a:xfrm xmlns:a="http://schemas.openxmlformats.org/drawingml/2006/main">
            <a:off x="1572841" y="2009775"/>
            <a:ext cx="9046318" cy="2095500"/>
          </a:xfrm>
          <a:prstGeom xmlns:a="http://schemas.openxmlformats.org/drawingml/2006/main" prst="rect">
            <a:avLst/>
          </a:prstGeom>
        </p:spPr>
      </p:pic>
      <p:sp>
        <p:nvSpPr>
          <p:cNvPr id="16" name="theory-4">
            <a:extLst xmlns:a="http://schemas.openxmlformats.org/drawingml/2006/main">
              <a:ext uri="{FF2B5EF4-FFF2-40B4-BE49-F238E27FC236}">
                <a16:creationId xmlns:a16="http://schemas.microsoft.com/office/drawing/2014/main" id="{5DB2E8C2-6B88-430C-9658-4B6FE8175266}"/>
              </a:ext>
            </a:extLst>
          </p:cNvPr>
          <p:cNvSpPr>
            <a:spLocks xmlns:a="http://schemas.openxmlformats.org/drawingml/2006/main" noGrp="1"/>
          </p:cNvSpPr>
          <p:nvPr/>
        </p:nvSpPr>
        <p:spPr>
          <a:xfrm xmlns:a="http://schemas.openxmlformats.org/drawingml/2006/main">
            <a:off x="685800" y="423862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Пример word tokenization англоязычного предложения.</a:t>
            </a:r>
          </a:p>
        </p:txBody>
      </p:sp>
      <p:sp>
        <p:nvSpPr>
          <p:cNvPr id="17" name="theory-5">
            <a:extLst xmlns:a="http://schemas.openxmlformats.org/drawingml/2006/main">
              <a:ext uri="{FF2B5EF4-FFF2-40B4-BE49-F238E27FC236}">
                <a16:creationId xmlns:a16="http://schemas.microsoft.com/office/drawing/2014/main" id="{07FA619A-B266-4797-9AE3-24098EEAF1C8}"/>
              </a:ext>
            </a:extLst>
          </p:cNvPr>
          <p:cNvSpPr>
            <a:spLocks xmlns:a="http://schemas.openxmlformats.org/drawingml/2006/main" noGrp="1"/>
          </p:cNvSpPr>
          <p:nvPr/>
        </p:nvSpPr>
        <p:spPr>
          <a:xfrm xmlns:a="http://schemas.openxmlformats.org/drawingml/2006/main">
            <a:off x="685800" y="4714875"/>
            <a:ext cx="108204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13" b="0">
                <a:solidFill>
                  <a:srgbClr val="CDCDD3"/>
                </a:solidFill>
                <a:latin typeface="Helvetica Neue"/>
                <a:ea typeface="Helvetica Neue"/>
                <a:cs typeface="Helvetica Neue"/>
              </a:defRPr>
            </a:defPPr>
            <a:lvl1pPr>
              <a:buNone/>
              <a:defRPr sz="1913" b="0">
                <a:solidFill>
                  <a:srgbClr val="CDCDD3"/>
                </a:solidFill>
                <a:latin typeface="Helvetica Neue"/>
                <a:ea typeface="Helvetica Neue"/>
                <a:cs typeface="Helvetica Neue"/>
              </a:defRPr>
            </a:lvl1pPr>
            <a:lvl2pPr>
              <a:buNone/>
              <a:defRPr sz="1913" b="0">
                <a:solidFill>
                  <a:srgbClr val="CDCDD3"/>
                </a:solidFill>
                <a:latin typeface="Helvetica Neue"/>
                <a:ea typeface="Helvetica Neue"/>
                <a:cs typeface="Helvetica Neue"/>
              </a:defRPr>
            </a:lvl2pPr>
            <a:lvl3pPr>
              <a:buNone/>
              <a:defRPr sz="1913" b="0">
                <a:solidFill>
                  <a:srgbClr val="CDCDD3"/>
                </a:solidFill>
                <a:latin typeface="Helvetica Neue"/>
                <a:ea typeface="Helvetica Neue"/>
                <a:cs typeface="Helvetica Neue"/>
              </a:defRPr>
            </a:lvl3pPr>
            <a:lvl4pPr>
              <a:buNone/>
              <a:defRPr sz="1913" b="0">
                <a:solidFill>
                  <a:srgbClr val="CDCDD3"/>
                </a:solidFill>
                <a:latin typeface="Helvetica Neue"/>
                <a:ea typeface="Helvetica Neue"/>
                <a:cs typeface="Helvetica Neue"/>
              </a:defRPr>
            </a:lvl4pPr>
            <a:lvl5pPr>
              <a:buNone/>
              <a:defRPr sz="1913" b="0">
                <a:solidFill>
                  <a:srgbClr val="CDCDD3"/>
                </a:solidFill>
                <a:latin typeface="Helvetica Neue"/>
                <a:ea typeface="Helvetica Neue"/>
                <a:cs typeface="Helvetica Neue"/>
              </a:defRPr>
            </a:lvl5pPr>
            <a:lvl6pPr>
              <a:buNone/>
              <a:defRPr sz="1913" b="0">
                <a:solidFill>
                  <a:srgbClr val="CDCDD3"/>
                </a:solidFill>
                <a:latin typeface="Helvetica Neue"/>
                <a:ea typeface="Helvetica Neue"/>
                <a:cs typeface="Helvetica Neue"/>
              </a:defRPr>
            </a:lvl6pPr>
            <a:lvl7pPr>
              <a:buNone/>
              <a:defRPr sz="1913" b="0">
                <a:solidFill>
                  <a:srgbClr val="CDCDD3"/>
                </a:solidFill>
                <a:latin typeface="Helvetica Neue"/>
                <a:ea typeface="Helvetica Neue"/>
                <a:cs typeface="Helvetica Neue"/>
              </a:defRPr>
            </a:lvl7pPr>
            <a:lvl8pPr>
              <a:buNone/>
              <a:defRPr sz="1913" b="0">
                <a:solidFill>
                  <a:srgbClr val="CDCDD3"/>
                </a:solidFill>
                <a:latin typeface="Helvetica Neue"/>
                <a:ea typeface="Helvetica Neue"/>
                <a:cs typeface="Helvetica Neue"/>
              </a:defRPr>
            </a:lvl8pPr>
            <a:lvl9pPr>
              <a:buNone/>
              <a:defRPr sz="1913" b="0">
                <a:solidFill>
                  <a:srgbClr val="CDCDD3"/>
                </a:solidFill>
                <a:latin typeface="Helvetica Neue"/>
                <a:ea typeface="Helvetica Neue"/>
                <a:cs typeface="Helvetica Neue"/>
              </a:defRPr>
            </a:lvl9pPr>
          </a:lstStyle>
          <a:p xmlns:a="http://schemas.openxmlformats.org/drawingml/2006/main">
            <a:pPr>
              <a:buNone/>
              <a:defRPr sz="1913" b="0">
                <a:solidFill>
                  <a:srgbClr val="CDCDD3"/>
                </a:solidFill>
                <a:latin typeface="Helvetica Neue"/>
                <a:ea typeface="Helvetica Neue"/>
                <a:cs typeface="Helvetica Neue"/>
              </a:defRPr>
            </a:pPr>
            <a:r>
              <a:rPr sz="1913" b="0">
                <a:solidFill>
                  <a:srgbClr val="CDCDD3"/>
                </a:solidFill>
                <a:latin typeface="Helvetica Neue"/>
                <a:ea typeface="Helvetica Neue"/>
                <a:cs typeface="Helvetica Neue"/>
              </a:rPr>
              <a:t>На рисунке сравниваются разбиение по пробелам и учёт пунктуации. Во втором варианте восклицательный знак становится отдельным элементом, а сокращённая форма слова получает собственные границы. Tokenization определяет состав словаря и n-grams. Для русского текста отдельно проверяют дефисы, сокращения, числа и даты. На обучении и при применении модели необходимо сохранять одинаковые правила сегментации.</a:t>
            </a:r>
          </a:p>
        </p:txBody>
      </p:sp>
      <p:sp>
        <p:nvSpPr>
          <p:cNvPr id="18" name="theory-6">
            <a:extLst xmlns:a="http://schemas.openxmlformats.org/drawingml/2006/main">
              <a:ext uri="{FF2B5EF4-FFF2-40B4-BE49-F238E27FC236}">
                <a16:creationId xmlns:a16="http://schemas.microsoft.com/office/drawing/2014/main" id="{BF16FC94-3629-4E57-BFA1-5F100C9063AB}"/>
              </a:ext>
            </a:extLst>
          </p:cNvPr>
          <p:cNvSpPr>
            <a:spLocks xmlns:a="http://schemas.openxmlformats.org/drawingml/2006/main" noGrp="1"/>
          </p:cNvSpPr>
          <p:nvPr/>
        </p:nvSpPr>
        <p:spPr>
          <a:xfrm xmlns:a="http://schemas.openxmlformats.org/drawingml/2006/main">
            <a:off x="685800" y="6572250"/>
            <a:ext cx="108204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38" b="0">
                <a:solidFill>
                  <a:srgbClr val="98989F"/>
                </a:solidFill>
                <a:latin typeface="Helvetica Neue"/>
                <a:ea typeface="Helvetica Neue"/>
                <a:cs typeface="Helvetica Neue"/>
              </a:defRPr>
            </a:defPPr>
            <a:lvl1pPr>
              <a:buNone/>
              <a:defRPr sz="1238" b="0">
                <a:solidFill>
                  <a:srgbClr val="98989F"/>
                </a:solidFill>
                <a:latin typeface="Helvetica Neue"/>
                <a:ea typeface="Helvetica Neue"/>
                <a:cs typeface="Helvetica Neue"/>
              </a:defRPr>
            </a:lvl1pPr>
            <a:lvl2pPr>
              <a:buNone/>
              <a:defRPr sz="1238" b="0">
                <a:solidFill>
                  <a:srgbClr val="98989F"/>
                </a:solidFill>
                <a:latin typeface="Helvetica Neue"/>
                <a:ea typeface="Helvetica Neue"/>
                <a:cs typeface="Helvetica Neue"/>
              </a:defRPr>
            </a:lvl2pPr>
            <a:lvl3pPr>
              <a:buNone/>
              <a:defRPr sz="1238" b="0">
                <a:solidFill>
                  <a:srgbClr val="98989F"/>
                </a:solidFill>
                <a:latin typeface="Helvetica Neue"/>
                <a:ea typeface="Helvetica Neue"/>
                <a:cs typeface="Helvetica Neue"/>
              </a:defRPr>
            </a:lvl3pPr>
            <a:lvl4pPr>
              <a:buNone/>
              <a:defRPr sz="1238" b="0">
                <a:solidFill>
                  <a:srgbClr val="98989F"/>
                </a:solidFill>
                <a:latin typeface="Helvetica Neue"/>
                <a:ea typeface="Helvetica Neue"/>
                <a:cs typeface="Helvetica Neue"/>
              </a:defRPr>
            </a:lvl4pPr>
            <a:lvl5pPr>
              <a:buNone/>
              <a:defRPr sz="1238" b="0">
                <a:solidFill>
                  <a:srgbClr val="98989F"/>
                </a:solidFill>
                <a:latin typeface="Helvetica Neue"/>
                <a:ea typeface="Helvetica Neue"/>
                <a:cs typeface="Helvetica Neue"/>
              </a:defRPr>
            </a:lvl5pPr>
            <a:lvl6pPr>
              <a:buNone/>
              <a:defRPr sz="1238" b="0">
                <a:solidFill>
                  <a:srgbClr val="98989F"/>
                </a:solidFill>
                <a:latin typeface="Helvetica Neue"/>
                <a:ea typeface="Helvetica Neue"/>
                <a:cs typeface="Helvetica Neue"/>
              </a:defRPr>
            </a:lvl6pPr>
            <a:lvl7pPr>
              <a:buNone/>
              <a:defRPr sz="1238" b="0">
                <a:solidFill>
                  <a:srgbClr val="98989F"/>
                </a:solidFill>
                <a:latin typeface="Helvetica Neue"/>
                <a:ea typeface="Helvetica Neue"/>
                <a:cs typeface="Helvetica Neue"/>
              </a:defRPr>
            </a:lvl7pPr>
            <a:lvl8pPr>
              <a:buNone/>
              <a:defRPr sz="1238" b="0">
                <a:solidFill>
                  <a:srgbClr val="98989F"/>
                </a:solidFill>
                <a:latin typeface="Helvetica Neue"/>
                <a:ea typeface="Helvetica Neue"/>
                <a:cs typeface="Helvetica Neue"/>
              </a:defRPr>
            </a:lvl8pPr>
            <a:lvl9pPr>
              <a:buNone/>
              <a:defRPr sz="1238" b="0">
                <a:solidFill>
                  <a:srgbClr val="98989F"/>
                </a:solidFill>
                <a:latin typeface="Helvetica Neue"/>
                <a:ea typeface="Helvetica Neue"/>
                <a:cs typeface="Helvetica Neue"/>
              </a:defRPr>
            </a:lvl9pPr>
          </a:lstStyle>
          <a:p xmlns:a="http://schemas.openxmlformats.org/drawingml/2006/main">
            <a:pPr>
              <a:buNone/>
              <a:defRPr sz="1238" b="0">
                <a:solidFill>
                  <a:srgbClr val="98989F"/>
                </a:solidFill>
                <a:latin typeface="Helvetica Neue"/>
                <a:ea typeface="Helvetica Neue"/>
                <a:cs typeface="Helvetica Neue"/>
              </a:defRPr>
            </a:pPr>
            <a:r>
              <a:rPr sz="1238" b="0">
                <a:solidFill>
                  <a:srgbClr val="98989F"/>
                </a:solidFill>
                <a:latin typeface="Helvetica Neue"/>
                <a:ea typeface="Helvetica Neue"/>
                <a:cs typeface="Helvetica Neue"/>
                <a:hlinkClick xmlns:r="http://schemas.openxmlformats.org/officeDocument/2006/relationships" r:id="Rbba37499a05d449e"/>
              </a:rPr>
              <a:t>Источник: Hugging Face Course, гл. 2</a:t>
            </a:r>
          </a:p>
        </p:txBody>
      </p:sp>
    </p:spTree>
    <p:extLst>
      <p:ext uri="{BB962C8B-B14F-4D97-AF65-F5344CB8AC3E}">
        <p14:creationId xmlns:p14="http://schemas.microsoft.com/office/powerpoint/2010/main" val="496289646"/>
      </p:ext>
    </p:extLst>
  </p:cSld>
</p:sld>
</file>

<file path=ppt/slides/slide3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9" name="exp90-0">
            <a:extLst xmlns:a="http://schemas.openxmlformats.org/drawingml/2006/main">
              <a:ext uri="{FF2B5EF4-FFF2-40B4-BE49-F238E27FC236}">
                <a16:creationId xmlns:a16="http://schemas.microsoft.com/office/drawing/2014/main" id="{075DBDA0-07F6-4A73-BDE5-991EFF72755A}"/>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90-1">
            <a:extLst xmlns:a="http://schemas.openxmlformats.org/drawingml/2006/main">
              <a:ext uri="{FF2B5EF4-FFF2-40B4-BE49-F238E27FC236}">
                <a16:creationId xmlns:a16="http://schemas.microsoft.com/office/drawing/2014/main" id="{8E840876-F531-4C80-9AA2-2BDBA4DC1AAA}"/>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30</a:t>
            </a:r>
          </a:p>
        </p:txBody>
      </p:sp>
      <p:sp>
        <p:nvSpPr>
          <p:cNvPr id="3" name="">
            <a:extLst xmlns:a="http://schemas.openxmlformats.org/drawingml/2006/main">
              <a:ext uri="{FF2B5EF4-FFF2-40B4-BE49-F238E27FC236}">
                <a16:creationId xmlns:a16="http://schemas.microsoft.com/office/drawing/2014/main" id="{9DA43F3A-80AF-4C9E-AE01-98C100D8CC99}"/>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0">
            <a:solidFill>
              <a:srgbClr val="28282B"/>
            </a:solidFill>
          </a:ln>
        </p:spPr>
      </p:sp>
      <p:sp>
        <p:nvSpPr>
          <p:cNvPr id="4" name="exp90-3">
            <a:extLst xmlns:a="http://schemas.openxmlformats.org/drawingml/2006/main">
              <a:ext uri="{FF2B5EF4-FFF2-40B4-BE49-F238E27FC236}">
                <a16:creationId xmlns:a16="http://schemas.microsoft.com/office/drawing/2014/main" id="{C3C39837-36D3-441F-9E8D-751BEED7993B}"/>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Tokenization: rules и exceptions</a:t>
            </a:r>
          </a:p>
        </p:txBody>
      </p:sp>
      <p:pic>
        <p:nvPicPr>
          <p:cNvPr id="5" name="">
            <a:extLst xmlns:a="http://schemas.openxmlformats.org/drawingml/2006/main">
              <a:ext uri="{FF2B5EF4-FFF2-40B4-BE49-F238E27FC236}">
                <a16:creationId xmlns:a16="http://schemas.microsoft.com/office/drawing/2014/main" id="{8EAF4C4E-B807-442C-8CFD-729661CD9F1F}"/>
              </a:ext>
            </a:extLst>
          </p:cNvPr>
          <p:cNvPicPr>
            <a:picLocks xmlns:a="http://schemas.openxmlformats.org/drawingml/2006/main" noChangeAspect="1"/>
          </p:cNvPicPr>
          <p:nvPr/>
        </p:nvPicPr>
        <p:blipFill>
          <a:blip xmlns:r="http://schemas.openxmlformats.org/officeDocument/2006/relationships" xmlns:a="http://schemas.openxmlformats.org/drawingml/2006/main" r:embed="Rf39e3fa5c61042c6"/>
          <a:srcRect xmlns:a="http://schemas.openxmlformats.org/drawingml/2006/main" l="0" t="0" r="0" b="0"/>
          <a:stretch xmlns:a="http://schemas.openxmlformats.org/drawingml/2006/main">
            <a:fillRect l="0" t="0" r="0" b="0"/>
          </a:stretch>
        </p:blipFill>
        <p:spPr>
          <a:xfrm xmlns:a="http://schemas.openxmlformats.org/drawingml/2006/main">
            <a:off x="726861" y="2047875"/>
            <a:ext cx="6109128" cy="3943350"/>
          </a:xfrm>
          <a:prstGeom xmlns:a="http://schemas.openxmlformats.org/drawingml/2006/main" prst="rect">
            <a:avLst/>
          </a:prstGeom>
        </p:spPr>
      </p:pic>
      <p:sp>
        <p:nvSpPr>
          <p:cNvPr id="6" name="exp90-4">
            <a:extLst xmlns:a="http://schemas.openxmlformats.org/drawingml/2006/main">
              <a:ext uri="{FF2B5EF4-FFF2-40B4-BE49-F238E27FC236}">
                <a16:creationId xmlns:a16="http://schemas.microsoft.com/office/drawing/2014/main" id="{B664449F-03B0-4F85-88D0-5FA60C864BB7}"/>
              </a:ext>
            </a:extLst>
          </p:cNvPr>
          <p:cNvSpPr>
            <a:spLocks xmlns:a="http://schemas.openxmlformats.org/drawingml/2006/main" noGrp="1"/>
          </p:cNvSpPr>
          <p:nvPr/>
        </p:nvSpPr>
        <p:spPr>
          <a:xfrm xmlns:a="http://schemas.openxmlformats.org/drawingml/2006/main">
            <a:off x="7239000" y="2076450"/>
            <a:ext cx="4267200" cy="392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38" b="0">
                <a:solidFill>
                  <a:srgbClr val="CDCDD3"/>
                </a:solidFill>
                <a:latin typeface="Helvetica Neue"/>
                <a:ea typeface="Helvetica Neue"/>
                <a:cs typeface="Helvetica Neue"/>
              </a:defRPr>
            </a:defPPr>
            <a:lvl1pPr>
              <a:buNone/>
              <a:defRPr sz="1838" b="0">
                <a:solidFill>
                  <a:srgbClr val="CDCDD3"/>
                </a:solidFill>
                <a:latin typeface="Helvetica Neue"/>
                <a:ea typeface="Helvetica Neue"/>
                <a:cs typeface="Helvetica Neue"/>
              </a:defRPr>
            </a:lvl1pPr>
            <a:lvl2pPr>
              <a:buNone/>
              <a:defRPr sz="1838" b="0">
                <a:solidFill>
                  <a:srgbClr val="CDCDD3"/>
                </a:solidFill>
                <a:latin typeface="Helvetica Neue"/>
                <a:ea typeface="Helvetica Neue"/>
                <a:cs typeface="Helvetica Neue"/>
              </a:defRPr>
            </a:lvl2pPr>
            <a:lvl3pPr>
              <a:buNone/>
              <a:defRPr sz="1838" b="0">
                <a:solidFill>
                  <a:srgbClr val="CDCDD3"/>
                </a:solidFill>
                <a:latin typeface="Helvetica Neue"/>
                <a:ea typeface="Helvetica Neue"/>
                <a:cs typeface="Helvetica Neue"/>
              </a:defRPr>
            </a:lvl3pPr>
            <a:lvl4pPr>
              <a:buNone/>
              <a:defRPr sz="1838" b="0">
                <a:solidFill>
                  <a:srgbClr val="CDCDD3"/>
                </a:solidFill>
                <a:latin typeface="Helvetica Neue"/>
                <a:ea typeface="Helvetica Neue"/>
                <a:cs typeface="Helvetica Neue"/>
              </a:defRPr>
            </a:lvl4pPr>
            <a:lvl5pPr>
              <a:buNone/>
              <a:defRPr sz="1838" b="0">
                <a:solidFill>
                  <a:srgbClr val="CDCDD3"/>
                </a:solidFill>
                <a:latin typeface="Helvetica Neue"/>
                <a:ea typeface="Helvetica Neue"/>
                <a:cs typeface="Helvetica Neue"/>
              </a:defRPr>
            </a:lvl5pPr>
            <a:lvl6pPr>
              <a:buNone/>
              <a:defRPr sz="1838" b="0">
                <a:solidFill>
                  <a:srgbClr val="CDCDD3"/>
                </a:solidFill>
                <a:latin typeface="Helvetica Neue"/>
                <a:ea typeface="Helvetica Neue"/>
                <a:cs typeface="Helvetica Neue"/>
              </a:defRPr>
            </a:lvl6pPr>
            <a:lvl7pPr>
              <a:buNone/>
              <a:defRPr sz="1838" b="0">
                <a:solidFill>
                  <a:srgbClr val="CDCDD3"/>
                </a:solidFill>
                <a:latin typeface="Helvetica Neue"/>
                <a:ea typeface="Helvetica Neue"/>
                <a:cs typeface="Helvetica Neue"/>
              </a:defRPr>
            </a:lvl7pPr>
            <a:lvl8pPr>
              <a:buNone/>
              <a:defRPr sz="1838" b="0">
                <a:solidFill>
                  <a:srgbClr val="CDCDD3"/>
                </a:solidFill>
                <a:latin typeface="Helvetica Neue"/>
                <a:ea typeface="Helvetica Neue"/>
                <a:cs typeface="Helvetica Neue"/>
              </a:defRPr>
            </a:lvl8pPr>
            <a:lvl9pPr>
              <a:buNone/>
              <a:defRPr sz="1838" b="0">
                <a:solidFill>
                  <a:srgbClr val="CDCDD3"/>
                </a:solidFill>
                <a:latin typeface="Helvetica Neue"/>
                <a:ea typeface="Helvetica Neue"/>
                <a:cs typeface="Helvetica Neue"/>
              </a:defRPr>
            </a:lvl9pPr>
          </a:lstStyle>
          <a:p xmlns:a="http://schemas.openxmlformats.org/drawingml/2006/main">
            <a:pPr>
              <a:buNone/>
              <a:defRPr sz="1838" b="0">
                <a:solidFill>
                  <a:srgbClr val="CDCDD3"/>
                </a:solidFill>
                <a:latin typeface="Helvetica Neue"/>
                <a:ea typeface="Helvetica Neue"/>
                <a:cs typeface="Helvetica Neue"/>
              </a:defRPr>
            </a:pPr>
            <a:r>
              <a:rPr sz="1838" b="0">
                <a:solidFill>
                  <a:srgbClr val="CDCDD3"/>
                </a:solidFill>
                <a:latin typeface="Helvetica Neue"/>
                <a:ea typeface="Helvetica Neue"/>
                <a:cs typeface="Helvetica Neue"/>
              </a:rPr>
              <a:t>spaCy последовательно рассматривает начальные и конечные символы, а также известные исключения. На рисунке отдельно выделяются кавычки и восклицательный знак. Сокращение N.Y. сохраняет внутренние точки.</a:t>
            </a:r>
          </a:p>
          <a:p xmlns:a="http://schemas.openxmlformats.org/drawingml/2006/main">
            <a:r>
              <a:t/>
            </a:r>
          </a:p>
          <a:p xmlns:a="http://schemas.openxmlformats.org/drawingml/2006/main">
            <a:pPr>
              <a:buNone/>
              <a:defRPr sz="1838" b="0">
                <a:solidFill>
                  <a:srgbClr val="CDCDD3"/>
                </a:solidFill>
                <a:latin typeface="Helvetica Neue"/>
                <a:ea typeface="Helvetica Neue"/>
                <a:cs typeface="Helvetica Neue"/>
              </a:defRPr>
            </a:pPr>
            <a:r>
              <a:rPr sz="1838" b="0">
                <a:solidFill>
                  <a:srgbClr val="CDCDD3"/>
                </a:solidFill>
                <a:latin typeface="Helvetica Neue"/>
                <a:ea typeface="Helvetica Neue"/>
                <a:cs typeface="Helvetica Neue"/>
              </a:rPr>
              <a:t>Простого разделения по пробелам недостаточно. Правила должны согласованно обрабатывать сокращения, пунктуацию и устойчивые формы записи.</a:t>
            </a:r>
          </a:p>
        </p:txBody>
      </p:sp>
      <p:sp>
        <p:nvSpPr>
          <p:cNvPr id="7" name="exp90-5">
            <a:extLst xmlns:a="http://schemas.openxmlformats.org/drawingml/2006/main">
              <a:ext uri="{FF2B5EF4-FFF2-40B4-BE49-F238E27FC236}">
                <a16:creationId xmlns:a16="http://schemas.microsoft.com/office/drawing/2014/main" id="{B7DAABED-3DD5-42B4-A416-EDA2750303D9}"/>
              </a:ext>
            </a:extLst>
          </p:cNvPr>
          <p:cNvSpPr>
            <a:spLocks xmlns:a="http://schemas.openxmlformats.org/drawingml/2006/main" noGrp="1"/>
          </p:cNvSpPr>
          <p:nvPr/>
        </p:nvSpPr>
        <p:spPr>
          <a:xfrm xmlns:a="http://schemas.openxmlformats.org/drawingml/2006/main">
            <a:off x="685800" y="6210300"/>
            <a:ext cx="108204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88" b="0">
                <a:solidFill>
                  <a:srgbClr val="98989F"/>
                </a:solidFill>
                <a:latin typeface="Helvetica Neue"/>
                <a:ea typeface="Helvetica Neue"/>
                <a:cs typeface="Helvetica Neue"/>
              </a:defRPr>
            </a:defPPr>
            <a:lvl1pPr>
              <a:buNone/>
              <a:defRPr sz="1388" b="0">
                <a:solidFill>
                  <a:srgbClr val="98989F"/>
                </a:solidFill>
                <a:latin typeface="Helvetica Neue"/>
                <a:ea typeface="Helvetica Neue"/>
                <a:cs typeface="Helvetica Neue"/>
              </a:defRPr>
            </a:lvl1pPr>
            <a:lvl2pPr>
              <a:buNone/>
              <a:defRPr sz="1388" b="0">
                <a:solidFill>
                  <a:srgbClr val="98989F"/>
                </a:solidFill>
                <a:latin typeface="Helvetica Neue"/>
                <a:ea typeface="Helvetica Neue"/>
                <a:cs typeface="Helvetica Neue"/>
              </a:defRPr>
            </a:lvl2pPr>
            <a:lvl3pPr>
              <a:buNone/>
              <a:defRPr sz="1388" b="0">
                <a:solidFill>
                  <a:srgbClr val="98989F"/>
                </a:solidFill>
                <a:latin typeface="Helvetica Neue"/>
                <a:ea typeface="Helvetica Neue"/>
                <a:cs typeface="Helvetica Neue"/>
              </a:defRPr>
            </a:lvl3pPr>
            <a:lvl4pPr>
              <a:buNone/>
              <a:defRPr sz="1388" b="0">
                <a:solidFill>
                  <a:srgbClr val="98989F"/>
                </a:solidFill>
                <a:latin typeface="Helvetica Neue"/>
                <a:ea typeface="Helvetica Neue"/>
                <a:cs typeface="Helvetica Neue"/>
              </a:defRPr>
            </a:lvl4pPr>
            <a:lvl5pPr>
              <a:buNone/>
              <a:defRPr sz="1388" b="0">
                <a:solidFill>
                  <a:srgbClr val="98989F"/>
                </a:solidFill>
                <a:latin typeface="Helvetica Neue"/>
                <a:ea typeface="Helvetica Neue"/>
                <a:cs typeface="Helvetica Neue"/>
              </a:defRPr>
            </a:lvl5pPr>
            <a:lvl6pPr>
              <a:buNone/>
              <a:defRPr sz="1388" b="0">
                <a:solidFill>
                  <a:srgbClr val="98989F"/>
                </a:solidFill>
                <a:latin typeface="Helvetica Neue"/>
                <a:ea typeface="Helvetica Neue"/>
                <a:cs typeface="Helvetica Neue"/>
              </a:defRPr>
            </a:lvl6pPr>
            <a:lvl7pPr>
              <a:buNone/>
              <a:defRPr sz="1388" b="0">
                <a:solidFill>
                  <a:srgbClr val="98989F"/>
                </a:solidFill>
                <a:latin typeface="Helvetica Neue"/>
                <a:ea typeface="Helvetica Neue"/>
                <a:cs typeface="Helvetica Neue"/>
              </a:defRPr>
            </a:lvl7pPr>
            <a:lvl8pPr>
              <a:buNone/>
              <a:defRPr sz="1388" b="0">
                <a:solidFill>
                  <a:srgbClr val="98989F"/>
                </a:solidFill>
                <a:latin typeface="Helvetica Neue"/>
                <a:ea typeface="Helvetica Neue"/>
                <a:cs typeface="Helvetica Neue"/>
              </a:defRPr>
            </a:lvl8pPr>
            <a:lvl9pPr>
              <a:buNone/>
              <a:defRPr sz="1388" b="0">
                <a:solidFill>
                  <a:srgbClr val="98989F"/>
                </a:solidFill>
                <a:latin typeface="Helvetica Neue"/>
                <a:ea typeface="Helvetica Neue"/>
                <a:cs typeface="Helvetica Neue"/>
              </a:defRPr>
            </a:lvl9pPr>
          </a:lstStyle>
          <a:p xmlns:a="http://schemas.openxmlformats.org/drawingml/2006/main">
            <a:pPr>
              <a:buNone/>
              <a:defRPr sz="1388" b="0">
                <a:solidFill>
                  <a:srgbClr val="98989F"/>
                </a:solidFill>
                <a:latin typeface="Helvetica Neue"/>
                <a:ea typeface="Helvetica Neue"/>
                <a:cs typeface="Helvetica Neue"/>
              </a:defRPr>
            </a:pPr>
            <a:r>
              <a:rPr sz="1388" b="0">
                <a:solidFill>
                  <a:srgbClr val="98989F"/>
                </a:solidFill>
                <a:latin typeface="Helvetica Neue"/>
                <a:ea typeface="Helvetica Neue"/>
                <a:cs typeface="Helvetica Neue"/>
              </a:rPr>
              <a:t>Схема из документации spaCy. Пример относится к английскому языку.</a:t>
            </a:r>
          </a:p>
        </p:txBody>
      </p:sp>
      <p:sp>
        <p:nvSpPr>
          <p:cNvPr id="8" name="exp90-6">
            <a:extLst xmlns:a="http://schemas.openxmlformats.org/drawingml/2006/main">
              <a:ext uri="{FF2B5EF4-FFF2-40B4-BE49-F238E27FC236}">
                <a16:creationId xmlns:a16="http://schemas.microsoft.com/office/drawing/2014/main" id="{E3C092F4-9A86-41B3-9E38-69CFE7643371}"/>
              </a:ext>
            </a:extLst>
          </p:cNvPr>
          <p:cNvSpPr>
            <a:spLocks xmlns:a="http://schemas.openxmlformats.org/drawingml/2006/main" noGrp="1"/>
          </p:cNvSpPr>
          <p:nvPr/>
        </p:nvSpPr>
        <p:spPr>
          <a:xfrm xmlns:a="http://schemas.openxmlformats.org/drawingml/2006/main">
            <a:off x="685800" y="6648450"/>
            <a:ext cx="10820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63" b="0">
                <a:solidFill>
                  <a:srgbClr val="98989F"/>
                </a:solidFill>
                <a:latin typeface="Helvetica Neue"/>
                <a:ea typeface="Helvetica Neue"/>
                <a:cs typeface="Helvetica Neue"/>
              </a:defRPr>
            </a:defPPr>
            <a:lvl1pPr>
              <a:buNone/>
              <a:defRPr sz="1163" b="0">
                <a:solidFill>
                  <a:srgbClr val="98989F"/>
                </a:solidFill>
                <a:latin typeface="Helvetica Neue"/>
                <a:ea typeface="Helvetica Neue"/>
                <a:cs typeface="Helvetica Neue"/>
              </a:defRPr>
            </a:lvl1pPr>
            <a:lvl2pPr>
              <a:buNone/>
              <a:defRPr sz="1163" b="0">
                <a:solidFill>
                  <a:srgbClr val="98989F"/>
                </a:solidFill>
                <a:latin typeface="Helvetica Neue"/>
                <a:ea typeface="Helvetica Neue"/>
                <a:cs typeface="Helvetica Neue"/>
              </a:defRPr>
            </a:lvl2pPr>
            <a:lvl3pPr>
              <a:buNone/>
              <a:defRPr sz="1163" b="0">
                <a:solidFill>
                  <a:srgbClr val="98989F"/>
                </a:solidFill>
                <a:latin typeface="Helvetica Neue"/>
                <a:ea typeface="Helvetica Neue"/>
                <a:cs typeface="Helvetica Neue"/>
              </a:defRPr>
            </a:lvl3pPr>
            <a:lvl4pPr>
              <a:buNone/>
              <a:defRPr sz="1163" b="0">
                <a:solidFill>
                  <a:srgbClr val="98989F"/>
                </a:solidFill>
                <a:latin typeface="Helvetica Neue"/>
                <a:ea typeface="Helvetica Neue"/>
                <a:cs typeface="Helvetica Neue"/>
              </a:defRPr>
            </a:lvl4pPr>
            <a:lvl5pPr>
              <a:buNone/>
              <a:defRPr sz="1163" b="0">
                <a:solidFill>
                  <a:srgbClr val="98989F"/>
                </a:solidFill>
                <a:latin typeface="Helvetica Neue"/>
                <a:ea typeface="Helvetica Neue"/>
                <a:cs typeface="Helvetica Neue"/>
              </a:defRPr>
            </a:lvl5pPr>
            <a:lvl6pPr>
              <a:buNone/>
              <a:defRPr sz="1163" b="0">
                <a:solidFill>
                  <a:srgbClr val="98989F"/>
                </a:solidFill>
                <a:latin typeface="Helvetica Neue"/>
                <a:ea typeface="Helvetica Neue"/>
                <a:cs typeface="Helvetica Neue"/>
              </a:defRPr>
            </a:lvl6pPr>
            <a:lvl7pPr>
              <a:buNone/>
              <a:defRPr sz="1163" b="0">
                <a:solidFill>
                  <a:srgbClr val="98989F"/>
                </a:solidFill>
                <a:latin typeface="Helvetica Neue"/>
                <a:ea typeface="Helvetica Neue"/>
                <a:cs typeface="Helvetica Neue"/>
              </a:defRPr>
            </a:lvl7pPr>
            <a:lvl8pPr>
              <a:buNone/>
              <a:defRPr sz="1163" b="0">
                <a:solidFill>
                  <a:srgbClr val="98989F"/>
                </a:solidFill>
                <a:latin typeface="Helvetica Neue"/>
                <a:ea typeface="Helvetica Neue"/>
                <a:cs typeface="Helvetica Neue"/>
              </a:defRPr>
            </a:lvl8pPr>
            <a:lvl9pPr>
              <a:buNone/>
              <a:defRPr sz="1163" b="0">
                <a:solidFill>
                  <a:srgbClr val="98989F"/>
                </a:solidFill>
                <a:latin typeface="Helvetica Neue"/>
                <a:ea typeface="Helvetica Neue"/>
                <a:cs typeface="Helvetica Neue"/>
              </a:defRPr>
            </a:lvl9pPr>
          </a:lstStyle>
          <a:p xmlns:a="http://schemas.openxmlformats.org/drawingml/2006/main">
            <a:pPr>
              <a:buNone/>
              <a:defRPr sz="1163" b="0">
                <a:solidFill>
                  <a:srgbClr val="98989F"/>
                </a:solidFill>
                <a:latin typeface="Helvetica Neue"/>
                <a:ea typeface="Helvetica Neue"/>
                <a:cs typeface="Helvetica Neue"/>
              </a:defRPr>
            </a:pPr>
            <a:r>
              <a:rPr sz="1163" b="0">
                <a:solidFill>
                  <a:srgbClr val="98989F"/>
                </a:solidFill>
                <a:latin typeface="Helvetica Neue"/>
                <a:ea typeface="Helvetica Neue"/>
                <a:cs typeface="Helvetica Neue"/>
                <a:hlinkClick xmlns:r="http://schemas.openxmlformats.org/officeDocument/2006/relationships" r:id="R07d246a0dc5d4994"/>
              </a:rPr>
              <a:t>Источник: Документация spaCy</a:t>
            </a:r>
          </a:p>
        </p:txBody>
      </p:sp>
    </p:spTree>
    <p:extLst>
      <p:ext uri="{BB962C8B-B14F-4D97-AF65-F5344CB8AC3E}">
        <p14:creationId xmlns:p14="http://schemas.microsoft.com/office/powerpoint/2010/main" val="2112131776"/>
      </p:ext>
    </p:extLst>
  </p:cSld>
</p:sld>
</file>

<file path=ppt/slides/slide3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8" name="exp90-0">
            <a:extLst xmlns:a="http://schemas.openxmlformats.org/drawingml/2006/main">
              <a:ext uri="{FF2B5EF4-FFF2-40B4-BE49-F238E27FC236}">
                <a16:creationId xmlns:a16="http://schemas.microsoft.com/office/drawing/2014/main" id="{8F148602-5F50-459A-A544-0CFD1143CABD}"/>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90-1">
            <a:extLst xmlns:a="http://schemas.openxmlformats.org/drawingml/2006/main">
              <a:ext uri="{FF2B5EF4-FFF2-40B4-BE49-F238E27FC236}">
                <a16:creationId xmlns:a16="http://schemas.microsoft.com/office/drawing/2014/main" id="{A920D217-1AF2-4A44-80D8-6D527CA4C93B}"/>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31</a:t>
            </a:r>
          </a:p>
        </p:txBody>
      </p:sp>
      <p:sp>
        <p:nvSpPr>
          <p:cNvPr id="3" name="">
            <a:extLst xmlns:a="http://schemas.openxmlformats.org/drawingml/2006/main">
              <a:ext uri="{FF2B5EF4-FFF2-40B4-BE49-F238E27FC236}">
                <a16:creationId xmlns:a16="http://schemas.microsoft.com/office/drawing/2014/main" id="{E6D97851-45F4-424A-B1C8-2BFF6F4E6B53}"/>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0">
            <a:solidFill>
              <a:srgbClr val="28282B"/>
            </a:solidFill>
          </a:ln>
        </p:spPr>
      </p:sp>
      <p:sp>
        <p:nvSpPr>
          <p:cNvPr id="4" name="exp90-3">
            <a:extLst xmlns:a="http://schemas.openxmlformats.org/drawingml/2006/main">
              <a:ext uri="{FF2B5EF4-FFF2-40B4-BE49-F238E27FC236}">
                <a16:creationId xmlns:a16="http://schemas.microsoft.com/office/drawing/2014/main" id="{003175FE-B7F5-4663-AF2F-1EEE6F0FF873}"/>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Пограничные случаи tokenization</a:t>
            </a:r>
          </a:p>
        </p:txBody>
      </p:sp>
      <p:sp>
        <p:nvSpPr>
          <p:cNvPr id="5" name="exp90-4">
            <a:extLst xmlns:a="http://schemas.openxmlformats.org/drawingml/2006/main">
              <a:ext uri="{FF2B5EF4-FFF2-40B4-BE49-F238E27FC236}">
                <a16:creationId xmlns:a16="http://schemas.microsoft.com/office/drawing/2014/main" id="{45B6A8B6-3313-46FB-A85C-D501B772FEBA}"/>
              </a:ext>
            </a:extLst>
          </p:cNvPr>
          <p:cNvSpPr>
            <a:spLocks xmlns:a="http://schemas.openxmlformats.org/drawingml/2006/main" noGrp="1"/>
          </p:cNvSpPr>
          <p:nvPr/>
        </p:nvSpPr>
        <p:spPr>
          <a:xfrm xmlns:a="http://schemas.openxmlformats.org/drawingml/2006/main">
            <a:off x="685800" y="20097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88" b="0">
                <a:solidFill>
                  <a:srgbClr val="F5F5F7"/>
                </a:solidFill>
                <a:latin typeface="Helvetica Neue"/>
                <a:ea typeface="Helvetica Neue"/>
                <a:cs typeface="Helvetica Neue"/>
              </a:defRPr>
            </a:defPPr>
            <a:lvl1pPr>
              <a:buNone/>
              <a:defRPr sz="1988" b="0">
                <a:solidFill>
                  <a:srgbClr val="F5F5F7"/>
                </a:solidFill>
                <a:latin typeface="Helvetica Neue"/>
                <a:ea typeface="Helvetica Neue"/>
                <a:cs typeface="Helvetica Neue"/>
              </a:defRPr>
            </a:lvl1pPr>
            <a:lvl2pPr>
              <a:buNone/>
              <a:defRPr sz="1988" b="0">
                <a:solidFill>
                  <a:srgbClr val="F5F5F7"/>
                </a:solidFill>
                <a:latin typeface="Helvetica Neue"/>
                <a:ea typeface="Helvetica Neue"/>
                <a:cs typeface="Helvetica Neue"/>
              </a:defRPr>
            </a:lvl2pPr>
            <a:lvl3pPr>
              <a:buNone/>
              <a:defRPr sz="1988" b="0">
                <a:solidFill>
                  <a:srgbClr val="F5F5F7"/>
                </a:solidFill>
                <a:latin typeface="Helvetica Neue"/>
                <a:ea typeface="Helvetica Neue"/>
                <a:cs typeface="Helvetica Neue"/>
              </a:defRPr>
            </a:lvl3pPr>
            <a:lvl4pPr>
              <a:buNone/>
              <a:defRPr sz="1988" b="0">
                <a:solidFill>
                  <a:srgbClr val="F5F5F7"/>
                </a:solidFill>
                <a:latin typeface="Helvetica Neue"/>
                <a:ea typeface="Helvetica Neue"/>
                <a:cs typeface="Helvetica Neue"/>
              </a:defRPr>
            </a:lvl4pPr>
            <a:lvl5pPr>
              <a:buNone/>
              <a:defRPr sz="1988" b="0">
                <a:solidFill>
                  <a:srgbClr val="F5F5F7"/>
                </a:solidFill>
                <a:latin typeface="Helvetica Neue"/>
                <a:ea typeface="Helvetica Neue"/>
                <a:cs typeface="Helvetica Neue"/>
              </a:defRPr>
            </a:lvl5pPr>
            <a:lvl6pPr>
              <a:buNone/>
              <a:defRPr sz="1988" b="0">
                <a:solidFill>
                  <a:srgbClr val="F5F5F7"/>
                </a:solidFill>
                <a:latin typeface="Helvetica Neue"/>
                <a:ea typeface="Helvetica Neue"/>
                <a:cs typeface="Helvetica Neue"/>
              </a:defRPr>
            </a:lvl6pPr>
            <a:lvl7pPr>
              <a:buNone/>
              <a:defRPr sz="1988" b="0">
                <a:solidFill>
                  <a:srgbClr val="F5F5F7"/>
                </a:solidFill>
                <a:latin typeface="Helvetica Neue"/>
                <a:ea typeface="Helvetica Neue"/>
                <a:cs typeface="Helvetica Neue"/>
              </a:defRPr>
            </a:lvl7pPr>
            <a:lvl8pPr>
              <a:buNone/>
              <a:defRPr sz="1988" b="0">
                <a:solidFill>
                  <a:srgbClr val="F5F5F7"/>
                </a:solidFill>
                <a:latin typeface="Helvetica Neue"/>
                <a:ea typeface="Helvetica Neue"/>
                <a:cs typeface="Helvetica Neue"/>
              </a:defRPr>
            </a:lvl8pPr>
            <a:lvl9pPr>
              <a:buNone/>
              <a:defRPr sz="1988" b="0">
                <a:solidFill>
                  <a:srgbClr val="F5F5F7"/>
                </a:solidFill>
                <a:latin typeface="Helvetica Neue"/>
                <a:ea typeface="Helvetica Neue"/>
                <a:cs typeface="Helvetica Neue"/>
              </a:defRPr>
            </a:lvl9pPr>
          </a:lstStyle>
          <a:p xmlns:a="http://schemas.openxmlformats.org/drawingml/2006/main">
            <a:pPr>
              <a:buNone/>
              <a:defRPr sz="1988" b="0">
                <a:solidFill>
                  <a:srgbClr val="F5F5F7"/>
                </a:solidFill>
                <a:latin typeface="Helvetica Neue"/>
                <a:ea typeface="Helvetica Neue"/>
                <a:cs typeface="Helvetica Neue"/>
              </a:defRPr>
            </a:pPr>
            <a:r>
              <a:rPr sz="1988" b="0">
                <a:solidFill>
                  <a:srgbClr val="F5F5F7"/>
                </a:solidFill>
                <a:latin typeface="Helvetica Neue"/>
                <a:ea typeface="Helvetica Neue"/>
                <a:cs typeface="Helvetica Neue"/>
              </a:rPr>
              <a:t>Правильное разбиение зависит от того, какая информация должна сохраняться в последующей задаче.</a:t>
            </a:r>
          </a:p>
        </p:txBody>
      </p:sp>
      <p:graphicFrame>
        <p:nvGraphicFramePr>
          <p:cNvPr id="6" name="">
            <a:extLst xmlns:a="http://schemas.openxmlformats.org/drawingml/2006/main">
              <a:ext uri="{FF2B5EF4-FFF2-40B4-BE49-F238E27FC236}">
                <a16:creationId xmlns:a16="http://schemas.microsoft.com/office/drawing/2014/main" id="{1DEC6BBD-DA54-446C-86B8-C9DA2441A790}"/>
              </a:ext>
            </a:extLst>
          </p:cNvPr>
          <p:cNvGraphicFramePr/>
          <p:nvPr/>
        </p:nvGraphicFramePr>
        <p:xfrm>
          <a:off xmlns:a="http://schemas.openxmlformats.org/drawingml/2006/main" x="685800" y="2876550"/>
          <a:ext xmlns:a="http://schemas.openxmlformats.org/drawingml/2006/main" cx="10820400" cy="3143250"/>
        </p:xfrm>
        <a:graphic xmlns:a="http://schemas.openxmlformats.org/drawingml/2006/main">
          <a:graphicData uri="http://schemas.openxmlformats.org/drawingml/2006/table">
            <a:tbl>
              <a:tblPr/>
              <a:tblGrid>
                <a:gridCol w="2381250"/>
                <a:gridCol w="3810000"/>
                <a:gridCol w="4629150"/>
              </a:tblGrid>
              <a:tr h="628650">
                <a:tc>
                  <a:txBody>
                    <a:bodyPr lIns="133350" tIns="76200" rIns="133350" bIns="76200"/>
                    <a:lstStyle/>
                    <a:p>
                      <a:r>
                        <a:rPr sz="1800" b="1">
                          <a:solidFill>
                            <a:srgbClr val="98989F"/>
                          </a:solidFill>
                          <a:latin typeface="Helvetica Neue"/>
                          <a:ea typeface="Helvetica Neue"/>
                          <a:cs typeface="Helvetica Neue"/>
                        </a:rPr>
                        <a:t>Запись</a:t>
                      </a:r>
                    </a:p>
                  </a:txBody>
                  <a:tcPr marL="91440" marR="91440" marT="45720" marB="45720" anchor="ctr">
                    <a:lnL w="9525">
                      <a:solidFill>
                        <a:srgbClr val="28282B"/>
                      </a:solidFill>
                      <a:prstDash val="solid"/>
                    </a:lnL>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c>
                  <a:txBody>
                    <a:bodyPr lIns="133350" tIns="76200" rIns="133350" bIns="76200"/>
                    <a:lstStyle/>
                    <a:p>
                      <a:r>
                        <a:rPr sz="1800" b="1">
                          <a:solidFill>
                            <a:srgbClr val="98989F"/>
                          </a:solidFill>
                          <a:latin typeface="Helvetica Neue"/>
                          <a:ea typeface="Helvetica Neue"/>
                          <a:cs typeface="Helvetica Neue"/>
                        </a:rPr>
                        <a:t>Существенное свойство</a:t>
                      </a:r>
                    </a:p>
                  </a:txBody>
                  <a:tcPr marL="91440" marR="91440" marT="45720" marB="45720" anchor="ctr">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c>
                  <a:txBody>
                    <a:bodyPr lIns="133350" tIns="76200" rIns="133350" bIns="76200"/>
                    <a:lstStyle/>
                    <a:p>
                      <a:r>
                        <a:rPr sz="1800" b="1">
                          <a:solidFill>
                            <a:srgbClr val="98989F"/>
                          </a:solidFill>
                          <a:latin typeface="Helvetica Neue"/>
                          <a:ea typeface="Helvetica Neue"/>
                          <a:cs typeface="Helvetica Neue"/>
                        </a:rPr>
                        <a:t>Что требуется проверить</a:t>
                      </a:r>
                    </a:p>
                  </a:txBody>
                  <a:tcPr marL="91440" marR="91440" marT="45720" marB="45720" anchor="ctr">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r>
              <a:tr h="628650">
                <a:tc>
                  <a:txBody>
                    <a:bodyPr lIns="133350" tIns="76200" rIns="133350" bIns="76200"/>
                    <a:lstStyle/>
                    <a:p>
                      <a:r>
                        <a:rPr sz="1800" b="0">
                          <a:solidFill>
                            <a:srgbClr val="F5F5F7"/>
                          </a:solidFill>
                          <a:latin typeface="Helvetica Neue"/>
                          <a:ea typeface="Helvetica Neue"/>
                          <a:cs typeface="Helvetica Neue"/>
                        </a:rPr>
                        <a:t>Санкт-Петербург</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800" b="0">
                          <a:solidFill>
                            <a:srgbClr val="F5F5F7"/>
                          </a:solidFill>
                          <a:latin typeface="Helvetica Neue"/>
                          <a:ea typeface="Helvetica Neue"/>
                          <a:cs typeface="Helvetica Neue"/>
                        </a:rPr>
                        <a:t>Название с дефисом</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800" b="0">
                          <a:solidFill>
                            <a:srgbClr val="F5F5F7"/>
                          </a:solidFill>
                          <a:latin typeface="Helvetica Neue"/>
                          <a:ea typeface="Helvetica Neue"/>
                          <a:cs typeface="Helvetica Neue"/>
                        </a:rPr>
                        <a:t>Границы названия</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r h="628650">
                <a:tc>
                  <a:txBody>
                    <a:bodyPr lIns="133350" tIns="76200" rIns="133350" bIns="76200"/>
                    <a:lstStyle/>
                    <a:p>
                      <a:r>
                        <a:rPr sz="1800" b="0">
                          <a:solidFill>
                            <a:srgbClr val="F5F5F7"/>
                          </a:solidFill>
                          <a:latin typeface="Helvetica Neue"/>
                          <a:ea typeface="Helvetica Neue"/>
                          <a:cs typeface="Helvetica Neue"/>
                        </a:rPr>
                        <a:t>24.10.2026</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800" b="0">
                          <a:solidFill>
                            <a:srgbClr val="F5F5F7"/>
                          </a:solidFill>
                          <a:latin typeface="Helvetica Neue"/>
                          <a:ea typeface="Helvetica Neue"/>
                          <a:cs typeface="Helvetica Neue"/>
                        </a:rPr>
                        <a:t>Единая запись даты</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800" b="0">
                          <a:solidFill>
                            <a:srgbClr val="F5F5F7"/>
                          </a:solidFill>
                          <a:latin typeface="Helvetica Neue"/>
                          <a:ea typeface="Helvetica Neue"/>
                          <a:cs typeface="Helvetica Neue"/>
                        </a:rPr>
                        <a:t>Связь частей даты</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r h="628650">
                <a:tc>
                  <a:txBody>
                    <a:bodyPr lIns="133350" tIns="76200" rIns="133350" bIns="76200"/>
                    <a:lstStyle/>
                    <a:p>
                      <a:r>
                        <a:rPr sz="1800" b="0">
                          <a:solidFill>
                            <a:srgbClr val="F5F5F7"/>
                          </a:solidFill>
                          <a:latin typeface="Helvetica Neue"/>
                          <a:ea typeface="Helvetica Neue"/>
                          <a:cs typeface="Helvetica Neue"/>
                        </a:rPr>
                        <a:t>3,5 кг</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800" b="0">
                          <a:solidFill>
                            <a:srgbClr val="F5F5F7"/>
                          </a:solidFill>
                          <a:latin typeface="Helvetica Neue"/>
                          <a:ea typeface="Helvetica Neue"/>
                          <a:cs typeface="Helvetica Neue"/>
                        </a:rPr>
                        <a:t>Число и единица измерения</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800" b="0">
                          <a:solidFill>
                            <a:srgbClr val="F5F5F7"/>
                          </a:solidFill>
                          <a:latin typeface="Helvetica Neue"/>
                          <a:ea typeface="Helvetica Neue"/>
                          <a:cs typeface="Helvetica Neue"/>
                        </a:rPr>
                        <a:t>Десятичный разделитель</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r h="628650">
                <a:tc>
                  <a:txBody>
                    <a:bodyPr lIns="133350" tIns="76200" rIns="133350" bIns="76200"/>
                    <a:lstStyle/>
                    <a:p>
                      <a:r>
                        <a:rPr sz="1800" b="0">
                          <a:solidFill>
                            <a:srgbClr val="F5F5F7"/>
                          </a:solidFill>
                          <a:latin typeface="Helvetica Neue"/>
                          <a:ea typeface="Helvetica Neue"/>
                          <a:cs typeface="Helvetica Neue"/>
                        </a:rPr>
                        <a:t>не понравился</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800" b="0">
                          <a:solidFill>
                            <a:srgbClr val="F5F5F7"/>
                          </a:solidFill>
                          <a:latin typeface="Helvetica Neue"/>
                          <a:ea typeface="Helvetica Neue"/>
                          <a:cs typeface="Helvetica Neue"/>
                        </a:rPr>
                        <a:t>Отрицание и оценка</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800" b="0">
                          <a:solidFill>
                            <a:srgbClr val="F5F5F7"/>
                          </a:solidFill>
                          <a:latin typeface="Helvetica Neue"/>
                          <a:ea typeface="Helvetica Neue"/>
                          <a:cs typeface="Helvetica Neue"/>
                        </a:rPr>
                        <a:t>Сохранение соседства</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bl>
          </a:graphicData>
        </a:graphic>
      </p:graphicFrame>
      <p:sp>
        <p:nvSpPr>
          <p:cNvPr id="7" name="exp90-5">
            <a:extLst xmlns:a="http://schemas.openxmlformats.org/drawingml/2006/main">
              <a:ext uri="{FF2B5EF4-FFF2-40B4-BE49-F238E27FC236}">
                <a16:creationId xmlns:a16="http://schemas.microsoft.com/office/drawing/2014/main" id="{16E7E9E1-D429-440C-82E9-065E6EE42EE9}"/>
              </a:ext>
            </a:extLst>
          </p:cNvPr>
          <p:cNvSpPr>
            <a:spLocks xmlns:a="http://schemas.openxmlformats.org/drawingml/2006/main" noGrp="1"/>
          </p:cNvSpPr>
          <p:nvPr/>
        </p:nvSpPr>
        <p:spPr>
          <a:xfrm xmlns:a="http://schemas.openxmlformats.org/drawingml/2006/main">
            <a:off x="685800" y="618172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CDCDD3"/>
                </a:solidFill>
                <a:latin typeface="Helvetica Neue"/>
                <a:ea typeface="Helvetica Neue"/>
                <a:cs typeface="Helvetica Neue"/>
              </a:defRPr>
            </a:defPPr>
            <a:lvl1pPr>
              <a:buNone/>
              <a:defRPr sz="1650" b="0">
                <a:solidFill>
                  <a:srgbClr val="CDCDD3"/>
                </a:solidFill>
                <a:latin typeface="Helvetica Neue"/>
                <a:ea typeface="Helvetica Neue"/>
                <a:cs typeface="Helvetica Neue"/>
              </a:defRPr>
            </a:lvl1pPr>
            <a:lvl2pPr>
              <a:buNone/>
              <a:defRPr sz="1650" b="0">
                <a:solidFill>
                  <a:srgbClr val="CDCDD3"/>
                </a:solidFill>
                <a:latin typeface="Helvetica Neue"/>
                <a:ea typeface="Helvetica Neue"/>
                <a:cs typeface="Helvetica Neue"/>
              </a:defRPr>
            </a:lvl2pPr>
            <a:lvl3pPr>
              <a:buNone/>
              <a:defRPr sz="1650" b="0">
                <a:solidFill>
                  <a:srgbClr val="CDCDD3"/>
                </a:solidFill>
                <a:latin typeface="Helvetica Neue"/>
                <a:ea typeface="Helvetica Neue"/>
                <a:cs typeface="Helvetica Neue"/>
              </a:defRPr>
            </a:lvl3pPr>
            <a:lvl4pPr>
              <a:buNone/>
              <a:defRPr sz="1650" b="0">
                <a:solidFill>
                  <a:srgbClr val="CDCDD3"/>
                </a:solidFill>
                <a:latin typeface="Helvetica Neue"/>
                <a:ea typeface="Helvetica Neue"/>
                <a:cs typeface="Helvetica Neue"/>
              </a:defRPr>
            </a:lvl4pPr>
            <a:lvl5pPr>
              <a:buNone/>
              <a:defRPr sz="1650" b="0">
                <a:solidFill>
                  <a:srgbClr val="CDCDD3"/>
                </a:solidFill>
                <a:latin typeface="Helvetica Neue"/>
                <a:ea typeface="Helvetica Neue"/>
                <a:cs typeface="Helvetica Neue"/>
              </a:defRPr>
            </a:lvl5pPr>
            <a:lvl6pPr>
              <a:buNone/>
              <a:defRPr sz="1650" b="0">
                <a:solidFill>
                  <a:srgbClr val="CDCDD3"/>
                </a:solidFill>
                <a:latin typeface="Helvetica Neue"/>
                <a:ea typeface="Helvetica Neue"/>
                <a:cs typeface="Helvetica Neue"/>
              </a:defRPr>
            </a:lvl6pPr>
            <a:lvl7pPr>
              <a:buNone/>
              <a:defRPr sz="1650" b="0">
                <a:solidFill>
                  <a:srgbClr val="CDCDD3"/>
                </a:solidFill>
                <a:latin typeface="Helvetica Neue"/>
                <a:ea typeface="Helvetica Neue"/>
                <a:cs typeface="Helvetica Neue"/>
              </a:defRPr>
            </a:lvl7pPr>
            <a:lvl8pPr>
              <a:buNone/>
              <a:defRPr sz="1650" b="0">
                <a:solidFill>
                  <a:srgbClr val="CDCDD3"/>
                </a:solidFill>
                <a:latin typeface="Helvetica Neue"/>
                <a:ea typeface="Helvetica Neue"/>
                <a:cs typeface="Helvetica Neue"/>
              </a:defRPr>
            </a:lvl8pPr>
            <a:lvl9pPr>
              <a:buNone/>
              <a:defRPr sz="1650" b="0">
                <a:solidFill>
                  <a:srgbClr val="CDCDD3"/>
                </a:solidFill>
                <a:latin typeface="Helvetica Neue"/>
                <a:ea typeface="Helvetica Neue"/>
                <a:cs typeface="Helvetica Neue"/>
              </a:defRPr>
            </a:lvl9pPr>
          </a:lstStyle>
          <a:p xmlns:a="http://schemas.openxmlformats.org/drawingml/2006/main">
            <a:pPr>
              <a:buNone/>
              <a:defRPr sz="1650" b="0">
                <a:solidFill>
                  <a:srgbClr val="CDCDD3"/>
                </a:solidFill>
                <a:latin typeface="Helvetica Neue"/>
                <a:ea typeface="Helvetica Neue"/>
                <a:cs typeface="Helvetica Neue"/>
              </a:defRPr>
            </a:pPr>
            <a:r>
              <a:rPr sz="1650" b="0">
                <a:solidFill>
                  <a:srgbClr val="CDCDD3"/>
                </a:solidFill>
                <a:latin typeface="Helvetica Neue"/>
                <a:ea typeface="Helvetica Neue"/>
                <a:cs typeface="Helvetica Neue"/>
              </a:rPr>
              <a:t>Таблица задаёт случаи для проверки. Она не предписывает одинаковое число токенов для всех библиотек и способов представления.</a:t>
            </a:r>
          </a:p>
        </p:txBody>
      </p:sp>
    </p:spTree>
    <p:extLst>
      <p:ext uri="{BB962C8B-B14F-4D97-AF65-F5344CB8AC3E}">
        <p14:creationId xmlns:p14="http://schemas.microsoft.com/office/powerpoint/2010/main" val="723079737"/>
      </p:ext>
    </p:extLst>
  </p:cSld>
</p:sld>
</file>

<file path=ppt/slides/slide3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1" name="expanded-0">
            <a:extLst xmlns:a="http://schemas.openxmlformats.org/drawingml/2006/main">
              <a:ext uri="{FF2B5EF4-FFF2-40B4-BE49-F238E27FC236}">
                <a16:creationId xmlns:a16="http://schemas.microsoft.com/office/drawing/2014/main" id="{739A765F-F95E-43DC-BBB2-CFF20FB00821}"/>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anded-1">
            <a:extLst xmlns:a="http://schemas.openxmlformats.org/drawingml/2006/main">
              <a:ext uri="{FF2B5EF4-FFF2-40B4-BE49-F238E27FC236}">
                <a16:creationId xmlns:a16="http://schemas.microsoft.com/office/drawing/2014/main" id="{18D2880E-73CB-424F-825B-750B71716770}"/>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32</a:t>
            </a:r>
          </a:p>
        </p:txBody>
      </p:sp>
      <p:sp>
        <p:nvSpPr>
          <p:cNvPr id="3" name="">
            <a:extLst xmlns:a="http://schemas.openxmlformats.org/drawingml/2006/main">
              <a:ext uri="{FF2B5EF4-FFF2-40B4-BE49-F238E27FC236}">
                <a16:creationId xmlns:a16="http://schemas.microsoft.com/office/drawing/2014/main" id="{5E661193-E7C1-4EEC-91C8-6B020C8A7C65}"/>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ln>
        </p:spPr>
      </p:sp>
      <p:sp>
        <p:nvSpPr>
          <p:cNvPr id="4" name="expanded-3">
            <a:extLst xmlns:a="http://schemas.openxmlformats.org/drawingml/2006/main">
              <a:ext uri="{FF2B5EF4-FFF2-40B4-BE49-F238E27FC236}">
                <a16:creationId xmlns:a16="http://schemas.microsoft.com/office/drawing/2014/main" id="{30B9ECCB-4F44-4671-B595-E49E9AE79783}"/>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Обработка русского текста</a:t>
            </a:r>
          </a:p>
        </p:txBody>
      </p:sp>
      <p:sp>
        <p:nvSpPr>
          <p:cNvPr id="12" name="ysda-4">
            <a:extLst xmlns:a="http://schemas.openxmlformats.org/drawingml/2006/main">
              <a:ext uri="{FF2B5EF4-FFF2-40B4-BE49-F238E27FC236}">
                <a16:creationId xmlns:a16="http://schemas.microsoft.com/office/drawing/2014/main" id="{8776C060-260A-484A-8A3C-F610ED6D185D}"/>
              </a:ext>
            </a:extLst>
          </p:cNvPr>
          <p:cNvSpPr>
            <a:spLocks xmlns:a="http://schemas.openxmlformats.org/drawingml/2006/main" noGrp="1"/>
          </p:cNvSpPr>
          <p:nvPr/>
        </p:nvSpPr>
        <p:spPr>
          <a:xfrm xmlns:a="http://schemas.openxmlformats.org/drawingml/2006/main">
            <a:off x="685800" y="20478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Словоформы и неоднозначность</a:t>
            </a:r>
          </a:p>
        </p:txBody>
      </p:sp>
      <p:sp>
        <p:nvSpPr>
          <p:cNvPr id="13" name="ysda-5">
            <a:extLst xmlns:a="http://schemas.openxmlformats.org/drawingml/2006/main">
              <a:ext uri="{FF2B5EF4-FFF2-40B4-BE49-F238E27FC236}">
                <a16:creationId xmlns:a16="http://schemas.microsoft.com/office/drawing/2014/main" id="{7B636036-C448-4B8C-A7B6-62FE64CF3988}"/>
              </a:ext>
            </a:extLst>
          </p:cNvPr>
          <p:cNvSpPr>
            <a:spLocks xmlns:a="http://schemas.openxmlformats.org/drawingml/2006/main" noGrp="1"/>
          </p:cNvSpPr>
          <p:nvPr/>
        </p:nvSpPr>
        <p:spPr>
          <a:xfrm xmlns:a="http://schemas.openxmlformats.org/drawingml/2006/main">
            <a:off x="685800" y="2514600"/>
            <a:ext cx="108204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В русском тексте одна lemma может встречаться во многих формах. Это увеличивает vocabulary при word-level representation. Одновременно одинаковая запись может допускать разные разборы: «стали» соотносится со словом «стать» или «сталь» в зависимости от контекста. Morphological analysis должен учитывать, какие свойства нужны конкретной задаче.</a:t>
            </a:r>
          </a:p>
        </p:txBody>
      </p:sp>
      <p:sp>
        <p:nvSpPr>
          <p:cNvPr id="14" name="ysda-6">
            <a:extLst xmlns:a="http://schemas.openxmlformats.org/drawingml/2006/main">
              <a:ext uri="{FF2B5EF4-FFF2-40B4-BE49-F238E27FC236}">
                <a16:creationId xmlns:a16="http://schemas.microsoft.com/office/drawing/2014/main" id="{56D23C2F-4040-4A07-92CC-D9CC6A0A85DB}"/>
              </a:ext>
            </a:extLst>
          </p:cNvPr>
          <p:cNvSpPr>
            <a:spLocks xmlns:a="http://schemas.openxmlformats.org/drawingml/2006/main" noGrp="1"/>
          </p:cNvSpPr>
          <p:nvPr/>
        </p:nvSpPr>
        <p:spPr>
          <a:xfrm xmlns:a="http://schemas.openxmlformats.org/drawingml/2006/main">
            <a:off x="685800" y="4229100"/>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Запись и жанр</a:t>
            </a:r>
          </a:p>
        </p:txBody>
      </p:sp>
      <p:sp>
        <p:nvSpPr>
          <p:cNvPr id="15" name="ysda-7">
            <a:extLst xmlns:a="http://schemas.openxmlformats.org/drawingml/2006/main">
              <a:ext uri="{FF2B5EF4-FFF2-40B4-BE49-F238E27FC236}">
                <a16:creationId xmlns:a16="http://schemas.microsoft.com/office/drawing/2014/main" id="{4F469609-E4E2-4F6B-9EB2-FA21B2104CD6}"/>
              </a:ext>
            </a:extLst>
          </p:cNvPr>
          <p:cNvSpPr>
            <a:spLocks xmlns:a="http://schemas.openxmlformats.org/drawingml/2006/main" noGrp="1"/>
          </p:cNvSpPr>
          <p:nvPr/>
        </p:nvSpPr>
        <p:spPr>
          <a:xfrm xmlns:a="http://schemas.openxmlformats.org/drawingml/2006/main">
            <a:off x="685800" y="4695825"/>
            <a:ext cx="10820400" cy="1914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Проверяют буквы «е» и «ё», дефисы, сокращения, имена, числительные и смешение кириллицы с латиницей. Сообщения пользователей дополнительно содержат опечатки и нестандартные формы. Нельзя считать любой tokenizer или pretrained model одинаково пригодным для русского языка: важны language support и данные обучения. Проверка на характерных примерах дополняет общую метрику.</a:t>
            </a:r>
          </a:p>
        </p:txBody>
      </p:sp>
    </p:spTree>
    <p:extLst>
      <p:ext uri="{BB962C8B-B14F-4D97-AF65-F5344CB8AC3E}">
        <p14:creationId xmlns:p14="http://schemas.microsoft.com/office/powerpoint/2010/main" val="321681128"/>
      </p:ext>
    </p:extLst>
  </p:cSld>
</p:sld>
</file>

<file path=ppt/slides/slide3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7A5E2140-55C9-4B19-817D-F695C522CCD6}"/>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98989F"/>
                </a:solidFill>
                <a:latin typeface="Helvetica Neue"/>
                <a:ea typeface="Helvetica Neue"/>
                <a:cs typeface="Helvetica Neue"/>
              </a:defRPr>
            </a:defPPr>
            <a:lvl1pPr algn="l">
              <a:buNone/>
              <a:defRPr sz="1425" b="0">
                <a:solidFill>
                  <a:srgbClr val="98989F"/>
                </a:solidFill>
                <a:latin typeface="Helvetica Neue"/>
                <a:ea typeface="Helvetica Neue"/>
                <a:cs typeface="Helvetica Neue"/>
              </a:defRPr>
            </a:lvl1pPr>
            <a:lvl2pPr algn="l">
              <a:buNone/>
              <a:defRPr sz="1425" b="0">
                <a:solidFill>
                  <a:srgbClr val="98989F"/>
                </a:solidFill>
                <a:latin typeface="Helvetica Neue"/>
                <a:ea typeface="Helvetica Neue"/>
                <a:cs typeface="Helvetica Neue"/>
              </a:defRPr>
            </a:lvl2pPr>
            <a:lvl3pPr algn="l">
              <a:buNone/>
              <a:defRPr sz="1425" b="0">
                <a:solidFill>
                  <a:srgbClr val="98989F"/>
                </a:solidFill>
                <a:latin typeface="Helvetica Neue"/>
                <a:ea typeface="Helvetica Neue"/>
                <a:cs typeface="Helvetica Neue"/>
              </a:defRPr>
            </a:lvl3pPr>
            <a:lvl4pPr algn="l">
              <a:buNone/>
              <a:defRPr sz="1425" b="0">
                <a:solidFill>
                  <a:srgbClr val="98989F"/>
                </a:solidFill>
                <a:latin typeface="Helvetica Neue"/>
                <a:ea typeface="Helvetica Neue"/>
                <a:cs typeface="Helvetica Neue"/>
              </a:defRPr>
            </a:lvl4pPr>
            <a:lvl5pPr algn="l">
              <a:buNone/>
              <a:defRPr sz="1425" b="0">
                <a:solidFill>
                  <a:srgbClr val="98989F"/>
                </a:solidFill>
                <a:latin typeface="Helvetica Neue"/>
                <a:ea typeface="Helvetica Neue"/>
                <a:cs typeface="Helvetica Neue"/>
              </a:defRPr>
            </a:lvl5pPr>
            <a:lvl6pPr algn="l">
              <a:buNone/>
              <a:defRPr sz="1425" b="0">
                <a:solidFill>
                  <a:srgbClr val="98989F"/>
                </a:solidFill>
                <a:latin typeface="Helvetica Neue"/>
                <a:ea typeface="Helvetica Neue"/>
                <a:cs typeface="Helvetica Neue"/>
              </a:defRPr>
            </a:lvl6pPr>
            <a:lvl7pPr algn="l">
              <a:buNone/>
              <a:defRPr sz="1425" b="0">
                <a:solidFill>
                  <a:srgbClr val="98989F"/>
                </a:solidFill>
                <a:latin typeface="Helvetica Neue"/>
                <a:ea typeface="Helvetica Neue"/>
                <a:cs typeface="Helvetica Neue"/>
              </a:defRPr>
            </a:lvl7pPr>
            <a:lvl8pPr algn="l">
              <a:buNone/>
              <a:defRPr sz="1425" b="0">
                <a:solidFill>
                  <a:srgbClr val="98989F"/>
                </a:solidFill>
                <a:latin typeface="Helvetica Neue"/>
                <a:ea typeface="Helvetica Neue"/>
                <a:cs typeface="Helvetica Neue"/>
              </a:defRPr>
            </a:lvl8pPr>
            <a:lvl9pPr algn="l">
              <a:buNone/>
              <a:defRPr sz="1425" b="0">
                <a:solidFill>
                  <a:srgbClr val="98989F"/>
                </a:solidFill>
                <a:latin typeface="Helvetica Neue"/>
                <a:ea typeface="Helvetica Neue"/>
                <a:cs typeface="Helvetica Neue"/>
              </a:defRPr>
            </a:lvl9pPr>
          </a:lstStyle>
          <a:p xmlns:a="http://schemas.openxmlformats.org/drawingml/2006/main">
            <a:pPr algn="l">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text-1">
            <a:extLst xmlns:a="http://schemas.openxmlformats.org/drawingml/2006/main">
              <a:ext uri="{FF2B5EF4-FFF2-40B4-BE49-F238E27FC236}">
                <a16:creationId xmlns:a16="http://schemas.microsoft.com/office/drawing/2014/main" id="{DF6302DA-8859-4736-AB12-E31A2D4D6EBA}"/>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33</a:t>
            </a:r>
          </a:p>
        </p:txBody>
      </p:sp>
      <p:sp>
        <p:nvSpPr>
          <p:cNvPr id="3" name="">
            <a:extLst xmlns:a="http://schemas.openxmlformats.org/drawingml/2006/main">
              <a:ext uri="{FF2B5EF4-FFF2-40B4-BE49-F238E27FC236}">
                <a16:creationId xmlns:a16="http://schemas.microsoft.com/office/drawing/2014/main" id="{1F1D813A-2A31-4ABD-96CF-2E528DDD25AA}"/>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prstDash val="solid"/>
          </a:ln>
        </p:spPr>
      </p:sp>
      <p:sp>
        <p:nvSpPr>
          <p:cNvPr id="4" name="text-3">
            <a:extLst xmlns:a="http://schemas.openxmlformats.org/drawingml/2006/main">
              <a:ext uri="{FF2B5EF4-FFF2-40B4-BE49-F238E27FC236}">
                <a16:creationId xmlns:a16="http://schemas.microsoft.com/office/drawing/2014/main" id="{9DC1864B-BCBC-460C-B8A5-514BE1D86FA1}"/>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5F7"/>
                </a:solidFill>
                <a:latin typeface="Helvetica Neue"/>
                <a:ea typeface="Helvetica Neue"/>
                <a:cs typeface="Helvetica Neue"/>
              </a:defRPr>
            </a:defPPr>
            <a:lvl1pPr algn="l">
              <a:buNone/>
              <a:defRPr sz="3450" b="1">
                <a:solidFill>
                  <a:srgbClr val="F5F5F7"/>
                </a:solidFill>
                <a:latin typeface="Helvetica Neue"/>
                <a:ea typeface="Helvetica Neue"/>
                <a:cs typeface="Helvetica Neue"/>
              </a:defRPr>
            </a:lvl1pPr>
            <a:lvl2pPr algn="l">
              <a:buNone/>
              <a:defRPr sz="3450" b="1">
                <a:solidFill>
                  <a:srgbClr val="F5F5F7"/>
                </a:solidFill>
                <a:latin typeface="Helvetica Neue"/>
                <a:ea typeface="Helvetica Neue"/>
                <a:cs typeface="Helvetica Neue"/>
              </a:defRPr>
            </a:lvl2pPr>
            <a:lvl3pPr algn="l">
              <a:buNone/>
              <a:defRPr sz="3450" b="1">
                <a:solidFill>
                  <a:srgbClr val="F5F5F7"/>
                </a:solidFill>
                <a:latin typeface="Helvetica Neue"/>
                <a:ea typeface="Helvetica Neue"/>
                <a:cs typeface="Helvetica Neue"/>
              </a:defRPr>
            </a:lvl3pPr>
            <a:lvl4pPr algn="l">
              <a:buNone/>
              <a:defRPr sz="3450" b="1">
                <a:solidFill>
                  <a:srgbClr val="F5F5F7"/>
                </a:solidFill>
                <a:latin typeface="Helvetica Neue"/>
                <a:ea typeface="Helvetica Neue"/>
                <a:cs typeface="Helvetica Neue"/>
              </a:defRPr>
            </a:lvl4pPr>
            <a:lvl5pPr algn="l">
              <a:buNone/>
              <a:defRPr sz="3450" b="1">
                <a:solidFill>
                  <a:srgbClr val="F5F5F7"/>
                </a:solidFill>
                <a:latin typeface="Helvetica Neue"/>
                <a:ea typeface="Helvetica Neue"/>
                <a:cs typeface="Helvetica Neue"/>
              </a:defRPr>
            </a:lvl5pPr>
            <a:lvl6pPr algn="l">
              <a:buNone/>
              <a:defRPr sz="3450" b="1">
                <a:solidFill>
                  <a:srgbClr val="F5F5F7"/>
                </a:solidFill>
                <a:latin typeface="Helvetica Neue"/>
                <a:ea typeface="Helvetica Neue"/>
                <a:cs typeface="Helvetica Neue"/>
              </a:defRPr>
            </a:lvl6pPr>
            <a:lvl7pPr algn="l">
              <a:buNone/>
              <a:defRPr sz="3450" b="1">
                <a:solidFill>
                  <a:srgbClr val="F5F5F7"/>
                </a:solidFill>
                <a:latin typeface="Helvetica Neue"/>
                <a:ea typeface="Helvetica Neue"/>
                <a:cs typeface="Helvetica Neue"/>
              </a:defRPr>
            </a:lvl7pPr>
            <a:lvl8pPr algn="l">
              <a:buNone/>
              <a:defRPr sz="3450" b="1">
                <a:solidFill>
                  <a:srgbClr val="F5F5F7"/>
                </a:solidFill>
                <a:latin typeface="Helvetica Neue"/>
                <a:ea typeface="Helvetica Neue"/>
                <a:cs typeface="Helvetica Neue"/>
              </a:defRPr>
            </a:lvl8pPr>
            <a:lvl9pPr algn="l">
              <a:buNone/>
              <a:defRPr sz="3450" b="1">
                <a:solidFill>
                  <a:srgbClr val="F5F5F7"/>
                </a:solidFill>
                <a:latin typeface="Helvetica Neue"/>
                <a:ea typeface="Helvetica Neue"/>
                <a:cs typeface="Helvetica Neue"/>
              </a:defRPr>
            </a:lvl9pPr>
          </a:lstStyle>
          <a:p xmlns:a="http://schemas.openxmlformats.org/drawingml/2006/main">
            <a:pPr algn="l">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Word, character и subword tokenization</a:t>
            </a:r>
          </a:p>
        </p:txBody>
      </p:sp>
      <p:pic>
        <p:nvPicPr>
          <p:cNvPr id="13" name="">
            <a:extLst xmlns:a="http://schemas.openxmlformats.org/drawingml/2006/main">
              <a:ext uri="{FF2B5EF4-FFF2-40B4-BE49-F238E27FC236}">
                <a16:creationId xmlns:a16="http://schemas.microsoft.com/office/drawing/2014/main" id="{DAB6D698-A460-4D80-BF67-4871D54B33EC}"/>
              </a:ext>
            </a:extLst>
          </p:cNvPr>
          <p:cNvPicPr>
            <a:picLocks xmlns:a="http://schemas.openxmlformats.org/drawingml/2006/main" noChangeAspect="1"/>
          </p:cNvPicPr>
          <p:nvPr/>
        </p:nvPicPr>
        <p:blipFill>
          <a:blip xmlns:r="http://schemas.openxmlformats.org/officeDocument/2006/relationships" xmlns:a="http://schemas.openxmlformats.org/drawingml/2006/main" r:embed="Re3c11c1442ff400c"/>
          <a:srcRect xmlns:a="http://schemas.openxmlformats.org/drawingml/2006/main" l="0" t="0" r="0" b="0"/>
          <a:stretch xmlns:a="http://schemas.openxmlformats.org/drawingml/2006/main">
            <a:fillRect l="0" t="0" r="0" b="0"/>
          </a:stretch>
        </p:blipFill>
        <p:spPr>
          <a:xfrm xmlns:a="http://schemas.openxmlformats.org/drawingml/2006/main">
            <a:off x="685800" y="2243436"/>
            <a:ext cx="10820400" cy="1018579"/>
          </a:xfrm>
          <a:prstGeom xmlns:a="http://schemas.openxmlformats.org/drawingml/2006/main" prst="rect">
            <a:avLst/>
          </a:prstGeom>
        </p:spPr>
      </p:pic>
      <p:sp>
        <p:nvSpPr>
          <p:cNvPr id="14" name="theory-4">
            <a:extLst xmlns:a="http://schemas.openxmlformats.org/drawingml/2006/main">
              <a:ext uri="{FF2B5EF4-FFF2-40B4-BE49-F238E27FC236}">
                <a16:creationId xmlns:a16="http://schemas.microsoft.com/office/drawing/2014/main" id="{C6B3A694-3A3A-45BA-BD61-06C76AF85785}"/>
              </a:ext>
            </a:extLst>
          </p:cNvPr>
          <p:cNvSpPr>
            <a:spLocks xmlns:a="http://schemas.openxmlformats.org/drawingml/2006/main" noGrp="1"/>
          </p:cNvSpPr>
          <p:nvPr/>
        </p:nvSpPr>
        <p:spPr>
          <a:xfrm xmlns:a="http://schemas.openxmlformats.org/drawingml/2006/main">
            <a:off x="685800" y="352425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Subword units позволяют представить слово через несколько фрагментов.</a:t>
            </a:r>
          </a:p>
        </p:txBody>
      </p:sp>
      <p:sp>
        <p:nvSpPr>
          <p:cNvPr id="15" name="theory-5">
            <a:extLst xmlns:a="http://schemas.openxmlformats.org/drawingml/2006/main">
              <a:ext uri="{FF2B5EF4-FFF2-40B4-BE49-F238E27FC236}">
                <a16:creationId xmlns:a16="http://schemas.microsoft.com/office/drawing/2014/main" id="{F8D133F5-A0FD-4FBE-A4CA-EE0305006F58}"/>
              </a:ext>
            </a:extLst>
          </p:cNvPr>
          <p:cNvSpPr>
            <a:spLocks xmlns:a="http://schemas.openxmlformats.org/drawingml/2006/main" noGrp="1"/>
          </p:cNvSpPr>
          <p:nvPr/>
        </p:nvSpPr>
        <p:spPr>
          <a:xfrm xmlns:a="http://schemas.openxmlformats.org/drawingml/2006/main">
            <a:off x="685800" y="4010025"/>
            <a:ext cx="108204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13" b="0">
                <a:solidFill>
                  <a:srgbClr val="CDCDD3"/>
                </a:solidFill>
                <a:latin typeface="Helvetica Neue"/>
                <a:ea typeface="Helvetica Neue"/>
                <a:cs typeface="Helvetica Neue"/>
              </a:defRPr>
            </a:defPPr>
            <a:lvl1pPr>
              <a:buNone/>
              <a:defRPr sz="1913" b="0">
                <a:solidFill>
                  <a:srgbClr val="CDCDD3"/>
                </a:solidFill>
                <a:latin typeface="Helvetica Neue"/>
                <a:ea typeface="Helvetica Neue"/>
                <a:cs typeface="Helvetica Neue"/>
              </a:defRPr>
            </a:lvl1pPr>
            <a:lvl2pPr>
              <a:buNone/>
              <a:defRPr sz="1913" b="0">
                <a:solidFill>
                  <a:srgbClr val="CDCDD3"/>
                </a:solidFill>
                <a:latin typeface="Helvetica Neue"/>
                <a:ea typeface="Helvetica Neue"/>
                <a:cs typeface="Helvetica Neue"/>
              </a:defRPr>
            </a:lvl2pPr>
            <a:lvl3pPr>
              <a:buNone/>
              <a:defRPr sz="1913" b="0">
                <a:solidFill>
                  <a:srgbClr val="CDCDD3"/>
                </a:solidFill>
                <a:latin typeface="Helvetica Neue"/>
                <a:ea typeface="Helvetica Neue"/>
                <a:cs typeface="Helvetica Neue"/>
              </a:defRPr>
            </a:lvl3pPr>
            <a:lvl4pPr>
              <a:buNone/>
              <a:defRPr sz="1913" b="0">
                <a:solidFill>
                  <a:srgbClr val="CDCDD3"/>
                </a:solidFill>
                <a:latin typeface="Helvetica Neue"/>
                <a:ea typeface="Helvetica Neue"/>
                <a:cs typeface="Helvetica Neue"/>
              </a:defRPr>
            </a:lvl4pPr>
            <a:lvl5pPr>
              <a:buNone/>
              <a:defRPr sz="1913" b="0">
                <a:solidFill>
                  <a:srgbClr val="CDCDD3"/>
                </a:solidFill>
                <a:latin typeface="Helvetica Neue"/>
                <a:ea typeface="Helvetica Neue"/>
                <a:cs typeface="Helvetica Neue"/>
              </a:defRPr>
            </a:lvl5pPr>
            <a:lvl6pPr>
              <a:buNone/>
              <a:defRPr sz="1913" b="0">
                <a:solidFill>
                  <a:srgbClr val="CDCDD3"/>
                </a:solidFill>
                <a:latin typeface="Helvetica Neue"/>
                <a:ea typeface="Helvetica Neue"/>
                <a:cs typeface="Helvetica Neue"/>
              </a:defRPr>
            </a:lvl6pPr>
            <a:lvl7pPr>
              <a:buNone/>
              <a:defRPr sz="1913" b="0">
                <a:solidFill>
                  <a:srgbClr val="CDCDD3"/>
                </a:solidFill>
                <a:latin typeface="Helvetica Neue"/>
                <a:ea typeface="Helvetica Neue"/>
                <a:cs typeface="Helvetica Neue"/>
              </a:defRPr>
            </a:lvl7pPr>
            <a:lvl8pPr>
              <a:buNone/>
              <a:defRPr sz="1913" b="0">
                <a:solidFill>
                  <a:srgbClr val="CDCDD3"/>
                </a:solidFill>
                <a:latin typeface="Helvetica Neue"/>
                <a:ea typeface="Helvetica Neue"/>
                <a:cs typeface="Helvetica Neue"/>
              </a:defRPr>
            </a:lvl8pPr>
            <a:lvl9pPr>
              <a:buNone/>
              <a:defRPr sz="1913" b="0">
                <a:solidFill>
                  <a:srgbClr val="CDCDD3"/>
                </a:solidFill>
                <a:latin typeface="Helvetica Neue"/>
                <a:ea typeface="Helvetica Neue"/>
                <a:cs typeface="Helvetica Neue"/>
              </a:defRPr>
            </a:lvl9pPr>
          </a:lstStyle>
          <a:p xmlns:a="http://schemas.openxmlformats.org/drawingml/2006/main">
            <a:pPr>
              <a:buNone/>
              <a:defRPr sz="1913" b="0">
                <a:solidFill>
                  <a:srgbClr val="CDCDD3"/>
                </a:solidFill>
                <a:latin typeface="Helvetica Neue"/>
                <a:ea typeface="Helvetica Neue"/>
                <a:cs typeface="Helvetica Neue"/>
              </a:defRPr>
            </a:pPr>
            <a:r>
              <a:rPr sz="1913" b="0">
                <a:solidFill>
                  <a:srgbClr val="CDCDD3"/>
                </a:solidFill>
                <a:latin typeface="Helvetica Neue"/>
                <a:ea typeface="Helvetica Neue"/>
                <a:cs typeface="Helvetica Neue"/>
              </a:rPr>
              <a:t>Word tokenization использует целые слова, character tokenization использует отдельные символы, а subword выделяет промежуточные фрагменты. На рисунке слово tokenization разделено на token и ization. Маркер &lt;/w&gt; обозначает конец слова в этом примере.</a:t>
            </a:r>
          </a:p>
          <a:p xmlns:a="http://schemas.openxmlformats.org/drawingml/2006/main">
            <a:r>
              <a:t/>
            </a:r>
          </a:p>
          <a:p xmlns:a="http://schemas.openxmlformats.org/drawingml/2006/main">
            <a:pPr>
              <a:buNone/>
              <a:defRPr sz="1913" b="0">
                <a:solidFill>
                  <a:srgbClr val="CDCDD3"/>
                </a:solidFill>
                <a:latin typeface="Helvetica Neue"/>
                <a:ea typeface="Helvetica Neue"/>
                <a:cs typeface="Helvetica Neue"/>
              </a:defRPr>
            </a:pPr>
            <a:r>
              <a:rPr sz="1913" b="0">
                <a:solidFill>
                  <a:srgbClr val="CDCDD3"/>
                </a:solidFill>
                <a:latin typeface="Helvetica Neue"/>
                <a:ea typeface="Helvetica Neue"/>
                <a:cs typeface="Helvetica Neue"/>
              </a:rPr>
              <a:t>Subword units позволяют представить редкую запись через известные части. Они не обязаны совпадать с морфемами. Для предобученной модели применяют согласованный с ней tokenizer и словарь.</a:t>
            </a:r>
          </a:p>
        </p:txBody>
      </p:sp>
      <p:sp>
        <p:nvSpPr>
          <p:cNvPr id="16" name="theory-6">
            <a:extLst xmlns:a="http://schemas.openxmlformats.org/drawingml/2006/main">
              <a:ext uri="{FF2B5EF4-FFF2-40B4-BE49-F238E27FC236}">
                <a16:creationId xmlns:a16="http://schemas.microsoft.com/office/drawing/2014/main" id="{394B237A-7567-4CD4-BB79-F75E83209FC5}"/>
              </a:ext>
            </a:extLst>
          </p:cNvPr>
          <p:cNvSpPr>
            <a:spLocks xmlns:a="http://schemas.openxmlformats.org/drawingml/2006/main" noGrp="1"/>
          </p:cNvSpPr>
          <p:nvPr/>
        </p:nvSpPr>
        <p:spPr>
          <a:xfrm xmlns:a="http://schemas.openxmlformats.org/drawingml/2006/main">
            <a:off x="685800" y="6572250"/>
            <a:ext cx="108204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38" b="0">
                <a:solidFill>
                  <a:srgbClr val="98989F"/>
                </a:solidFill>
                <a:latin typeface="Helvetica Neue"/>
                <a:ea typeface="Helvetica Neue"/>
                <a:cs typeface="Helvetica Neue"/>
              </a:defRPr>
            </a:defPPr>
            <a:lvl1pPr>
              <a:buNone/>
              <a:defRPr sz="1238" b="0">
                <a:solidFill>
                  <a:srgbClr val="98989F"/>
                </a:solidFill>
                <a:latin typeface="Helvetica Neue"/>
                <a:ea typeface="Helvetica Neue"/>
                <a:cs typeface="Helvetica Neue"/>
              </a:defRPr>
            </a:lvl1pPr>
            <a:lvl2pPr>
              <a:buNone/>
              <a:defRPr sz="1238" b="0">
                <a:solidFill>
                  <a:srgbClr val="98989F"/>
                </a:solidFill>
                <a:latin typeface="Helvetica Neue"/>
                <a:ea typeface="Helvetica Neue"/>
                <a:cs typeface="Helvetica Neue"/>
              </a:defRPr>
            </a:lvl2pPr>
            <a:lvl3pPr>
              <a:buNone/>
              <a:defRPr sz="1238" b="0">
                <a:solidFill>
                  <a:srgbClr val="98989F"/>
                </a:solidFill>
                <a:latin typeface="Helvetica Neue"/>
                <a:ea typeface="Helvetica Neue"/>
                <a:cs typeface="Helvetica Neue"/>
              </a:defRPr>
            </a:lvl3pPr>
            <a:lvl4pPr>
              <a:buNone/>
              <a:defRPr sz="1238" b="0">
                <a:solidFill>
                  <a:srgbClr val="98989F"/>
                </a:solidFill>
                <a:latin typeface="Helvetica Neue"/>
                <a:ea typeface="Helvetica Neue"/>
                <a:cs typeface="Helvetica Neue"/>
              </a:defRPr>
            </a:lvl4pPr>
            <a:lvl5pPr>
              <a:buNone/>
              <a:defRPr sz="1238" b="0">
                <a:solidFill>
                  <a:srgbClr val="98989F"/>
                </a:solidFill>
                <a:latin typeface="Helvetica Neue"/>
                <a:ea typeface="Helvetica Neue"/>
                <a:cs typeface="Helvetica Neue"/>
              </a:defRPr>
            </a:lvl5pPr>
            <a:lvl6pPr>
              <a:buNone/>
              <a:defRPr sz="1238" b="0">
                <a:solidFill>
                  <a:srgbClr val="98989F"/>
                </a:solidFill>
                <a:latin typeface="Helvetica Neue"/>
                <a:ea typeface="Helvetica Neue"/>
                <a:cs typeface="Helvetica Neue"/>
              </a:defRPr>
            </a:lvl6pPr>
            <a:lvl7pPr>
              <a:buNone/>
              <a:defRPr sz="1238" b="0">
                <a:solidFill>
                  <a:srgbClr val="98989F"/>
                </a:solidFill>
                <a:latin typeface="Helvetica Neue"/>
                <a:ea typeface="Helvetica Neue"/>
                <a:cs typeface="Helvetica Neue"/>
              </a:defRPr>
            </a:lvl7pPr>
            <a:lvl8pPr>
              <a:buNone/>
              <a:defRPr sz="1238" b="0">
                <a:solidFill>
                  <a:srgbClr val="98989F"/>
                </a:solidFill>
                <a:latin typeface="Helvetica Neue"/>
                <a:ea typeface="Helvetica Neue"/>
                <a:cs typeface="Helvetica Neue"/>
              </a:defRPr>
            </a:lvl8pPr>
            <a:lvl9pPr>
              <a:buNone/>
              <a:defRPr sz="1238" b="0">
                <a:solidFill>
                  <a:srgbClr val="98989F"/>
                </a:solidFill>
                <a:latin typeface="Helvetica Neue"/>
                <a:ea typeface="Helvetica Neue"/>
                <a:cs typeface="Helvetica Neue"/>
              </a:defRPr>
            </a:lvl9pPr>
          </a:lstStyle>
          <a:p xmlns:a="http://schemas.openxmlformats.org/drawingml/2006/main">
            <a:pPr>
              <a:buNone/>
              <a:defRPr sz="1238" b="0">
                <a:solidFill>
                  <a:srgbClr val="98989F"/>
                </a:solidFill>
                <a:latin typeface="Helvetica Neue"/>
                <a:ea typeface="Helvetica Neue"/>
                <a:cs typeface="Helvetica Neue"/>
              </a:defRPr>
            </a:pPr>
            <a:r>
              <a:rPr sz="1238" b="0">
                <a:solidFill>
                  <a:srgbClr val="98989F"/>
                </a:solidFill>
                <a:latin typeface="Helvetica Neue"/>
                <a:ea typeface="Helvetica Neue"/>
                <a:cs typeface="Helvetica Neue"/>
                <a:hlinkClick xmlns:r="http://schemas.openxmlformats.org/officeDocument/2006/relationships" r:id="R306e27300b7b4429"/>
              </a:rPr>
              <a:t>Источник: Hugging Face Course, гл. 2</a:t>
            </a:r>
          </a:p>
        </p:txBody>
      </p:sp>
    </p:spTree>
    <p:extLst>
      <p:ext uri="{BB962C8B-B14F-4D97-AF65-F5344CB8AC3E}">
        <p14:creationId xmlns:p14="http://schemas.microsoft.com/office/powerpoint/2010/main" val="1914800136"/>
      </p:ext>
    </p:extLst>
  </p:cSld>
</p:sld>
</file>

<file path=ppt/slides/slide3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9" name="exp90-0">
            <a:extLst xmlns:a="http://schemas.openxmlformats.org/drawingml/2006/main">
              <a:ext uri="{FF2B5EF4-FFF2-40B4-BE49-F238E27FC236}">
                <a16:creationId xmlns:a16="http://schemas.microsoft.com/office/drawing/2014/main" id="{3A5FF407-C69D-4252-B508-FB607F998ED3}"/>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90-1">
            <a:extLst xmlns:a="http://schemas.openxmlformats.org/drawingml/2006/main">
              <a:ext uri="{FF2B5EF4-FFF2-40B4-BE49-F238E27FC236}">
                <a16:creationId xmlns:a16="http://schemas.microsoft.com/office/drawing/2014/main" id="{EA242988-7424-4E83-AB78-4CE4AF4D1245}"/>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34</a:t>
            </a:r>
          </a:p>
        </p:txBody>
      </p:sp>
      <p:sp>
        <p:nvSpPr>
          <p:cNvPr id="3" name="">
            <a:extLst xmlns:a="http://schemas.openxmlformats.org/drawingml/2006/main">
              <a:ext uri="{FF2B5EF4-FFF2-40B4-BE49-F238E27FC236}">
                <a16:creationId xmlns:a16="http://schemas.microsoft.com/office/drawing/2014/main" id="{B56C1140-150F-4A62-A7A0-78C35B2344A0}"/>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0">
            <a:solidFill>
              <a:srgbClr val="28282B"/>
            </a:solidFill>
          </a:ln>
        </p:spPr>
      </p:sp>
      <p:sp>
        <p:nvSpPr>
          <p:cNvPr id="4" name="exp90-3">
            <a:extLst xmlns:a="http://schemas.openxmlformats.org/drawingml/2006/main">
              <a:ext uri="{FF2B5EF4-FFF2-40B4-BE49-F238E27FC236}">
                <a16:creationId xmlns:a16="http://schemas.microsoft.com/office/drawing/2014/main" id="{231A315E-0D95-4340-811B-597AD07F41A0}"/>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Character-level representation</a:t>
            </a:r>
          </a:p>
        </p:txBody>
      </p:sp>
      <p:pic>
        <p:nvPicPr>
          <p:cNvPr id="5" name="">
            <a:extLst xmlns:a="http://schemas.openxmlformats.org/drawingml/2006/main">
              <a:ext uri="{FF2B5EF4-FFF2-40B4-BE49-F238E27FC236}">
                <a16:creationId xmlns:a16="http://schemas.microsoft.com/office/drawing/2014/main" id="{48953FB8-9358-41A5-8FF8-D242883D31D8}"/>
              </a:ext>
            </a:extLst>
          </p:cNvPr>
          <p:cNvPicPr>
            <a:picLocks xmlns:a="http://schemas.openxmlformats.org/drawingml/2006/main" noChangeAspect="1"/>
          </p:cNvPicPr>
          <p:nvPr/>
        </p:nvPicPr>
        <p:blipFill>
          <a:blip xmlns:r="http://schemas.openxmlformats.org/officeDocument/2006/relationships" xmlns:a="http://schemas.openxmlformats.org/drawingml/2006/main" r:embed="R34d1327b83df4586"/>
          <a:srcRect xmlns:a="http://schemas.openxmlformats.org/drawingml/2006/main" l="0" t="0" r="0" b="0"/>
          <a:stretch xmlns:a="http://schemas.openxmlformats.org/drawingml/2006/main">
            <a:fillRect l="0" t="0" r="0" b="0"/>
          </a:stretch>
        </p:blipFill>
        <p:spPr>
          <a:xfrm xmlns:a="http://schemas.openxmlformats.org/drawingml/2006/main">
            <a:off x="685800" y="2677382"/>
            <a:ext cx="10820400" cy="1046037"/>
          </a:xfrm>
          <a:prstGeom xmlns:a="http://schemas.openxmlformats.org/drawingml/2006/main" prst="rect">
            <a:avLst/>
          </a:prstGeom>
        </p:spPr>
      </p:pic>
      <p:sp>
        <p:nvSpPr>
          <p:cNvPr id="6" name="exp90-4">
            <a:extLst xmlns:a="http://schemas.openxmlformats.org/drawingml/2006/main">
              <a:ext uri="{FF2B5EF4-FFF2-40B4-BE49-F238E27FC236}">
                <a16:creationId xmlns:a16="http://schemas.microsoft.com/office/drawing/2014/main" id="{45F775E4-3815-4EB3-B68F-C4D0B56FFB4F}"/>
              </a:ext>
            </a:extLst>
          </p:cNvPr>
          <p:cNvSpPr>
            <a:spLocks xmlns:a="http://schemas.openxmlformats.org/drawingml/2006/main" noGrp="1"/>
          </p:cNvSpPr>
          <p:nvPr/>
        </p:nvSpPr>
        <p:spPr>
          <a:xfrm xmlns:a="http://schemas.openxmlformats.org/drawingml/2006/main">
            <a:off x="685800" y="4610100"/>
            <a:ext cx="10820400" cy="1552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13" b="0">
                <a:solidFill>
                  <a:srgbClr val="CDCDD3"/>
                </a:solidFill>
                <a:latin typeface="Helvetica Neue"/>
                <a:ea typeface="Helvetica Neue"/>
                <a:cs typeface="Helvetica Neue"/>
              </a:defRPr>
            </a:defPPr>
            <a:lvl1pPr>
              <a:buNone/>
              <a:defRPr sz="1913" b="0">
                <a:solidFill>
                  <a:srgbClr val="CDCDD3"/>
                </a:solidFill>
                <a:latin typeface="Helvetica Neue"/>
                <a:ea typeface="Helvetica Neue"/>
                <a:cs typeface="Helvetica Neue"/>
              </a:defRPr>
            </a:lvl1pPr>
            <a:lvl2pPr>
              <a:buNone/>
              <a:defRPr sz="1913" b="0">
                <a:solidFill>
                  <a:srgbClr val="CDCDD3"/>
                </a:solidFill>
                <a:latin typeface="Helvetica Neue"/>
                <a:ea typeface="Helvetica Neue"/>
                <a:cs typeface="Helvetica Neue"/>
              </a:defRPr>
            </a:lvl2pPr>
            <a:lvl3pPr>
              <a:buNone/>
              <a:defRPr sz="1913" b="0">
                <a:solidFill>
                  <a:srgbClr val="CDCDD3"/>
                </a:solidFill>
                <a:latin typeface="Helvetica Neue"/>
                <a:ea typeface="Helvetica Neue"/>
                <a:cs typeface="Helvetica Neue"/>
              </a:defRPr>
            </a:lvl3pPr>
            <a:lvl4pPr>
              <a:buNone/>
              <a:defRPr sz="1913" b="0">
                <a:solidFill>
                  <a:srgbClr val="CDCDD3"/>
                </a:solidFill>
                <a:latin typeface="Helvetica Neue"/>
                <a:ea typeface="Helvetica Neue"/>
                <a:cs typeface="Helvetica Neue"/>
              </a:defRPr>
            </a:lvl4pPr>
            <a:lvl5pPr>
              <a:buNone/>
              <a:defRPr sz="1913" b="0">
                <a:solidFill>
                  <a:srgbClr val="CDCDD3"/>
                </a:solidFill>
                <a:latin typeface="Helvetica Neue"/>
                <a:ea typeface="Helvetica Neue"/>
                <a:cs typeface="Helvetica Neue"/>
              </a:defRPr>
            </a:lvl5pPr>
            <a:lvl6pPr>
              <a:buNone/>
              <a:defRPr sz="1913" b="0">
                <a:solidFill>
                  <a:srgbClr val="CDCDD3"/>
                </a:solidFill>
                <a:latin typeface="Helvetica Neue"/>
                <a:ea typeface="Helvetica Neue"/>
                <a:cs typeface="Helvetica Neue"/>
              </a:defRPr>
            </a:lvl6pPr>
            <a:lvl7pPr>
              <a:buNone/>
              <a:defRPr sz="1913" b="0">
                <a:solidFill>
                  <a:srgbClr val="CDCDD3"/>
                </a:solidFill>
                <a:latin typeface="Helvetica Neue"/>
                <a:ea typeface="Helvetica Neue"/>
                <a:cs typeface="Helvetica Neue"/>
              </a:defRPr>
            </a:lvl7pPr>
            <a:lvl8pPr>
              <a:buNone/>
              <a:defRPr sz="1913" b="0">
                <a:solidFill>
                  <a:srgbClr val="CDCDD3"/>
                </a:solidFill>
                <a:latin typeface="Helvetica Neue"/>
                <a:ea typeface="Helvetica Neue"/>
                <a:cs typeface="Helvetica Neue"/>
              </a:defRPr>
            </a:lvl8pPr>
            <a:lvl9pPr>
              <a:buNone/>
              <a:defRPr sz="1913" b="0">
                <a:solidFill>
                  <a:srgbClr val="CDCDD3"/>
                </a:solidFill>
                <a:latin typeface="Helvetica Neue"/>
                <a:ea typeface="Helvetica Neue"/>
                <a:cs typeface="Helvetica Neue"/>
              </a:defRPr>
            </a:lvl9pPr>
          </a:lstStyle>
          <a:p xmlns:a="http://schemas.openxmlformats.org/drawingml/2006/main">
            <a:pPr>
              <a:buNone/>
              <a:defRPr sz="1913" b="0">
                <a:solidFill>
                  <a:srgbClr val="CDCDD3"/>
                </a:solidFill>
                <a:latin typeface="Helvetica Neue"/>
                <a:ea typeface="Helvetica Neue"/>
                <a:cs typeface="Helvetica Neue"/>
              </a:defRPr>
            </a:pPr>
            <a:r>
              <a:rPr sz="1913" b="0">
                <a:solidFill>
                  <a:srgbClr val="CDCDD3"/>
                </a:solidFill>
                <a:latin typeface="Helvetica Neue"/>
                <a:ea typeface="Helvetica Neue"/>
                <a:cs typeface="Helvetica Neue"/>
              </a:rPr>
              <a:t>В символьном представлении слово разделяется на отдельные символы. Набор базовых единиц обычно меньше словаря целых слов, а новая словоформа может состоять из знакомых элементов. Последовательности становятся длиннее, и смысловые закономерности необходимо извлекать из сочетаний символов. В классической классификации часто используют character n-grams.</a:t>
            </a:r>
          </a:p>
        </p:txBody>
      </p:sp>
      <p:sp>
        <p:nvSpPr>
          <p:cNvPr id="7" name="exp90-5">
            <a:extLst xmlns:a="http://schemas.openxmlformats.org/drawingml/2006/main">
              <a:ext uri="{FF2B5EF4-FFF2-40B4-BE49-F238E27FC236}">
                <a16:creationId xmlns:a16="http://schemas.microsoft.com/office/drawing/2014/main" id="{F0ADCEC8-B4FD-42D5-B9D0-85E31F536517}"/>
              </a:ext>
            </a:extLst>
          </p:cNvPr>
          <p:cNvSpPr>
            <a:spLocks xmlns:a="http://schemas.openxmlformats.org/drawingml/2006/main" noGrp="1"/>
          </p:cNvSpPr>
          <p:nvPr/>
        </p:nvSpPr>
        <p:spPr>
          <a:xfrm xmlns:a="http://schemas.openxmlformats.org/drawingml/2006/main">
            <a:off x="685800" y="6210300"/>
            <a:ext cx="108204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88" b="0">
                <a:solidFill>
                  <a:srgbClr val="98989F"/>
                </a:solidFill>
                <a:latin typeface="Helvetica Neue"/>
                <a:ea typeface="Helvetica Neue"/>
                <a:cs typeface="Helvetica Neue"/>
              </a:defRPr>
            </a:defPPr>
            <a:lvl1pPr>
              <a:buNone/>
              <a:defRPr sz="1388" b="0">
                <a:solidFill>
                  <a:srgbClr val="98989F"/>
                </a:solidFill>
                <a:latin typeface="Helvetica Neue"/>
                <a:ea typeface="Helvetica Neue"/>
                <a:cs typeface="Helvetica Neue"/>
              </a:defRPr>
            </a:lvl1pPr>
            <a:lvl2pPr>
              <a:buNone/>
              <a:defRPr sz="1388" b="0">
                <a:solidFill>
                  <a:srgbClr val="98989F"/>
                </a:solidFill>
                <a:latin typeface="Helvetica Neue"/>
                <a:ea typeface="Helvetica Neue"/>
                <a:cs typeface="Helvetica Neue"/>
              </a:defRPr>
            </a:lvl2pPr>
            <a:lvl3pPr>
              <a:buNone/>
              <a:defRPr sz="1388" b="0">
                <a:solidFill>
                  <a:srgbClr val="98989F"/>
                </a:solidFill>
                <a:latin typeface="Helvetica Neue"/>
                <a:ea typeface="Helvetica Neue"/>
                <a:cs typeface="Helvetica Neue"/>
              </a:defRPr>
            </a:lvl3pPr>
            <a:lvl4pPr>
              <a:buNone/>
              <a:defRPr sz="1388" b="0">
                <a:solidFill>
                  <a:srgbClr val="98989F"/>
                </a:solidFill>
                <a:latin typeface="Helvetica Neue"/>
                <a:ea typeface="Helvetica Neue"/>
                <a:cs typeface="Helvetica Neue"/>
              </a:defRPr>
            </a:lvl4pPr>
            <a:lvl5pPr>
              <a:buNone/>
              <a:defRPr sz="1388" b="0">
                <a:solidFill>
                  <a:srgbClr val="98989F"/>
                </a:solidFill>
                <a:latin typeface="Helvetica Neue"/>
                <a:ea typeface="Helvetica Neue"/>
                <a:cs typeface="Helvetica Neue"/>
              </a:defRPr>
            </a:lvl5pPr>
            <a:lvl6pPr>
              <a:buNone/>
              <a:defRPr sz="1388" b="0">
                <a:solidFill>
                  <a:srgbClr val="98989F"/>
                </a:solidFill>
                <a:latin typeface="Helvetica Neue"/>
                <a:ea typeface="Helvetica Neue"/>
                <a:cs typeface="Helvetica Neue"/>
              </a:defRPr>
            </a:lvl6pPr>
            <a:lvl7pPr>
              <a:buNone/>
              <a:defRPr sz="1388" b="0">
                <a:solidFill>
                  <a:srgbClr val="98989F"/>
                </a:solidFill>
                <a:latin typeface="Helvetica Neue"/>
                <a:ea typeface="Helvetica Neue"/>
                <a:cs typeface="Helvetica Neue"/>
              </a:defRPr>
            </a:lvl7pPr>
            <a:lvl8pPr>
              <a:buNone/>
              <a:defRPr sz="1388" b="0">
                <a:solidFill>
                  <a:srgbClr val="98989F"/>
                </a:solidFill>
                <a:latin typeface="Helvetica Neue"/>
                <a:ea typeface="Helvetica Neue"/>
                <a:cs typeface="Helvetica Neue"/>
              </a:defRPr>
            </a:lvl8pPr>
            <a:lvl9pPr>
              <a:buNone/>
              <a:defRPr sz="1388" b="0">
                <a:solidFill>
                  <a:srgbClr val="98989F"/>
                </a:solidFill>
                <a:latin typeface="Helvetica Neue"/>
                <a:ea typeface="Helvetica Neue"/>
                <a:cs typeface="Helvetica Neue"/>
              </a:defRPr>
            </a:lvl9pPr>
          </a:lstStyle>
          <a:p xmlns:a="http://schemas.openxmlformats.org/drawingml/2006/main">
            <a:pPr>
              <a:buNone/>
              <a:defRPr sz="1388" b="0">
                <a:solidFill>
                  <a:srgbClr val="98989F"/>
                </a:solidFill>
                <a:latin typeface="Helvetica Neue"/>
                <a:ea typeface="Helvetica Neue"/>
                <a:cs typeface="Helvetica Neue"/>
              </a:defRPr>
            </a:pPr>
            <a:r>
              <a:rPr sz="1388" b="0">
                <a:solidFill>
                  <a:srgbClr val="98989F"/>
                </a:solidFill>
                <a:latin typeface="Helvetica Neue"/>
                <a:ea typeface="Helvetica Neue"/>
                <a:cs typeface="Helvetica Neue"/>
              </a:rPr>
              <a:t>Иллюстрация из курса Hugging Face. Правила обработки пробелов зависят от конкретного tokenizer.</a:t>
            </a:r>
          </a:p>
        </p:txBody>
      </p:sp>
      <p:sp>
        <p:nvSpPr>
          <p:cNvPr id="8" name="exp90-6">
            <a:extLst xmlns:a="http://schemas.openxmlformats.org/drawingml/2006/main">
              <a:ext uri="{FF2B5EF4-FFF2-40B4-BE49-F238E27FC236}">
                <a16:creationId xmlns:a16="http://schemas.microsoft.com/office/drawing/2014/main" id="{A374B073-3D50-4CE5-8136-FF4017605F25}"/>
              </a:ext>
            </a:extLst>
          </p:cNvPr>
          <p:cNvSpPr>
            <a:spLocks xmlns:a="http://schemas.openxmlformats.org/drawingml/2006/main" noGrp="1"/>
          </p:cNvSpPr>
          <p:nvPr/>
        </p:nvSpPr>
        <p:spPr>
          <a:xfrm xmlns:a="http://schemas.openxmlformats.org/drawingml/2006/main">
            <a:off x="685800" y="6648450"/>
            <a:ext cx="10820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63" b="0">
                <a:solidFill>
                  <a:srgbClr val="98989F"/>
                </a:solidFill>
                <a:latin typeface="Helvetica Neue"/>
                <a:ea typeface="Helvetica Neue"/>
                <a:cs typeface="Helvetica Neue"/>
              </a:defRPr>
            </a:defPPr>
            <a:lvl1pPr>
              <a:buNone/>
              <a:defRPr sz="1163" b="0">
                <a:solidFill>
                  <a:srgbClr val="98989F"/>
                </a:solidFill>
                <a:latin typeface="Helvetica Neue"/>
                <a:ea typeface="Helvetica Neue"/>
                <a:cs typeface="Helvetica Neue"/>
              </a:defRPr>
            </a:lvl1pPr>
            <a:lvl2pPr>
              <a:buNone/>
              <a:defRPr sz="1163" b="0">
                <a:solidFill>
                  <a:srgbClr val="98989F"/>
                </a:solidFill>
                <a:latin typeface="Helvetica Neue"/>
                <a:ea typeface="Helvetica Neue"/>
                <a:cs typeface="Helvetica Neue"/>
              </a:defRPr>
            </a:lvl2pPr>
            <a:lvl3pPr>
              <a:buNone/>
              <a:defRPr sz="1163" b="0">
                <a:solidFill>
                  <a:srgbClr val="98989F"/>
                </a:solidFill>
                <a:latin typeface="Helvetica Neue"/>
                <a:ea typeface="Helvetica Neue"/>
                <a:cs typeface="Helvetica Neue"/>
              </a:defRPr>
            </a:lvl3pPr>
            <a:lvl4pPr>
              <a:buNone/>
              <a:defRPr sz="1163" b="0">
                <a:solidFill>
                  <a:srgbClr val="98989F"/>
                </a:solidFill>
                <a:latin typeface="Helvetica Neue"/>
                <a:ea typeface="Helvetica Neue"/>
                <a:cs typeface="Helvetica Neue"/>
              </a:defRPr>
            </a:lvl4pPr>
            <a:lvl5pPr>
              <a:buNone/>
              <a:defRPr sz="1163" b="0">
                <a:solidFill>
                  <a:srgbClr val="98989F"/>
                </a:solidFill>
                <a:latin typeface="Helvetica Neue"/>
                <a:ea typeface="Helvetica Neue"/>
                <a:cs typeface="Helvetica Neue"/>
              </a:defRPr>
            </a:lvl5pPr>
            <a:lvl6pPr>
              <a:buNone/>
              <a:defRPr sz="1163" b="0">
                <a:solidFill>
                  <a:srgbClr val="98989F"/>
                </a:solidFill>
                <a:latin typeface="Helvetica Neue"/>
                <a:ea typeface="Helvetica Neue"/>
                <a:cs typeface="Helvetica Neue"/>
              </a:defRPr>
            </a:lvl6pPr>
            <a:lvl7pPr>
              <a:buNone/>
              <a:defRPr sz="1163" b="0">
                <a:solidFill>
                  <a:srgbClr val="98989F"/>
                </a:solidFill>
                <a:latin typeface="Helvetica Neue"/>
                <a:ea typeface="Helvetica Neue"/>
                <a:cs typeface="Helvetica Neue"/>
              </a:defRPr>
            </a:lvl7pPr>
            <a:lvl8pPr>
              <a:buNone/>
              <a:defRPr sz="1163" b="0">
                <a:solidFill>
                  <a:srgbClr val="98989F"/>
                </a:solidFill>
                <a:latin typeface="Helvetica Neue"/>
                <a:ea typeface="Helvetica Neue"/>
                <a:cs typeface="Helvetica Neue"/>
              </a:defRPr>
            </a:lvl8pPr>
            <a:lvl9pPr>
              <a:buNone/>
              <a:defRPr sz="1163" b="0">
                <a:solidFill>
                  <a:srgbClr val="98989F"/>
                </a:solidFill>
                <a:latin typeface="Helvetica Neue"/>
                <a:ea typeface="Helvetica Neue"/>
                <a:cs typeface="Helvetica Neue"/>
              </a:defRPr>
            </a:lvl9pPr>
          </a:lstStyle>
          <a:p xmlns:a="http://schemas.openxmlformats.org/drawingml/2006/main">
            <a:pPr>
              <a:buNone/>
              <a:defRPr sz="1163" b="0">
                <a:solidFill>
                  <a:srgbClr val="98989F"/>
                </a:solidFill>
                <a:latin typeface="Helvetica Neue"/>
                <a:ea typeface="Helvetica Neue"/>
                <a:cs typeface="Helvetica Neue"/>
              </a:defRPr>
            </a:pPr>
            <a:r>
              <a:rPr sz="1163" b="0">
                <a:solidFill>
                  <a:srgbClr val="98989F"/>
                </a:solidFill>
                <a:latin typeface="Helvetica Neue"/>
                <a:ea typeface="Helvetica Neue"/>
                <a:cs typeface="Helvetica Neue"/>
                <a:hlinkClick xmlns:r="http://schemas.openxmlformats.org/officeDocument/2006/relationships" r:id="R6d8a1d3618d6420f"/>
              </a:rPr>
              <a:t>Источник: Hugging Face Course</a:t>
            </a:r>
          </a:p>
        </p:txBody>
      </p:sp>
    </p:spTree>
    <p:extLst>
      <p:ext uri="{BB962C8B-B14F-4D97-AF65-F5344CB8AC3E}">
        <p14:creationId xmlns:p14="http://schemas.microsoft.com/office/powerpoint/2010/main" val="435679645"/>
      </p:ext>
    </p:extLst>
  </p:cSld>
</p:sld>
</file>

<file path=ppt/slides/slide3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9" name="exp90-0">
            <a:extLst xmlns:a="http://schemas.openxmlformats.org/drawingml/2006/main">
              <a:ext uri="{FF2B5EF4-FFF2-40B4-BE49-F238E27FC236}">
                <a16:creationId xmlns:a16="http://schemas.microsoft.com/office/drawing/2014/main" id="{C797F054-EDB8-4557-A53D-D39814A9D3D6}"/>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90-1">
            <a:extLst xmlns:a="http://schemas.openxmlformats.org/drawingml/2006/main">
              <a:ext uri="{FF2B5EF4-FFF2-40B4-BE49-F238E27FC236}">
                <a16:creationId xmlns:a16="http://schemas.microsoft.com/office/drawing/2014/main" id="{4A75610C-953F-49B7-8574-1FEE7A3D950D}"/>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35</a:t>
            </a:r>
          </a:p>
        </p:txBody>
      </p:sp>
      <p:sp>
        <p:nvSpPr>
          <p:cNvPr id="3" name="">
            <a:extLst xmlns:a="http://schemas.openxmlformats.org/drawingml/2006/main">
              <a:ext uri="{FF2B5EF4-FFF2-40B4-BE49-F238E27FC236}">
                <a16:creationId xmlns:a16="http://schemas.microsoft.com/office/drawing/2014/main" id="{926B5D8A-0923-44D0-A2E2-AA5CB87E6BE4}"/>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0">
            <a:solidFill>
              <a:srgbClr val="28282B"/>
            </a:solidFill>
          </a:ln>
        </p:spPr>
      </p:sp>
      <p:sp>
        <p:nvSpPr>
          <p:cNvPr id="4" name="exp90-3">
            <a:extLst xmlns:a="http://schemas.openxmlformats.org/drawingml/2006/main">
              <a:ext uri="{FF2B5EF4-FFF2-40B4-BE49-F238E27FC236}">
                <a16:creationId xmlns:a16="http://schemas.microsoft.com/office/drawing/2014/main" id="{F18EBBB0-7E3F-4918-86B8-5494605662CD}"/>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Subword tokenization: общий pipeline</a:t>
            </a:r>
          </a:p>
        </p:txBody>
      </p:sp>
      <p:pic>
        <p:nvPicPr>
          <p:cNvPr id="5" name="">
            <a:extLst xmlns:a="http://schemas.openxmlformats.org/drawingml/2006/main">
              <a:ext uri="{FF2B5EF4-FFF2-40B4-BE49-F238E27FC236}">
                <a16:creationId xmlns:a16="http://schemas.microsoft.com/office/drawing/2014/main" id="{23E860A8-080D-4FE2-88EA-7EB48D0C60A8}"/>
              </a:ext>
            </a:extLst>
          </p:cNvPr>
          <p:cNvPicPr>
            <a:picLocks xmlns:a="http://schemas.openxmlformats.org/drawingml/2006/main" noChangeAspect="1"/>
          </p:cNvPicPr>
          <p:nvPr/>
        </p:nvPicPr>
        <p:blipFill>
          <a:blip xmlns:r="http://schemas.openxmlformats.org/officeDocument/2006/relationships" xmlns:a="http://schemas.openxmlformats.org/drawingml/2006/main" r:embed="R9e2d39fea0f54c0b"/>
          <a:srcRect xmlns:a="http://schemas.openxmlformats.org/drawingml/2006/main" l="0" t="0" r="0" b="0"/>
          <a:stretch xmlns:a="http://schemas.openxmlformats.org/drawingml/2006/main">
            <a:fillRect l="0" t="0" r="0" b="0"/>
          </a:stretch>
        </p:blipFill>
        <p:spPr>
          <a:xfrm xmlns:a="http://schemas.openxmlformats.org/drawingml/2006/main">
            <a:off x="1225023" y="2047875"/>
            <a:ext cx="5112804" cy="3943350"/>
          </a:xfrm>
          <a:prstGeom xmlns:a="http://schemas.openxmlformats.org/drawingml/2006/main" prst="rect">
            <a:avLst/>
          </a:prstGeom>
        </p:spPr>
      </p:pic>
      <p:sp>
        <p:nvSpPr>
          <p:cNvPr id="6" name="exp90-4">
            <a:extLst xmlns:a="http://schemas.openxmlformats.org/drawingml/2006/main">
              <a:ext uri="{FF2B5EF4-FFF2-40B4-BE49-F238E27FC236}">
                <a16:creationId xmlns:a16="http://schemas.microsoft.com/office/drawing/2014/main" id="{374752AE-032C-4888-8BF0-3346F5362C79}"/>
              </a:ext>
            </a:extLst>
          </p:cNvPr>
          <p:cNvSpPr>
            <a:spLocks xmlns:a="http://schemas.openxmlformats.org/drawingml/2006/main" noGrp="1"/>
          </p:cNvSpPr>
          <p:nvPr/>
        </p:nvSpPr>
        <p:spPr>
          <a:xfrm xmlns:a="http://schemas.openxmlformats.org/drawingml/2006/main">
            <a:off x="7239000" y="2076450"/>
            <a:ext cx="4267200" cy="392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38" b="0">
                <a:solidFill>
                  <a:srgbClr val="CDCDD3"/>
                </a:solidFill>
                <a:latin typeface="Helvetica Neue"/>
                <a:ea typeface="Helvetica Neue"/>
                <a:cs typeface="Helvetica Neue"/>
              </a:defRPr>
            </a:defPPr>
            <a:lvl1pPr>
              <a:buNone/>
              <a:defRPr sz="1838" b="0">
                <a:solidFill>
                  <a:srgbClr val="CDCDD3"/>
                </a:solidFill>
                <a:latin typeface="Helvetica Neue"/>
                <a:ea typeface="Helvetica Neue"/>
                <a:cs typeface="Helvetica Neue"/>
              </a:defRPr>
            </a:lvl1pPr>
            <a:lvl2pPr>
              <a:buNone/>
              <a:defRPr sz="1838" b="0">
                <a:solidFill>
                  <a:srgbClr val="CDCDD3"/>
                </a:solidFill>
                <a:latin typeface="Helvetica Neue"/>
                <a:ea typeface="Helvetica Neue"/>
                <a:cs typeface="Helvetica Neue"/>
              </a:defRPr>
            </a:lvl2pPr>
            <a:lvl3pPr>
              <a:buNone/>
              <a:defRPr sz="1838" b="0">
                <a:solidFill>
                  <a:srgbClr val="CDCDD3"/>
                </a:solidFill>
                <a:latin typeface="Helvetica Neue"/>
                <a:ea typeface="Helvetica Neue"/>
                <a:cs typeface="Helvetica Neue"/>
              </a:defRPr>
            </a:lvl3pPr>
            <a:lvl4pPr>
              <a:buNone/>
              <a:defRPr sz="1838" b="0">
                <a:solidFill>
                  <a:srgbClr val="CDCDD3"/>
                </a:solidFill>
                <a:latin typeface="Helvetica Neue"/>
                <a:ea typeface="Helvetica Neue"/>
                <a:cs typeface="Helvetica Neue"/>
              </a:defRPr>
            </a:lvl4pPr>
            <a:lvl5pPr>
              <a:buNone/>
              <a:defRPr sz="1838" b="0">
                <a:solidFill>
                  <a:srgbClr val="CDCDD3"/>
                </a:solidFill>
                <a:latin typeface="Helvetica Neue"/>
                <a:ea typeface="Helvetica Neue"/>
                <a:cs typeface="Helvetica Neue"/>
              </a:defRPr>
            </a:lvl5pPr>
            <a:lvl6pPr>
              <a:buNone/>
              <a:defRPr sz="1838" b="0">
                <a:solidFill>
                  <a:srgbClr val="CDCDD3"/>
                </a:solidFill>
                <a:latin typeface="Helvetica Neue"/>
                <a:ea typeface="Helvetica Neue"/>
                <a:cs typeface="Helvetica Neue"/>
              </a:defRPr>
            </a:lvl6pPr>
            <a:lvl7pPr>
              <a:buNone/>
              <a:defRPr sz="1838" b="0">
                <a:solidFill>
                  <a:srgbClr val="CDCDD3"/>
                </a:solidFill>
                <a:latin typeface="Helvetica Neue"/>
                <a:ea typeface="Helvetica Neue"/>
                <a:cs typeface="Helvetica Neue"/>
              </a:defRPr>
            </a:lvl7pPr>
            <a:lvl8pPr>
              <a:buNone/>
              <a:defRPr sz="1838" b="0">
                <a:solidFill>
                  <a:srgbClr val="CDCDD3"/>
                </a:solidFill>
                <a:latin typeface="Helvetica Neue"/>
                <a:ea typeface="Helvetica Neue"/>
                <a:cs typeface="Helvetica Neue"/>
              </a:defRPr>
            </a:lvl8pPr>
            <a:lvl9pPr>
              <a:buNone/>
              <a:defRPr sz="1838" b="0">
                <a:solidFill>
                  <a:srgbClr val="CDCDD3"/>
                </a:solidFill>
                <a:latin typeface="Helvetica Neue"/>
                <a:ea typeface="Helvetica Neue"/>
                <a:cs typeface="Helvetica Neue"/>
              </a:defRPr>
            </a:lvl9pPr>
          </a:lstStyle>
          <a:p xmlns:a="http://schemas.openxmlformats.org/drawingml/2006/main">
            <a:pPr>
              <a:buNone/>
              <a:defRPr sz="1838" b="0">
                <a:solidFill>
                  <a:srgbClr val="CDCDD3"/>
                </a:solidFill>
                <a:latin typeface="Helvetica Neue"/>
                <a:ea typeface="Helvetica Neue"/>
                <a:cs typeface="Helvetica Neue"/>
              </a:defRPr>
            </a:pPr>
            <a:r>
              <a:rPr sz="1838" b="0">
                <a:solidFill>
                  <a:srgbClr val="CDCDD3"/>
                </a:solidFill>
                <a:latin typeface="Helvetica Neue"/>
                <a:ea typeface="Helvetica Neue"/>
                <a:cs typeface="Helvetica Neue"/>
              </a:rPr>
              <a:t>Сначала нормализация согласует запись текста. Предварительное разбиение выделяет крупные фрагменты. Модель tokenization делит их на единицы своего словаря, а заключительный этап может добавлять специальные маркеры.</a:t>
            </a:r>
          </a:p>
          <a:p xmlns:a="http://schemas.openxmlformats.org/drawingml/2006/main">
            <a:r>
              <a:t/>
            </a:r>
          </a:p>
          <a:p xmlns:a="http://schemas.openxmlformats.org/drawingml/2006/main">
            <a:pPr>
              <a:buNone/>
              <a:defRPr sz="1838" b="0">
                <a:solidFill>
                  <a:srgbClr val="CDCDD3"/>
                </a:solidFill>
                <a:latin typeface="Helvetica Neue"/>
                <a:ea typeface="Helvetica Neue"/>
                <a:cs typeface="Helvetica Neue"/>
              </a:defRPr>
            </a:pPr>
            <a:r>
              <a:rPr sz="1838" b="0">
                <a:solidFill>
                  <a:srgbClr val="CDCDD3"/>
                </a:solidFill>
                <a:latin typeface="Helvetica Neue"/>
                <a:ea typeface="Helvetica Neue"/>
                <a:cs typeface="Helvetica Neue"/>
              </a:rPr>
              <a:t>Эти операции должны соответствовать требованиям выбранной языковой модели. Замена только одного этапа способна изменить весь набор входных идентификаторов.</a:t>
            </a:r>
          </a:p>
        </p:txBody>
      </p:sp>
      <p:sp>
        <p:nvSpPr>
          <p:cNvPr id="7" name="exp90-5">
            <a:extLst xmlns:a="http://schemas.openxmlformats.org/drawingml/2006/main">
              <a:ext uri="{FF2B5EF4-FFF2-40B4-BE49-F238E27FC236}">
                <a16:creationId xmlns:a16="http://schemas.microsoft.com/office/drawing/2014/main" id="{261EB4B4-091E-4D27-B301-51905722653E}"/>
              </a:ext>
            </a:extLst>
          </p:cNvPr>
          <p:cNvSpPr>
            <a:spLocks xmlns:a="http://schemas.openxmlformats.org/drawingml/2006/main" noGrp="1"/>
          </p:cNvSpPr>
          <p:nvPr/>
        </p:nvSpPr>
        <p:spPr>
          <a:xfrm xmlns:a="http://schemas.openxmlformats.org/drawingml/2006/main">
            <a:off x="685800" y="6210300"/>
            <a:ext cx="108204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88" b="0">
                <a:solidFill>
                  <a:srgbClr val="98989F"/>
                </a:solidFill>
                <a:latin typeface="Helvetica Neue"/>
                <a:ea typeface="Helvetica Neue"/>
                <a:cs typeface="Helvetica Neue"/>
              </a:defRPr>
            </a:defPPr>
            <a:lvl1pPr>
              <a:buNone/>
              <a:defRPr sz="1388" b="0">
                <a:solidFill>
                  <a:srgbClr val="98989F"/>
                </a:solidFill>
                <a:latin typeface="Helvetica Neue"/>
                <a:ea typeface="Helvetica Neue"/>
                <a:cs typeface="Helvetica Neue"/>
              </a:defRPr>
            </a:lvl1pPr>
            <a:lvl2pPr>
              <a:buNone/>
              <a:defRPr sz="1388" b="0">
                <a:solidFill>
                  <a:srgbClr val="98989F"/>
                </a:solidFill>
                <a:latin typeface="Helvetica Neue"/>
                <a:ea typeface="Helvetica Neue"/>
                <a:cs typeface="Helvetica Neue"/>
              </a:defRPr>
            </a:lvl2pPr>
            <a:lvl3pPr>
              <a:buNone/>
              <a:defRPr sz="1388" b="0">
                <a:solidFill>
                  <a:srgbClr val="98989F"/>
                </a:solidFill>
                <a:latin typeface="Helvetica Neue"/>
                <a:ea typeface="Helvetica Neue"/>
                <a:cs typeface="Helvetica Neue"/>
              </a:defRPr>
            </a:lvl3pPr>
            <a:lvl4pPr>
              <a:buNone/>
              <a:defRPr sz="1388" b="0">
                <a:solidFill>
                  <a:srgbClr val="98989F"/>
                </a:solidFill>
                <a:latin typeface="Helvetica Neue"/>
                <a:ea typeface="Helvetica Neue"/>
                <a:cs typeface="Helvetica Neue"/>
              </a:defRPr>
            </a:lvl4pPr>
            <a:lvl5pPr>
              <a:buNone/>
              <a:defRPr sz="1388" b="0">
                <a:solidFill>
                  <a:srgbClr val="98989F"/>
                </a:solidFill>
                <a:latin typeface="Helvetica Neue"/>
                <a:ea typeface="Helvetica Neue"/>
                <a:cs typeface="Helvetica Neue"/>
              </a:defRPr>
            </a:lvl5pPr>
            <a:lvl6pPr>
              <a:buNone/>
              <a:defRPr sz="1388" b="0">
                <a:solidFill>
                  <a:srgbClr val="98989F"/>
                </a:solidFill>
                <a:latin typeface="Helvetica Neue"/>
                <a:ea typeface="Helvetica Neue"/>
                <a:cs typeface="Helvetica Neue"/>
              </a:defRPr>
            </a:lvl6pPr>
            <a:lvl7pPr>
              <a:buNone/>
              <a:defRPr sz="1388" b="0">
                <a:solidFill>
                  <a:srgbClr val="98989F"/>
                </a:solidFill>
                <a:latin typeface="Helvetica Neue"/>
                <a:ea typeface="Helvetica Neue"/>
                <a:cs typeface="Helvetica Neue"/>
              </a:defRPr>
            </a:lvl7pPr>
            <a:lvl8pPr>
              <a:buNone/>
              <a:defRPr sz="1388" b="0">
                <a:solidFill>
                  <a:srgbClr val="98989F"/>
                </a:solidFill>
                <a:latin typeface="Helvetica Neue"/>
                <a:ea typeface="Helvetica Neue"/>
                <a:cs typeface="Helvetica Neue"/>
              </a:defRPr>
            </a:lvl8pPr>
            <a:lvl9pPr>
              <a:buNone/>
              <a:defRPr sz="1388" b="0">
                <a:solidFill>
                  <a:srgbClr val="98989F"/>
                </a:solidFill>
                <a:latin typeface="Helvetica Neue"/>
                <a:ea typeface="Helvetica Neue"/>
                <a:cs typeface="Helvetica Neue"/>
              </a:defRPr>
            </a:lvl9pPr>
          </a:lstStyle>
          <a:p xmlns:a="http://schemas.openxmlformats.org/drawingml/2006/main">
            <a:pPr>
              <a:buNone/>
              <a:defRPr sz="1388" b="0">
                <a:solidFill>
                  <a:srgbClr val="98989F"/>
                </a:solidFill>
                <a:latin typeface="Helvetica Neue"/>
                <a:ea typeface="Helvetica Neue"/>
                <a:cs typeface="Helvetica Neue"/>
              </a:defRPr>
            </a:pPr>
            <a:r>
              <a:rPr sz="1388" b="0">
                <a:solidFill>
                  <a:srgbClr val="98989F"/>
                </a:solidFill>
                <a:latin typeface="Helvetica Neue"/>
                <a:ea typeface="Helvetica Neue"/>
                <a:cs typeface="Helvetica Neue"/>
              </a:rPr>
              <a:t>Схема Hugging Face. Маркеры CLS и SEP показаны для конкретного семейства моделей и не являются универсальными.</a:t>
            </a:r>
          </a:p>
        </p:txBody>
      </p:sp>
      <p:sp>
        <p:nvSpPr>
          <p:cNvPr id="8" name="exp90-6">
            <a:extLst xmlns:a="http://schemas.openxmlformats.org/drawingml/2006/main">
              <a:ext uri="{FF2B5EF4-FFF2-40B4-BE49-F238E27FC236}">
                <a16:creationId xmlns:a16="http://schemas.microsoft.com/office/drawing/2014/main" id="{9173BC85-2D31-4009-963D-A21290DA63A4}"/>
              </a:ext>
            </a:extLst>
          </p:cNvPr>
          <p:cNvSpPr>
            <a:spLocks xmlns:a="http://schemas.openxmlformats.org/drawingml/2006/main" noGrp="1"/>
          </p:cNvSpPr>
          <p:nvPr/>
        </p:nvSpPr>
        <p:spPr>
          <a:xfrm xmlns:a="http://schemas.openxmlformats.org/drawingml/2006/main">
            <a:off x="685800" y="6648450"/>
            <a:ext cx="10820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63" b="0">
                <a:solidFill>
                  <a:srgbClr val="98989F"/>
                </a:solidFill>
                <a:latin typeface="Helvetica Neue"/>
                <a:ea typeface="Helvetica Neue"/>
                <a:cs typeface="Helvetica Neue"/>
              </a:defRPr>
            </a:defPPr>
            <a:lvl1pPr>
              <a:buNone/>
              <a:defRPr sz="1163" b="0">
                <a:solidFill>
                  <a:srgbClr val="98989F"/>
                </a:solidFill>
                <a:latin typeface="Helvetica Neue"/>
                <a:ea typeface="Helvetica Neue"/>
                <a:cs typeface="Helvetica Neue"/>
              </a:defRPr>
            </a:lvl1pPr>
            <a:lvl2pPr>
              <a:buNone/>
              <a:defRPr sz="1163" b="0">
                <a:solidFill>
                  <a:srgbClr val="98989F"/>
                </a:solidFill>
                <a:latin typeface="Helvetica Neue"/>
                <a:ea typeface="Helvetica Neue"/>
                <a:cs typeface="Helvetica Neue"/>
              </a:defRPr>
            </a:lvl2pPr>
            <a:lvl3pPr>
              <a:buNone/>
              <a:defRPr sz="1163" b="0">
                <a:solidFill>
                  <a:srgbClr val="98989F"/>
                </a:solidFill>
                <a:latin typeface="Helvetica Neue"/>
                <a:ea typeface="Helvetica Neue"/>
                <a:cs typeface="Helvetica Neue"/>
              </a:defRPr>
            </a:lvl3pPr>
            <a:lvl4pPr>
              <a:buNone/>
              <a:defRPr sz="1163" b="0">
                <a:solidFill>
                  <a:srgbClr val="98989F"/>
                </a:solidFill>
                <a:latin typeface="Helvetica Neue"/>
                <a:ea typeface="Helvetica Neue"/>
                <a:cs typeface="Helvetica Neue"/>
              </a:defRPr>
            </a:lvl4pPr>
            <a:lvl5pPr>
              <a:buNone/>
              <a:defRPr sz="1163" b="0">
                <a:solidFill>
                  <a:srgbClr val="98989F"/>
                </a:solidFill>
                <a:latin typeface="Helvetica Neue"/>
                <a:ea typeface="Helvetica Neue"/>
                <a:cs typeface="Helvetica Neue"/>
              </a:defRPr>
            </a:lvl5pPr>
            <a:lvl6pPr>
              <a:buNone/>
              <a:defRPr sz="1163" b="0">
                <a:solidFill>
                  <a:srgbClr val="98989F"/>
                </a:solidFill>
                <a:latin typeface="Helvetica Neue"/>
                <a:ea typeface="Helvetica Neue"/>
                <a:cs typeface="Helvetica Neue"/>
              </a:defRPr>
            </a:lvl6pPr>
            <a:lvl7pPr>
              <a:buNone/>
              <a:defRPr sz="1163" b="0">
                <a:solidFill>
                  <a:srgbClr val="98989F"/>
                </a:solidFill>
                <a:latin typeface="Helvetica Neue"/>
                <a:ea typeface="Helvetica Neue"/>
                <a:cs typeface="Helvetica Neue"/>
              </a:defRPr>
            </a:lvl7pPr>
            <a:lvl8pPr>
              <a:buNone/>
              <a:defRPr sz="1163" b="0">
                <a:solidFill>
                  <a:srgbClr val="98989F"/>
                </a:solidFill>
                <a:latin typeface="Helvetica Neue"/>
                <a:ea typeface="Helvetica Neue"/>
                <a:cs typeface="Helvetica Neue"/>
              </a:defRPr>
            </a:lvl8pPr>
            <a:lvl9pPr>
              <a:buNone/>
              <a:defRPr sz="1163" b="0">
                <a:solidFill>
                  <a:srgbClr val="98989F"/>
                </a:solidFill>
                <a:latin typeface="Helvetica Neue"/>
                <a:ea typeface="Helvetica Neue"/>
                <a:cs typeface="Helvetica Neue"/>
              </a:defRPr>
            </a:lvl9pPr>
          </a:lstStyle>
          <a:p xmlns:a="http://schemas.openxmlformats.org/drawingml/2006/main">
            <a:pPr>
              <a:buNone/>
              <a:defRPr sz="1163" b="0">
                <a:solidFill>
                  <a:srgbClr val="98989F"/>
                </a:solidFill>
                <a:latin typeface="Helvetica Neue"/>
                <a:ea typeface="Helvetica Neue"/>
                <a:cs typeface="Helvetica Neue"/>
              </a:defRPr>
            </a:pPr>
            <a:r>
              <a:rPr sz="1163" b="0">
                <a:solidFill>
                  <a:srgbClr val="98989F"/>
                </a:solidFill>
                <a:latin typeface="Helvetica Neue"/>
                <a:ea typeface="Helvetica Neue"/>
                <a:cs typeface="Helvetica Neue"/>
                <a:hlinkClick xmlns:r="http://schemas.openxmlformats.org/officeDocument/2006/relationships" r:id="R50a83b4042034710"/>
              </a:rPr>
              <a:t>Источник: Hugging Face Course</a:t>
            </a:r>
          </a:p>
        </p:txBody>
      </p:sp>
    </p:spTree>
    <p:extLst>
      <p:ext uri="{BB962C8B-B14F-4D97-AF65-F5344CB8AC3E}">
        <p14:creationId xmlns:p14="http://schemas.microsoft.com/office/powerpoint/2010/main" val="290747463"/>
      </p:ext>
    </p:extLst>
  </p:cSld>
</p:sld>
</file>

<file path=ppt/slides/slide3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5" name="text-0">
            <a:extLst xmlns:a="http://schemas.openxmlformats.org/drawingml/2006/main">
              <a:ext uri="{FF2B5EF4-FFF2-40B4-BE49-F238E27FC236}">
                <a16:creationId xmlns:a16="http://schemas.microsoft.com/office/drawing/2014/main" id="{33A4FAE7-9E92-40E8-AA33-2A5891A8644E}"/>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98989F"/>
                </a:solidFill>
                <a:latin typeface="Helvetica Neue"/>
                <a:ea typeface="Helvetica Neue"/>
                <a:cs typeface="Helvetica Neue"/>
              </a:defRPr>
            </a:defPPr>
            <a:lvl1pPr algn="l">
              <a:buNone/>
              <a:defRPr sz="1425" b="0">
                <a:solidFill>
                  <a:srgbClr val="98989F"/>
                </a:solidFill>
                <a:latin typeface="Helvetica Neue"/>
                <a:ea typeface="Helvetica Neue"/>
                <a:cs typeface="Helvetica Neue"/>
              </a:defRPr>
            </a:lvl1pPr>
            <a:lvl2pPr algn="l">
              <a:buNone/>
              <a:defRPr sz="1425" b="0">
                <a:solidFill>
                  <a:srgbClr val="98989F"/>
                </a:solidFill>
                <a:latin typeface="Helvetica Neue"/>
                <a:ea typeface="Helvetica Neue"/>
                <a:cs typeface="Helvetica Neue"/>
              </a:defRPr>
            </a:lvl2pPr>
            <a:lvl3pPr algn="l">
              <a:buNone/>
              <a:defRPr sz="1425" b="0">
                <a:solidFill>
                  <a:srgbClr val="98989F"/>
                </a:solidFill>
                <a:latin typeface="Helvetica Neue"/>
                <a:ea typeface="Helvetica Neue"/>
                <a:cs typeface="Helvetica Neue"/>
              </a:defRPr>
            </a:lvl3pPr>
            <a:lvl4pPr algn="l">
              <a:buNone/>
              <a:defRPr sz="1425" b="0">
                <a:solidFill>
                  <a:srgbClr val="98989F"/>
                </a:solidFill>
                <a:latin typeface="Helvetica Neue"/>
                <a:ea typeface="Helvetica Neue"/>
                <a:cs typeface="Helvetica Neue"/>
              </a:defRPr>
            </a:lvl4pPr>
            <a:lvl5pPr algn="l">
              <a:buNone/>
              <a:defRPr sz="1425" b="0">
                <a:solidFill>
                  <a:srgbClr val="98989F"/>
                </a:solidFill>
                <a:latin typeface="Helvetica Neue"/>
                <a:ea typeface="Helvetica Neue"/>
                <a:cs typeface="Helvetica Neue"/>
              </a:defRPr>
            </a:lvl5pPr>
            <a:lvl6pPr algn="l">
              <a:buNone/>
              <a:defRPr sz="1425" b="0">
                <a:solidFill>
                  <a:srgbClr val="98989F"/>
                </a:solidFill>
                <a:latin typeface="Helvetica Neue"/>
                <a:ea typeface="Helvetica Neue"/>
                <a:cs typeface="Helvetica Neue"/>
              </a:defRPr>
            </a:lvl6pPr>
            <a:lvl7pPr algn="l">
              <a:buNone/>
              <a:defRPr sz="1425" b="0">
                <a:solidFill>
                  <a:srgbClr val="98989F"/>
                </a:solidFill>
                <a:latin typeface="Helvetica Neue"/>
                <a:ea typeface="Helvetica Neue"/>
                <a:cs typeface="Helvetica Neue"/>
              </a:defRPr>
            </a:lvl7pPr>
            <a:lvl8pPr algn="l">
              <a:buNone/>
              <a:defRPr sz="1425" b="0">
                <a:solidFill>
                  <a:srgbClr val="98989F"/>
                </a:solidFill>
                <a:latin typeface="Helvetica Neue"/>
                <a:ea typeface="Helvetica Neue"/>
                <a:cs typeface="Helvetica Neue"/>
              </a:defRPr>
            </a:lvl8pPr>
            <a:lvl9pPr algn="l">
              <a:buNone/>
              <a:defRPr sz="1425" b="0">
                <a:solidFill>
                  <a:srgbClr val="98989F"/>
                </a:solidFill>
                <a:latin typeface="Helvetica Neue"/>
                <a:ea typeface="Helvetica Neue"/>
                <a:cs typeface="Helvetica Neue"/>
              </a:defRPr>
            </a:lvl9pPr>
          </a:lstStyle>
          <a:p xmlns:a="http://schemas.openxmlformats.org/drawingml/2006/main">
            <a:pPr algn="l">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text-1">
            <a:extLst xmlns:a="http://schemas.openxmlformats.org/drawingml/2006/main">
              <a:ext uri="{FF2B5EF4-FFF2-40B4-BE49-F238E27FC236}">
                <a16:creationId xmlns:a16="http://schemas.microsoft.com/office/drawing/2014/main" id="{8EAE29B9-3CDF-4BF6-AC2B-85C15D36F3A4}"/>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36</a:t>
            </a:r>
          </a:p>
        </p:txBody>
      </p:sp>
      <p:sp>
        <p:nvSpPr>
          <p:cNvPr id="3" name="">
            <a:extLst xmlns:a="http://schemas.openxmlformats.org/drawingml/2006/main">
              <a:ext uri="{FF2B5EF4-FFF2-40B4-BE49-F238E27FC236}">
                <a16:creationId xmlns:a16="http://schemas.microsoft.com/office/drawing/2014/main" id="{1F251EFF-24E5-42E4-9B6B-1F7B576D3771}"/>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prstDash val="solid"/>
          </a:ln>
        </p:spPr>
      </p:sp>
      <p:sp>
        <p:nvSpPr>
          <p:cNvPr id="4" name="text-3">
            <a:extLst xmlns:a="http://schemas.openxmlformats.org/drawingml/2006/main">
              <a:ext uri="{FF2B5EF4-FFF2-40B4-BE49-F238E27FC236}">
                <a16:creationId xmlns:a16="http://schemas.microsoft.com/office/drawing/2014/main" id="{0A456423-F9D0-4D4A-8AE8-387CF45C20EC}"/>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5F7"/>
                </a:solidFill>
                <a:latin typeface="Helvetica Neue"/>
                <a:ea typeface="Helvetica Neue"/>
                <a:cs typeface="Helvetica Neue"/>
              </a:defRPr>
            </a:defPPr>
            <a:lvl1pPr algn="l">
              <a:buNone/>
              <a:defRPr sz="3450" b="1">
                <a:solidFill>
                  <a:srgbClr val="F5F5F7"/>
                </a:solidFill>
                <a:latin typeface="Helvetica Neue"/>
                <a:ea typeface="Helvetica Neue"/>
                <a:cs typeface="Helvetica Neue"/>
              </a:defRPr>
            </a:lvl1pPr>
            <a:lvl2pPr algn="l">
              <a:buNone/>
              <a:defRPr sz="3450" b="1">
                <a:solidFill>
                  <a:srgbClr val="F5F5F7"/>
                </a:solidFill>
                <a:latin typeface="Helvetica Neue"/>
                <a:ea typeface="Helvetica Neue"/>
                <a:cs typeface="Helvetica Neue"/>
              </a:defRPr>
            </a:lvl2pPr>
            <a:lvl3pPr algn="l">
              <a:buNone/>
              <a:defRPr sz="3450" b="1">
                <a:solidFill>
                  <a:srgbClr val="F5F5F7"/>
                </a:solidFill>
                <a:latin typeface="Helvetica Neue"/>
                <a:ea typeface="Helvetica Neue"/>
                <a:cs typeface="Helvetica Neue"/>
              </a:defRPr>
            </a:lvl3pPr>
            <a:lvl4pPr algn="l">
              <a:buNone/>
              <a:defRPr sz="3450" b="1">
                <a:solidFill>
                  <a:srgbClr val="F5F5F7"/>
                </a:solidFill>
                <a:latin typeface="Helvetica Neue"/>
                <a:ea typeface="Helvetica Neue"/>
                <a:cs typeface="Helvetica Neue"/>
              </a:defRPr>
            </a:lvl4pPr>
            <a:lvl5pPr algn="l">
              <a:buNone/>
              <a:defRPr sz="3450" b="1">
                <a:solidFill>
                  <a:srgbClr val="F5F5F7"/>
                </a:solidFill>
                <a:latin typeface="Helvetica Neue"/>
                <a:ea typeface="Helvetica Neue"/>
                <a:cs typeface="Helvetica Neue"/>
              </a:defRPr>
            </a:lvl5pPr>
            <a:lvl6pPr algn="l">
              <a:buNone/>
              <a:defRPr sz="3450" b="1">
                <a:solidFill>
                  <a:srgbClr val="F5F5F7"/>
                </a:solidFill>
                <a:latin typeface="Helvetica Neue"/>
                <a:ea typeface="Helvetica Neue"/>
                <a:cs typeface="Helvetica Neue"/>
              </a:defRPr>
            </a:lvl6pPr>
            <a:lvl7pPr algn="l">
              <a:buNone/>
              <a:defRPr sz="3450" b="1">
                <a:solidFill>
                  <a:srgbClr val="F5F5F7"/>
                </a:solidFill>
                <a:latin typeface="Helvetica Neue"/>
                <a:ea typeface="Helvetica Neue"/>
                <a:cs typeface="Helvetica Neue"/>
              </a:defRPr>
            </a:lvl7pPr>
            <a:lvl8pPr algn="l">
              <a:buNone/>
              <a:defRPr sz="3450" b="1">
                <a:solidFill>
                  <a:srgbClr val="F5F5F7"/>
                </a:solidFill>
                <a:latin typeface="Helvetica Neue"/>
                <a:ea typeface="Helvetica Neue"/>
                <a:cs typeface="Helvetica Neue"/>
              </a:defRPr>
            </a:lvl8pPr>
            <a:lvl9pPr algn="l">
              <a:buNone/>
              <a:defRPr sz="3450" b="1">
                <a:solidFill>
                  <a:srgbClr val="F5F5F7"/>
                </a:solidFill>
                <a:latin typeface="Helvetica Neue"/>
                <a:ea typeface="Helvetica Neue"/>
                <a:cs typeface="Helvetica Neue"/>
              </a:defRPr>
            </a:lvl9pPr>
          </a:lstStyle>
          <a:p xmlns:a="http://schemas.openxmlformats.org/drawingml/2006/main">
            <a:pPr algn="l">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Text normalization</a:t>
            </a:r>
          </a:p>
        </p:txBody>
      </p:sp>
      <p:sp>
        <p:nvSpPr>
          <p:cNvPr id="16" name="ysda-4">
            <a:extLst xmlns:a="http://schemas.openxmlformats.org/drawingml/2006/main">
              <a:ext uri="{FF2B5EF4-FFF2-40B4-BE49-F238E27FC236}">
                <a16:creationId xmlns:a16="http://schemas.microsoft.com/office/drawing/2014/main" id="{7291FF6A-8DBA-4FCF-9688-4B446BAEAF1E}"/>
              </a:ext>
            </a:extLst>
          </p:cNvPr>
          <p:cNvSpPr>
            <a:spLocks xmlns:a="http://schemas.openxmlformats.org/drawingml/2006/main" noGrp="1"/>
          </p:cNvSpPr>
          <p:nvPr/>
        </p:nvSpPr>
        <p:spPr>
          <a:xfrm xmlns:a="http://schemas.openxmlformats.org/drawingml/2006/main">
            <a:off x="685800" y="20478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Normalization как выбор представления</a:t>
            </a:r>
          </a:p>
        </p:txBody>
      </p:sp>
      <p:sp>
        <p:nvSpPr>
          <p:cNvPr id="17" name="ysda-5">
            <a:extLst xmlns:a="http://schemas.openxmlformats.org/drawingml/2006/main">
              <a:ext uri="{FF2B5EF4-FFF2-40B4-BE49-F238E27FC236}">
                <a16:creationId xmlns:a16="http://schemas.microsoft.com/office/drawing/2014/main" id="{CF155DA5-20E7-4017-92A9-16BDE75FED8C}"/>
              </a:ext>
            </a:extLst>
          </p:cNvPr>
          <p:cNvSpPr>
            <a:spLocks xmlns:a="http://schemas.openxmlformats.org/drawingml/2006/main" noGrp="1"/>
          </p:cNvSpPr>
          <p:nvPr/>
        </p:nvSpPr>
        <p:spPr>
          <a:xfrm xmlns:a="http://schemas.openxmlformats.org/drawingml/2006/main">
            <a:off x="685800" y="2514600"/>
            <a:ext cx="108204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Text normalization приводит варианты записи к выбранному соглашению: например, объединяет эквивалентные Unicode-последовательности или стандартизирует пробелы. Lowercasing уменьшает число различных форм, но может убирать различия между именами и обычными словами. Требуемые операции зависят от задачи и от того, какие сигналы нужно сохранить.</a:t>
            </a:r>
          </a:p>
        </p:txBody>
      </p:sp>
      <p:sp>
        <p:nvSpPr>
          <p:cNvPr id="18" name="ysda-6">
            <a:extLst xmlns:a="http://schemas.openxmlformats.org/drawingml/2006/main">
              <a:ext uri="{FF2B5EF4-FFF2-40B4-BE49-F238E27FC236}">
                <a16:creationId xmlns:a16="http://schemas.microsoft.com/office/drawing/2014/main" id="{E95FC85F-FF77-45CD-A9DD-4673BBDB2A0F}"/>
              </a:ext>
            </a:extLst>
          </p:cNvPr>
          <p:cNvSpPr>
            <a:spLocks xmlns:a="http://schemas.openxmlformats.org/drawingml/2006/main" noGrp="1"/>
          </p:cNvSpPr>
          <p:nvPr/>
        </p:nvSpPr>
        <p:spPr>
          <a:xfrm xmlns:a="http://schemas.openxmlformats.org/drawingml/2006/main">
            <a:off x="685800" y="4229100"/>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Согласованность обработки</a:t>
            </a:r>
          </a:p>
        </p:txBody>
      </p:sp>
      <p:sp>
        <p:nvSpPr>
          <p:cNvPr id="19" name="ysda-7">
            <a:extLst xmlns:a="http://schemas.openxmlformats.org/drawingml/2006/main">
              <a:ext uri="{FF2B5EF4-FFF2-40B4-BE49-F238E27FC236}">
                <a16:creationId xmlns:a16="http://schemas.microsoft.com/office/drawing/2014/main" id="{4AD2B31B-3656-4A5B-B0C6-EDFE2C930421}"/>
              </a:ext>
            </a:extLst>
          </p:cNvPr>
          <p:cNvSpPr>
            <a:spLocks xmlns:a="http://schemas.openxmlformats.org/drawingml/2006/main" noGrp="1"/>
          </p:cNvSpPr>
          <p:nvPr/>
        </p:nvSpPr>
        <p:spPr>
          <a:xfrm xmlns:a="http://schemas.openxmlformats.org/drawingml/2006/main">
            <a:off x="685800" y="4695825"/>
            <a:ext cx="10820400" cy="1914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Слишком агрессивная normalization уничтожает информацию: регистр, emoji, повторяющаяся пунктуация или числа могут влиять на class label. Для pretrained models применяют preprocessing, совместимый с их tokenizer. Решения фиксируют и одинаково используют на train, dev, test и новых документах. Пользу дополнительного преобразования проверяют по результатам evaluation.</a:t>
            </a:r>
          </a:p>
        </p:txBody>
      </p:sp>
    </p:spTree>
    <p:extLst>
      <p:ext uri="{BB962C8B-B14F-4D97-AF65-F5344CB8AC3E}">
        <p14:creationId xmlns:p14="http://schemas.microsoft.com/office/powerpoint/2010/main" val="1028343880"/>
      </p:ext>
    </p:extLst>
  </p:cSld>
</p:sld>
</file>

<file path=ppt/slides/slide3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C285AF79-1867-4762-95CA-545B209DBDD8}"/>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98989F"/>
                </a:solidFill>
                <a:latin typeface="Helvetica Neue"/>
                <a:ea typeface="Helvetica Neue"/>
                <a:cs typeface="Helvetica Neue"/>
              </a:defRPr>
            </a:defPPr>
            <a:lvl1pPr algn="l">
              <a:buNone/>
              <a:defRPr sz="1425" b="0">
                <a:solidFill>
                  <a:srgbClr val="98989F"/>
                </a:solidFill>
                <a:latin typeface="Helvetica Neue"/>
                <a:ea typeface="Helvetica Neue"/>
                <a:cs typeface="Helvetica Neue"/>
              </a:defRPr>
            </a:lvl1pPr>
            <a:lvl2pPr algn="l">
              <a:buNone/>
              <a:defRPr sz="1425" b="0">
                <a:solidFill>
                  <a:srgbClr val="98989F"/>
                </a:solidFill>
                <a:latin typeface="Helvetica Neue"/>
                <a:ea typeface="Helvetica Neue"/>
                <a:cs typeface="Helvetica Neue"/>
              </a:defRPr>
            </a:lvl2pPr>
            <a:lvl3pPr algn="l">
              <a:buNone/>
              <a:defRPr sz="1425" b="0">
                <a:solidFill>
                  <a:srgbClr val="98989F"/>
                </a:solidFill>
                <a:latin typeface="Helvetica Neue"/>
                <a:ea typeface="Helvetica Neue"/>
                <a:cs typeface="Helvetica Neue"/>
              </a:defRPr>
            </a:lvl3pPr>
            <a:lvl4pPr algn="l">
              <a:buNone/>
              <a:defRPr sz="1425" b="0">
                <a:solidFill>
                  <a:srgbClr val="98989F"/>
                </a:solidFill>
                <a:latin typeface="Helvetica Neue"/>
                <a:ea typeface="Helvetica Neue"/>
                <a:cs typeface="Helvetica Neue"/>
              </a:defRPr>
            </a:lvl4pPr>
            <a:lvl5pPr algn="l">
              <a:buNone/>
              <a:defRPr sz="1425" b="0">
                <a:solidFill>
                  <a:srgbClr val="98989F"/>
                </a:solidFill>
                <a:latin typeface="Helvetica Neue"/>
                <a:ea typeface="Helvetica Neue"/>
                <a:cs typeface="Helvetica Neue"/>
              </a:defRPr>
            </a:lvl5pPr>
            <a:lvl6pPr algn="l">
              <a:buNone/>
              <a:defRPr sz="1425" b="0">
                <a:solidFill>
                  <a:srgbClr val="98989F"/>
                </a:solidFill>
                <a:latin typeface="Helvetica Neue"/>
                <a:ea typeface="Helvetica Neue"/>
                <a:cs typeface="Helvetica Neue"/>
              </a:defRPr>
            </a:lvl6pPr>
            <a:lvl7pPr algn="l">
              <a:buNone/>
              <a:defRPr sz="1425" b="0">
                <a:solidFill>
                  <a:srgbClr val="98989F"/>
                </a:solidFill>
                <a:latin typeface="Helvetica Neue"/>
                <a:ea typeface="Helvetica Neue"/>
                <a:cs typeface="Helvetica Neue"/>
              </a:defRPr>
            </a:lvl7pPr>
            <a:lvl8pPr algn="l">
              <a:buNone/>
              <a:defRPr sz="1425" b="0">
                <a:solidFill>
                  <a:srgbClr val="98989F"/>
                </a:solidFill>
                <a:latin typeface="Helvetica Neue"/>
                <a:ea typeface="Helvetica Neue"/>
                <a:cs typeface="Helvetica Neue"/>
              </a:defRPr>
            </a:lvl8pPr>
            <a:lvl9pPr algn="l">
              <a:buNone/>
              <a:defRPr sz="1425" b="0">
                <a:solidFill>
                  <a:srgbClr val="98989F"/>
                </a:solidFill>
                <a:latin typeface="Helvetica Neue"/>
                <a:ea typeface="Helvetica Neue"/>
                <a:cs typeface="Helvetica Neue"/>
              </a:defRPr>
            </a:lvl9pPr>
          </a:lstStyle>
          <a:p xmlns:a="http://schemas.openxmlformats.org/drawingml/2006/main">
            <a:pPr algn="l">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text-1">
            <a:extLst xmlns:a="http://schemas.openxmlformats.org/drawingml/2006/main">
              <a:ext uri="{FF2B5EF4-FFF2-40B4-BE49-F238E27FC236}">
                <a16:creationId xmlns:a16="http://schemas.microsoft.com/office/drawing/2014/main" id="{53E846A2-8032-4E49-9FB4-583C340EF81C}"/>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37</a:t>
            </a:r>
          </a:p>
        </p:txBody>
      </p:sp>
      <p:sp>
        <p:nvSpPr>
          <p:cNvPr id="3" name="">
            <a:extLst xmlns:a="http://schemas.openxmlformats.org/drawingml/2006/main">
              <a:ext uri="{FF2B5EF4-FFF2-40B4-BE49-F238E27FC236}">
                <a16:creationId xmlns:a16="http://schemas.microsoft.com/office/drawing/2014/main" id="{60AAEA5F-3801-4DE6-A9CC-5F5000D74388}"/>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prstDash val="solid"/>
          </a:ln>
        </p:spPr>
      </p:sp>
      <p:sp>
        <p:nvSpPr>
          <p:cNvPr id="4" name="text-3">
            <a:extLst xmlns:a="http://schemas.openxmlformats.org/drawingml/2006/main">
              <a:ext uri="{FF2B5EF4-FFF2-40B4-BE49-F238E27FC236}">
                <a16:creationId xmlns:a16="http://schemas.microsoft.com/office/drawing/2014/main" id="{2DDBC10C-8A02-46CF-8623-43B34C680B89}"/>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5F7"/>
                </a:solidFill>
                <a:latin typeface="Helvetica Neue"/>
                <a:ea typeface="Helvetica Neue"/>
                <a:cs typeface="Helvetica Neue"/>
              </a:defRPr>
            </a:defPPr>
            <a:lvl1pPr algn="l">
              <a:buNone/>
              <a:defRPr sz="3450" b="1">
                <a:solidFill>
                  <a:srgbClr val="F5F5F7"/>
                </a:solidFill>
                <a:latin typeface="Helvetica Neue"/>
                <a:ea typeface="Helvetica Neue"/>
                <a:cs typeface="Helvetica Neue"/>
              </a:defRPr>
            </a:lvl1pPr>
            <a:lvl2pPr algn="l">
              <a:buNone/>
              <a:defRPr sz="3450" b="1">
                <a:solidFill>
                  <a:srgbClr val="F5F5F7"/>
                </a:solidFill>
                <a:latin typeface="Helvetica Neue"/>
                <a:ea typeface="Helvetica Neue"/>
                <a:cs typeface="Helvetica Neue"/>
              </a:defRPr>
            </a:lvl2pPr>
            <a:lvl3pPr algn="l">
              <a:buNone/>
              <a:defRPr sz="3450" b="1">
                <a:solidFill>
                  <a:srgbClr val="F5F5F7"/>
                </a:solidFill>
                <a:latin typeface="Helvetica Neue"/>
                <a:ea typeface="Helvetica Neue"/>
                <a:cs typeface="Helvetica Neue"/>
              </a:defRPr>
            </a:lvl3pPr>
            <a:lvl4pPr algn="l">
              <a:buNone/>
              <a:defRPr sz="3450" b="1">
                <a:solidFill>
                  <a:srgbClr val="F5F5F7"/>
                </a:solidFill>
                <a:latin typeface="Helvetica Neue"/>
                <a:ea typeface="Helvetica Neue"/>
                <a:cs typeface="Helvetica Neue"/>
              </a:defRPr>
            </a:lvl4pPr>
            <a:lvl5pPr algn="l">
              <a:buNone/>
              <a:defRPr sz="3450" b="1">
                <a:solidFill>
                  <a:srgbClr val="F5F5F7"/>
                </a:solidFill>
                <a:latin typeface="Helvetica Neue"/>
                <a:ea typeface="Helvetica Neue"/>
                <a:cs typeface="Helvetica Neue"/>
              </a:defRPr>
            </a:lvl5pPr>
            <a:lvl6pPr algn="l">
              <a:buNone/>
              <a:defRPr sz="3450" b="1">
                <a:solidFill>
                  <a:srgbClr val="F5F5F7"/>
                </a:solidFill>
                <a:latin typeface="Helvetica Neue"/>
                <a:ea typeface="Helvetica Neue"/>
                <a:cs typeface="Helvetica Neue"/>
              </a:defRPr>
            </a:lvl6pPr>
            <a:lvl7pPr algn="l">
              <a:buNone/>
              <a:defRPr sz="3450" b="1">
                <a:solidFill>
                  <a:srgbClr val="F5F5F7"/>
                </a:solidFill>
                <a:latin typeface="Helvetica Neue"/>
                <a:ea typeface="Helvetica Neue"/>
                <a:cs typeface="Helvetica Neue"/>
              </a:defRPr>
            </a:lvl7pPr>
            <a:lvl8pPr algn="l">
              <a:buNone/>
              <a:defRPr sz="3450" b="1">
                <a:solidFill>
                  <a:srgbClr val="F5F5F7"/>
                </a:solidFill>
                <a:latin typeface="Helvetica Neue"/>
                <a:ea typeface="Helvetica Neue"/>
                <a:cs typeface="Helvetica Neue"/>
              </a:defRPr>
            </a:lvl8pPr>
            <a:lvl9pPr algn="l">
              <a:buNone/>
              <a:defRPr sz="3450" b="1">
                <a:solidFill>
                  <a:srgbClr val="F5F5F7"/>
                </a:solidFill>
                <a:latin typeface="Helvetica Neue"/>
                <a:ea typeface="Helvetica Neue"/>
                <a:cs typeface="Helvetica Neue"/>
              </a:defRPr>
            </a:lvl9pPr>
          </a:lstStyle>
          <a:p xmlns:a="http://schemas.openxmlformats.org/drawingml/2006/main">
            <a:pPr algn="l">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Lemmatization и stemming</a:t>
            </a:r>
          </a:p>
        </p:txBody>
      </p:sp>
      <p:graphicFrame>
        <p:nvGraphicFramePr>
          <p:cNvPr id="5" name="">
            <a:extLst xmlns:a="http://schemas.openxmlformats.org/drawingml/2006/main">
              <a:ext uri="{FF2B5EF4-FFF2-40B4-BE49-F238E27FC236}">
                <a16:creationId xmlns:a16="http://schemas.microsoft.com/office/drawing/2014/main" id="{18258347-CB70-47C4-8481-6537F3A0A9F0}"/>
              </a:ext>
            </a:extLst>
          </p:cNvPr>
          <p:cNvGraphicFramePr/>
          <p:nvPr/>
        </p:nvGraphicFramePr>
        <p:xfrm>
          <a:off xmlns:a="http://schemas.openxmlformats.org/drawingml/2006/main" x="685800" y="2952750"/>
          <a:ext xmlns:a="http://schemas.openxmlformats.org/drawingml/2006/main" cx="10820400" cy="2628900"/>
        </p:xfrm>
        <a:graphic xmlns:a="http://schemas.openxmlformats.org/drawingml/2006/main">
          <a:graphicData uri="http://schemas.openxmlformats.org/drawingml/2006/table">
            <a:tbl>
              <a:tblPr/>
              <a:tblGrid>
                <a:gridCol w="2667000"/>
                <a:gridCol w="4076700"/>
                <a:gridCol w="4076700"/>
              </a:tblGrid>
              <a:tr h="657225">
                <a:tc>
                  <a:txBody>
                    <a:bodyPr lIns="142875" tIns="76200" rIns="142875" bIns="76200"/>
                    <a:lstStyle/>
                    <a:p>
                      <a:r>
                        <a:rPr sz="1800" b="1">
                          <a:solidFill>
                            <a:srgbClr val="98989F"/>
                          </a:solidFill>
                          <a:latin typeface="Helvetica Neue"/>
                          <a:ea typeface="Helvetica Neue"/>
                          <a:cs typeface="Helvetica Neue"/>
                        </a:rPr>
                        <a:t>Характеристика</a:t>
                      </a:r>
                    </a:p>
                  </a:txBody>
                  <a:tcPr marL="91440" marR="91440" marT="45720" marB="45720" anchor="ctr">
                    <a:lnL w="9525">
                      <a:solidFill>
                        <a:srgbClr val="28282B"/>
                      </a:solidFill>
                      <a:prstDash val="solid"/>
                    </a:lnL>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c>
                  <a:txBody>
                    <a:bodyPr lIns="142875" tIns="76200" rIns="142875" bIns="76200"/>
                    <a:lstStyle/>
                    <a:p>
                      <a:r>
                        <a:rPr sz="1800" b="1">
                          <a:solidFill>
                            <a:srgbClr val="98989F"/>
                          </a:solidFill>
                          <a:latin typeface="Helvetica Neue"/>
                          <a:ea typeface="Helvetica Neue"/>
                          <a:cs typeface="Helvetica Neue"/>
                        </a:rPr>
                        <a:t>Lemmatization</a:t>
                      </a:r>
                    </a:p>
                  </a:txBody>
                  <a:tcPr marL="91440" marR="91440" marT="45720" marB="45720" anchor="ctr">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c>
                  <a:txBody>
                    <a:bodyPr lIns="142875" tIns="76200" rIns="142875" bIns="76200"/>
                    <a:lstStyle/>
                    <a:p>
                      <a:r>
                        <a:rPr sz="1800" b="1">
                          <a:solidFill>
                            <a:srgbClr val="98989F"/>
                          </a:solidFill>
                          <a:latin typeface="Helvetica Neue"/>
                          <a:ea typeface="Helvetica Neue"/>
                          <a:cs typeface="Helvetica Neue"/>
                        </a:rPr>
                        <a:t>Stemming</a:t>
                      </a:r>
                    </a:p>
                  </a:txBody>
                  <a:tcPr marL="91440" marR="91440" marT="45720" marB="45720" anchor="ctr">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r>
              <a:tr h="657225">
                <a:tc>
                  <a:txBody>
                    <a:bodyPr lIns="142875" tIns="76200" rIns="142875" bIns="76200"/>
                    <a:lstStyle/>
                    <a:p>
                      <a:r>
                        <a:rPr sz="1875" b="0">
                          <a:solidFill>
                            <a:srgbClr val="F5F5F7"/>
                          </a:solidFill>
                          <a:latin typeface="Helvetica Neue"/>
                          <a:ea typeface="Helvetica Neue"/>
                          <a:cs typeface="Helvetica Neue"/>
                        </a:rPr>
                        <a:t>Принцип</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42875" tIns="76200" rIns="142875" bIns="76200"/>
                    <a:lstStyle/>
                    <a:p>
                      <a:r>
                        <a:rPr sz="1875" b="0">
                          <a:solidFill>
                            <a:srgbClr val="F5F5F7"/>
                          </a:solidFill>
                          <a:latin typeface="Helvetica Neue"/>
                          <a:ea typeface="Helvetica Neue"/>
                          <a:cs typeface="Helvetica Neue"/>
                        </a:rPr>
                        <a:t>Определение словарной формы с учётом языковых признаков</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42875" tIns="76200" rIns="142875" bIns="76200"/>
                    <a:lstStyle/>
                    <a:p>
                      <a:r>
                        <a:rPr sz="1875" b="0">
                          <a:solidFill>
                            <a:srgbClr val="F5F5F7"/>
                          </a:solidFill>
                          <a:latin typeface="Helvetica Neue"/>
                          <a:ea typeface="Helvetica Neue"/>
                          <a:cs typeface="Helvetica Neue"/>
                        </a:rPr>
                        <a:t>Сокращение слова по набору правил</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r h="657225">
                <a:tc>
                  <a:txBody>
                    <a:bodyPr lIns="142875" tIns="76200" rIns="142875" bIns="76200"/>
                    <a:lstStyle/>
                    <a:p>
                      <a:r>
                        <a:rPr sz="1875" b="0">
                          <a:solidFill>
                            <a:srgbClr val="F5F5F7"/>
                          </a:solidFill>
                          <a:latin typeface="Helvetica Neue"/>
                          <a:ea typeface="Helvetica Neue"/>
                          <a:cs typeface="Helvetica Neue"/>
                        </a:rPr>
                        <a:t>Пример</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42875" tIns="76200" rIns="142875" bIns="76200"/>
                    <a:lstStyle/>
                    <a:p>
                      <a:r>
                        <a:rPr sz="1875" b="0">
                          <a:solidFill>
                            <a:srgbClr val="F5F5F7"/>
                          </a:solidFill>
                          <a:latin typeface="Helvetica Neue"/>
                          <a:ea typeface="Helvetica Neue"/>
                          <a:cs typeface="Helvetica Neue"/>
                        </a:rPr>
                        <a:t>«машины» — «машина»</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42875" tIns="76200" rIns="142875" bIns="76200"/>
                    <a:lstStyle/>
                    <a:p>
                      <a:r>
                        <a:rPr sz="1875" b="0">
                          <a:solidFill>
                            <a:srgbClr val="F5F5F7"/>
                          </a:solidFill>
                          <a:latin typeface="Helvetica Neue"/>
                          <a:ea typeface="Helvetica Neue"/>
                          <a:cs typeface="Helvetica Neue"/>
                        </a:rPr>
                        <a:t>«машины» — «машин»</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r h="657225">
                <a:tc>
                  <a:txBody>
                    <a:bodyPr lIns="142875" tIns="76200" rIns="142875" bIns="76200"/>
                    <a:lstStyle/>
                    <a:p>
                      <a:r>
                        <a:rPr sz="1875" b="0">
                          <a:solidFill>
                            <a:srgbClr val="F5F5F7"/>
                          </a:solidFill>
                          <a:latin typeface="Helvetica Neue"/>
                          <a:ea typeface="Helvetica Neue"/>
                          <a:cs typeface="Helvetica Neue"/>
                        </a:rPr>
                        <a:t>Результат</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42875" tIns="76200" rIns="142875" bIns="76200"/>
                    <a:lstStyle/>
                    <a:p>
                      <a:r>
                        <a:rPr sz="1875" b="0">
                          <a:solidFill>
                            <a:srgbClr val="F5F5F7"/>
                          </a:solidFill>
                          <a:latin typeface="Helvetica Neue"/>
                          <a:ea typeface="Helvetica Neue"/>
                          <a:cs typeface="Helvetica Neue"/>
                        </a:rPr>
                        <a:t>Лемма, обычно полноценное слово</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42875" tIns="76200" rIns="142875" bIns="76200"/>
                    <a:lstStyle/>
                    <a:p>
                      <a:r>
                        <a:rPr sz="1875" b="0">
                          <a:solidFill>
                            <a:srgbClr val="F5F5F7"/>
                          </a:solidFill>
                          <a:latin typeface="Helvetica Neue"/>
                          <a:ea typeface="Helvetica Neue"/>
                          <a:cs typeface="Helvetica Neue"/>
                        </a:rPr>
                        <a:t>Стем, который может не быть словом</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bl>
          </a:graphicData>
        </a:graphic>
      </p:graphicFrame>
      <p:sp>
        <p:nvSpPr>
          <p:cNvPr id="8" name="theory-4">
            <a:extLst xmlns:a="http://schemas.openxmlformats.org/drawingml/2006/main">
              <a:ext uri="{FF2B5EF4-FFF2-40B4-BE49-F238E27FC236}">
                <a16:creationId xmlns:a16="http://schemas.microsoft.com/office/drawing/2014/main" id="{A8B3F5F3-E596-4764-966A-A1F459924BCE}"/>
              </a:ext>
            </a:extLst>
          </p:cNvPr>
          <p:cNvSpPr>
            <a:spLocks xmlns:a="http://schemas.openxmlformats.org/drawingml/2006/main" noGrp="1"/>
          </p:cNvSpPr>
          <p:nvPr/>
        </p:nvSpPr>
        <p:spPr>
          <a:xfrm xmlns:a="http://schemas.openxmlformats.org/drawingml/2006/main">
            <a:off x="685800" y="2009775"/>
            <a:ext cx="108204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88" b="0">
                <a:solidFill>
                  <a:srgbClr val="F5F5F7"/>
                </a:solidFill>
                <a:latin typeface="Helvetica Neue"/>
                <a:ea typeface="Helvetica Neue"/>
                <a:cs typeface="Helvetica Neue"/>
              </a:defRPr>
            </a:defPPr>
            <a:lvl1pPr>
              <a:buNone/>
              <a:defRPr sz="1988" b="0">
                <a:solidFill>
                  <a:srgbClr val="F5F5F7"/>
                </a:solidFill>
                <a:latin typeface="Helvetica Neue"/>
                <a:ea typeface="Helvetica Neue"/>
                <a:cs typeface="Helvetica Neue"/>
              </a:defRPr>
            </a:lvl1pPr>
            <a:lvl2pPr>
              <a:buNone/>
              <a:defRPr sz="1988" b="0">
                <a:solidFill>
                  <a:srgbClr val="F5F5F7"/>
                </a:solidFill>
                <a:latin typeface="Helvetica Neue"/>
                <a:ea typeface="Helvetica Neue"/>
                <a:cs typeface="Helvetica Neue"/>
              </a:defRPr>
            </a:lvl2pPr>
            <a:lvl3pPr>
              <a:buNone/>
              <a:defRPr sz="1988" b="0">
                <a:solidFill>
                  <a:srgbClr val="F5F5F7"/>
                </a:solidFill>
                <a:latin typeface="Helvetica Neue"/>
                <a:ea typeface="Helvetica Neue"/>
                <a:cs typeface="Helvetica Neue"/>
              </a:defRPr>
            </a:lvl3pPr>
            <a:lvl4pPr>
              <a:buNone/>
              <a:defRPr sz="1988" b="0">
                <a:solidFill>
                  <a:srgbClr val="F5F5F7"/>
                </a:solidFill>
                <a:latin typeface="Helvetica Neue"/>
                <a:ea typeface="Helvetica Neue"/>
                <a:cs typeface="Helvetica Neue"/>
              </a:defRPr>
            </a:lvl4pPr>
            <a:lvl5pPr>
              <a:buNone/>
              <a:defRPr sz="1988" b="0">
                <a:solidFill>
                  <a:srgbClr val="F5F5F7"/>
                </a:solidFill>
                <a:latin typeface="Helvetica Neue"/>
                <a:ea typeface="Helvetica Neue"/>
                <a:cs typeface="Helvetica Neue"/>
              </a:defRPr>
            </a:lvl5pPr>
            <a:lvl6pPr>
              <a:buNone/>
              <a:defRPr sz="1988" b="0">
                <a:solidFill>
                  <a:srgbClr val="F5F5F7"/>
                </a:solidFill>
                <a:latin typeface="Helvetica Neue"/>
                <a:ea typeface="Helvetica Neue"/>
                <a:cs typeface="Helvetica Neue"/>
              </a:defRPr>
            </a:lvl6pPr>
            <a:lvl7pPr>
              <a:buNone/>
              <a:defRPr sz="1988" b="0">
                <a:solidFill>
                  <a:srgbClr val="F5F5F7"/>
                </a:solidFill>
                <a:latin typeface="Helvetica Neue"/>
                <a:ea typeface="Helvetica Neue"/>
                <a:cs typeface="Helvetica Neue"/>
              </a:defRPr>
            </a:lvl7pPr>
            <a:lvl8pPr>
              <a:buNone/>
              <a:defRPr sz="1988" b="0">
                <a:solidFill>
                  <a:srgbClr val="F5F5F7"/>
                </a:solidFill>
                <a:latin typeface="Helvetica Neue"/>
                <a:ea typeface="Helvetica Neue"/>
                <a:cs typeface="Helvetica Neue"/>
              </a:defRPr>
            </a:lvl8pPr>
            <a:lvl9pPr>
              <a:buNone/>
              <a:defRPr sz="1988" b="0">
                <a:solidFill>
                  <a:srgbClr val="F5F5F7"/>
                </a:solidFill>
                <a:latin typeface="Helvetica Neue"/>
                <a:ea typeface="Helvetica Neue"/>
                <a:cs typeface="Helvetica Neue"/>
              </a:defRPr>
            </a:lvl9pPr>
          </a:lstStyle>
          <a:p xmlns:a="http://schemas.openxmlformats.org/drawingml/2006/main">
            <a:pPr>
              <a:buNone/>
              <a:defRPr sz="1988" b="0">
                <a:solidFill>
                  <a:srgbClr val="F5F5F7"/>
                </a:solidFill>
                <a:latin typeface="Helvetica Neue"/>
                <a:ea typeface="Helvetica Neue"/>
                <a:cs typeface="Helvetica Neue"/>
              </a:defRPr>
            </a:pPr>
            <a:r>
              <a:rPr sz="1988" b="0">
                <a:solidFill>
                  <a:srgbClr val="F5F5F7"/>
                </a:solidFill>
                <a:latin typeface="Helvetica Neue"/>
                <a:ea typeface="Helvetica Neue"/>
                <a:cs typeface="Helvetica Neue"/>
              </a:rPr>
              <a:t>Оба подхода уменьшают разнообразие словоформ, но используют разные основания. Lemmatization опирается на языковой разбор, а stemming изменяет запись по формальным правилам.</a:t>
            </a:r>
          </a:p>
        </p:txBody>
      </p:sp>
      <p:sp>
        <p:nvSpPr>
          <p:cNvPr id="9" name="theory-5">
            <a:extLst xmlns:a="http://schemas.openxmlformats.org/drawingml/2006/main">
              <a:ext uri="{FF2B5EF4-FFF2-40B4-BE49-F238E27FC236}">
                <a16:creationId xmlns:a16="http://schemas.microsoft.com/office/drawing/2014/main" id="{AE0CFECC-7F1D-42B0-8E2B-964FD71CF62C}"/>
              </a:ext>
            </a:extLst>
          </p:cNvPr>
          <p:cNvSpPr>
            <a:spLocks xmlns:a="http://schemas.openxmlformats.org/drawingml/2006/main" noGrp="1"/>
          </p:cNvSpPr>
          <p:nvPr/>
        </p:nvSpPr>
        <p:spPr>
          <a:xfrm xmlns:a="http://schemas.openxmlformats.org/drawingml/2006/main">
            <a:off x="685800" y="592455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88" b="0">
                <a:solidFill>
                  <a:srgbClr val="98989F"/>
                </a:solidFill>
                <a:latin typeface="Helvetica Neue"/>
                <a:ea typeface="Helvetica Neue"/>
                <a:cs typeface="Helvetica Neue"/>
              </a:defRPr>
            </a:defPPr>
            <a:lvl1pPr>
              <a:buNone/>
              <a:defRPr sz="1688" b="0">
                <a:solidFill>
                  <a:srgbClr val="98989F"/>
                </a:solidFill>
                <a:latin typeface="Helvetica Neue"/>
                <a:ea typeface="Helvetica Neue"/>
                <a:cs typeface="Helvetica Neue"/>
              </a:defRPr>
            </a:lvl1pPr>
            <a:lvl2pPr>
              <a:buNone/>
              <a:defRPr sz="1688" b="0">
                <a:solidFill>
                  <a:srgbClr val="98989F"/>
                </a:solidFill>
                <a:latin typeface="Helvetica Neue"/>
                <a:ea typeface="Helvetica Neue"/>
                <a:cs typeface="Helvetica Neue"/>
              </a:defRPr>
            </a:lvl2pPr>
            <a:lvl3pPr>
              <a:buNone/>
              <a:defRPr sz="1688" b="0">
                <a:solidFill>
                  <a:srgbClr val="98989F"/>
                </a:solidFill>
                <a:latin typeface="Helvetica Neue"/>
                <a:ea typeface="Helvetica Neue"/>
                <a:cs typeface="Helvetica Neue"/>
              </a:defRPr>
            </a:lvl3pPr>
            <a:lvl4pPr>
              <a:buNone/>
              <a:defRPr sz="1688" b="0">
                <a:solidFill>
                  <a:srgbClr val="98989F"/>
                </a:solidFill>
                <a:latin typeface="Helvetica Neue"/>
                <a:ea typeface="Helvetica Neue"/>
                <a:cs typeface="Helvetica Neue"/>
              </a:defRPr>
            </a:lvl4pPr>
            <a:lvl5pPr>
              <a:buNone/>
              <a:defRPr sz="1688" b="0">
                <a:solidFill>
                  <a:srgbClr val="98989F"/>
                </a:solidFill>
                <a:latin typeface="Helvetica Neue"/>
                <a:ea typeface="Helvetica Neue"/>
                <a:cs typeface="Helvetica Neue"/>
              </a:defRPr>
            </a:lvl5pPr>
            <a:lvl6pPr>
              <a:buNone/>
              <a:defRPr sz="1688" b="0">
                <a:solidFill>
                  <a:srgbClr val="98989F"/>
                </a:solidFill>
                <a:latin typeface="Helvetica Neue"/>
                <a:ea typeface="Helvetica Neue"/>
                <a:cs typeface="Helvetica Neue"/>
              </a:defRPr>
            </a:lvl6pPr>
            <a:lvl7pPr>
              <a:buNone/>
              <a:defRPr sz="1688" b="0">
                <a:solidFill>
                  <a:srgbClr val="98989F"/>
                </a:solidFill>
                <a:latin typeface="Helvetica Neue"/>
                <a:ea typeface="Helvetica Neue"/>
                <a:cs typeface="Helvetica Neue"/>
              </a:defRPr>
            </a:lvl7pPr>
            <a:lvl8pPr>
              <a:buNone/>
              <a:defRPr sz="1688" b="0">
                <a:solidFill>
                  <a:srgbClr val="98989F"/>
                </a:solidFill>
                <a:latin typeface="Helvetica Neue"/>
                <a:ea typeface="Helvetica Neue"/>
                <a:cs typeface="Helvetica Neue"/>
              </a:defRPr>
            </a:lvl8pPr>
            <a:lvl9pPr>
              <a:buNone/>
              <a:defRPr sz="1688" b="0">
                <a:solidFill>
                  <a:srgbClr val="98989F"/>
                </a:solidFill>
                <a:latin typeface="Helvetica Neue"/>
                <a:ea typeface="Helvetica Neue"/>
                <a:cs typeface="Helvetica Neue"/>
              </a:defRPr>
            </a:lvl9pPr>
          </a:lstStyle>
          <a:p xmlns:a="http://schemas.openxmlformats.org/drawingml/2006/main">
            <a:pPr>
              <a:buNone/>
              <a:defRPr sz="1688" b="0">
                <a:solidFill>
                  <a:srgbClr val="98989F"/>
                </a:solidFill>
                <a:latin typeface="Helvetica Neue"/>
                <a:ea typeface="Helvetica Neue"/>
                <a:cs typeface="Helvetica Neue"/>
              </a:defRPr>
            </a:pPr>
            <a:r>
              <a:rPr sz="1688" b="0">
                <a:solidFill>
                  <a:srgbClr val="98989F"/>
                </a:solidFill>
                <a:latin typeface="Helvetica Neue"/>
                <a:ea typeface="Helvetica Neue"/>
                <a:cs typeface="Helvetica Neue"/>
              </a:rPr>
              <a:t>Лемма обычно соответствует словарной форме. Стем может быть фрагментом, который не существует как самостоятельное слово. Приведение разных форм к одной записи полезно только при сохранении нужных различий.</a:t>
            </a:r>
          </a:p>
        </p:txBody>
      </p:sp>
    </p:spTree>
    <p:extLst>
      <p:ext uri="{BB962C8B-B14F-4D97-AF65-F5344CB8AC3E}">
        <p14:creationId xmlns:p14="http://schemas.microsoft.com/office/powerpoint/2010/main" val="953895150"/>
      </p:ext>
    </p:extLst>
  </p:cSld>
</p:sld>
</file>

<file path=ppt/slides/slide3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8" name="exp90-0">
            <a:extLst xmlns:a="http://schemas.openxmlformats.org/drawingml/2006/main">
              <a:ext uri="{FF2B5EF4-FFF2-40B4-BE49-F238E27FC236}">
                <a16:creationId xmlns:a16="http://schemas.microsoft.com/office/drawing/2014/main" id="{D41004F7-8C2D-48EA-B6E6-7D9DACE9F001}"/>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90-1">
            <a:extLst xmlns:a="http://schemas.openxmlformats.org/drawingml/2006/main">
              <a:ext uri="{FF2B5EF4-FFF2-40B4-BE49-F238E27FC236}">
                <a16:creationId xmlns:a16="http://schemas.microsoft.com/office/drawing/2014/main" id="{4DE77156-2B0C-4D50-AC88-FE59A6243A02}"/>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38</a:t>
            </a:r>
          </a:p>
        </p:txBody>
      </p:sp>
      <p:sp>
        <p:nvSpPr>
          <p:cNvPr id="3" name="">
            <a:extLst xmlns:a="http://schemas.openxmlformats.org/drawingml/2006/main">
              <a:ext uri="{FF2B5EF4-FFF2-40B4-BE49-F238E27FC236}">
                <a16:creationId xmlns:a16="http://schemas.microsoft.com/office/drawing/2014/main" id="{B5A20A33-2A11-4F67-A0D8-6B1A33CB913F}"/>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0">
            <a:solidFill>
              <a:srgbClr val="28282B"/>
            </a:solidFill>
          </a:ln>
        </p:spPr>
      </p:sp>
      <p:sp>
        <p:nvSpPr>
          <p:cNvPr id="4" name="exp90-3">
            <a:extLst xmlns:a="http://schemas.openxmlformats.org/drawingml/2006/main">
              <a:ext uri="{FF2B5EF4-FFF2-40B4-BE49-F238E27FC236}">
                <a16:creationId xmlns:a16="http://schemas.microsoft.com/office/drawing/2014/main" id="{F925A644-0E3A-42D6-B5DB-8BE71039527E}"/>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Lemmatization: роль контекста</a:t>
            </a:r>
          </a:p>
        </p:txBody>
      </p:sp>
      <p:sp>
        <p:nvSpPr>
          <p:cNvPr id="5" name="exp90-4">
            <a:extLst xmlns:a="http://schemas.openxmlformats.org/drawingml/2006/main">
              <a:ext uri="{FF2B5EF4-FFF2-40B4-BE49-F238E27FC236}">
                <a16:creationId xmlns:a16="http://schemas.microsoft.com/office/drawing/2014/main" id="{3C7ABAEF-DAA9-4B34-8D63-34C3CFA8B617}"/>
              </a:ext>
            </a:extLst>
          </p:cNvPr>
          <p:cNvSpPr>
            <a:spLocks xmlns:a="http://schemas.openxmlformats.org/drawingml/2006/main" noGrp="1"/>
          </p:cNvSpPr>
          <p:nvPr/>
        </p:nvSpPr>
        <p:spPr>
          <a:xfrm xmlns:a="http://schemas.openxmlformats.org/drawingml/2006/main">
            <a:off x="685800" y="20097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88" b="0">
                <a:solidFill>
                  <a:srgbClr val="F5F5F7"/>
                </a:solidFill>
                <a:latin typeface="Helvetica Neue"/>
                <a:ea typeface="Helvetica Neue"/>
                <a:cs typeface="Helvetica Neue"/>
              </a:defRPr>
            </a:defPPr>
            <a:lvl1pPr>
              <a:buNone/>
              <a:defRPr sz="1988" b="0">
                <a:solidFill>
                  <a:srgbClr val="F5F5F7"/>
                </a:solidFill>
                <a:latin typeface="Helvetica Neue"/>
                <a:ea typeface="Helvetica Neue"/>
                <a:cs typeface="Helvetica Neue"/>
              </a:defRPr>
            </a:lvl1pPr>
            <a:lvl2pPr>
              <a:buNone/>
              <a:defRPr sz="1988" b="0">
                <a:solidFill>
                  <a:srgbClr val="F5F5F7"/>
                </a:solidFill>
                <a:latin typeface="Helvetica Neue"/>
                <a:ea typeface="Helvetica Neue"/>
                <a:cs typeface="Helvetica Neue"/>
              </a:defRPr>
            </a:lvl2pPr>
            <a:lvl3pPr>
              <a:buNone/>
              <a:defRPr sz="1988" b="0">
                <a:solidFill>
                  <a:srgbClr val="F5F5F7"/>
                </a:solidFill>
                <a:latin typeface="Helvetica Neue"/>
                <a:ea typeface="Helvetica Neue"/>
                <a:cs typeface="Helvetica Neue"/>
              </a:defRPr>
            </a:lvl3pPr>
            <a:lvl4pPr>
              <a:buNone/>
              <a:defRPr sz="1988" b="0">
                <a:solidFill>
                  <a:srgbClr val="F5F5F7"/>
                </a:solidFill>
                <a:latin typeface="Helvetica Neue"/>
                <a:ea typeface="Helvetica Neue"/>
                <a:cs typeface="Helvetica Neue"/>
              </a:defRPr>
            </a:lvl4pPr>
            <a:lvl5pPr>
              <a:buNone/>
              <a:defRPr sz="1988" b="0">
                <a:solidFill>
                  <a:srgbClr val="F5F5F7"/>
                </a:solidFill>
                <a:latin typeface="Helvetica Neue"/>
                <a:ea typeface="Helvetica Neue"/>
                <a:cs typeface="Helvetica Neue"/>
              </a:defRPr>
            </a:lvl5pPr>
            <a:lvl6pPr>
              <a:buNone/>
              <a:defRPr sz="1988" b="0">
                <a:solidFill>
                  <a:srgbClr val="F5F5F7"/>
                </a:solidFill>
                <a:latin typeface="Helvetica Neue"/>
                <a:ea typeface="Helvetica Neue"/>
                <a:cs typeface="Helvetica Neue"/>
              </a:defRPr>
            </a:lvl6pPr>
            <a:lvl7pPr>
              <a:buNone/>
              <a:defRPr sz="1988" b="0">
                <a:solidFill>
                  <a:srgbClr val="F5F5F7"/>
                </a:solidFill>
                <a:latin typeface="Helvetica Neue"/>
                <a:ea typeface="Helvetica Neue"/>
                <a:cs typeface="Helvetica Neue"/>
              </a:defRPr>
            </a:lvl7pPr>
            <a:lvl8pPr>
              <a:buNone/>
              <a:defRPr sz="1988" b="0">
                <a:solidFill>
                  <a:srgbClr val="F5F5F7"/>
                </a:solidFill>
                <a:latin typeface="Helvetica Neue"/>
                <a:ea typeface="Helvetica Neue"/>
                <a:cs typeface="Helvetica Neue"/>
              </a:defRPr>
            </a:lvl8pPr>
            <a:lvl9pPr>
              <a:buNone/>
              <a:defRPr sz="1988" b="0">
                <a:solidFill>
                  <a:srgbClr val="F5F5F7"/>
                </a:solidFill>
                <a:latin typeface="Helvetica Neue"/>
                <a:ea typeface="Helvetica Neue"/>
                <a:cs typeface="Helvetica Neue"/>
              </a:defRPr>
            </a:lvl9pPr>
          </a:lstStyle>
          <a:p xmlns:a="http://schemas.openxmlformats.org/drawingml/2006/main">
            <a:pPr>
              <a:buNone/>
              <a:defRPr sz="1988" b="0">
                <a:solidFill>
                  <a:srgbClr val="F5F5F7"/>
                </a:solidFill>
                <a:latin typeface="Helvetica Neue"/>
                <a:ea typeface="Helvetica Neue"/>
                <a:cs typeface="Helvetica Neue"/>
              </a:defRPr>
            </a:pPr>
            <a:r>
              <a:rPr sz="1988" b="0">
                <a:solidFill>
                  <a:srgbClr val="F5F5F7"/>
                </a:solidFill>
                <a:latin typeface="Helvetica Neue"/>
                <a:ea typeface="Helvetica Neue"/>
                <a:cs typeface="Helvetica Neue"/>
              </a:rPr>
              <a:t>Одинаковая запись может соответствовать разным словарным единицам. Контекст помогает различить допустимые разборы.</a:t>
            </a:r>
          </a:p>
        </p:txBody>
      </p:sp>
      <p:graphicFrame>
        <p:nvGraphicFramePr>
          <p:cNvPr id="6" name="">
            <a:extLst xmlns:a="http://schemas.openxmlformats.org/drawingml/2006/main">
              <a:ext uri="{FF2B5EF4-FFF2-40B4-BE49-F238E27FC236}">
                <a16:creationId xmlns:a16="http://schemas.microsoft.com/office/drawing/2014/main" id="{0AD690F3-ADD6-4A91-845F-DCEEEB0AA3D0}"/>
              </a:ext>
            </a:extLst>
          </p:cNvPr>
          <p:cNvGraphicFramePr/>
          <p:nvPr/>
        </p:nvGraphicFramePr>
        <p:xfrm>
          <a:off xmlns:a="http://schemas.openxmlformats.org/drawingml/2006/main" x="685800" y="2876550"/>
          <a:ext xmlns:a="http://schemas.openxmlformats.org/drawingml/2006/main" cx="10820400" cy="3143250"/>
        </p:xfrm>
        <a:graphic xmlns:a="http://schemas.openxmlformats.org/drawingml/2006/main">
          <a:graphicData uri="http://schemas.openxmlformats.org/drawingml/2006/table">
            <a:tbl>
              <a:tblPr/>
              <a:tblGrid>
                <a:gridCol w="5191125"/>
                <a:gridCol w="1714500"/>
                <a:gridCol w="3914775"/>
              </a:tblGrid>
              <a:tr h="628650">
                <a:tc>
                  <a:txBody>
                    <a:bodyPr lIns="133350" tIns="76200" rIns="133350" bIns="76200"/>
                    <a:lstStyle/>
                    <a:p>
                      <a:r>
                        <a:rPr sz="1800" b="1">
                          <a:solidFill>
                            <a:srgbClr val="98989F"/>
                          </a:solidFill>
                          <a:latin typeface="Helvetica Neue"/>
                          <a:ea typeface="Helvetica Neue"/>
                          <a:cs typeface="Helvetica Neue"/>
                        </a:rPr>
                        <a:t>Фрагмент</a:t>
                      </a:r>
                    </a:p>
                  </a:txBody>
                  <a:tcPr marL="91440" marR="91440" marT="45720" marB="45720" anchor="ctr">
                    <a:lnL w="9525">
                      <a:solidFill>
                        <a:srgbClr val="28282B"/>
                      </a:solidFill>
                      <a:prstDash val="solid"/>
                    </a:lnL>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c>
                  <a:txBody>
                    <a:bodyPr lIns="133350" tIns="76200" rIns="133350" bIns="76200"/>
                    <a:lstStyle/>
                    <a:p>
                      <a:r>
                        <a:rPr sz="1800" b="1">
                          <a:solidFill>
                            <a:srgbClr val="98989F"/>
                          </a:solidFill>
                          <a:latin typeface="Helvetica Neue"/>
                          <a:ea typeface="Helvetica Neue"/>
                          <a:cs typeface="Helvetica Neue"/>
                        </a:rPr>
                        <a:t>Словоформа</a:t>
                      </a:r>
                    </a:p>
                  </a:txBody>
                  <a:tcPr marL="91440" marR="91440" marT="45720" marB="45720" anchor="ctr">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c>
                  <a:txBody>
                    <a:bodyPr lIns="133350" tIns="76200" rIns="133350" bIns="76200"/>
                    <a:lstStyle/>
                    <a:p>
                      <a:r>
                        <a:rPr sz="1800" b="1">
                          <a:solidFill>
                            <a:srgbClr val="98989F"/>
                          </a:solidFill>
                          <a:latin typeface="Helvetica Neue"/>
                          <a:ea typeface="Helvetica Neue"/>
                          <a:cs typeface="Helvetica Neue"/>
                        </a:rPr>
                        <a:t>Интерпретация</a:t>
                      </a:r>
                    </a:p>
                  </a:txBody>
                  <a:tcPr marL="91440" marR="91440" marT="45720" marB="45720" anchor="ctr">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r>
              <a:tr h="628650">
                <a:tc>
                  <a:txBody>
                    <a:bodyPr lIns="133350" tIns="76200" rIns="133350" bIns="76200"/>
                    <a:lstStyle/>
                    <a:p>
                      <a:r>
                        <a:rPr sz="1800" b="0">
                          <a:solidFill>
                            <a:srgbClr val="F5F5F7"/>
                          </a:solidFill>
                          <a:latin typeface="Helvetica Neue"/>
                          <a:ea typeface="Helvetica Neue"/>
                          <a:cs typeface="Helvetica Neue"/>
                        </a:rPr>
                        <a:t>Деталь изготовлена из стали</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800" b="0">
                          <a:solidFill>
                            <a:srgbClr val="F5F5F7"/>
                          </a:solidFill>
                          <a:latin typeface="Helvetica Neue"/>
                          <a:ea typeface="Helvetica Neue"/>
                          <a:cs typeface="Helvetica Neue"/>
                        </a:rPr>
                        <a:t>стали</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800" b="0">
                          <a:solidFill>
                            <a:srgbClr val="F5F5F7"/>
                          </a:solidFill>
                          <a:latin typeface="Helvetica Neue"/>
                          <a:ea typeface="Helvetica Neue"/>
                          <a:cs typeface="Helvetica Neue"/>
                        </a:rPr>
                        <a:t>Существительное «сталь»</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r h="628650">
                <a:tc>
                  <a:txBody>
                    <a:bodyPr lIns="133350" tIns="76200" rIns="133350" bIns="76200"/>
                    <a:lstStyle/>
                    <a:p>
                      <a:r>
                        <a:rPr sz="1800" b="0">
                          <a:solidFill>
                            <a:srgbClr val="F5F5F7"/>
                          </a:solidFill>
                          <a:latin typeface="Helvetica Neue"/>
                          <a:ea typeface="Helvetica Neue"/>
                          <a:cs typeface="Helvetica Neue"/>
                        </a:rPr>
                        <a:t>Они стали работать быстрее</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800" b="0">
                          <a:solidFill>
                            <a:srgbClr val="F5F5F7"/>
                          </a:solidFill>
                          <a:latin typeface="Helvetica Neue"/>
                          <a:ea typeface="Helvetica Neue"/>
                          <a:cs typeface="Helvetica Neue"/>
                        </a:rPr>
                        <a:t>стали</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800" b="0">
                          <a:solidFill>
                            <a:srgbClr val="F5F5F7"/>
                          </a:solidFill>
                          <a:latin typeface="Helvetica Neue"/>
                          <a:ea typeface="Helvetica Neue"/>
                          <a:cs typeface="Helvetica Neue"/>
                        </a:rPr>
                        <a:t>Глагол «стать»</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r h="628650">
                <a:tc>
                  <a:txBody>
                    <a:bodyPr lIns="133350" tIns="76200" rIns="133350" bIns="76200"/>
                    <a:lstStyle/>
                    <a:p>
                      <a:r>
                        <a:rPr sz="1800" b="0">
                          <a:solidFill>
                            <a:srgbClr val="F5F5F7"/>
                          </a:solidFill>
                          <a:latin typeface="Helvetica Neue"/>
                          <a:ea typeface="Helvetica Neue"/>
                          <a:cs typeface="Helvetica Neue"/>
                        </a:rPr>
                        <a:t>Новое стекло треснуло</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800" b="0">
                          <a:solidFill>
                            <a:srgbClr val="F5F5F7"/>
                          </a:solidFill>
                          <a:latin typeface="Helvetica Neue"/>
                          <a:ea typeface="Helvetica Neue"/>
                          <a:cs typeface="Helvetica Neue"/>
                        </a:rPr>
                        <a:t>стекло</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800" b="0">
                          <a:solidFill>
                            <a:srgbClr val="F5F5F7"/>
                          </a:solidFill>
                          <a:latin typeface="Helvetica Neue"/>
                          <a:ea typeface="Helvetica Neue"/>
                          <a:cs typeface="Helvetica Neue"/>
                        </a:rPr>
                        <a:t>Существительное «стекло»</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r h="628650">
                <a:tc>
                  <a:txBody>
                    <a:bodyPr lIns="133350" tIns="76200" rIns="133350" bIns="76200"/>
                    <a:lstStyle/>
                    <a:p>
                      <a:r>
                        <a:rPr sz="1800" b="0">
                          <a:solidFill>
                            <a:srgbClr val="F5F5F7"/>
                          </a:solidFill>
                          <a:latin typeface="Helvetica Neue"/>
                          <a:ea typeface="Helvetica Neue"/>
                          <a:cs typeface="Helvetica Neue"/>
                        </a:rPr>
                        <a:t>Молоко стекло на пол</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800" b="0">
                          <a:solidFill>
                            <a:srgbClr val="F5F5F7"/>
                          </a:solidFill>
                          <a:latin typeface="Helvetica Neue"/>
                          <a:ea typeface="Helvetica Neue"/>
                          <a:cs typeface="Helvetica Neue"/>
                        </a:rPr>
                        <a:t>стекло</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800" b="0">
                          <a:solidFill>
                            <a:srgbClr val="F5F5F7"/>
                          </a:solidFill>
                          <a:latin typeface="Helvetica Neue"/>
                          <a:ea typeface="Helvetica Neue"/>
                          <a:cs typeface="Helvetica Neue"/>
                        </a:rPr>
                        <a:t>Глагол «стечь»</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bl>
          </a:graphicData>
        </a:graphic>
      </p:graphicFrame>
      <p:sp>
        <p:nvSpPr>
          <p:cNvPr id="7" name="exp90-5">
            <a:extLst xmlns:a="http://schemas.openxmlformats.org/drawingml/2006/main">
              <a:ext uri="{FF2B5EF4-FFF2-40B4-BE49-F238E27FC236}">
                <a16:creationId xmlns:a16="http://schemas.microsoft.com/office/drawing/2014/main" id="{7CB64FE1-4979-47A2-B1DC-146A3313B2EA}"/>
              </a:ext>
            </a:extLst>
          </p:cNvPr>
          <p:cNvSpPr>
            <a:spLocks xmlns:a="http://schemas.openxmlformats.org/drawingml/2006/main" noGrp="1"/>
          </p:cNvSpPr>
          <p:nvPr/>
        </p:nvSpPr>
        <p:spPr>
          <a:xfrm xmlns:a="http://schemas.openxmlformats.org/drawingml/2006/main">
            <a:off x="685800" y="618172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CDCDD3"/>
                </a:solidFill>
                <a:latin typeface="Helvetica Neue"/>
                <a:ea typeface="Helvetica Neue"/>
                <a:cs typeface="Helvetica Neue"/>
              </a:defRPr>
            </a:defPPr>
            <a:lvl1pPr>
              <a:buNone/>
              <a:defRPr sz="1650" b="0">
                <a:solidFill>
                  <a:srgbClr val="CDCDD3"/>
                </a:solidFill>
                <a:latin typeface="Helvetica Neue"/>
                <a:ea typeface="Helvetica Neue"/>
                <a:cs typeface="Helvetica Neue"/>
              </a:defRPr>
            </a:lvl1pPr>
            <a:lvl2pPr>
              <a:buNone/>
              <a:defRPr sz="1650" b="0">
                <a:solidFill>
                  <a:srgbClr val="CDCDD3"/>
                </a:solidFill>
                <a:latin typeface="Helvetica Neue"/>
                <a:ea typeface="Helvetica Neue"/>
                <a:cs typeface="Helvetica Neue"/>
              </a:defRPr>
            </a:lvl2pPr>
            <a:lvl3pPr>
              <a:buNone/>
              <a:defRPr sz="1650" b="0">
                <a:solidFill>
                  <a:srgbClr val="CDCDD3"/>
                </a:solidFill>
                <a:latin typeface="Helvetica Neue"/>
                <a:ea typeface="Helvetica Neue"/>
                <a:cs typeface="Helvetica Neue"/>
              </a:defRPr>
            </a:lvl3pPr>
            <a:lvl4pPr>
              <a:buNone/>
              <a:defRPr sz="1650" b="0">
                <a:solidFill>
                  <a:srgbClr val="CDCDD3"/>
                </a:solidFill>
                <a:latin typeface="Helvetica Neue"/>
                <a:ea typeface="Helvetica Neue"/>
                <a:cs typeface="Helvetica Neue"/>
              </a:defRPr>
            </a:lvl4pPr>
            <a:lvl5pPr>
              <a:buNone/>
              <a:defRPr sz="1650" b="0">
                <a:solidFill>
                  <a:srgbClr val="CDCDD3"/>
                </a:solidFill>
                <a:latin typeface="Helvetica Neue"/>
                <a:ea typeface="Helvetica Neue"/>
                <a:cs typeface="Helvetica Neue"/>
              </a:defRPr>
            </a:lvl5pPr>
            <a:lvl6pPr>
              <a:buNone/>
              <a:defRPr sz="1650" b="0">
                <a:solidFill>
                  <a:srgbClr val="CDCDD3"/>
                </a:solidFill>
                <a:latin typeface="Helvetica Neue"/>
                <a:ea typeface="Helvetica Neue"/>
                <a:cs typeface="Helvetica Neue"/>
              </a:defRPr>
            </a:lvl6pPr>
            <a:lvl7pPr>
              <a:buNone/>
              <a:defRPr sz="1650" b="0">
                <a:solidFill>
                  <a:srgbClr val="CDCDD3"/>
                </a:solidFill>
                <a:latin typeface="Helvetica Neue"/>
                <a:ea typeface="Helvetica Neue"/>
                <a:cs typeface="Helvetica Neue"/>
              </a:defRPr>
            </a:lvl7pPr>
            <a:lvl8pPr>
              <a:buNone/>
              <a:defRPr sz="1650" b="0">
                <a:solidFill>
                  <a:srgbClr val="CDCDD3"/>
                </a:solidFill>
                <a:latin typeface="Helvetica Neue"/>
                <a:ea typeface="Helvetica Neue"/>
                <a:cs typeface="Helvetica Neue"/>
              </a:defRPr>
            </a:lvl8pPr>
            <a:lvl9pPr>
              <a:buNone/>
              <a:defRPr sz="1650" b="0">
                <a:solidFill>
                  <a:srgbClr val="CDCDD3"/>
                </a:solidFill>
                <a:latin typeface="Helvetica Neue"/>
                <a:ea typeface="Helvetica Neue"/>
                <a:cs typeface="Helvetica Neue"/>
              </a:defRPr>
            </a:lvl9pPr>
          </a:lstStyle>
          <a:p xmlns:a="http://schemas.openxmlformats.org/drawingml/2006/main">
            <a:pPr>
              <a:buNone/>
              <a:defRPr sz="1650" b="0">
                <a:solidFill>
                  <a:srgbClr val="CDCDD3"/>
                </a:solidFill>
                <a:latin typeface="Helvetica Neue"/>
                <a:ea typeface="Helvetica Neue"/>
                <a:cs typeface="Helvetica Neue"/>
              </a:defRPr>
            </a:pPr>
            <a:r>
              <a:rPr sz="1650" b="0">
                <a:solidFill>
                  <a:srgbClr val="CDCDD3"/>
                </a:solidFill>
                <a:latin typeface="Helvetica Neue"/>
                <a:ea typeface="Helvetica Neue"/>
                <a:cs typeface="Helvetica Neue"/>
              </a:rPr>
              <a:t>Примеры составлены для лекции. Lemmatization требует проверки неоднозначных форм, даже если отдельные распространённые слова обрабатываются правильно.</a:t>
            </a:r>
          </a:p>
        </p:txBody>
      </p:sp>
    </p:spTree>
    <p:extLst>
      <p:ext uri="{BB962C8B-B14F-4D97-AF65-F5344CB8AC3E}">
        <p14:creationId xmlns:p14="http://schemas.microsoft.com/office/powerpoint/2010/main" val="1438972090"/>
      </p:ext>
    </p:extLst>
  </p:cSld>
</p:sld>
</file>

<file path=ppt/slides/slide3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4" name="text-0">
            <a:extLst xmlns:a="http://schemas.openxmlformats.org/drawingml/2006/main">
              <a:ext uri="{FF2B5EF4-FFF2-40B4-BE49-F238E27FC236}">
                <a16:creationId xmlns:a16="http://schemas.microsoft.com/office/drawing/2014/main" id="{3439F50C-B79A-43E3-8C3F-4A9041CD9801}"/>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98989F"/>
                </a:solidFill>
                <a:latin typeface="Helvetica Neue"/>
                <a:ea typeface="Helvetica Neue"/>
                <a:cs typeface="Helvetica Neue"/>
              </a:defRPr>
            </a:defPPr>
            <a:lvl1pPr algn="l">
              <a:buNone/>
              <a:defRPr sz="1425" b="0">
                <a:solidFill>
                  <a:srgbClr val="98989F"/>
                </a:solidFill>
                <a:latin typeface="Helvetica Neue"/>
                <a:ea typeface="Helvetica Neue"/>
                <a:cs typeface="Helvetica Neue"/>
              </a:defRPr>
            </a:lvl1pPr>
            <a:lvl2pPr algn="l">
              <a:buNone/>
              <a:defRPr sz="1425" b="0">
                <a:solidFill>
                  <a:srgbClr val="98989F"/>
                </a:solidFill>
                <a:latin typeface="Helvetica Neue"/>
                <a:ea typeface="Helvetica Neue"/>
                <a:cs typeface="Helvetica Neue"/>
              </a:defRPr>
            </a:lvl2pPr>
            <a:lvl3pPr algn="l">
              <a:buNone/>
              <a:defRPr sz="1425" b="0">
                <a:solidFill>
                  <a:srgbClr val="98989F"/>
                </a:solidFill>
                <a:latin typeface="Helvetica Neue"/>
                <a:ea typeface="Helvetica Neue"/>
                <a:cs typeface="Helvetica Neue"/>
              </a:defRPr>
            </a:lvl3pPr>
            <a:lvl4pPr algn="l">
              <a:buNone/>
              <a:defRPr sz="1425" b="0">
                <a:solidFill>
                  <a:srgbClr val="98989F"/>
                </a:solidFill>
                <a:latin typeface="Helvetica Neue"/>
                <a:ea typeface="Helvetica Neue"/>
                <a:cs typeface="Helvetica Neue"/>
              </a:defRPr>
            </a:lvl4pPr>
            <a:lvl5pPr algn="l">
              <a:buNone/>
              <a:defRPr sz="1425" b="0">
                <a:solidFill>
                  <a:srgbClr val="98989F"/>
                </a:solidFill>
                <a:latin typeface="Helvetica Neue"/>
                <a:ea typeface="Helvetica Neue"/>
                <a:cs typeface="Helvetica Neue"/>
              </a:defRPr>
            </a:lvl5pPr>
            <a:lvl6pPr algn="l">
              <a:buNone/>
              <a:defRPr sz="1425" b="0">
                <a:solidFill>
                  <a:srgbClr val="98989F"/>
                </a:solidFill>
                <a:latin typeface="Helvetica Neue"/>
                <a:ea typeface="Helvetica Neue"/>
                <a:cs typeface="Helvetica Neue"/>
              </a:defRPr>
            </a:lvl6pPr>
            <a:lvl7pPr algn="l">
              <a:buNone/>
              <a:defRPr sz="1425" b="0">
                <a:solidFill>
                  <a:srgbClr val="98989F"/>
                </a:solidFill>
                <a:latin typeface="Helvetica Neue"/>
                <a:ea typeface="Helvetica Neue"/>
                <a:cs typeface="Helvetica Neue"/>
              </a:defRPr>
            </a:lvl7pPr>
            <a:lvl8pPr algn="l">
              <a:buNone/>
              <a:defRPr sz="1425" b="0">
                <a:solidFill>
                  <a:srgbClr val="98989F"/>
                </a:solidFill>
                <a:latin typeface="Helvetica Neue"/>
                <a:ea typeface="Helvetica Neue"/>
                <a:cs typeface="Helvetica Neue"/>
              </a:defRPr>
            </a:lvl8pPr>
            <a:lvl9pPr algn="l">
              <a:buNone/>
              <a:defRPr sz="1425" b="0">
                <a:solidFill>
                  <a:srgbClr val="98989F"/>
                </a:solidFill>
                <a:latin typeface="Helvetica Neue"/>
                <a:ea typeface="Helvetica Neue"/>
                <a:cs typeface="Helvetica Neue"/>
              </a:defRPr>
            </a:lvl9pPr>
          </a:lstStyle>
          <a:p xmlns:a="http://schemas.openxmlformats.org/drawingml/2006/main">
            <a:pPr algn="l">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text-1">
            <a:extLst xmlns:a="http://schemas.openxmlformats.org/drawingml/2006/main">
              <a:ext uri="{FF2B5EF4-FFF2-40B4-BE49-F238E27FC236}">
                <a16:creationId xmlns:a16="http://schemas.microsoft.com/office/drawing/2014/main" id="{88B6991E-17B3-4695-86F8-72F6619D2132}"/>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39</a:t>
            </a:r>
          </a:p>
        </p:txBody>
      </p:sp>
      <p:sp>
        <p:nvSpPr>
          <p:cNvPr id="3" name="">
            <a:extLst xmlns:a="http://schemas.openxmlformats.org/drawingml/2006/main">
              <a:ext uri="{FF2B5EF4-FFF2-40B4-BE49-F238E27FC236}">
                <a16:creationId xmlns:a16="http://schemas.microsoft.com/office/drawing/2014/main" id="{4304EFAA-82EA-4994-974A-85E5D2AA6B00}"/>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prstDash val="solid"/>
          </a:ln>
        </p:spPr>
      </p:sp>
      <p:sp>
        <p:nvSpPr>
          <p:cNvPr id="4" name="text-3">
            <a:extLst xmlns:a="http://schemas.openxmlformats.org/drawingml/2006/main">
              <a:ext uri="{FF2B5EF4-FFF2-40B4-BE49-F238E27FC236}">
                <a16:creationId xmlns:a16="http://schemas.microsoft.com/office/drawing/2014/main" id="{6FFD7411-462E-4F7E-8A6C-F6F3F3CD578B}"/>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5F7"/>
                </a:solidFill>
                <a:latin typeface="Helvetica Neue"/>
                <a:ea typeface="Helvetica Neue"/>
                <a:cs typeface="Helvetica Neue"/>
              </a:defRPr>
            </a:defPPr>
            <a:lvl1pPr algn="l">
              <a:buNone/>
              <a:defRPr sz="3450" b="1">
                <a:solidFill>
                  <a:srgbClr val="F5F5F7"/>
                </a:solidFill>
                <a:latin typeface="Helvetica Neue"/>
                <a:ea typeface="Helvetica Neue"/>
                <a:cs typeface="Helvetica Neue"/>
              </a:defRPr>
            </a:lvl1pPr>
            <a:lvl2pPr algn="l">
              <a:buNone/>
              <a:defRPr sz="3450" b="1">
                <a:solidFill>
                  <a:srgbClr val="F5F5F7"/>
                </a:solidFill>
                <a:latin typeface="Helvetica Neue"/>
                <a:ea typeface="Helvetica Neue"/>
                <a:cs typeface="Helvetica Neue"/>
              </a:defRPr>
            </a:lvl2pPr>
            <a:lvl3pPr algn="l">
              <a:buNone/>
              <a:defRPr sz="3450" b="1">
                <a:solidFill>
                  <a:srgbClr val="F5F5F7"/>
                </a:solidFill>
                <a:latin typeface="Helvetica Neue"/>
                <a:ea typeface="Helvetica Neue"/>
                <a:cs typeface="Helvetica Neue"/>
              </a:defRPr>
            </a:lvl3pPr>
            <a:lvl4pPr algn="l">
              <a:buNone/>
              <a:defRPr sz="3450" b="1">
                <a:solidFill>
                  <a:srgbClr val="F5F5F7"/>
                </a:solidFill>
                <a:latin typeface="Helvetica Neue"/>
                <a:ea typeface="Helvetica Neue"/>
                <a:cs typeface="Helvetica Neue"/>
              </a:defRPr>
            </a:lvl4pPr>
            <a:lvl5pPr algn="l">
              <a:buNone/>
              <a:defRPr sz="3450" b="1">
                <a:solidFill>
                  <a:srgbClr val="F5F5F7"/>
                </a:solidFill>
                <a:latin typeface="Helvetica Neue"/>
                <a:ea typeface="Helvetica Neue"/>
                <a:cs typeface="Helvetica Neue"/>
              </a:defRPr>
            </a:lvl5pPr>
            <a:lvl6pPr algn="l">
              <a:buNone/>
              <a:defRPr sz="3450" b="1">
                <a:solidFill>
                  <a:srgbClr val="F5F5F7"/>
                </a:solidFill>
                <a:latin typeface="Helvetica Neue"/>
                <a:ea typeface="Helvetica Neue"/>
                <a:cs typeface="Helvetica Neue"/>
              </a:defRPr>
            </a:lvl6pPr>
            <a:lvl7pPr algn="l">
              <a:buNone/>
              <a:defRPr sz="3450" b="1">
                <a:solidFill>
                  <a:srgbClr val="F5F5F7"/>
                </a:solidFill>
                <a:latin typeface="Helvetica Neue"/>
                <a:ea typeface="Helvetica Neue"/>
                <a:cs typeface="Helvetica Neue"/>
              </a:defRPr>
            </a:lvl7pPr>
            <a:lvl8pPr algn="l">
              <a:buNone/>
              <a:defRPr sz="3450" b="1">
                <a:solidFill>
                  <a:srgbClr val="F5F5F7"/>
                </a:solidFill>
                <a:latin typeface="Helvetica Neue"/>
                <a:ea typeface="Helvetica Neue"/>
                <a:cs typeface="Helvetica Neue"/>
              </a:defRPr>
            </a:lvl8pPr>
            <a:lvl9pPr algn="l">
              <a:buNone/>
              <a:defRPr sz="3450" b="1">
                <a:solidFill>
                  <a:srgbClr val="F5F5F7"/>
                </a:solidFill>
                <a:latin typeface="Helvetica Neue"/>
                <a:ea typeface="Helvetica Neue"/>
                <a:cs typeface="Helvetica Neue"/>
              </a:defRPr>
            </a:lvl9pPr>
          </a:lstStyle>
          <a:p xmlns:a="http://schemas.openxmlformats.org/drawingml/2006/main">
            <a:pPr algn="l">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Morphological analysis</a:t>
            </a:r>
          </a:p>
        </p:txBody>
      </p:sp>
      <p:sp>
        <p:nvSpPr>
          <p:cNvPr id="35" name="ysda-4">
            <a:extLst xmlns:a="http://schemas.openxmlformats.org/drawingml/2006/main">
              <a:ext uri="{FF2B5EF4-FFF2-40B4-BE49-F238E27FC236}">
                <a16:creationId xmlns:a16="http://schemas.microsoft.com/office/drawing/2014/main" id="{732946AA-C547-4241-A3CB-2C00BB3764BD}"/>
              </a:ext>
            </a:extLst>
          </p:cNvPr>
          <p:cNvSpPr>
            <a:spLocks xmlns:a="http://schemas.openxmlformats.org/drawingml/2006/main" noGrp="1"/>
          </p:cNvSpPr>
          <p:nvPr/>
        </p:nvSpPr>
        <p:spPr>
          <a:xfrm xmlns:a="http://schemas.openxmlformats.org/drawingml/2006/main">
            <a:off x="685800" y="20478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Lemma и grammatical features</a:t>
            </a:r>
          </a:p>
        </p:txBody>
      </p:sp>
      <p:sp>
        <p:nvSpPr>
          <p:cNvPr id="36" name="ysda-5">
            <a:extLst xmlns:a="http://schemas.openxmlformats.org/drawingml/2006/main">
              <a:ext uri="{FF2B5EF4-FFF2-40B4-BE49-F238E27FC236}">
                <a16:creationId xmlns:a16="http://schemas.microsoft.com/office/drawing/2014/main" id="{6C6F42F8-F683-4F33-A7BB-86FF066BBB5A}"/>
              </a:ext>
            </a:extLst>
          </p:cNvPr>
          <p:cNvSpPr>
            <a:spLocks xmlns:a="http://schemas.openxmlformats.org/drawingml/2006/main" noGrp="1"/>
          </p:cNvSpPr>
          <p:nvPr/>
        </p:nvSpPr>
        <p:spPr>
          <a:xfrm xmlns:a="http://schemas.openxmlformats.org/drawingml/2006/main">
            <a:off x="685800" y="2514600"/>
            <a:ext cx="108204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Morphological analysis определяет возможную lemma, part-of-speech tag и grammatical features: например, число, падеж или время. Это отдельные аннотации текста, а не готовое решение прикладной задачи. Ошибка в выборе lemma может объединить разные слова или разделить употребления одного слова, изменив статистику features.</a:t>
            </a:r>
          </a:p>
        </p:txBody>
      </p:sp>
      <p:sp>
        <p:nvSpPr>
          <p:cNvPr id="37" name="ysda-6">
            <a:extLst xmlns:a="http://schemas.openxmlformats.org/drawingml/2006/main">
              <a:ext uri="{FF2B5EF4-FFF2-40B4-BE49-F238E27FC236}">
                <a16:creationId xmlns:a16="http://schemas.microsoft.com/office/drawing/2014/main" id="{29155F40-C7F4-4CCF-A3E1-2889A03B10A2}"/>
              </a:ext>
            </a:extLst>
          </p:cNvPr>
          <p:cNvSpPr>
            <a:spLocks xmlns:a="http://schemas.openxmlformats.org/drawingml/2006/main" noGrp="1"/>
          </p:cNvSpPr>
          <p:nvPr/>
        </p:nvSpPr>
        <p:spPr>
          <a:xfrm xmlns:a="http://schemas.openxmlformats.org/drawingml/2006/main">
            <a:off x="685800" y="4229100"/>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Контекст и инструмент</a:t>
            </a:r>
          </a:p>
        </p:txBody>
      </p:sp>
      <p:sp>
        <p:nvSpPr>
          <p:cNvPr id="38" name="ysda-7">
            <a:extLst xmlns:a="http://schemas.openxmlformats.org/drawingml/2006/main">
              <a:ext uri="{FF2B5EF4-FFF2-40B4-BE49-F238E27FC236}">
                <a16:creationId xmlns:a16="http://schemas.microsoft.com/office/drawing/2014/main" id="{03362E5D-AE3C-4004-9096-82AB086489CE}"/>
              </a:ext>
            </a:extLst>
          </p:cNvPr>
          <p:cNvSpPr>
            <a:spLocks xmlns:a="http://schemas.openxmlformats.org/drawingml/2006/main" noGrp="1"/>
          </p:cNvSpPr>
          <p:nvPr/>
        </p:nvSpPr>
        <p:spPr>
          <a:xfrm xmlns:a="http://schemas.openxmlformats.org/drawingml/2006/main">
            <a:off x="685800" y="4695825"/>
            <a:ext cx="10820400" cy="1914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Некоторые инструменты перечисляют возможные разборы по словарю, другие выбирают вариант с учётом контекста. Поэтому наличие морфологического словаря и наличие contextual model — разные возможности. Для text classification morphological analysis может быть полезен, но не является обязательным: character n-grams иногда позволяют работать со словоформами без отдельного разбора.</a:t>
            </a:r>
          </a:p>
        </p:txBody>
      </p:sp>
    </p:spTree>
    <p:extLst>
      <p:ext uri="{BB962C8B-B14F-4D97-AF65-F5344CB8AC3E}">
        <p14:creationId xmlns:p14="http://schemas.microsoft.com/office/powerpoint/2010/main" val="202681362"/>
      </p:ext>
    </p:extLst>
  </p:cSld>
</p:sld>
</file>

<file path=ppt/slides/slide4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5" name="text-0">
            <a:extLst xmlns:a="http://schemas.openxmlformats.org/drawingml/2006/main">
              <a:ext uri="{FF2B5EF4-FFF2-40B4-BE49-F238E27FC236}">
                <a16:creationId xmlns:a16="http://schemas.microsoft.com/office/drawing/2014/main" id="{7278AE74-0DB8-4BD8-92CE-99088C14E6C3}"/>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98989F"/>
                </a:solidFill>
                <a:latin typeface="Helvetica Neue"/>
                <a:ea typeface="Helvetica Neue"/>
                <a:cs typeface="Helvetica Neue"/>
              </a:defRPr>
            </a:defPPr>
            <a:lvl1pPr algn="l">
              <a:buNone/>
              <a:defRPr sz="1425" b="0">
                <a:solidFill>
                  <a:srgbClr val="98989F"/>
                </a:solidFill>
                <a:latin typeface="Helvetica Neue"/>
                <a:ea typeface="Helvetica Neue"/>
                <a:cs typeface="Helvetica Neue"/>
              </a:defRPr>
            </a:lvl1pPr>
            <a:lvl2pPr algn="l">
              <a:buNone/>
              <a:defRPr sz="1425" b="0">
                <a:solidFill>
                  <a:srgbClr val="98989F"/>
                </a:solidFill>
                <a:latin typeface="Helvetica Neue"/>
                <a:ea typeface="Helvetica Neue"/>
                <a:cs typeface="Helvetica Neue"/>
              </a:defRPr>
            </a:lvl2pPr>
            <a:lvl3pPr algn="l">
              <a:buNone/>
              <a:defRPr sz="1425" b="0">
                <a:solidFill>
                  <a:srgbClr val="98989F"/>
                </a:solidFill>
                <a:latin typeface="Helvetica Neue"/>
                <a:ea typeface="Helvetica Neue"/>
                <a:cs typeface="Helvetica Neue"/>
              </a:defRPr>
            </a:lvl3pPr>
            <a:lvl4pPr algn="l">
              <a:buNone/>
              <a:defRPr sz="1425" b="0">
                <a:solidFill>
                  <a:srgbClr val="98989F"/>
                </a:solidFill>
                <a:latin typeface="Helvetica Neue"/>
                <a:ea typeface="Helvetica Neue"/>
                <a:cs typeface="Helvetica Neue"/>
              </a:defRPr>
            </a:lvl4pPr>
            <a:lvl5pPr algn="l">
              <a:buNone/>
              <a:defRPr sz="1425" b="0">
                <a:solidFill>
                  <a:srgbClr val="98989F"/>
                </a:solidFill>
                <a:latin typeface="Helvetica Neue"/>
                <a:ea typeface="Helvetica Neue"/>
                <a:cs typeface="Helvetica Neue"/>
              </a:defRPr>
            </a:lvl5pPr>
            <a:lvl6pPr algn="l">
              <a:buNone/>
              <a:defRPr sz="1425" b="0">
                <a:solidFill>
                  <a:srgbClr val="98989F"/>
                </a:solidFill>
                <a:latin typeface="Helvetica Neue"/>
                <a:ea typeface="Helvetica Neue"/>
                <a:cs typeface="Helvetica Neue"/>
              </a:defRPr>
            </a:lvl6pPr>
            <a:lvl7pPr algn="l">
              <a:buNone/>
              <a:defRPr sz="1425" b="0">
                <a:solidFill>
                  <a:srgbClr val="98989F"/>
                </a:solidFill>
                <a:latin typeface="Helvetica Neue"/>
                <a:ea typeface="Helvetica Neue"/>
                <a:cs typeface="Helvetica Neue"/>
              </a:defRPr>
            </a:lvl7pPr>
            <a:lvl8pPr algn="l">
              <a:buNone/>
              <a:defRPr sz="1425" b="0">
                <a:solidFill>
                  <a:srgbClr val="98989F"/>
                </a:solidFill>
                <a:latin typeface="Helvetica Neue"/>
                <a:ea typeface="Helvetica Neue"/>
                <a:cs typeface="Helvetica Neue"/>
              </a:defRPr>
            </a:lvl8pPr>
            <a:lvl9pPr algn="l">
              <a:buNone/>
              <a:defRPr sz="1425" b="0">
                <a:solidFill>
                  <a:srgbClr val="98989F"/>
                </a:solidFill>
                <a:latin typeface="Helvetica Neue"/>
                <a:ea typeface="Helvetica Neue"/>
                <a:cs typeface="Helvetica Neue"/>
              </a:defRPr>
            </a:lvl9pPr>
          </a:lstStyle>
          <a:p xmlns:a="http://schemas.openxmlformats.org/drawingml/2006/main">
            <a:pPr algn="l">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text-1">
            <a:extLst xmlns:a="http://schemas.openxmlformats.org/drawingml/2006/main">
              <a:ext uri="{FF2B5EF4-FFF2-40B4-BE49-F238E27FC236}">
                <a16:creationId xmlns:a16="http://schemas.microsoft.com/office/drawing/2014/main" id="{095A5371-3FA8-4757-83B3-AC8208078FF1}"/>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40</a:t>
            </a:r>
          </a:p>
        </p:txBody>
      </p:sp>
      <p:sp>
        <p:nvSpPr>
          <p:cNvPr id="3" name="">
            <a:extLst xmlns:a="http://schemas.openxmlformats.org/drawingml/2006/main">
              <a:ext uri="{FF2B5EF4-FFF2-40B4-BE49-F238E27FC236}">
                <a16:creationId xmlns:a16="http://schemas.microsoft.com/office/drawing/2014/main" id="{3933A04A-1DCA-4349-83AE-02D25C02847A}"/>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prstDash val="solid"/>
          </a:ln>
        </p:spPr>
      </p:sp>
      <p:sp>
        <p:nvSpPr>
          <p:cNvPr id="4" name="text-3">
            <a:extLst xmlns:a="http://schemas.openxmlformats.org/drawingml/2006/main">
              <a:ext uri="{FF2B5EF4-FFF2-40B4-BE49-F238E27FC236}">
                <a16:creationId xmlns:a16="http://schemas.microsoft.com/office/drawing/2014/main" id="{0CA3BFFF-3D58-4941-B007-83E8422CAE72}"/>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5F7"/>
                </a:solidFill>
                <a:latin typeface="Helvetica Neue"/>
                <a:ea typeface="Helvetica Neue"/>
                <a:cs typeface="Helvetica Neue"/>
              </a:defRPr>
            </a:defPPr>
            <a:lvl1pPr algn="l">
              <a:buNone/>
              <a:defRPr sz="3450" b="1">
                <a:solidFill>
                  <a:srgbClr val="F5F5F7"/>
                </a:solidFill>
                <a:latin typeface="Helvetica Neue"/>
                <a:ea typeface="Helvetica Neue"/>
                <a:cs typeface="Helvetica Neue"/>
              </a:defRPr>
            </a:lvl1pPr>
            <a:lvl2pPr algn="l">
              <a:buNone/>
              <a:defRPr sz="3450" b="1">
                <a:solidFill>
                  <a:srgbClr val="F5F5F7"/>
                </a:solidFill>
                <a:latin typeface="Helvetica Neue"/>
                <a:ea typeface="Helvetica Neue"/>
                <a:cs typeface="Helvetica Neue"/>
              </a:defRPr>
            </a:lvl2pPr>
            <a:lvl3pPr algn="l">
              <a:buNone/>
              <a:defRPr sz="3450" b="1">
                <a:solidFill>
                  <a:srgbClr val="F5F5F7"/>
                </a:solidFill>
                <a:latin typeface="Helvetica Neue"/>
                <a:ea typeface="Helvetica Neue"/>
                <a:cs typeface="Helvetica Neue"/>
              </a:defRPr>
            </a:lvl3pPr>
            <a:lvl4pPr algn="l">
              <a:buNone/>
              <a:defRPr sz="3450" b="1">
                <a:solidFill>
                  <a:srgbClr val="F5F5F7"/>
                </a:solidFill>
                <a:latin typeface="Helvetica Neue"/>
                <a:ea typeface="Helvetica Neue"/>
                <a:cs typeface="Helvetica Neue"/>
              </a:defRPr>
            </a:lvl4pPr>
            <a:lvl5pPr algn="l">
              <a:buNone/>
              <a:defRPr sz="3450" b="1">
                <a:solidFill>
                  <a:srgbClr val="F5F5F7"/>
                </a:solidFill>
                <a:latin typeface="Helvetica Neue"/>
                <a:ea typeface="Helvetica Neue"/>
                <a:cs typeface="Helvetica Neue"/>
              </a:defRPr>
            </a:lvl5pPr>
            <a:lvl6pPr algn="l">
              <a:buNone/>
              <a:defRPr sz="3450" b="1">
                <a:solidFill>
                  <a:srgbClr val="F5F5F7"/>
                </a:solidFill>
                <a:latin typeface="Helvetica Neue"/>
                <a:ea typeface="Helvetica Neue"/>
                <a:cs typeface="Helvetica Neue"/>
              </a:defRPr>
            </a:lvl6pPr>
            <a:lvl7pPr algn="l">
              <a:buNone/>
              <a:defRPr sz="3450" b="1">
                <a:solidFill>
                  <a:srgbClr val="F5F5F7"/>
                </a:solidFill>
                <a:latin typeface="Helvetica Neue"/>
                <a:ea typeface="Helvetica Neue"/>
                <a:cs typeface="Helvetica Neue"/>
              </a:defRPr>
            </a:lvl7pPr>
            <a:lvl8pPr algn="l">
              <a:buNone/>
              <a:defRPr sz="3450" b="1">
                <a:solidFill>
                  <a:srgbClr val="F5F5F7"/>
                </a:solidFill>
                <a:latin typeface="Helvetica Neue"/>
                <a:ea typeface="Helvetica Neue"/>
                <a:cs typeface="Helvetica Neue"/>
              </a:defRPr>
            </a:lvl8pPr>
            <a:lvl9pPr algn="l">
              <a:buNone/>
              <a:defRPr sz="3450" b="1">
                <a:solidFill>
                  <a:srgbClr val="F5F5F7"/>
                </a:solidFill>
                <a:latin typeface="Helvetica Neue"/>
                <a:ea typeface="Helvetica Neue"/>
                <a:cs typeface="Helvetica Neue"/>
              </a:defRPr>
            </a:lvl9pPr>
          </a:lstStyle>
          <a:p xmlns:a="http://schemas.openxmlformats.org/drawingml/2006/main">
            <a:pPr algn="l">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Stop words и feature selection</a:t>
            </a:r>
          </a:p>
        </p:txBody>
      </p:sp>
      <p:sp>
        <p:nvSpPr>
          <p:cNvPr id="16" name="ysda-4">
            <a:extLst xmlns:a="http://schemas.openxmlformats.org/drawingml/2006/main">
              <a:ext uri="{FF2B5EF4-FFF2-40B4-BE49-F238E27FC236}">
                <a16:creationId xmlns:a16="http://schemas.microsoft.com/office/drawing/2014/main" id="{E22408D9-4CDA-4905-910E-6F3D29709740}"/>
              </a:ext>
            </a:extLst>
          </p:cNvPr>
          <p:cNvSpPr>
            <a:spLocks xmlns:a="http://schemas.openxmlformats.org/drawingml/2006/main" noGrp="1"/>
          </p:cNvSpPr>
          <p:nvPr/>
        </p:nvSpPr>
        <p:spPr>
          <a:xfrm xmlns:a="http://schemas.openxmlformats.org/drawingml/2006/main">
            <a:off x="685800" y="20478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Stop words</a:t>
            </a:r>
          </a:p>
        </p:txBody>
      </p:sp>
      <p:sp>
        <p:nvSpPr>
          <p:cNvPr id="17" name="ysda-5">
            <a:extLst xmlns:a="http://schemas.openxmlformats.org/drawingml/2006/main">
              <a:ext uri="{FF2B5EF4-FFF2-40B4-BE49-F238E27FC236}">
                <a16:creationId xmlns:a16="http://schemas.microsoft.com/office/drawing/2014/main" id="{18571ACB-2BB5-4518-B60D-8732275A0449}"/>
              </a:ext>
            </a:extLst>
          </p:cNvPr>
          <p:cNvSpPr>
            <a:spLocks xmlns:a="http://schemas.openxmlformats.org/drawingml/2006/main" noGrp="1"/>
          </p:cNvSpPr>
          <p:nvPr/>
        </p:nvSpPr>
        <p:spPr>
          <a:xfrm xmlns:a="http://schemas.openxmlformats.org/drawingml/2006/main">
            <a:off x="685800" y="2514600"/>
            <a:ext cx="108204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Stop words — заранее выбранные элементы, которые исключаются из representation. Часто это служебные слова, широко представленные в corpus. Универсального списка для всех задач нет: предлоги, местоимения и отрицания могут нести полезную информацию. Например, удаление «не» меняет отличие между «рекомендую» и «не рекомендую».</a:t>
            </a:r>
          </a:p>
        </p:txBody>
      </p:sp>
      <p:sp>
        <p:nvSpPr>
          <p:cNvPr id="18" name="ysda-6">
            <a:extLst xmlns:a="http://schemas.openxmlformats.org/drawingml/2006/main">
              <a:ext uri="{FF2B5EF4-FFF2-40B4-BE49-F238E27FC236}">
                <a16:creationId xmlns:a16="http://schemas.microsoft.com/office/drawing/2014/main" id="{8D2FF144-2DAD-4C4E-9560-3137B6A61B5E}"/>
              </a:ext>
            </a:extLst>
          </p:cNvPr>
          <p:cNvSpPr>
            <a:spLocks xmlns:a="http://schemas.openxmlformats.org/drawingml/2006/main" noGrp="1"/>
          </p:cNvSpPr>
          <p:nvPr/>
        </p:nvSpPr>
        <p:spPr>
          <a:xfrm xmlns:a="http://schemas.openxmlformats.org/drawingml/2006/main">
            <a:off x="685800" y="4229100"/>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Feature selection по данным</a:t>
            </a:r>
          </a:p>
        </p:txBody>
      </p:sp>
      <p:sp>
        <p:nvSpPr>
          <p:cNvPr id="19" name="ysda-7">
            <a:extLst xmlns:a="http://schemas.openxmlformats.org/drawingml/2006/main">
              <a:ext uri="{FF2B5EF4-FFF2-40B4-BE49-F238E27FC236}">
                <a16:creationId xmlns:a16="http://schemas.microsoft.com/office/drawing/2014/main" id="{5B2F4640-3E95-48C8-AD23-A243C4A392A4}"/>
              </a:ext>
            </a:extLst>
          </p:cNvPr>
          <p:cNvSpPr>
            <a:spLocks xmlns:a="http://schemas.openxmlformats.org/drawingml/2006/main" noGrp="1"/>
          </p:cNvSpPr>
          <p:nvPr/>
        </p:nvSpPr>
        <p:spPr>
          <a:xfrm xmlns:a="http://schemas.openxmlformats.org/drawingml/2006/main">
            <a:off x="685800" y="4695825"/>
            <a:ext cx="10820400" cy="1914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Параметры min_df и max_df ограничивают vocabulary по document frequency. Они решают другую задачу, чем лингвистический список stop words. Редкий элемент может быть шумом или важным сигналом класса; частый — общим фоном или частью устойчивой конструкции. Параметры выбирают по dev или внутри cross-validation, сохраняя test для итоговой оценки.</a:t>
            </a:r>
          </a:p>
        </p:txBody>
      </p:sp>
    </p:spTree>
    <p:extLst>
      <p:ext uri="{BB962C8B-B14F-4D97-AF65-F5344CB8AC3E}">
        <p14:creationId xmlns:p14="http://schemas.microsoft.com/office/powerpoint/2010/main" val="411667544"/>
      </p:ext>
    </p:extLst>
  </p:cSld>
</p:sld>
</file>

<file path=ppt/slides/slide4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8" name="exp90-0">
            <a:extLst xmlns:a="http://schemas.openxmlformats.org/drawingml/2006/main">
              <a:ext uri="{FF2B5EF4-FFF2-40B4-BE49-F238E27FC236}">
                <a16:creationId xmlns:a16="http://schemas.microsoft.com/office/drawing/2014/main" id="{6E1D02E7-F8CC-49F5-B035-A2EAAB293C9F}"/>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90-1">
            <a:extLst xmlns:a="http://schemas.openxmlformats.org/drawingml/2006/main">
              <a:ext uri="{FF2B5EF4-FFF2-40B4-BE49-F238E27FC236}">
                <a16:creationId xmlns:a16="http://schemas.microsoft.com/office/drawing/2014/main" id="{5543BF47-730E-4D2D-A575-6CA3F43E8DC0}"/>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41</a:t>
            </a:r>
          </a:p>
        </p:txBody>
      </p:sp>
      <p:sp>
        <p:nvSpPr>
          <p:cNvPr id="3" name="">
            <a:extLst xmlns:a="http://schemas.openxmlformats.org/drawingml/2006/main">
              <a:ext uri="{FF2B5EF4-FFF2-40B4-BE49-F238E27FC236}">
                <a16:creationId xmlns:a16="http://schemas.microsoft.com/office/drawing/2014/main" id="{5CE0B588-92EC-4CEB-981E-B65FB823AAAC}"/>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0">
            <a:solidFill>
              <a:srgbClr val="28282B"/>
            </a:solidFill>
          </a:ln>
        </p:spPr>
      </p:sp>
      <p:sp>
        <p:nvSpPr>
          <p:cNvPr id="4" name="exp90-3">
            <a:extLst xmlns:a="http://schemas.openxmlformats.org/drawingml/2006/main">
              <a:ext uri="{FF2B5EF4-FFF2-40B4-BE49-F238E27FC236}">
                <a16:creationId xmlns:a16="http://schemas.microsoft.com/office/drawing/2014/main" id="{E7FDC632-E0EF-4269-B4B3-EACE36CCFDDD}"/>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Negation и stop-word removal</a:t>
            </a:r>
          </a:p>
        </p:txBody>
      </p:sp>
      <p:sp>
        <p:nvSpPr>
          <p:cNvPr id="5" name="exp90-4">
            <a:extLst xmlns:a="http://schemas.openxmlformats.org/drawingml/2006/main">
              <a:ext uri="{FF2B5EF4-FFF2-40B4-BE49-F238E27FC236}">
                <a16:creationId xmlns:a16="http://schemas.microsoft.com/office/drawing/2014/main" id="{024989CC-D936-4936-BCD2-77F9F92D8002}"/>
              </a:ext>
            </a:extLst>
          </p:cNvPr>
          <p:cNvSpPr>
            <a:spLocks xmlns:a="http://schemas.openxmlformats.org/drawingml/2006/main" noGrp="1"/>
          </p:cNvSpPr>
          <p:nvPr/>
        </p:nvSpPr>
        <p:spPr>
          <a:xfrm xmlns:a="http://schemas.openxmlformats.org/drawingml/2006/main">
            <a:off x="685800" y="20097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88" b="0">
                <a:solidFill>
                  <a:srgbClr val="F5F5F7"/>
                </a:solidFill>
                <a:latin typeface="Helvetica Neue"/>
                <a:ea typeface="Helvetica Neue"/>
                <a:cs typeface="Helvetica Neue"/>
              </a:defRPr>
            </a:defPPr>
            <a:lvl1pPr>
              <a:buNone/>
              <a:defRPr sz="1988" b="0">
                <a:solidFill>
                  <a:srgbClr val="F5F5F7"/>
                </a:solidFill>
                <a:latin typeface="Helvetica Neue"/>
                <a:ea typeface="Helvetica Neue"/>
                <a:cs typeface="Helvetica Neue"/>
              </a:defRPr>
            </a:lvl1pPr>
            <a:lvl2pPr>
              <a:buNone/>
              <a:defRPr sz="1988" b="0">
                <a:solidFill>
                  <a:srgbClr val="F5F5F7"/>
                </a:solidFill>
                <a:latin typeface="Helvetica Neue"/>
                <a:ea typeface="Helvetica Neue"/>
                <a:cs typeface="Helvetica Neue"/>
              </a:defRPr>
            </a:lvl2pPr>
            <a:lvl3pPr>
              <a:buNone/>
              <a:defRPr sz="1988" b="0">
                <a:solidFill>
                  <a:srgbClr val="F5F5F7"/>
                </a:solidFill>
                <a:latin typeface="Helvetica Neue"/>
                <a:ea typeface="Helvetica Neue"/>
                <a:cs typeface="Helvetica Neue"/>
              </a:defRPr>
            </a:lvl3pPr>
            <a:lvl4pPr>
              <a:buNone/>
              <a:defRPr sz="1988" b="0">
                <a:solidFill>
                  <a:srgbClr val="F5F5F7"/>
                </a:solidFill>
                <a:latin typeface="Helvetica Neue"/>
                <a:ea typeface="Helvetica Neue"/>
                <a:cs typeface="Helvetica Neue"/>
              </a:defRPr>
            </a:lvl4pPr>
            <a:lvl5pPr>
              <a:buNone/>
              <a:defRPr sz="1988" b="0">
                <a:solidFill>
                  <a:srgbClr val="F5F5F7"/>
                </a:solidFill>
                <a:latin typeface="Helvetica Neue"/>
                <a:ea typeface="Helvetica Neue"/>
                <a:cs typeface="Helvetica Neue"/>
              </a:defRPr>
            </a:lvl5pPr>
            <a:lvl6pPr>
              <a:buNone/>
              <a:defRPr sz="1988" b="0">
                <a:solidFill>
                  <a:srgbClr val="F5F5F7"/>
                </a:solidFill>
                <a:latin typeface="Helvetica Neue"/>
                <a:ea typeface="Helvetica Neue"/>
                <a:cs typeface="Helvetica Neue"/>
              </a:defRPr>
            </a:lvl6pPr>
            <a:lvl7pPr>
              <a:buNone/>
              <a:defRPr sz="1988" b="0">
                <a:solidFill>
                  <a:srgbClr val="F5F5F7"/>
                </a:solidFill>
                <a:latin typeface="Helvetica Neue"/>
                <a:ea typeface="Helvetica Neue"/>
                <a:cs typeface="Helvetica Neue"/>
              </a:defRPr>
            </a:lvl7pPr>
            <a:lvl8pPr>
              <a:buNone/>
              <a:defRPr sz="1988" b="0">
                <a:solidFill>
                  <a:srgbClr val="F5F5F7"/>
                </a:solidFill>
                <a:latin typeface="Helvetica Neue"/>
                <a:ea typeface="Helvetica Neue"/>
                <a:cs typeface="Helvetica Neue"/>
              </a:defRPr>
            </a:lvl8pPr>
            <a:lvl9pPr>
              <a:buNone/>
              <a:defRPr sz="1988" b="0">
                <a:solidFill>
                  <a:srgbClr val="F5F5F7"/>
                </a:solidFill>
                <a:latin typeface="Helvetica Neue"/>
                <a:ea typeface="Helvetica Neue"/>
                <a:cs typeface="Helvetica Neue"/>
              </a:defRPr>
            </a:lvl9pPr>
          </a:lstStyle>
          <a:p xmlns:a="http://schemas.openxmlformats.org/drawingml/2006/main">
            <a:pPr>
              <a:buNone/>
              <a:defRPr sz="1988" b="0">
                <a:solidFill>
                  <a:srgbClr val="F5F5F7"/>
                </a:solidFill>
                <a:latin typeface="Helvetica Neue"/>
                <a:ea typeface="Helvetica Neue"/>
                <a:cs typeface="Helvetica Neue"/>
              </a:defRPr>
            </a:pPr>
            <a:r>
              <a:rPr sz="1988" b="0">
                <a:solidFill>
                  <a:srgbClr val="F5F5F7"/>
                </a:solidFill>
                <a:latin typeface="Helvetica Neue"/>
                <a:ea typeface="Helvetica Neue"/>
                <a:cs typeface="Helvetica Neue"/>
              </a:rPr>
              <a:t>Удаление частого служебного слова может сделать противоположные оценки неразличимыми для выбранного представления.</a:t>
            </a:r>
          </a:p>
        </p:txBody>
      </p:sp>
      <p:graphicFrame>
        <p:nvGraphicFramePr>
          <p:cNvPr id="6" name="">
            <a:extLst xmlns:a="http://schemas.openxmlformats.org/drawingml/2006/main">
              <a:ext uri="{FF2B5EF4-FFF2-40B4-BE49-F238E27FC236}">
                <a16:creationId xmlns:a16="http://schemas.microsoft.com/office/drawing/2014/main" id="{C6C40E57-12D8-4F23-A9F5-26127D60AEC0}"/>
              </a:ext>
            </a:extLst>
          </p:cNvPr>
          <p:cNvGraphicFramePr/>
          <p:nvPr/>
        </p:nvGraphicFramePr>
        <p:xfrm>
          <a:off xmlns:a="http://schemas.openxmlformats.org/drawingml/2006/main" x="685800" y="2876550"/>
          <a:ext xmlns:a="http://schemas.openxmlformats.org/drawingml/2006/main" cx="10820400" cy="3143250"/>
        </p:xfrm>
        <a:graphic xmlns:a="http://schemas.openxmlformats.org/drawingml/2006/main">
          <a:graphicData uri="http://schemas.openxmlformats.org/drawingml/2006/table">
            <a:tbl>
              <a:tblPr/>
              <a:tblGrid>
                <a:gridCol w="4000500"/>
                <a:gridCol w="3714750"/>
                <a:gridCol w="3105150"/>
              </a:tblGrid>
              <a:tr h="628650">
                <a:tc>
                  <a:txBody>
                    <a:bodyPr lIns="133350" tIns="76200" rIns="133350" bIns="76200"/>
                    <a:lstStyle/>
                    <a:p>
                      <a:r>
                        <a:rPr sz="1800" b="1">
                          <a:solidFill>
                            <a:srgbClr val="98989F"/>
                          </a:solidFill>
                          <a:latin typeface="Helvetica Neue"/>
                          <a:ea typeface="Helvetica Neue"/>
                          <a:cs typeface="Helvetica Neue"/>
                        </a:rPr>
                        <a:t>Исходный текст</a:t>
                      </a:r>
                    </a:p>
                  </a:txBody>
                  <a:tcPr marL="91440" marR="91440" marT="45720" marB="45720" anchor="ctr">
                    <a:lnL w="9525">
                      <a:solidFill>
                        <a:srgbClr val="28282B"/>
                      </a:solidFill>
                      <a:prstDash val="solid"/>
                    </a:lnL>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c>
                  <a:txBody>
                    <a:bodyPr lIns="133350" tIns="76200" rIns="133350" bIns="76200"/>
                    <a:lstStyle/>
                    <a:p>
                      <a:r>
                        <a:rPr sz="1800" b="1">
                          <a:solidFill>
                            <a:srgbClr val="98989F"/>
                          </a:solidFill>
                          <a:latin typeface="Helvetica Neue"/>
                          <a:ea typeface="Helvetica Neue"/>
                          <a:cs typeface="Helvetica Neue"/>
                        </a:rPr>
                        <a:t>После удаления «не»</a:t>
                      </a:r>
                    </a:p>
                  </a:txBody>
                  <a:tcPr marL="91440" marR="91440" marT="45720" marB="45720" anchor="ctr">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c>
                  <a:txBody>
                    <a:bodyPr lIns="133350" tIns="76200" rIns="133350" bIns="76200"/>
                    <a:lstStyle/>
                    <a:p>
                      <a:r>
                        <a:rPr sz="1800" b="1">
                          <a:solidFill>
                            <a:srgbClr val="98989F"/>
                          </a:solidFill>
                          <a:latin typeface="Helvetica Neue"/>
                          <a:ea typeface="Helvetica Neue"/>
                          <a:cs typeface="Helvetica Neue"/>
                        </a:rPr>
                        <a:t>Смысловой эффект</a:t>
                      </a:r>
                    </a:p>
                  </a:txBody>
                  <a:tcPr marL="91440" marR="91440" marT="45720" marB="45720" anchor="ctr">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r>
              <a:tr h="628650">
                <a:tc>
                  <a:txBody>
                    <a:bodyPr lIns="133350" tIns="76200" rIns="133350" bIns="76200"/>
                    <a:lstStyle/>
                    <a:p>
                      <a:r>
                        <a:rPr sz="1800" b="0">
                          <a:solidFill>
                            <a:srgbClr val="F5F5F7"/>
                          </a:solidFill>
                          <a:latin typeface="Helvetica Neue"/>
                          <a:ea typeface="Helvetica Neue"/>
                          <a:cs typeface="Helvetica Neue"/>
                        </a:rPr>
                        <a:t>Товар понравился</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800" b="0">
                          <a:solidFill>
                            <a:srgbClr val="F5F5F7"/>
                          </a:solidFill>
                          <a:latin typeface="Helvetica Neue"/>
                          <a:ea typeface="Helvetica Neue"/>
                          <a:cs typeface="Helvetica Neue"/>
                        </a:rPr>
                        <a:t>Товар понравился</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800" b="0">
                          <a:solidFill>
                            <a:srgbClr val="F5F5F7"/>
                          </a:solidFill>
                          <a:latin typeface="Helvetica Neue"/>
                          <a:ea typeface="Helvetica Neue"/>
                          <a:cs typeface="Helvetica Neue"/>
                        </a:rPr>
                        <a:t>Положительная оценка</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r h="628650">
                <a:tc>
                  <a:txBody>
                    <a:bodyPr lIns="133350" tIns="76200" rIns="133350" bIns="76200"/>
                    <a:lstStyle/>
                    <a:p>
                      <a:r>
                        <a:rPr sz="1800" b="0">
                          <a:solidFill>
                            <a:srgbClr val="F5F5F7"/>
                          </a:solidFill>
                          <a:latin typeface="Helvetica Neue"/>
                          <a:ea typeface="Helvetica Neue"/>
                          <a:cs typeface="Helvetica Neue"/>
                        </a:rPr>
                        <a:t>Товар не понравился</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800" b="0">
                          <a:solidFill>
                            <a:srgbClr val="F5F5F7"/>
                          </a:solidFill>
                          <a:latin typeface="Helvetica Neue"/>
                          <a:ea typeface="Helvetica Neue"/>
                          <a:cs typeface="Helvetica Neue"/>
                        </a:rPr>
                        <a:t>Товар понравился</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800" b="0">
                          <a:solidFill>
                            <a:srgbClr val="F5F5F7"/>
                          </a:solidFill>
                          <a:latin typeface="Helvetica Neue"/>
                          <a:ea typeface="Helvetica Neue"/>
                          <a:cs typeface="Helvetica Neue"/>
                        </a:rPr>
                        <a:t>Отрицание исчезло</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r h="628650">
                <a:tc>
                  <a:txBody>
                    <a:bodyPr lIns="133350" tIns="76200" rIns="133350" bIns="76200"/>
                    <a:lstStyle/>
                    <a:p>
                      <a:r>
                        <a:rPr sz="1800" b="0">
                          <a:solidFill>
                            <a:srgbClr val="F5F5F7"/>
                          </a:solidFill>
                          <a:latin typeface="Helvetica Neue"/>
                          <a:ea typeface="Helvetica Neue"/>
                          <a:cs typeface="Helvetica Neue"/>
                        </a:rPr>
                        <a:t>Не могу рекомендовать</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800" b="0">
                          <a:solidFill>
                            <a:srgbClr val="F5F5F7"/>
                          </a:solidFill>
                          <a:latin typeface="Helvetica Neue"/>
                          <a:ea typeface="Helvetica Neue"/>
                          <a:cs typeface="Helvetica Neue"/>
                        </a:rPr>
                        <a:t>Могу рекомендовать</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800" b="0">
                          <a:solidFill>
                            <a:srgbClr val="F5F5F7"/>
                          </a:solidFill>
                          <a:latin typeface="Helvetica Neue"/>
                          <a:ea typeface="Helvetica Neue"/>
                          <a:cs typeface="Helvetica Neue"/>
                        </a:rPr>
                        <a:t>Смысл изменился</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r h="628650">
                <a:tc>
                  <a:txBody>
                    <a:bodyPr lIns="133350" tIns="76200" rIns="133350" bIns="76200"/>
                    <a:lstStyle/>
                    <a:p>
                      <a:r>
                        <a:rPr sz="1800" b="0">
                          <a:solidFill>
                            <a:srgbClr val="F5F5F7"/>
                          </a:solidFill>
                          <a:latin typeface="Helvetica Neue"/>
                          <a:ea typeface="Helvetica Neue"/>
                          <a:cs typeface="Helvetica Neue"/>
                        </a:rPr>
                        <a:t>Совсем не плохой товар</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800" b="0">
                          <a:solidFill>
                            <a:srgbClr val="F5F5F7"/>
                          </a:solidFill>
                          <a:latin typeface="Helvetica Neue"/>
                          <a:ea typeface="Helvetica Neue"/>
                          <a:cs typeface="Helvetica Neue"/>
                        </a:rPr>
                        <a:t>Совсем плохой товар</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800" b="0">
                          <a:solidFill>
                            <a:srgbClr val="F5F5F7"/>
                          </a:solidFill>
                          <a:latin typeface="Helvetica Neue"/>
                          <a:ea typeface="Helvetica Neue"/>
                          <a:cs typeface="Helvetica Neue"/>
                        </a:rPr>
                        <a:t>Оценка искажена</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bl>
          </a:graphicData>
        </a:graphic>
      </p:graphicFrame>
      <p:sp>
        <p:nvSpPr>
          <p:cNvPr id="7" name="exp90-5">
            <a:extLst xmlns:a="http://schemas.openxmlformats.org/drawingml/2006/main">
              <a:ext uri="{FF2B5EF4-FFF2-40B4-BE49-F238E27FC236}">
                <a16:creationId xmlns:a16="http://schemas.microsoft.com/office/drawing/2014/main" id="{4D1DDD5D-0F38-4709-B63E-BE2F6DAE8A3A}"/>
              </a:ext>
            </a:extLst>
          </p:cNvPr>
          <p:cNvSpPr>
            <a:spLocks xmlns:a="http://schemas.openxmlformats.org/drawingml/2006/main" noGrp="1"/>
          </p:cNvSpPr>
          <p:nvPr/>
        </p:nvSpPr>
        <p:spPr>
          <a:xfrm xmlns:a="http://schemas.openxmlformats.org/drawingml/2006/main">
            <a:off x="685800" y="618172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CDCDD3"/>
                </a:solidFill>
                <a:latin typeface="Helvetica Neue"/>
                <a:ea typeface="Helvetica Neue"/>
                <a:cs typeface="Helvetica Neue"/>
              </a:defRPr>
            </a:defPPr>
            <a:lvl1pPr>
              <a:buNone/>
              <a:defRPr sz="1650" b="0">
                <a:solidFill>
                  <a:srgbClr val="CDCDD3"/>
                </a:solidFill>
                <a:latin typeface="Helvetica Neue"/>
                <a:ea typeface="Helvetica Neue"/>
                <a:cs typeface="Helvetica Neue"/>
              </a:defRPr>
            </a:lvl1pPr>
            <a:lvl2pPr>
              <a:buNone/>
              <a:defRPr sz="1650" b="0">
                <a:solidFill>
                  <a:srgbClr val="CDCDD3"/>
                </a:solidFill>
                <a:latin typeface="Helvetica Neue"/>
                <a:ea typeface="Helvetica Neue"/>
                <a:cs typeface="Helvetica Neue"/>
              </a:defRPr>
            </a:lvl2pPr>
            <a:lvl3pPr>
              <a:buNone/>
              <a:defRPr sz="1650" b="0">
                <a:solidFill>
                  <a:srgbClr val="CDCDD3"/>
                </a:solidFill>
                <a:latin typeface="Helvetica Neue"/>
                <a:ea typeface="Helvetica Neue"/>
                <a:cs typeface="Helvetica Neue"/>
              </a:defRPr>
            </a:lvl3pPr>
            <a:lvl4pPr>
              <a:buNone/>
              <a:defRPr sz="1650" b="0">
                <a:solidFill>
                  <a:srgbClr val="CDCDD3"/>
                </a:solidFill>
                <a:latin typeface="Helvetica Neue"/>
                <a:ea typeface="Helvetica Neue"/>
                <a:cs typeface="Helvetica Neue"/>
              </a:defRPr>
            </a:lvl4pPr>
            <a:lvl5pPr>
              <a:buNone/>
              <a:defRPr sz="1650" b="0">
                <a:solidFill>
                  <a:srgbClr val="CDCDD3"/>
                </a:solidFill>
                <a:latin typeface="Helvetica Neue"/>
                <a:ea typeface="Helvetica Neue"/>
                <a:cs typeface="Helvetica Neue"/>
              </a:defRPr>
            </a:lvl5pPr>
            <a:lvl6pPr>
              <a:buNone/>
              <a:defRPr sz="1650" b="0">
                <a:solidFill>
                  <a:srgbClr val="CDCDD3"/>
                </a:solidFill>
                <a:latin typeface="Helvetica Neue"/>
                <a:ea typeface="Helvetica Neue"/>
                <a:cs typeface="Helvetica Neue"/>
              </a:defRPr>
            </a:lvl6pPr>
            <a:lvl7pPr>
              <a:buNone/>
              <a:defRPr sz="1650" b="0">
                <a:solidFill>
                  <a:srgbClr val="CDCDD3"/>
                </a:solidFill>
                <a:latin typeface="Helvetica Neue"/>
                <a:ea typeface="Helvetica Neue"/>
                <a:cs typeface="Helvetica Neue"/>
              </a:defRPr>
            </a:lvl7pPr>
            <a:lvl8pPr>
              <a:buNone/>
              <a:defRPr sz="1650" b="0">
                <a:solidFill>
                  <a:srgbClr val="CDCDD3"/>
                </a:solidFill>
                <a:latin typeface="Helvetica Neue"/>
                <a:ea typeface="Helvetica Neue"/>
                <a:cs typeface="Helvetica Neue"/>
              </a:defRPr>
            </a:lvl8pPr>
            <a:lvl9pPr>
              <a:buNone/>
              <a:defRPr sz="1650" b="0">
                <a:solidFill>
                  <a:srgbClr val="CDCDD3"/>
                </a:solidFill>
                <a:latin typeface="Helvetica Neue"/>
                <a:ea typeface="Helvetica Neue"/>
                <a:cs typeface="Helvetica Neue"/>
              </a:defRPr>
            </a:lvl9pPr>
          </a:lstStyle>
          <a:p xmlns:a="http://schemas.openxmlformats.org/drawingml/2006/main">
            <a:pPr>
              <a:buNone/>
              <a:defRPr sz="1650" b="0">
                <a:solidFill>
                  <a:srgbClr val="CDCDD3"/>
                </a:solidFill>
                <a:latin typeface="Helvetica Neue"/>
                <a:ea typeface="Helvetica Neue"/>
                <a:cs typeface="Helvetica Neue"/>
              </a:defRPr>
            </a:pPr>
            <a:r>
              <a:rPr sz="1650" b="0">
                <a:solidFill>
                  <a:srgbClr val="CDCDD3"/>
                </a:solidFill>
                <a:latin typeface="Helvetica Neue"/>
                <a:ea typeface="Helvetica Neue"/>
                <a:cs typeface="Helvetica Neue"/>
              </a:rPr>
              <a:t>Список stop words следует оценивать вместе с задачей и представлением текста. Частота элемента не означает, что его можно безопасно удалить.</a:t>
            </a:r>
          </a:p>
        </p:txBody>
      </p:sp>
    </p:spTree>
    <p:extLst>
      <p:ext uri="{BB962C8B-B14F-4D97-AF65-F5344CB8AC3E}">
        <p14:creationId xmlns:p14="http://schemas.microsoft.com/office/powerpoint/2010/main" val="1367355614"/>
      </p:ext>
    </p:extLst>
  </p:cSld>
</p:sld>
</file>

<file path=ppt/slides/slide4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370BB233-7533-4974-81EC-6DB3D90F1E70}"/>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98989F"/>
                </a:solidFill>
                <a:latin typeface="Helvetica Neue"/>
                <a:ea typeface="Helvetica Neue"/>
                <a:cs typeface="Helvetica Neue"/>
              </a:defRPr>
            </a:defPPr>
            <a:lvl1pPr algn="l">
              <a:buNone/>
              <a:defRPr sz="1425" b="0">
                <a:solidFill>
                  <a:srgbClr val="98989F"/>
                </a:solidFill>
                <a:latin typeface="Helvetica Neue"/>
                <a:ea typeface="Helvetica Neue"/>
                <a:cs typeface="Helvetica Neue"/>
              </a:defRPr>
            </a:lvl1pPr>
            <a:lvl2pPr algn="l">
              <a:buNone/>
              <a:defRPr sz="1425" b="0">
                <a:solidFill>
                  <a:srgbClr val="98989F"/>
                </a:solidFill>
                <a:latin typeface="Helvetica Neue"/>
                <a:ea typeface="Helvetica Neue"/>
                <a:cs typeface="Helvetica Neue"/>
              </a:defRPr>
            </a:lvl2pPr>
            <a:lvl3pPr algn="l">
              <a:buNone/>
              <a:defRPr sz="1425" b="0">
                <a:solidFill>
                  <a:srgbClr val="98989F"/>
                </a:solidFill>
                <a:latin typeface="Helvetica Neue"/>
                <a:ea typeface="Helvetica Neue"/>
                <a:cs typeface="Helvetica Neue"/>
              </a:defRPr>
            </a:lvl3pPr>
            <a:lvl4pPr algn="l">
              <a:buNone/>
              <a:defRPr sz="1425" b="0">
                <a:solidFill>
                  <a:srgbClr val="98989F"/>
                </a:solidFill>
                <a:latin typeface="Helvetica Neue"/>
                <a:ea typeface="Helvetica Neue"/>
                <a:cs typeface="Helvetica Neue"/>
              </a:defRPr>
            </a:lvl4pPr>
            <a:lvl5pPr algn="l">
              <a:buNone/>
              <a:defRPr sz="1425" b="0">
                <a:solidFill>
                  <a:srgbClr val="98989F"/>
                </a:solidFill>
                <a:latin typeface="Helvetica Neue"/>
                <a:ea typeface="Helvetica Neue"/>
                <a:cs typeface="Helvetica Neue"/>
              </a:defRPr>
            </a:lvl5pPr>
            <a:lvl6pPr algn="l">
              <a:buNone/>
              <a:defRPr sz="1425" b="0">
                <a:solidFill>
                  <a:srgbClr val="98989F"/>
                </a:solidFill>
                <a:latin typeface="Helvetica Neue"/>
                <a:ea typeface="Helvetica Neue"/>
                <a:cs typeface="Helvetica Neue"/>
              </a:defRPr>
            </a:lvl6pPr>
            <a:lvl7pPr algn="l">
              <a:buNone/>
              <a:defRPr sz="1425" b="0">
                <a:solidFill>
                  <a:srgbClr val="98989F"/>
                </a:solidFill>
                <a:latin typeface="Helvetica Neue"/>
                <a:ea typeface="Helvetica Neue"/>
                <a:cs typeface="Helvetica Neue"/>
              </a:defRPr>
            </a:lvl7pPr>
            <a:lvl8pPr algn="l">
              <a:buNone/>
              <a:defRPr sz="1425" b="0">
                <a:solidFill>
                  <a:srgbClr val="98989F"/>
                </a:solidFill>
                <a:latin typeface="Helvetica Neue"/>
                <a:ea typeface="Helvetica Neue"/>
                <a:cs typeface="Helvetica Neue"/>
              </a:defRPr>
            </a:lvl8pPr>
            <a:lvl9pPr algn="l">
              <a:buNone/>
              <a:defRPr sz="1425" b="0">
                <a:solidFill>
                  <a:srgbClr val="98989F"/>
                </a:solidFill>
                <a:latin typeface="Helvetica Neue"/>
                <a:ea typeface="Helvetica Neue"/>
                <a:cs typeface="Helvetica Neue"/>
              </a:defRPr>
            </a:lvl9pPr>
          </a:lstStyle>
          <a:p xmlns:a="http://schemas.openxmlformats.org/drawingml/2006/main">
            <a:pPr algn="l">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text-1">
            <a:extLst xmlns:a="http://schemas.openxmlformats.org/drawingml/2006/main">
              <a:ext uri="{FF2B5EF4-FFF2-40B4-BE49-F238E27FC236}">
                <a16:creationId xmlns:a16="http://schemas.microsoft.com/office/drawing/2014/main" id="{11C92684-3851-491C-95A9-4AFCF5ECB99E}"/>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42</a:t>
            </a:r>
          </a:p>
        </p:txBody>
      </p:sp>
      <p:sp>
        <p:nvSpPr>
          <p:cNvPr id="3" name="">
            <a:extLst xmlns:a="http://schemas.openxmlformats.org/drawingml/2006/main">
              <a:ext uri="{FF2B5EF4-FFF2-40B4-BE49-F238E27FC236}">
                <a16:creationId xmlns:a16="http://schemas.microsoft.com/office/drawing/2014/main" id="{24DCE5E3-33AD-499C-8327-B20D0177AFC2}"/>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prstDash val="solid"/>
          </a:ln>
        </p:spPr>
      </p:sp>
      <p:sp>
        <p:nvSpPr>
          <p:cNvPr id="4" name="text-3">
            <a:extLst xmlns:a="http://schemas.openxmlformats.org/drawingml/2006/main">
              <a:ext uri="{FF2B5EF4-FFF2-40B4-BE49-F238E27FC236}">
                <a16:creationId xmlns:a16="http://schemas.microsoft.com/office/drawing/2014/main" id="{6E215771-EF0A-41D2-908A-58B106A7DE7E}"/>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5F7"/>
                </a:solidFill>
                <a:latin typeface="Helvetica Neue"/>
                <a:ea typeface="Helvetica Neue"/>
                <a:cs typeface="Helvetica Neue"/>
              </a:defRPr>
            </a:defPPr>
            <a:lvl1pPr algn="l">
              <a:buNone/>
              <a:defRPr sz="3450" b="1">
                <a:solidFill>
                  <a:srgbClr val="F5F5F7"/>
                </a:solidFill>
                <a:latin typeface="Helvetica Neue"/>
                <a:ea typeface="Helvetica Neue"/>
                <a:cs typeface="Helvetica Neue"/>
              </a:defRPr>
            </a:lvl1pPr>
            <a:lvl2pPr algn="l">
              <a:buNone/>
              <a:defRPr sz="3450" b="1">
                <a:solidFill>
                  <a:srgbClr val="F5F5F7"/>
                </a:solidFill>
                <a:latin typeface="Helvetica Neue"/>
                <a:ea typeface="Helvetica Neue"/>
                <a:cs typeface="Helvetica Neue"/>
              </a:defRPr>
            </a:lvl2pPr>
            <a:lvl3pPr algn="l">
              <a:buNone/>
              <a:defRPr sz="3450" b="1">
                <a:solidFill>
                  <a:srgbClr val="F5F5F7"/>
                </a:solidFill>
                <a:latin typeface="Helvetica Neue"/>
                <a:ea typeface="Helvetica Neue"/>
                <a:cs typeface="Helvetica Neue"/>
              </a:defRPr>
            </a:lvl3pPr>
            <a:lvl4pPr algn="l">
              <a:buNone/>
              <a:defRPr sz="3450" b="1">
                <a:solidFill>
                  <a:srgbClr val="F5F5F7"/>
                </a:solidFill>
                <a:latin typeface="Helvetica Neue"/>
                <a:ea typeface="Helvetica Neue"/>
                <a:cs typeface="Helvetica Neue"/>
              </a:defRPr>
            </a:lvl4pPr>
            <a:lvl5pPr algn="l">
              <a:buNone/>
              <a:defRPr sz="3450" b="1">
                <a:solidFill>
                  <a:srgbClr val="F5F5F7"/>
                </a:solidFill>
                <a:latin typeface="Helvetica Neue"/>
                <a:ea typeface="Helvetica Neue"/>
                <a:cs typeface="Helvetica Neue"/>
              </a:defRPr>
            </a:lvl5pPr>
            <a:lvl6pPr algn="l">
              <a:buNone/>
              <a:defRPr sz="3450" b="1">
                <a:solidFill>
                  <a:srgbClr val="F5F5F7"/>
                </a:solidFill>
                <a:latin typeface="Helvetica Neue"/>
                <a:ea typeface="Helvetica Neue"/>
                <a:cs typeface="Helvetica Neue"/>
              </a:defRPr>
            </a:lvl6pPr>
            <a:lvl7pPr algn="l">
              <a:buNone/>
              <a:defRPr sz="3450" b="1">
                <a:solidFill>
                  <a:srgbClr val="F5F5F7"/>
                </a:solidFill>
                <a:latin typeface="Helvetica Neue"/>
                <a:ea typeface="Helvetica Neue"/>
                <a:cs typeface="Helvetica Neue"/>
              </a:defRPr>
            </a:lvl7pPr>
            <a:lvl8pPr algn="l">
              <a:buNone/>
              <a:defRPr sz="3450" b="1">
                <a:solidFill>
                  <a:srgbClr val="F5F5F7"/>
                </a:solidFill>
                <a:latin typeface="Helvetica Neue"/>
                <a:ea typeface="Helvetica Neue"/>
                <a:cs typeface="Helvetica Neue"/>
              </a:defRPr>
            </a:lvl8pPr>
            <a:lvl9pPr algn="l">
              <a:buNone/>
              <a:defRPr sz="3450" b="1">
                <a:solidFill>
                  <a:srgbClr val="F5F5F7"/>
                </a:solidFill>
                <a:latin typeface="Helvetica Neue"/>
                <a:ea typeface="Helvetica Neue"/>
                <a:cs typeface="Helvetica Neue"/>
              </a:defRPr>
            </a:lvl9pPr>
          </a:lstStyle>
          <a:p xmlns:a="http://schemas.openxmlformats.org/drawingml/2006/main">
            <a:pPr algn="l">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Потери информации при preprocessing</a:t>
            </a:r>
          </a:p>
        </p:txBody>
      </p:sp>
      <p:sp>
        <p:nvSpPr>
          <p:cNvPr id="9" name="theory-4">
            <a:extLst xmlns:a="http://schemas.openxmlformats.org/drawingml/2006/main">
              <a:ext uri="{FF2B5EF4-FFF2-40B4-BE49-F238E27FC236}">
                <a16:creationId xmlns:a16="http://schemas.microsoft.com/office/drawing/2014/main" id="{0A9AB3CF-CA4F-4159-805D-19E46901CB35}"/>
              </a:ext>
            </a:extLst>
          </p:cNvPr>
          <p:cNvSpPr>
            <a:spLocks xmlns:a="http://schemas.openxmlformats.org/drawingml/2006/main" noGrp="1"/>
          </p:cNvSpPr>
          <p:nvPr/>
        </p:nvSpPr>
        <p:spPr>
          <a:xfrm xmlns:a="http://schemas.openxmlformats.org/drawingml/2006/main">
            <a:off x="685800" y="20478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buNone/>
              <a:defRPr sz="1950" b="1">
                <a:solidFill>
                  <a:srgbClr val="BD9FE3"/>
                </a:solidFill>
                <a:latin typeface="Helvetica Neue"/>
                <a:ea typeface="Helvetica Neue"/>
                <a:cs typeface="Helvetica Neue"/>
              </a:defRPr>
            </a:lvl1pPr>
            <a:lvl2pPr>
              <a:buNone/>
              <a:defRPr sz="1950" b="1">
                <a:solidFill>
                  <a:srgbClr val="BD9FE3"/>
                </a:solidFill>
                <a:latin typeface="Helvetica Neue"/>
                <a:ea typeface="Helvetica Neue"/>
                <a:cs typeface="Helvetica Neue"/>
              </a:defRPr>
            </a:lvl2pPr>
            <a:lvl3pPr>
              <a:buNone/>
              <a:defRPr sz="1950" b="1">
                <a:solidFill>
                  <a:srgbClr val="BD9FE3"/>
                </a:solidFill>
                <a:latin typeface="Helvetica Neue"/>
                <a:ea typeface="Helvetica Neue"/>
                <a:cs typeface="Helvetica Neue"/>
              </a:defRPr>
            </a:lvl3pPr>
            <a:lvl4pPr>
              <a:buNone/>
              <a:defRPr sz="1950" b="1">
                <a:solidFill>
                  <a:srgbClr val="BD9FE3"/>
                </a:solidFill>
                <a:latin typeface="Helvetica Neue"/>
                <a:ea typeface="Helvetica Neue"/>
                <a:cs typeface="Helvetica Neue"/>
              </a:defRPr>
            </a:lvl4pPr>
            <a:lvl5pPr>
              <a:buNone/>
              <a:defRPr sz="1950" b="1">
                <a:solidFill>
                  <a:srgbClr val="BD9FE3"/>
                </a:solidFill>
                <a:latin typeface="Helvetica Neue"/>
                <a:ea typeface="Helvetica Neue"/>
                <a:cs typeface="Helvetica Neue"/>
              </a:defRPr>
            </a:lvl5pPr>
            <a:lvl6pPr>
              <a:buNone/>
              <a:defRPr sz="1950" b="1">
                <a:solidFill>
                  <a:srgbClr val="BD9FE3"/>
                </a:solidFill>
                <a:latin typeface="Helvetica Neue"/>
                <a:ea typeface="Helvetica Neue"/>
                <a:cs typeface="Helvetica Neue"/>
              </a:defRPr>
            </a:lvl6pPr>
            <a:lvl7pPr>
              <a:buNone/>
              <a:defRPr sz="1950" b="1">
                <a:solidFill>
                  <a:srgbClr val="BD9FE3"/>
                </a:solidFill>
                <a:latin typeface="Helvetica Neue"/>
                <a:ea typeface="Helvetica Neue"/>
                <a:cs typeface="Helvetica Neue"/>
              </a:defRPr>
            </a:lvl7pPr>
            <a:lvl8pPr>
              <a:buNone/>
              <a:defRPr sz="1950" b="1">
                <a:solidFill>
                  <a:srgbClr val="BD9FE3"/>
                </a:solidFill>
                <a:latin typeface="Helvetica Neue"/>
                <a:ea typeface="Helvetica Neue"/>
                <a:cs typeface="Helvetica Neue"/>
              </a:defRPr>
            </a:lvl8pPr>
            <a:lvl9pPr>
              <a:buNone/>
              <a:defRPr sz="1950" b="1">
                <a:solidFill>
                  <a:srgbClr val="BD9FE3"/>
                </a:solidFill>
                <a:latin typeface="Helvetica Neue"/>
                <a:ea typeface="Helvetica Neue"/>
                <a:cs typeface="Helvetica Neue"/>
              </a:defRPr>
            </a:lvl9pPr>
          </a:lstStyle>
          <a:p xmlns:a="http://schemas.openxmlformats.org/drawingml/2006/main">
            <a:pPr>
              <a:buNone/>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Сигналы, которые могут исчезнуть</a:t>
            </a:r>
          </a:p>
        </p:txBody>
      </p:sp>
      <p:sp>
        <p:nvSpPr>
          <p:cNvPr id="10" name="theory-5">
            <a:extLst xmlns:a="http://schemas.openxmlformats.org/drawingml/2006/main">
              <a:ext uri="{FF2B5EF4-FFF2-40B4-BE49-F238E27FC236}">
                <a16:creationId xmlns:a16="http://schemas.microsoft.com/office/drawing/2014/main" id="{5B1222A9-C0EB-437F-A40D-B049F9BAFBB7}"/>
              </a:ext>
            </a:extLst>
          </p:cNvPr>
          <p:cNvSpPr>
            <a:spLocks xmlns:a="http://schemas.openxmlformats.org/drawingml/2006/main" noGrp="1"/>
          </p:cNvSpPr>
          <p:nvPr/>
        </p:nvSpPr>
        <p:spPr>
          <a:xfrm xmlns:a="http://schemas.openxmlformats.org/drawingml/2006/main">
            <a:off x="685800" y="2514600"/>
            <a:ext cx="108204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buNone/>
              <a:defRPr sz="2025" b="0">
                <a:solidFill>
                  <a:srgbClr val="CDCDD3"/>
                </a:solidFill>
                <a:latin typeface="Helvetica Neue"/>
                <a:ea typeface="Helvetica Neue"/>
                <a:cs typeface="Helvetica Neue"/>
              </a:defRPr>
            </a:lvl1pPr>
            <a:lvl2pPr>
              <a:buNone/>
              <a:defRPr sz="2025" b="0">
                <a:solidFill>
                  <a:srgbClr val="CDCDD3"/>
                </a:solidFill>
                <a:latin typeface="Helvetica Neue"/>
                <a:ea typeface="Helvetica Neue"/>
                <a:cs typeface="Helvetica Neue"/>
              </a:defRPr>
            </a:lvl2pPr>
            <a:lvl3pPr>
              <a:buNone/>
              <a:defRPr sz="2025" b="0">
                <a:solidFill>
                  <a:srgbClr val="CDCDD3"/>
                </a:solidFill>
                <a:latin typeface="Helvetica Neue"/>
                <a:ea typeface="Helvetica Neue"/>
                <a:cs typeface="Helvetica Neue"/>
              </a:defRPr>
            </a:lvl3pPr>
            <a:lvl4pPr>
              <a:buNone/>
              <a:defRPr sz="2025" b="0">
                <a:solidFill>
                  <a:srgbClr val="CDCDD3"/>
                </a:solidFill>
                <a:latin typeface="Helvetica Neue"/>
                <a:ea typeface="Helvetica Neue"/>
                <a:cs typeface="Helvetica Neue"/>
              </a:defRPr>
            </a:lvl4pPr>
            <a:lvl5pPr>
              <a:buNone/>
              <a:defRPr sz="2025" b="0">
                <a:solidFill>
                  <a:srgbClr val="CDCDD3"/>
                </a:solidFill>
                <a:latin typeface="Helvetica Neue"/>
                <a:ea typeface="Helvetica Neue"/>
                <a:cs typeface="Helvetica Neue"/>
              </a:defRPr>
            </a:lvl5pPr>
            <a:lvl6pPr>
              <a:buNone/>
              <a:defRPr sz="2025" b="0">
                <a:solidFill>
                  <a:srgbClr val="CDCDD3"/>
                </a:solidFill>
                <a:latin typeface="Helvetica Neue"/>
                <a:ea typeface="Helvetica Neue"/>
                <a:cs typeface="Helvetica Neue"/>
              </a:defRPr>
            </a:lvl6pPr>
            <a:lvl7pPr>
              <a:buNone/>
              <a:defRPr sz="2025" b="0">
                <a:solidFill>
                  <a:srgbClr val="CDCDD3"/>
                </a:solidFill>
                <a:latin typeface="Helvetica Neue"/>
                <a:ea typeface="Helvetica Neue"/>
                <a:cs typeface="Helvetica Neue"/>
              </a:defRPr>
            </a:lvl7pPr>
            <a:lvl8pPr>
              <a:buNone/>
              <a:defRPr sz="2025" b="0">
                <a:solidFill>
                  <a:srgbClr val="CDCDD3"/>
                </a:solidFill>
                <a:latin typeface="Helvetica Neue"/>
                <a:ea typeface="Helvetica Neue"/>
                <a:cs typeface="Helvetica Neue"/>
              </a:defRPr>
            </a:lvl8pPr>
            <a:lvl9pPr>
              <a:buNone/>
              <a:defRPr sz="2025" b="0">
                <a:solidFill>
                  <a:srgbClr val="CDCDD3"/>
                </a:solidFill>
                <a:latin typeface="Helvetica Neue"/>
                <a:ea typeface="Helvetica Neue"/>
                <a:cs typeface="Helvetica Neue"/>
              </a:defRPr>
            </a:lvl9pPr>
          </a:lstStyle>
          <a:p xmlns:a="http://schemas.openxmlformats.org/drawingml/2006/main">
            <a:pPr>
              <a:buNone/>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Удаление пунктуации объединяет вопрос и утверждение, изменение регистра скрывает отдельные названия, а замена чисел общим маркером убирает конкретные значения. Агрессивная очистка может уничтожить информацию о сумме, дате или количестве. В анализе тональности также имеют значение усилители, отрицания и отдельные особенности эмоциональной записи.</a:t>
            </a:r>
          </a:p>
        </p:txBody>
      </p:sp>
      <p:sp>
        <p:nvSpPr>
          <p:cNvPr id="11" name="theory-6">
            <a:extLst xmlns:a="http://schemas.openxmlformats.org/drawingml/2006/main">
              <a:ext uri="{FF2B5EF4-FFF2-40B4-BE49-F238E27FC236}">
                <a16:creationId xmlns:a16="http://schemas.microsoft.com/office/drawing/2014/main" id="{A94863DA-B47B-421B-A09F-127B26D95BBC}"/>
              </a:ext>
            </a:extLst>
          </p:cNvPr>
          <p:cNvSpPr>
            <a:spLocks xmlns:a="http://schemas.openxmlformats.org/drawingml/2006/main" noGrp="1"/>
          </p:cNvSpPr>
          <p:nvPr/>
        </p:nvSpPr>
        <p:spPr>
          <a:xfrm xmlns:a="http://schemas.openxmlformats.org/drawingml/2006/main">
            <a:off x="685800" y="4229100"/>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buNone/>
              <a:defRPr sz="1950" b="1">
                <a:solidFill>
                  <a:srgbClr val="BD9FE3"/>
                </a:solidFill>
                <a:latin typeface="Helvetica Neue"/>
                <a:ea typeface="Helvetica Neue"/>
                <a:cs typeface="Helvetica Neue"/>
              </a:defRPr>
            </a:lvl1pPr>
            <a:lvl2pPr>
              <a:buNone/>
              <a:defRPr sz="1950" b="1">
                <a:solidFill>
                  <a:srgbClr val="BD9FE3"/>
                </a:solidFill>
                <a:latin typeface="Helvetica Neue"/>
                <a:ea typeface="Helvetica Neue"/>
                <a:cs typeface="Helvetica Neue"/>
              </a:defRPr>
            </a:lvl2pPr>
            <a:lvl3pPr>
              <a:buNone/>
              <a:defRPr sz="1950" b="1">
                <a:solidFill>
                  <a:srgbClr val="BD9FE3"/>
                </a:solidFill>
                <a:latin typeface="Helvetica Neue"/>
                <a:ea typeface="Helvetica Neue"/>
                <a:cs typeface="Helvetica Neue"/>
              </a:defRPr>
            </a:lvl3pPr>
            <a:lvl4pPr>
              <a:buNone/>
              <a:defRPr sz="1950" b="1">
                <a:solidFill>
                  <a:srgbClr val="BD9FE3"/>
                </a:solidFill>
                <a:latin typeface="Helvetica Neue"/>
                <a:ea typeface="Helvetica Neue"/>
                <a:cs typeface="Helvetica Neue"/>
              </a:defRPr>
            </a:lvl4pPr>
            <a:lvl5pPr>
              <a:buNone/>
              <a:defRPr sz="1950" b="1">
                <a:solidFill>
                  <a:srgbClr val="BD9FE3"/>
                </a:solidFill>
                <a:latin typeface="Helvetica Neue"/>
                <a:ea typeface="Helvetica Neue"/>
                <a:cs typeface="Helvetica Neue"/>
              </a:defRPr>
            </a:lvl5pPr>
            <a:lvl6pPr>
              <a:buNone/>
              <a:defRPr sz="1950" b="1">
                <a:solidFill>
                  <a:srgbClr val="BD9FE3"/>
                </a:solidFill>
                <a:latin typeface="Helvetica Neue"/>
                <a:ea typeface="Helvetica Neue"/>
                <a:cs typeface="Helvetica Neue"/>
              </a:defRPr>
            </a:lvl6pPr>
            <a:lvl7pPr>
              <a:buNone/>
              <a:defRPr sz="1950" b="1">
                <a:solidFill>
                  <a:srgbClr val="BD9FE3"/>
                </a:solidFill>
                <a:latin typeface="Helvetica Neue"/>
                <a:ea typeface="Helvetica Neue"/>
                <a:cs typeface="Helvetica Neue"/>
              </a:defRPr>
            </a:lvl7pPr>
            <a:lvl8pPr>
              <a:buNone/>
              <a:defRPr sz="1950" b="1">
                <a:solidFill>
                  <a:srgbClr val="BD9FE3"/>
                </a:solidFill>
                <a:latin typeface="Helvetica Neue"/>
                <a:ea typeface="Helvetica Neue"/>
                <a:cs typeface="Helvetica Neue"/>
              </a:defRPr>
            </a:lvl8pPr>
            <a:lvl9pPr>
              <a:buNone/>
              <a:defRPr sz="1950" b="1">
                <a:solidFill>
                  <a:srgbClr val="BD9FE3"/>
                </a:solidFill>
                <a:latin typeface="Helvetica Neue"/>
                <a:ea typeface="Helvetica Neue"/>
                <a:cs typeface="Helvetica Neue"/>
              </a:defRPr>
            </a:lvl9pPr>
          </a:lstStyle>
          <a:p xmlns:a="http://schemas.openxmlformats.org/drawingml/2006/main">
            <a:pPr>
              <a:buNone/>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Проверка допустимости преобразований</a:t>
            </a:r>
          </a:p>
        </p:txBody>
      </p:sp>
      <p:sp>
        <p:nvSpPr>
          <p:cNvPr id="12" name="theory-7">
            <a:extLst xmlns:a="http://schemas.openxmlformats.org/drawingml/2006/main">
              <a:ext uri="{FF2B5EF4-FFF2-40B4-BE49-F238E27FC236}">
                <a16:creationId xmlns:a16="http://schemas.microsoft.com/office/drawing/2014/main" id="{0E25DDA9-21DC-4BF7-A226-463CF9221F4C}"/>
              </a:ext>
            </a:extLst>
          </p:cNvPr>
          <p:cNvSpPr>
            <a:spLocks xmlns:a="http://schemas.openxmlformats.org/drawingml/2006/main" noGrp="1"/>
          </p:cNvSpPr>
          <p:nvPr/>
        </p:nvSpPr>
        <p:spPr>
          <a:xfrm xmlns:a="http://schemas.openxmlformats.org/drawingml/2006/main">
            <a:off x="685800" y="4695825"/>
            <a:ext cx="10820400" cy="1743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buNone/>
              <a:defRPr sz="2025" b="0">
                <a:solidFill>
                  <a:srgbClr val="CDCDD3"/>
                </a:solidFill>
                <a:latin typeface="Helvetica Neue"/>
                <a:ea typeface="Helvetica Neue"/>
                <a:cs typeface="Helvetica Neue"/>
              </a:defRPr>
            </a:lvl1pPr>
            <a:lvl2pPr>
              <a:buNone/>
              <a:defRPr sz="2025" b="0">
                <a:solidFill>
                  <a:srgbClr val="CDCDD3"/>
                </a:solidFill>
                <a:latin typeface="Helvetica Neue"/>
                <a:ea typeface="Helvetica Neue"/>
                <a:cs typeface="Helvetica Neue"/>
              </a:defRPr>
            </a:lvl2pPr>
            <a:lvl3pPr>
              <a:buNone/>
              <a:defRPr sz="2025" b="0">
                <a:solidFill>
                  <a:srgbClr val="CDCDD3"/>
                </a:solidFill>
                <a:latin typeface="Helvetica Neue"/>
                <a:ea typeface="Helvetica Neue"/>
                <a:cs typeface="Helvetica Neue"/>
              </a:defRPr>
            </a:lvl3pPr>
            <a:lvl4pPr>
              <a:buNone/>
              <a:defRPr sz="2025" b="0">
                <a:solidFill>
                  <a:srgbClr val="CDCDD3"/>
                </a:solidFill>
                <a:latin typeface="Helvetica Neue"/>
                <a:ea typeface="Helvetica Neue"/>
                <a:cs typeface="Helvetica Neue"/>
              </a:defRPr>
            </a:lvl4pPr>
            <a:lvl5pPr>
              <a:buNone/>
              <a:defRPr sz="2025" b="0">
                <a:solidFill>
                  <a:srgbClr val="CDCDD3"/>
                </a:solidFill>
                <a:latin typeface="Helvetica Neue"/>
                <a:ea typeface="Helvetica Neue"/>
                <a:cs typeface="Helvetica Neue"/>
              </a:defRPr>
            </a:lvl5pPr>
            <a:lvl6pPr>
              <a:buNone/>
              <a:defRPr sz="2025" b="0">
                <a:solidFill>
                  <a:srgbClr val="CDCDD3"/>
                </a:solidFill>
                <a:latin typeface="Helvetica Neue"/>
                <a:ea typeface="Helvetica Neue"/>
                <a:cs typeface="Helvetica Neue"/>
              </a:defRPr>
            </a:lvl6pPr>
            <a:lvl7pPr>
              <a:buNone/>
              <a:defRPr sz="2025" b="0">
                <a:solidFill>
                  <a:srgbClr val="CDCDD3"/>
                </a:solidFill>
                <a:latin typeface="Helvetica Neue"/>
                <a:ea typeface="Helvetica Neue"/>
                <a:cs typeface="Helvetica Neue"/>
              </a:defRPr>
            </a:lvl7pPr>
            <a:lvl8pPr>
              <a:buNone/>
              <a:defRPr sz="2025" b="0">
                <a:solidFill>
                  <a:srgbClr val="CDCDD3"/>
                </a:solidFill>
                <a:latin typeface="Helvetica Neue"/>
                <a:ea typeface="Helvetica Neue"/>
                <a:cs typeface="Helvetica Neue"/>
              </a:defRPr>
            </a:lvl8pPr>
            <a:lvl9pPr>
              <a:buNone/>
              <a:defRPr sz="2025" b="0">
                <a:solidFill>
                  <a:srgbClr val="CDCDD3"/>
                </a:solidFill>
                <a:latin typeface="Helvetica Neue"/>
                <a:ea typeface="Helvetica Neue"/>
                <a:cs typeface="Helvetica Neue"/>
              </a:defRPr>
            </a:lvl9pPr>
          </a:lstStyle>
          <a:p xmlns:a="http://schemas.openxmlformats.org/drawingml/2006/main">
            <a:pPr>
              <a:buNone/>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Для каждой операции полезно рассмотреть пары текстов, которые после обработки становятся одинаковыми. Если эти тексты должны получать разные ответы, преобразование удаляет потенциально полезный сигнал. Окончательное решение принимают по качеству задачи и разбору ошибок. Единого универсального набора очистки для классификации, поиска и извлечения фактов не существует.</a:t>
            </a:r>
          </a:p>
        </p:txBody>
      </p:sp>
    </p:spTree>
    <p:extLst>
      <p:ext uri="{BB962C8B-B14F-4D97-AF65-F5344CB8AC3E}">
        <p14:creationId xmlns:p14="http://schemas.microsoft.com/office/powerpoint/2010/main" val="1872054261"/>
      </p:ext>
    </p:extLst>
  </p:cSld>
</p:sld>
</file>

<file path=ppt/slides/slide4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BEB9EFC1-6615-460F-ADE9-72BCC137A2F5}"/>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98989F"/>
                </a:solidFill>
                <a:latin typeface="Helvetica Neue"/>
                <a:ea typeface="Helvetica Neue"/>
                <a:cs typeface="Helvetica Neue"/>
              </a:defRPr>
            </a:defPPr>
            <a:lvl1pPr algn="l">
              <a:buNone/>
              <a:defRPr sz="1425" b="0">
                <a:solidFill>
                  <a:srgbClr val="98989F"/>
                </a:solidFill>
                <a:latin typeface="Helvetica Neue"/>
                <a:ea typeface="Helvetica Neue"/>
                <a:cs typeface="Helvetica Neue"/>
              </a:defRPr>
            </a:lvl1pPr>
            <a:lvl2pPr algn="l">
              <a:buNone/>
              <a:defRPr sz="1425" b="0">
                <a:solidFill>
                  <a:srgbClr val="98989F"/>
                </a:solidFill>
                <a:latin typeface="Helvetica Neue"/>
                <a:ea typeface="Helvetica Neue"/>
                <a:cs typeface="Helvetica Neue"/>
              </a:defRPr>
            </a:lvl2pPr>
            <a:lvl3pPr algn="l">
              <a:buNone/>
              <a:defRPr sz="1425" b="0">
                <a:solidFill>
                  <a:srgbClr val="98989F"/>
                </a:solidFill>
                <a:latin typeface="Helvetica Neue"/>
                <a:ea typeface="Helvetica Neue"/>
                <a:cs typeface="Helvetica Neue"/>
              </a:defRPr>
            </a:lvl3pPr>
            <a:lvl4pPr algn="l">
              <a:buNone/>
              <a:defRPr sz="1425" b="0">
                <a:solidFill>
                  <a:srgbClr val="98989F"/>
                </a:solidFill>
                <a:latin typeface="Helvetica Neue"/>
                <a:ea typeface="Helvetica Neue"/>
                <a:cs typeface="Helvetica Neue"/>
              </a:defRPr>
            </a:lvl4pPr>
            <a:lvl5pPr algn="l">
              <a:buNone/>
              <a:defRPr sz="1425" b="0">
                <a:solidFill>
                  <a:srgbClr val="98989F"/>
                </a:solidFill>
                <a:latin typeface="Helvetica Neue"/>
                <a:ea typeface="Helvetica Neue"/>
                <a:cs typeface="Helvetica Neue"/>
              </a:defRPr>
            </a:lvl5pPr>
            <a:lvl6pPr algn="l">
              <a:buNone/>
              <a:defRPr sz="1425" b="0">
                <a:solidFill>
                  <a:srgbClr val="98989F"/>
                </a:solidFill>
                <a:latin typeface="Helvetica Neue"/>
                <a:ea typeface="Helvetica Neue"/>
                <a:cs typeface="Helvetica Neue"/>
              </a:defRPr>
            </a:lvl6pPr>
            <a:lvl7pPr algn="l">
              <a:buNone/>
              <a:defRPr sz="1425" b="0">
                <a:solidFill>
                  <a:srgbClr val="98989F"/>
                </a:solidFill>
                <a:latin typeface="Helvetica Neue"/>
                <a:ea typeface="Helvetica Neue"/>
                <a:cs typeface="Helvetica Neue"/>
              </a:defRPr>
            </a:lvl7pPr>
            <a:lvl8pPr algn="l">
              <a:buNone/>
              <a:defRPr sz="1425" b="0">
                <a:solidFill>
                  <a:srgbClr val="98989F"/>
                </a:solidFill>
                <a:latin typeface="Helvetica Neue"/>
                <a:ea typeface="Helvetica Neue"/>
                <a:cs typeface="Helvetica Neue"/>
              </a:defRPr>
            </a:lvl8pPr>
            <a:lvl9pPr algn="l">
              <a:buNone/>
              <a:defRPr sz="1425" b="0">
                <a:solidFill>
                  <a:srgbClr val="98989F"/>
                </a:solidFill>
                <a:latin typeface="Helvetica Neue"/>
                <a:ea typeface="Helvetica Neue"/>
                <a:cs typeface="Helvetica Neue"/>
              </a:defRPr>
            </a:lvl9pPr>
          </a:lstStyle>
          <a:p xmlns:a="http://schemas.openxmlformats.org/drawingml/2006/main">
            <a:pPr algn="l">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text-1">
            <a:extLst xmlns:a="http://schemas.openxmlformats.org/drawingml/2006/main">
              <a:ext uri="{FF2B5EF4-FFF2-40B4-BE49-F238E27FC236}">
                <a16:creationId xmlns:a16="http://schemas.microsoft.com/office/drawing/2014/main" id="{18D1E5E9-5F47-4288-9F9F-C32D1370BEDF}"/>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43</a:t>
            </a:r>
          </a:p>
        </p:txBody>
      </p:sp>
      <p:sp>
        <p:nvSpPr>
          <p:cNvPr id="3" name="">
            <a:extLst xmlns:a="http://schemas.openxmlformats.org/drawingml/2006/main">
              <a:ext uri="{FF2B5EF4-FFF2-40B4-BE49-F238E27FC236}">
                <a16:creationId xmlns:a16="http://schemas.microsoft.com/office/drawing/2014/main" id="{8DE3F841-2E9E-47A2-9C3F-7B71DDD44E2E}"/>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prstDash val="solid"/>
          </a:ln>
        </p:spPr>
      </p:sp>
      <p:sp>
        <p:nvSpPr>
          <p:cNvPr id="4" name="text-3">
            <a:extLst xmlns:a="http://schemas.openxmlformats.org/drawingml/2006/main">
              <a:ext uri="{FF2B5EF4-FFF2-40B4-BE49-F238E27FC236}">
                <a16:creationId xmlns:a16="http://schemas.microsoft.com/office/drawing/2014/main" id="{78EAE006-1BCE-4446-9864-6CCAB64C3A69}"/>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5F7"/>
                </a:solidFill>
                <a:latin typeface="Helvetica Neue"/>
                <a:ea typeface="Helvetica Neue"/>
                <a:cs typeface="Helvetica Neue"/>
              </a:defRPr>
            </a:defPPr>
            <a:lvl1pPr algn="l">
              <a:buNone/>
              <a:defRPr sz="3450" b="1">
                <a:solidFill>
                  <a:srgbClr val="F5F5F7"/>
                </a:solidFill>
                <a:latin typeface="Helvetica Neue"/>
                <a:ea typeface="Helvetica Neue"/>
                <a:cs typeface="Helvetica Neue"/>
              </a:defRPr>
            </a:lvl1pPr>
            <a:lvl2pPr algn="l">
              <a:buNone/>
              <a:defRPr sz="3450" b="1">
                <a:solidFill>
                  <a:srgbClr val="F5F5F7"/>
                </a:solidFill>
                <a:latin typeface="Helvetica Neue"/>
                <a:ea typeface="Helvetica Neue"/>
                <a:cs typeface="Helvetica Neue"/>
              </a:defRPr>
            </a:lvl2pPr>
            <a:lvl3pPr algn="l">
              <a:buNone/>
              <a:defRPr sz="3450" b="1">
                <a:solidFill>
                  <a:srgbClr val="F5F5F7"/>
                </a:solidFill>
                <a:latin typeface="Helvetica Neue"/>
                <a:ea typeface="Helvetica Neue"/>
                <a:cs typeface="Helvetica Neue"/>
              </a:defRPr>
            </a:lvl3pPr>
            <a:lvl4pPr algn="l">
              <a:buNone/>
              <a:defRPr sz="3450" b="1">
                <a:solidFill>
                  <a:srgbClr val="F5F5F7"/>
                </a:solidFill>
                <a:latin typeface="Helvetica Neue"/>
                <a:ea typeface="Helvetica Neue"/>
                <a:cs typeface="Helvetica Neue"/>
              </a:defRPr>
            </a:lvl4pPr>
            <a:lvl5pPr algn="l">
              <a:buNone/>
              <a:defRPr sz="3450" b="1">
                <a:solidFill>
                  <a:srgbClr val="F5F5F7"/>
                </a:solidFill>
                <a:latin typeface="Helvetica Neue"/>
                <a:ea typeface="Helvetica Neue"/>
                <a:cs typeface="Helvetica Neue"/>
              </a:defRPr>
            </a:lvl5pPr>
            <a:lvl6pPr algn="l">
              <a:buNone/>
              <a:defRPr sz="3450" b="1">
                <a:solidFill>
                  <a:srgbClr val="F5F5F7"/>
                </a:solidFill>
                <a:latin typeface="Helvetica Neue"/>
                <a:ea typeface="Helvetica Neue"/>
                <a:cs typeface="Helvetica Neue"/>
              </a:defRPr>
            </a:lvl6pPr>
            <a:lvl7pPr algn="l">
              <a:buNone/>
              <a:defRPr sz="3450" b="1">
                <a:solidFill>
                  <a:srgbClr val="F5F5F7"/>
                </a:solidFill>
                <a:latin typeface="Helvetica Neue"/>
                <a:ea typeface="Helvetica Neue"/>
                <a:cs typeface="Helvetica Neue"/>
              </a:defRPr>
            </a:lvl7pPr>
            <a:lvl8pPr algn="l">
              <a:buNone/>
              <a:defRPr sz="3450" b="1">
                <a:solidFill>
                  <a:srgbClr val="F5F5F7"/>
                </a:solidFill>
                <a:latin typeface="Helvetica Neue"/>
                <a:ea typeface="Helvetica Neue"/>
                <a:cs typeface="Helvetica Neue"/>
              </a:defRPr>
            </a:lvl8pPr>
            <a:lvl9pPr algn="l">
              <a:buNone/>
              <a:defRPr sz="3450" b="1">
                <a:solidFill>
                  <a:srgbClr val="F5F5F7"/>
                </a:solidFill>
                <a:latin typeface="Helvetica Neue"/>
                <a:ea typeface="Helvetica Neue"/>
                <a:cs typeface="Helvetica Neue"/>
              </a:defRPr>
            </a:lvl9pPr>
          </a:lstStyle>
          <a:p xmlns:a="http://schemas.openxmlformats.org/drawingml/2006/main">
            <a:pPr algn="l">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Выбор preprocessing для задачи</a:t>
            </a:r>
          </a:p>
        </p:txBody>
      </p:sp>
      <p:graphicFrame>
        <p:nvGraphicFramePr>
          <p:cNvPr id="5" name="">
            <a:extLst xmlns:a="http://schemas.openxmlformats.org/drawingml/2006/main">
              <a:ext uri="{FF2B5EF4-FFF2-40B4-BE49-F238E27FC236}">
                <a16:creationId xmlns:a16="http://schemas.microsoft.com/office/drawing/2014/main" id="{58E0C95D-FE8C-4DD6-8926-DDB63BD7F5F4}"/>
              </a:ext>
            </a:extLst>
          </p:cNvPr>
          <p:cNvGraphicFramePr/>
          <p:nvPr/>
        </p:nvGraphicFramePr>
        <p:xfrm>
          <a:off xmlns:a="http://schemas.openxmlformats.org/drawingml/2006/main" x="685800" y="2724150"/>
          <a:ext xmlns:a="http://schemas.openxmlformats.org/drawingml/2006/main" cx="10820400" cy="3152775"/>
        </p:xfrm>
        <a:graphic xmlns:a="http://schemas.openxmlformats.org/drawingml/2006/main">
          <a:graphicData uri="http://schemas.openxmlformats.org/drawingml/2006/table">
            <a:tbl>
              <a:tblPr/>
              <a:tblGrid>
                <a:gridCol w="6286500"/>
                <a:gridCol w="4533900"/>
              </a:tblGrid>
              <a:tr h="630555">
                <a:tc>
                  <a:txBody>
                    <a:bodyPr lIns="142875" tIns="76200" rIns="142875" bIns="76200"/>
                    <a:lstStyle/>
                    <a:p>
                      <a:r>
                        <a:rPr sz="1725" b="1">
                          <a:solidFill>
                            <a:srgbClr val="98989F"/>
                          </a:solidFill>
                          <a:latin typeface="Helvetica Neue"/>
                          <a:ea typeface="Helvetica Neue"/>
                          <a:cs typeface="Helvetica Neue"/>
                        </a:rPr>
                        <a:t>Исходный текст</a:t>
                      </a:r>
                    </a:p>
                  </a:txBody>
                  <a:tcPr marL="91440" marR="91440" marT="45720" marB="45720" anchor="ctr">
                    <a:lnL w="9525">
                      <a:solidFill>
                        <a:srgbClr val="28282B"/>
                      </a:solidFill>
                      <a:prstDash val="solid"/>
                    </a:lnL>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c>
                  <a:txBody>
                    <a:bodyPr lIns="142875" tIns="76200" rIns="142875" bIns="76200"/>
                    <a:lstStyle/>
                    <a:p>
                      <a:r>
                        <a:rPr sz="1725" b="1">
                          <a:solidFill>
                            <a:srgbClr val="98989F"/>
                          </a:solidFill>
                          <a:latin typeface="Helvetica Neue"/>
                          <a:ea typeface="Helvetica Neue"/>
                          <a:cs typeface="Helvetica Neue"/>
                        </a:rPr>
                        <a:t>Методический комментарий</a:t>
                      </a:r>
                    </a:p>
                  </a:txBody>
                  <a:tcPr marL="91440" marR="91440" marT="45720" marB="45720" anchor="ctr">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r>
              <a:tr h="630555">
                <a:tc>
                  <a:txBody>
                    <a:bodyPr lIns="142875" tIns="76200" rIns="142875" bIns="76200"/>
                    <a:lstStyle/>
                    <a:p>
                      <a:r>
                        <a:rPr sz="1725" b="0">
                          <a:solidFill>
                            <a:srgbClr val="F5F5F7"/>
                          </a:solidFill>
                          <a:latin typeface="Helvetica Neue"/>
                          <a:ea typeface="Helvetica Neue"/>
                          <a:cs typeface="Helvetica Neue"/>
                        </a:rPr>
                        <a:t>«НЕ рекомендую!!!»</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42875" tIns="76200" rIns="142875" bIns="76200"/>
                    <a:lstStyle/>
                    <a:p>
                      <a:r>
                        <a:rPr sz="1725" b="0">
                          <a:solidFill>
                            <a:srgbClr val="F5F5F7"/>
                          </a:solidFill>
                          <a:latin typeface="Helvetica Neue"/>
                          <a:ea typeface="Helvetica Neue"/>
                          <a:cs typeface="Helvetica Neue"/>
                        </a:rPr>
                        <a:t>Сохранить отрицание, проверить роль регистра и пунктуации</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r h="630555">
                <a:tc>
                  <a:txBody>
                    <a:bodyPr lIns="142875" tIns="76200" rIns="142875" bIns="76200"/>
                    <a:lstStyle/>
                    <a:p>
                      <a:r>
                        <a:rPr sz="1725" b="0">
                          <a:solidFill>
                            <a:srgbClr val="F5F5F7"/>
                          </a:solidFill>
                          <a:latin typeface="Helvetica Neue"/>
                          <a:ea typeface="Helvetica Neue"/>
                          <a:cs typeface="Helvetica Neue"/>
                        </a:rPr>
                        <a:t>«Заказ №48392 задержали»</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42875" tIns="76200" rIns="142875" bIns="76200"/>
                    <a:lstStyle/>
                    <a:p>
                      <a:r>
                        <a:rPr sz="1725" b="0">
                          <a:solidFill>
                            <a:srgbClr val="F5F5F7"/>
                          </a:solidFill>
                          <a:latin typeface="Helvetica Neue"/>
                          <a:ea typeface="Helvetica Neue"/>
                          <a:cs typeface="Helvetica Neue"/>
                        </a:rPr>
                        <a:t>Рассмотреть маскирование идентификатора, сохранить событие</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r h="630555">
                <a:tc>
                  <a:txBody>
                    <a:bodyPr lIns="142875" tIns="76200" rIns="142875" bIns="76200"/>
                    <a:lstStyle/>
                    <a:p>
                      <a:r>
                        <a:rPr sz="1725" b="0">
                          <a:solidFill>
                            <a:srgbClr val="F5F5F7"/>
                          </a:solidFill>
                          <a:latin typeface="Helvetica Neue"/>
                          <a:ea typeface="Helvetica Neue"/>
                          <a:cs typeface="Helvetica Neue"/>
                        </a:rPr>
                        <a:t>«Классный товар :)»</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42875" tIns="76200" rIns="142875" bIns="76200"/>
                    <a:lstStyle/>
                    <a:p>
                      <a:r>
                        <a:rPr sz="1725" b="0">
                          <a:solidFill>
                            <a:srgbClr val="F5F5F7"/>
                          </a:solidFill>
                          <a:latin typeface="Helvetica Neue"/>
                          <a:ea typeface="Helvetica Neue"/>
                          <a:cs typeface="Helvetica Neue"/>
                        </a:rPr>
                        <a:t>Учесть смайлик как возможный эмоциональный сигнал</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r h="630555">
                <a:tc>
                  <a:txBody>
                    <a:bodyPr lIns="142875" tIns="76200" rIns="142875" bIns="76200"/>
                    <a:lstStyle/>
                    <a:p>
                      <a:r>
                        <a:rPr sz="1725" b="0">
                          <a:solidFill>
                            <a:srgbClr val="F5F5F7"/>
                          </a:solidFill>
                          <a:latin typeface="Helvetica Neue"/>
                          <a:ea typeface="Helvetica Neue"/>
                          <a:cs typeface="Helvetica Neue"/>
                        </a:rPr>
                        <a:t>«  пришло быстро  »</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42875" tIns="76200" rIns="142875" bIns="76200"/>
                    <a:lstStyle/>
                    <a:p>
                      <a:r>
                        <a:rPr sz="1725" b="0">
                          <a:solidFill>
                            <a:srgbClr val="F5F5F7"/>
                          </a:solidFill>
                          <a:latin typeface="Helvetica Neue"/>
                          <a:ea typeface="Helvetica Neue"/>
                          <a:cs typeface="Helvetica Neue"/>
                        </a:rPr>
                        <a:t>Устранить внешние и повторяющиеся пробелы</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bl>
          </a:graphicData>
        </a:graphic>
      </p:graphicFrame>
      <p:sp>
        <p:nvSpPr>
          <p:cNvPr id="8" name="theory-4">
            <a:extLst xmlns:a="http://schemas.openxmlformats.org/drawingml/2006/main">
              <a:ext uri="{FF2B5EF4-FFF2-40B4-BE49-F238E27FC236}">
                <a16:creationId xmlns:a16="http://schemas.microsoft.com/office/drawing/2014/main" id="{FCA2D2F0-3E47-4AE7-8CB2-02697F567BC7}"/>
              </a:ext>
            </a:extLst>
          </p:cNvPr>
          <p:cNvSpPr>
            <a:spLocks xmlns:a="http://schemas.openxmlformats.org/drawingml/2006/main" noGrp="1"/>
          </p:cNvSpPr>
          <p:nvPr/>
        </p:nvSpPr>
        <p:spPr>
          <a:xfrm xmlns:a="http://schemas.openxmlformats.org/drawingml/2006/main">
            <a:off x="685800" y="2009775"/>
            <a:ext cx="108204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88" b="0">
                <a:solidFill>
                  <a:srgbClr val="F5F5F7"/>
                </a:solidFill>
                <a:latin typeface="Helvetica Neue"/>
                <a:ea typeface="Helvetica Neue"/>
                <a:cs typeface="Helvetica Neue"/>
              </a:defRPr>
            </a:defPPr>
            <a:lvl1pPr>
              <a:buNone/>
              <a:defRPr sz="1988" b="0">
                <a:solidFill>
                  <a:srgbClr val="F5F5F7"/>
                </a:solidFill>
                <a:latin typeface="Helvetica Neue"/>
                <a:ea typeface="Helvetica Neue"/>
                <a:cs typeface="Helvetica Neue"/>
              </a:defRPr>
            </a:lvl1pPr>
            <a:lvl2pPr>
              <a:buNone/>
              <a:defRPr sz="1988" b="0">
                <a:solidFill>
                  <a:srgbClr val="F5F5F7"/>
                </a:solidFill>
                <a:latin typeface="Helvetica Neue"/>
                <a:ea typeface="Helvetica Neue"/>
                <a:cs typeface="Helvetica Neue"/>
              </a:defRPr>
            </a:lvl2pPr>
            <a:lvl3pPr>
              <a:buNone/>
              <a:defRPr sz="1988" b="0">
                <a:solidFill>
                  <a:srgbClr val="F5F5F7"/>
                </a:solidFill>
                <a:latin typeface="Helvetica Neue"/>
                <a:ea typeface="Helvetica Neue"/>
                <a:cs typeface="Helvetica Neue"/>
              </a:defRPr>
            </a:lvl3pPr>
            <a:lvl4pPr>
              <a:buNone/>
              <a:defRPr sz="1988" b="0">
                <a:solidFill>
                  <a:srgbClr val="F5F5F7"/>
                </a:solidFill>
                <a:latin typeface="Helvetica Neue"/>
                <a:ea typeface="Helvetica Neue"/>
                <a:cs typeface="Helvetica Neue"/>
              </a:defRPr>
            </a:lvl4pPr>
            <a:lvl5pPr>
              <a:buNone/>
              <a:defRPr sz="1988" b="0">
                <a:solidFill>
                  <a:srgbClr val="F5F5F7"/>
                </a:solidFill>
                <a:latin typeface="Helvetica Neue"/>
                <a:ea typeface="Helvetica Neue"/>
                <a:cs typeface="Helvetica Neue"/>
              </a:defRPr>
            </a:lvl5pPr>
            <a:lvl6pPr>
              <a:buNone/>
              <a:defRPr sz="1988" b="0">
                <a:solidFill>
                  <a:srgbClr val="F5F5F7"/>
                </a:solidFill>
                <a:latin typeface="Helvetica Neue"/>
                <a:ea typeface="Helvetica Neue"/>
                <a:cs typeface="Helvetica Neue"/>
              </a:defRPr>
            </a:lvl6pPr>
            <a:lvl7pPr>
              <a:buNone/>
              <a:defRPr sz="1988" b="0">
                <a:solidFill>
                  <a:srgbClr val="F5F5F7"/>
                </a:solidFill>
                <a:latin typeface="Helvetica Neue"/>
                <a:ea typeface="Helvetica Neue"/>
                <a:cs typeface="Helvetica Neue"/>
              </a:defRPr>
            </a:lvl7pPr>
            <a:lvl8pPr>
              <a:buNone/>
              <a:defRPr sz="1988" b="0">
                <a:solidFill>
                  <a:srgbClr val="F5F5F7"/>
                </a:solidFill>
                <a:latin typeface="Helvetica Neue"/>
                <a:ea typeface="Helvetica Neue"/>
                <a:cs typeface="Helvetica Neue"/>
              </a:defRPr>
            </a:lvl8pPr>
            <a:lvl9pPr>
              <a:buNone/>
              <a:defRPr sz="1988" b="0">
                <a:solidFill>
                  <a:srgbClr val="F5F5F7"/>
                </a:solidFill>
                <a:latin typeface="Helvetica Neue"/>
                <a:ea typeface="Helvetica Neue"/>
                <a:cs typeface="Helvetica Neue"/>
              </a:defRPr>
            </a:lvl9pPr>
          </a:lstStyle>
          <a:p xmlns:a="http://schemas.openxmlformats.org/drawingml/2006/main">
            <a:pPr>
              <a:buNone/>
              <a:defRPr sz="1988" b="0">
                <a:solidFill>
                  <a:srgbClr val="F5F5F7"/>
                </a:solidFill>
                <a:latin typeface="Helvetica Neue"/>
                <a:ea typeface="Helvetica Neue"/>
                <a:cs typeface="Helvetica Neue"/>
              </a:defRPr>
            </a:pPr>
            <a:r>
              <a:rPr sz="1988" b="0">
                <a:solidFill>
                  <a:srgbClr val="F5F5F7"/>
                </a:solidFill>
                <a:latin typeface="Helvetica Neue"/>
                <a:ea typeface="Helvetica Neue"/>
                <a:cs typeface="Helvetica Neue"/>
              </a:rPr>
              <a:t>Каждую операцию связывают с ожидаемой пользой и возможной потерей информации. Один и тот же шаг может помогать одной задаче и мешать другой.</a:t>
            </a:r>
          </a:p>
        </p:txBody>
      </p:sp>
      <p:sp>
        <p:nvSpPr>
          <p:cNvPr id="9" name="theory-5">
            <a:extLst xmlns:a="http://schemas.openxmlformats.org/drawingml/2006/main">
              <a:ext uri="{FF2B5EF4-FFF2-40B4-BE49-F238E27FC236}">
                <a16:creationId xmlns:a16="http://schemas.microsoft.com/office/drawing/2014/main" id="{204396DF-022D-430B-B41B-A9D22E5E2FA6}"/>
              </a:ext>
            </a:extLst>
          </p:cNvPr>
          <p:cNvSpPr>
            <a:spLocks xmlns:a="http://schemas.openxmlformats.org/drawingml/2006/main" noGrp="1"/>
          </p:cNvSpPr>
          <p:nvPr/>
        </p:nvSpPr>
        <p:spPr>
          <a:xfrm xmlns:a="http://schemas.openxmlformats.org/drawingml/2006/main">
            <a:off x="685800" y="608647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88" b="0">
                <a:solidFill>
                  <a:srgbClr val="98989F"/>
                </a:solidFill>
                <a:latin typeface="Helvetica Neue"/>
                <a:ea typeface="Helvetica Neue"/>
                <a:cs typeface="Helvetica Neue"/>
              </a:defRPr>
            </a:defPPr>
            <a:lvl1pPr>
              <a:buNone/>
              <a:defRPr sz="1688" b="0">
                <a:solidFill>
                  <a:srgbClr val="98989F"/>
                </a:solidFill>
                <a:latin typeface="Helvetica Neue"/>
                <a:ea typeface="Helvetica Neue"/>
                <a:cs typeface="Helvetica Neue"/>
              </a:defRPr>
            </a:lvl1pPr>
            <a:lvl2pPr>
              <a:buNone/>
              <a:defRPr sz="1688" b="0">
                <a:solidFill>
                  <a:srgbClr val="98989F"/>
                </a:solidFill>
                <a:latin typeface="Helvetica Neue"/>
                <a:ea typeface="Helvetica Neue"/>
                <a:cs typeface="Helvetica Neue"/>
              </a:defRPr>
            </a:lvl2pPr>
            <a:lvl3pPr>
              <a:buNone/>
              <a:defRPr sz="1688" b="0">
                <a:solidFill>
                  <a:srgbClr val="98989F"/>
                </a:solidFill>
                <a:latin typeface="Helvetica Neue"/>
                <a:ea typeface="Helvetica Neue"/>
                <a:cs typeface="Helvetica Neue"/>
              </a:defRPr>
            </a:lvl3pPr>
            <a:lvl4pPr>
              <a:buNone/>
              <a:defRPr sz="1688" b="0">
                <a:solidFill>
                  <a:srgbClr val="98989F"/>
                </a:solidFill>
                <a:latin typeface="Helvetica Neue"/>
                <a:ea typeface="Helvetica Neue"/>
                <a:cs typeface="Helvetica Neue"/>
              </a:defRPr>
            </a:lvl4pPr>
            <a:lvl5pPr>
              <a:buNone/>
              <a:defRPr sz="1688" b="0">
                <a:solidFill>
                  <a:srgbClr val="98989F"/>
                </a:solidFill>
                <a:latin typeface="Helvetica Neue"/>
                <a:ea typeface="Helvetica Neue"/>
                <a:cs typeface="Helvetica Neue"/>
              </a:defRPr>
            </a:lvl5pPr>
            <a:lvl6pPr>
              <a:buNone/>
              <a:defRPr sz="1688" b="0">
                <a:solidFill>
                  <a:srgbClr val="98989F"/>
                </a:solidFill>
                <a:latin typeface="Helvetica Neue"/>
                <a:ea typeface="Helvetica Neue"/>
                <a:cs typeface="Helvetica Neue"/>
              </a:defRPr>
            </a:lvl6pPr>
            <a:lvl7pPr>
              <a:buNone/>
              <a:defRPr sz="1688" b="0">
                <a:solidFill>
                  <a:srgbClr val="98989F"/>
                </a:solidFill>
                <a:latin typeface="Helvetica Neue"/>
                <a:ea typeface="Helvetica Neue"/>
                <a:cs typeface="Helvetica Neue"/>
              </a:defRPr>
            </a:lvl7pPr>
            <a:lvl8pPr>
              <a:buNone/>
              <a:defRPr sz="1688" b="0">
                <a:solidFill>
                  <a:srgbClr val="98989F"/>
                </a:solidFill>
                <a:latin typeface="Helvetica Neue"/>
                <a:ea typeface="Helvetica Neue"/>
                <a:cs typeface="Helvetica Neue"/>
              </a:defRPr>
            </a:lvl8pPr>
            <a:lvl9pPr>
              <a:buNone/>
              <a:defRPr sz="1688" b="0">
                <a:solidFill>
                  <a:srgbClr val="98989F"/>
                </a:solidFill>
                <a:latin typeface="Helvetica Neue"/>
                <a:ea typeface="Helvetica Neue"/>
                <a:cs typeface="Helvetica Neue"/>
              </a:defRPr>
            </a:lvl9pPr>
          </a:lstStyle>
          <a:p xmlns:a="http://schemas.openxmlformats.org/drawingml/2006/main">
            <a:pPr>
              <a:buNone/>
              <a:defRPr sz="1688" b="0">
                <a:solidFill>
                  <a:srgbClr val="98989F"/>
                </a:solidFill>
                <a:latin typeface="Helvetica Neue"/>
                <a:ea typeface="Helvetica Neue"/>
                <a:cs typeface="Helvetica Neue"/>
              </a:defRPr>
            </a:pPr>
            <a:r>
              <a:rPr sz="1688" b="0">
                <a:solidFill>
                  <a:srgbClr val="98989F"/>
                </a:solidFill>
                <a:latin typeface="Helvetica Neue"/>
                <a:ea typeface="Helvetica Neue"/>
                <a:cs typeface="Helvetica Neue"/>
              </a:rPr>
              <a:t>Операции добавляют последовательно и сравнивают на одинаковом разбиении. Анализ примеров и ошибок помогает связать изменение качества с конкретным преобразованием.</a:t>
            </a:r>
          </a:p>
        </p:txBody>
      </p:sp>
    </p:spTree>
    <p:extLst>
      <p:ext uri="{BB962C8B-B14F-4D97-AF65-F5344CB8AC3E}">
        <p14:creationId xmlns:p14="http://schemas.microsoft.com/office/powerpoint/2010/main" val="1867270447"/>
      </p:ext>
    </p:extLst>
  </p:cSld>
</p:sld>
</file>

<file path=ppt/slides/slide4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9" name="text-0">
            <a:extLst xmlns:a="http://schemas.openxmlformats.org/drawingml/2006/main">
              <a:ext uri="{FF2B5EF4-FFF2-40B4-BE49-F238E27FC236}">
                <a16:creationId xmlns:a16="http://schemas.microsoft.com/office/drawing/2014/main" id="{F58B79F1-F4F5-4C80-9B9C-7569268564C7}"/>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98989F"/>
                </a:solidFill>
                <a:latin typeface="Helvetica Neue"/>
                <a:ea typeface="Helvetica Neue"/>
                <a:cs typeface="Helvetica Neue"/>
              </a:defRPr>
            </a:defPPr>
            <a:lvl1pPr algn="l">
              <a:buNone/>
              <a:defRPr sz="1425" b="0">
                <a:solidFill>
                  <a:srgbClr val="98989F"/>
                </a:solidFill>
                <a:latin typeface="Helvetica Neue"/>
                <a:ea typeface="Helvetica Neue"/>
                <a:cs typeface="Helvetica Neue"/>
              </a:defRPr>
            </a:lvl1pPr>
            <a:lvl2pPr algn="l">
              <a:buNone/>
              <a:defRPr sz="1425" b="0">
                <a:solidFill>
                  <a:srgbClr val="98989F"/>
                </a:solidFill>
                <a:latin typeface="Helvetica Neue"/>
                <a:ea typeface="Helvetica Neue"/>
                <a:cs typeface="Helvetica Neue"/>
              </a:defRPr>
            </a:lvl2pPr>
            <a:lvl3pPr algn="l">
              <a:buNone/>
              <a:defRPr sz="1425" b="0">
                <a:solidFill>
                  <a:srgbClr val="98989F"/>
                </a:solidFill>
                <a:latin typeface="Helvetica Neue"/>
                <a:ea typeface="Helvetica Neue"/>
                <a:cs typeface="Helvetica Neue"/>
              </a:defRPr>
            </a:lvl3pPr>
            <a:lvl4pPr algn="l">
              <a:buNone/>
              <a:defRPr sz="1425" b="0">
                <a:solidFill>
                  <a:srgbClr val="98989F"/>
                </a:solidFill>
                <a:latin typeface="Helvetica Neue"/>
                <a:ea typeface="Helvetica Neue"/>
                <a:cs typeface="Helvetica Neue"/>
              </a:defRPr>
            </a:lvl4pPr>
            <a:lvl5pPr algn="l">
              <a:buNone/>
              <a:defRPr sz="1425" b="0">
                <a:solidFill>
                  <a:srgbClr val="98989F"/>
                </a:solidFill>
                <a:latin typeface="Helvetica Neue"/>
                <a:ea typeface="Helvetica Neue"/>
                <a:cs typeface="Helvetica Neue"/>
              </a:defRPr>
            </a:lvl5pPr>
            <a:lvl6pPr algn="l">
              <a:buNone/>
              <a:defRPr sz="1425" b="0">
                <a:solidFill>
                  <a:srgbClr val="98989F"/>
                </a:solidFill>
                <a:latin typeface="Helvetica Neue"/>
                <a:ea typeface="Helvetica Neue"/>
                <a:cs typeface="Helvetica Neue"/>
              </a:defRPr>
            </a:lvl6pPr>
            <a:lvl7pPr algn="l">
              <a:buNone/>
              <a:defRPr sz="1425" b="0">
                <a:solidFill>
                  <a:srgbClr val="98989F"/>
                </a:solidFill>
                <a:latin typeface="Helvetica Neue"/>
                <a:ea typeface="Helvetica Neue"/>
                <a:cs typeface="Helvetica Neue"/>
              </a:defRPr>
            </a:lvl7pPr>
            <a:lvl8pPr algn="l">
              <a:buNone/>
              <a:defRPr sz="1425" b="0">
                <a:solidFill>
                  <a:srgbClr val="98989F"/>
                </a:solidFill>
                <a:latin typeface="Helvetica Neue"/>
                <a:ea typeface="Helvetica Neue"/>
                <a:cs typeface="Helvetica Neue"/>
              </a:defRPr>
            </a:lvl8pPr>
            <a:lvl9pPr algn="l">
              <a:buNone/>
              <a:defRPr sz="1425" b="0">
                <a:solidFill>
                  <a:srgbClr val="98989F"/>
                </a:solidFill>
                <a:latin typeface="Helvetica Neue"/>
                <a:ea typeface="Helvetica Neue"/>
                <a:cs typeface="Helvetica Neue"/>
              </a:defRPr>
            </a:lvl9pPr>
          </a:lstStyle>
          <a:p xmlns:a="http://schemas.openxmlformats.org/drawingml/2006/main">
            <a:pPr algn="l">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text-1">
            <a:extLst xmlns:a="http://schemas.openxmlformats.org/drawingml/2006/main">
              <a:ext uri="{FF2B5EF4-FFF2-40B4-BE49-F238E27FC236}">
                <a16:creationId xmlns:a16="http://schemas.microsoft.com/office/drawing/2014/main" id="{BEAB7D71-66D6-44B0-A994-0D26D2EF557C}"/>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44</a:t>
            </a:r>
          </a:p>
        </p:txBody>
      </p:sp>
      <p:sp>
        <p:nvSpPr>
          <p:cNvPr id="3" name="">
            <a:extLst xmlns:a="http://schemas.openxmlformats.org/drawingml/2006/main">
              <a:ext uri="{FF2B5EF4-FFF2-40B4-BE49-F238E27FC236}">
                <a16:creationId xmlns:a16="http://schemas.microsoft.com/office/drawing/2014/main" id="{0B89361A-A252-46EC-9D12-7AC056BD9917}"/>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prstDash val="solid"/>
          </a:ln>
        </p:spPr>
      </p:sp>
      <p:sp>
        <p:nvSpPr>
          <p:cNvPr id="4" name="text-3">
            <a:extLst xmlns:a="http://schemas.openxmlformats.org/drawingml/2006/main">
              <a:ext uri="{FF2B5EF4-FFF2-40B4-BE49-F238E27FC236}">
                <a16:creationId xmlns:a16="http://schemas.microsoft.com/office/drawing/2014/main" id="{5773B69B-53D8-4C77-B94B-7805BCBBC49E}"/>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5F7"/>
                </a:solidFill>
                <a:latin typeface="Helvetica Neue"/>
                <a:ea typeface="Helvetica Neue"/>
                <a:cs typeface="Helvetica Neue"/>
              </a:defRPr>
            </a:defPPr>
            <a:lvl1pPr algn="l">
              <a:buNone/>
              <a:defRPr sz="3450" b="1">
                <a:solidFill>
                  <a:srgbClr val="F5F5F7"/>
                </a:solidFill>
                <a:latin typeface="Helvetica Neue"/>
                <a:ea typeface="Helvetica Neue"/>
                <a:cs typeface="Helvetica Neue"/>
              </a:defRPr>
            </a:lvl1pPr>
            <a:lvl2pPr algn="l">
              <a:buNone/>
              <a:defRPr sz="3450" b="1">
                <a:solidFill>
                  <a:srgbClr val="F5F5F7"/>
                </a:solidFill>
                <a:latin typeface="Helvetica Neue"/>
                <a:ea typeface="Helvetica Neue"/>
                <a:cs typeface="Helvetica Neue"/>
              </a:defRPr>
            </a:lvl2pPr>
            <a:lvl3pPr algn="l">
              <a:buNone/>
              <a:defRPr sz="3450" b="1">
                <a:solidFill>
                  <a:srgbClr val="F5F5F7"/>
                </a:solidFill>
                <a:latin typeface="Helvetica Neue"/>
                <a:ea typeface="Helvetica Neue"/>
                <a:cs typeface="Helvetica Neue"/>
              </a:defRPr>
            </a:lvl3pPr>
            <a:lvl4pPr algn="l">
              <a:buNone/>
              <a:defRPr sz="3450" b="1">
                <a:solidFill>
                  <a:srgbClr val="F5F5F7"/>
                </a:solidFill>
                <a:latin typeface="Helvetica Neue"/>
                <a:ea typeface="Helvetica Neue"/>
                <a:cs typeface="Helvetica Neue"/>
              </a:defRPr>
            </a:lvl4pPr>
            <a:lvl5pPr algn="l">
              <a:buNone/>
              <a:defRPr sz="3450" b="1">
                <a:solidFill>
                  <a:srgbClr val="F5F5F7"/>
                </a:solidFill>
                <a:latin typeface="Helvetica Neue"/>
                <a:ea typeface="Helvetica Neue"/>
                <a:cs typeface="Helvetica Neue"/>
              </a:defRPr>
            </a:lvl5pPr>
            <a:lvl6pPr algn="l">
              <a:buNone/>
              <a:defRPr sz="3450" b="1">
                <a:solidFill>
                  <a:srgbClr val="F5F5F7"/>
                </a:solidFill>
                <a:latin typeface="Helvetica Neue"/>
                <a:ea typeface="Helvetica Neue"/>
                <a:cs typeface="Helvetica Neue"/>
              </a:defRPr>
            </a:lvl6pPr>
            <a:lvl7pPr algn="l">
              <a:buNone/>
              <a:defRPr sz="3450" b="1">
                <a:solidFill>
                  <a:srgbClr val="F5F5F7"/>
                </a:solidFill>
                <a:latin typeface="Helvetica Neue"/>
                <a:ea typeface="Helvetica Neue"/>
                <a:cs typeface="Helvetica Neue"/>
              </a:defRPr>
            </a:lvl7pPr>
            <a:lvl8pPr algn="l">
              <a:buNone/>
              <a:defRPr sz="3450" b="1">
                <a:solidFill>
                  <a:srgbClr val="F5F5F7"/>
                </a:solidFill>
                <a:latin typeface="Helvetica Neue"/>
                <a:ea typeface="Helvetica Neue"/>
                <a:cs typeface="Helvetica Neue"/>
              </a:defRPr>
            </a:lvl8pPr>
            <a:lvl9pPr algn="l">
              <a:buNone/>
              <a:defRPr sz="3450" b="1">
                <a:solidFill>
                  <a:srgbClr val="F5F5F7"/>
                </a:solidFill>
                <a:latin typeface="Helvetica Neue"/>
                <a:ea typeface="Helvetica Neue"/>
                <a:cs typeface="Helvetica Neue"/>
              </a:defRPr>
            </a:lvl9pPr>
          </a:lstStyle>
          <a:p xmlns:a="http://schemas.openxmlformats.org/drawingml/2006/main">
            <a:pPr algn="l">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Corpus statistics</a:t>
            </a:r>
          </a:p>
        </p:txBody>
      </p:sp>
      <p:sp>
        <p:nvSpPr>
          <p:cNvPr id="30" name="theory-4">
            <a:extLst xmlns:a="http://schemas.openxmlformats.org/drawingml/2006/main">
              <a:ext uri="{FF2B5EF4-FFF2-40B4-BE49-F238E27FC236}">
                <a16:creationId xmlns:a16="http://schemas.microsoft.com/office/drawing/2014/main" id="{74C94A15-4161-47F6-A5C1-56C638C7072B}"/>
              </a:ext>
            </a:extLst>
          </p:cNvPr>
          <p:cNvSpPr>
            <a:spLocks xmlns:a="http://schemas.openxmlformats.org/drawingml/2006/main" noGrp="1"/>
          </p:cNvSpPr>
          <p:nvPr/>
        </p:nvSpPr>
        <p:spPr>
          <a:xfrm xmlns:a="http://schemas.openxmlformats.org/drawingml/2006/main">
            <a:off x="685800" y="20478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buNone/>
              <a:defRPr sz="1950" b="1">
                <a:solidFill>
                  <a:srgbClr val="BD9FE3"/>
                </a:solidFill>
                <a:latin typeface="Helvetica Neue"/>
                <a:ea typeface="Helvetica Neue"/>
                <a:cs typeface="Helvetica Neue"/>
              </a:defRPr>
            </a:lvl1pPr>
            <a:lvl2pPr>
              <a:buNone/>
              <a:defRPr sz="1950" b="1">
                <a:solidFill>
                  <a:srgbClr val="BD9FE3"/>
                </a:solidFill>
                <a:latin typeface="Helvetica Neue"/>
                <a:ea typeface="Helvetica Neue"/>
                <a:cs typeface="Helvetica Neue"/>
              </a:defRPr>
            </a:lvl2pPr>
            <a:lvl3pPr>
              <a:buNone/>
              <a:defRPr sz="1950" b="1">
                <a:solidFill>
                  <a:srgbClr val="BD9FE3"/>
                </a:solidFill>
                <a:latin typeface="Helvetica Neue"/>
                <a:ea typeface="Helvetica Neue"/>
                <a:cs typeface="Helvetica Neue"/>
              </a:defRPr>
            </a:lvl3pPr>
            <a:lvl4pPr>
              <a:buNone/>
              <a:defRPr sz="1950" b="1">
                <a:solidFill>
                  <a:srgbClr val="BD9FE3"/>
                </a:solidFill>
                <a:latin typeface="Helvetica Neue"/>
                <a:ea typeface="Helvetica Neue"/>
                <a:cs typeface="Helvetica Neue"/>
              </a:defRPr>
            </a:lvl4pPr>
            <a:lvl5pPr>
              <a:buNone/>
              <a:defRPr sz="1950" b="1">
                <a:solidFill>
                  <a:srgbClr val="BD9FE3"/>
                </a:solidFill>
                <a:latin typeface="Helvetica Neue"/>
                <a:ea typeface="Helvetica Neue"/>
                <a:cs typeface="Helvetica Neue"/>
              </a:defRPr>
            </a:lvl5pPr>
            <a:lvl6pPr>
              <a:buNone/>
              <a:defRPr sz="1950" b="1">
                <a:solidFill>
                  <a:srgbClr val="BD9FE3"/>
                </a:solidFill>
                <a:latin typeface="Helvetica Neue"/>
                <a:ea typeface="Helvetica Neue"/>
                <a:cs typeface="Helvetica Neue"/>
              </a:defRPr>
            </a:lvl6pPr>
            <a:lvl7pPr>
              <a:buNone/>
              <a:defRPr sz="1950" b="1">
                <a:solidFill>
                  <a:srgbClr val="BD9FE3"/>
                </a:solidFill>
                <a:latin typeface="Helvetica Neue"/>
                <a:ea typeface="Helvetica Neue"/>
                <a:cs typeface="Helvetica Neue"/>
              </a:defRPr>
            </a:lvl7pPr>
            <a:lvl8pPr>
              <a:buNone/>
              <a:defRPr sz="1950" b="1">
                <a:solidFill>
                  <a:srgbClr val="BD9FE3"/>
                </a:solidFill>
                <a:latin typeface="Helvetica Neue"/>
                <a:ea typeface="Helvetica Neue"/>
                <a:cs typeface="Helvetica Neue"/>
              </a:defRPr>
            </a:lvl8pPr>
            <a:lvl9pPr>
              <a:buNone/>
              <a:defRPr sz="1950" b="1">
                <a:solidFill>
                  <a:srgbClr val="BD9FE3"/>
                </a:solidFill>
                <a:latin typeface="Helvetica Neue"/>
                <a:ea typeface="Helvetica Neue"/>
                <a:cs typeface="Helvetica Neue"/>
              </a:defRPr>
            </a:lvl9pPr>
          </a:lstStyle>
          <a:p xmlns:a="http://schemas.openxmlformats.org/drawingml/2006/main">
            <a:pPr>
              <a:buNone/>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Token frequency и document frequency</a:t>
            </a:r>
          </a:p>
        </p:txBody>
      </p:sp>
      <p:sp>
        <p:nvSpPr>
          <p:cNvPr id="31" name="theory-5">
            <a:extLst xmlns:a="http://schemas.openxmlformats.org/drawingml/2006/main">
              <a:ext uri="{FF2B5EF4-FFF2-40B4-BE49-F238E27FC236}">
                <a16:creationId xmlns:a16="http://schemas.microsoft.com/office/drawing/2014/main" id="{0B14751B-F6F6-42FA-A7AE-43C89F6606A5}"/>
              </a:ext>
            </a:extLst>
          </p:cNvPr>
          <p:cNvSpPr>
            <a:spLocks xmlns:a="http://schemas.openxmlformats.org/drawingml/2006/main" noGrp="1"/>
          </p:cNvSpPr>
          <p:nvPr/>
        </p:nvSpPr>
        <p:spPr>
          <a:xfrm xmlns:a="http://schemas.openxmlformats.org/drawingml/2006/main">
            <a:off x="685800" y="2514600"/>
            <a:ext cx="108204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buNone/>
              <a:defRPr sz="2025" b="0">
                <a:solidFill>
                  <a:srgbClr val="CDCDD3"/>
                </a:solidFill>
                <a:latin typeface="Helvetica Neue"/>
                <a:ea typeface="Helvetica Neue"/>
                <a:cs typeface="Helvetica Neue"/>
              </a:defRPr>
            </a:lvl1pPr>
            <a:lvl2pPr>
              <a:buNone/>
              <a:defRPr sz="2025" b="0">
                <a:solidFill>
                  <a:srgbClr val="CDCDD3"/>
                </a:solidFill>
                <a:latin typeface="Helvetica Neue"/>
                <a:ea typeface="Helvetica Neue"/>
                <a:cs typeface="Helvetica Neue"/>
              </a:defRPr>
            </a:lvl2pPr>
            <a:lvl3pPr>
              <a:buNone/>
              <a:defRPr sz="2025" b="0">
                <a:solidFill>
                  <a:srgbClr val="CDCDD3"/>
                </a:solidFill>
                <a:latin typeface="Helvetica Neue"/>
                <a:ea typeface="Helvetica Neue"/>
                <a:cs typeface="Helvetica Neue"/>
              </a:defRPr>
            </a:lvl3pPr>
            <a:lvl4pPr>
              <a:buNone/>
              <a:defRPr sz="2025" b="0">
                <a:solidFill>
                  <a:srgbClr val="CDCDD3"/>
                </a:solidFill>
                <a:latin typeface="Helvetica Neue"/>
                <a:ea typeface="Helvetica Neue"/>
                <a:cs typeface="Helvetica Neue"/>
              </a:defRPr>
            </a:lvl4pPr>
            <a:lvl5pPr>
              <a:buNone/>
              <a:defRPr sz="2025" b="0">
                <a:solidFill>
                  <a:srgbClr val="CDCDD3"/>
                </a:solidFill>
                <a:latin typeface="Helvetica Neue"/>
                <a:ea typeface="Helvetica Neue"/>
                <a:cs typeface="Helvetica Neue"/>
              </a:defRPr>
            </a:lvl5pPr>
            <a:lvl6pPr>
              <a:buNone/>
              <a:defRPr sz="2025" b="0">
                <a:solidFill>
                  <a:srgbClr val="CDCDD3"/>
                </a:solidFill>
                <a:latin typeface="Helvetica Neue"/>
                <a:ea typeface="Helvetica Neue"/>
                <a:cs typeface="Helvetica Neue"/>
              </a:defRPr>
            </a:lvl6pPr>
            <a:lvl7pPr>
              <a:buNone/>
              <a:defRPr sz="2025" b="0">
                <a:solidFill>
                  <a:srgbClr val="CDCDD3"/>
                </a:solidFill>
                <a:latin typeface="Helvetica Neue"/>
                <a:ea typeface="Helvetica Neue"/>
                <a:cs typeface="Helvetica Neue"/>
              </a:defRPr>
            </a:lvl7pPr>
            <a:lvl8pPr>
              <a:buNone/>
              <a:defRPr sz="2025" b="0">
                <a:solidFill>
                  <a:srgbClr val="CDCDD3"/>
                </a:solidFill>
                <a:latin typeface="Helvetica Neue"/>
                <a:ea typeface="Helvetica Neue"/>
                <a:cs typeface="Helvetica Neue"/>
              </a:defRPr>
            </a:lvl8pPr>
            <a:lvl9pPr>
              <a:buNone/>
              <a:defRPr sz="2025" b="0">
                <a:solidFill>
                  <a:srgbClr val="CDCDD3"/>
                </a:solidFill>
                <a:latin typeface="Helvetica Neue"/>
                <a:ea typeface="Helvetica Neue"/>
                <a:cs typeface="Helvetica Neue"/>
              </a:defRPr>
            </a:lvl9pPr>
          </a:lstStyle>
          <a:p xmlns:a="http://schemas.openxmlformats.org/drawingml/2006/main">
            <a:pPr>
              <a:buNone/>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Частота токена показывает число его вхождений в выбранном тексте или корпусе. Документная частота показывает число документов, в которых он встретился хотя бы один раз. Например, многократное повторение слова в одном отзыве повышает частоту вхождений, но добавляет только один документ к документной частоте этого слова.</a:t>
            </a:r>
          </a:p>
        </p:txBody>
      </p:sp>
      <p:sp>
        <p:nvSpPr>
          <p:cNvPr id="32" name="theory-6">
            <a:extLst xmlns:a="http://schemas.openxmlformats.org/drawingml/2006/main">
              <a:ext uri="{FF2B5EF4-FFF2-40B4-BE49-F238E27FC236}">
                <a16:creationId xmlns:a16="http://schemas.microsoft.com/office/drawing/2014/main" id="{909B8A8D-0341-4018-81D2-A58DE11E43D9}"/>
              </a:ext>
            </a:extLst>
          </p:cNvPr>
          <p:cNvSpPr>
            <a:spLocks xmlns:a="http://schemas.openxmlformats.org/drawingml/2006/main" noGrp="1"/>
          </p:cNvSpPr>
          <p:nvPr/>
        </p:nvSpPr>
        <p:spPr>
          <a:xfrm xmlns:a="http://schemas.openxmlformats.org/drawingml/2006/main">
            <a:off x="685800" y="4229100"/>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buNone/>
              <a:defRPr sz="1950" b="1">
                <a:solidFill>
                  <a:srgbClr val="BD9FE3"/>
                </a:solidFill>
                <a:latin typeface="Helvetica Neue"/>
                <a:ea typeface="Helvetica Neue"/>
                <a:cs typeface="Helvetica Neue"/>
              </a:defRPr>
            </a:lvl1pPr>
            <a:lvl2pPr>
              <a:buNone/>
              <a:defRPr sz="1950" b="1">
                <a:solidFill>
                  <a:srgbClr val="BD9FE3"/>
                </a:solidFill>
                <a:latin typeface="Helvetica Neue"/>
                <a:ea typeface="Helvetica Neue"/>
                <a:cs typeface="Helvetica Neue"/>
              </a:defRPr>
            </a:lvl2pPr>
            <a:lvl3pPr>
              <a:buNone/>
              <a:defRPr sz="1950" b="1">
                <a:solidFill>
                  <a:srgbClr val="BD9FE3"/>
                </a:solidFill>
                <a:latin typeface="Helvetica Neue"/>
                <a:ea typeface="Helvetica Neue"/>
                <a:cs typeface="Helvetica Neue"/>
              </a:defRPr>
            </a:lvl3pPr>
            <a:lvl4pPr>
              <a:buNone/>
              <a:defRPr sz="1950" b="1">
                <a:solidFill>
                  <a:srgbClr val="BD9FE3"/>
                </a:solidFill>
                <a:latin typeface="Helvetica Neue"/>
                <a:ea typeface="Helvetica Neue"/>
                <a:cs typeface="Helvetica Neue"/>
              </a:defRPr>
            </a:lvl4pPr>
            <a:lvl5pPr>
              <a:buNone/>
              <a:defRPr sz="1950" b="1">
                <a:solidFill>
                  <a:srgbClr val="BD9FE3"/>
                </a:solidFill>
                <a:latin typeface="Helvetica Neue"/>
                <a:ea typeface="Helvetica Neue"/>
                <a:cs typeface="Helvetica Neue"/>
              </a:defRPr>
            </a:lvl5pPr>
            <a:lvl6pPr>
              <a:buNone/>
              <a:defRPr sz="1950" b="1">
                <a:solidFill>
                  <a:srgbClr val="BD9FE3"/>
                </a:solidFill>
                <a:latin typeface="Helvetica Neue"/>
                <a:ea typeface="Helvetica Neue"/>
                <a:cs typeface="Helvetica Neue"/>
              </a:defRPr>
            </a:lvl6pPr>
            <a:lvl7pPr>
              <a:buNone/>
              <a:defRPr sz="1950" b="1">
                <a:solidFill>
                  <a:srgbClr val="BD9FE3"/>
                </a:solidFill>
                <a:latin typeface="Helvetica Neue"/>
                <a:ea typeface="Helvetica Neue"/>
                <a:cs typeface="Helvetica Neue"/>
              </a:defRPr>
            </a:lvl7pPr>
            <a:lvl8pPr>
              <a:buNone/>
              <a:defRPr sz="1950" b="1">
                <a:solidFill>
                  <a:srgbClr val="BD9FE3"/>
                </a:solidFill>
                <a:latin typeface="Helvetica Neue"/>
                <a:ea typeface="Helvetica Neue"/>
                <a:cs typeface="Helvetica Neue"/>
              </a:defRPr>
            </a:lvl8pPr>
            <a:lvl9pPr>
              <a:buNone/>
              <a:defRPr sz="1950" b="1">
                <a:solidFill>
                  <a:srgbClr val="BD9FE3"/>
                </a:solidFill>
                <a:latin typeface="Helvetica Neue"/>
                <a:ea typeface="Helvetica Neue"/>
                <a:cs typeface="Helvetica Neue"/>
              </a:defRPr>
            </a:lvl9pPr>
          </a:lstStyle>
          <a:p xmlns:a="http://schemas.openxmlformats.org/drawingml/2006/main">
            <a:pPr>
              <a:buNone/>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Интерпретация распределений</a:t>
            </a:r>
          </a:p>
        </p:txBody>
      </p:sp>
      <p:sp>
        <p:nvSpPr>
          <p:cNvPr id="33" name="theory-7">
            <a:extLst xmlns:a="http://schemas.openxmlformats.org/drawingml/2006/main">
              <a:ext uri="{FF2B5EF4-FFF2-40B4-BE49-F238E27FC236}">
                <a16:creationId xmlns:a16="http://schemas.microsoft.com/office/drawing/2014/main" id="{37A0982B-BD6F-429A-BD74-0EAE80012D9A}"/>
              </a:ext>
            </a:extLst>
          </p:cNvPr>
          <p:cNvSpPr>
            <a:spLocks xmlns:a="http://schemas.openxmlformats.org/drawingml/2006/main" noGrp="1"/>
          </p:cNvSpPr>
          <p:nvPr/>
        </p:nvSpPr>
        <p:spPr>
          <a:xfrm xmlns:a="http://schemas.openxmlformats.org/drawingml/2006/main">
            <a:off x="685800" y="4695825"/>
            <a:ext cx="10820400" cy="1743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buNone/>
              <a:defRPr sz="2025" b="0">
                <a:solidFill>
                  <a:srgbClr val="CDCDD3"/>
                </a:solidFill>
                <a:latin typeface="Helvetica Neue"/>
                <a:ea typeface="Helvetica Neue"/>
                <a:cs typeface="Helvetica Neue"/>
              </a:defRPr>
            </a:lvl1pPr>
            <a:lvl2pPr>
              <a:buNone/>
              <a:defRPr sz="2025" b="0">
                <a:solidFill>
                  <a:srgbClr val="CDCDD3"/>
                </a:solidFill>
                <a:latin typeface="Helvetica Neue"/>
                <a:ea typeface="Helvetica Neue"/>
                <a:cs typeface="Helvetica Neue"/>
              </a:defRPr>
            </a:lvl2pPr>
            <a:lvl3pPr>
              <a:buNone/>
              <a:defRPr sz="2025" b="0">
                <a:solidFill>
                  <a:srgbClr val="CDCDD3"/>
                </a:solidFill>
                <a:latin typeface="Helvetica Neue"/>
                <a:ea typeface="Helvetica Neue"/>
                <a:cs typeface="Helvetica Neue"/>
              </a:defRPr>
            </a:lvl3pPr>
            <a:lvl4pPr>
              <a:buNone/>
              <a:defRPr sz="2025" b="0">
                <a:solidFill>
                  <a:srgbClr val="CDCDD3"/>
                </a:solidFill>
                <a:latin typeface="Helvetica Neue"/>
                <a:ea typeface="Helvetica Neue"/>
                <a:cs typeface="Helvetica Neue"/>
              </a:defRPr>
            </a:lvl4pPr>
            <a:lvl5pPr>
              <a:buNone/>
              <a:defRPr sz="2025" b="0">
                <a:solidFill>
                  <a:srgbClr val="CDCDD3"/>
                </a:solidFill>
                <a:latin typeface="Helvetica Neue"/>
                <a:ea typeface="Helvetica Neue"/>
                <a:cs typeface="Helvetica Neue"/>
              </a:defRPr>
            </a:lvl5pPr>
            <a:lvl6pPr>
              <a:buNone/>
              <a:defRPr sz="2025" b="0">
                <a:solidFill>
                  <a:srgbClr val="CDCDD3"/>
                </a:solidFill>
                <a:latin typeface="Helvetica Neue"/>
                <a:ea typeface="Helvetica Neue"/>
                <a:cs typeface="Helvetica Neue"/>
              </a:defRPr>
            </a:lvl6pPr>
            <a:lvl7pPr>
              <a:buNone/>
              <a:defRPr sz="2025" b="0">
                <a:solidFill>
                  <a:srgbClr val="CDCDD3"/>
                </a:solidFill>
                <a:latin typeface="Helvetica Neue"/>
                <a:ea typeface="Helvetica Neue"/>
                <a:cs typeface="Helvetica Neue"/>
              </a:defRPr>
            </a:lvl7pPr>
            <a:lvl8pPr>
              <a:buNone/>
              <a:defRPr sz="2025" b="0">
                <a:solidFill>
                  <a:srgbClr val="CDCDD3"/>
                </a:solidFill>
                <a:latin typeface="Helvetica Neue"/>
                <a:ea typeface="Helvetica Neue"/>
                <a:cs typeface="Helvetica Neue"/>
              </a:defRPr>
            </a:lvl8pPr>
            <a:lvl9pPr>
              <a:buNone/>
              <a:defRPr sz="2025" b="0">
                <a:solidFill>
                  <a:srgbClr val="CDCDD3"/>
                </a:solidFill>
                <a:latin typeface="Helvetica Neue"/>
                <a:ea typeface="Helvetica Neue"/>
                <a:cs typeface="Helvetica Neue"/>
              </a:defRPr>
            </a:lvl9pPr>
          </a:lstStyle>
          <a:p xmlns:a="http://schemas.openxmlformats.org/drawingml/2006/main">
            <a:pPr>
              <a:buNone/>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Частотный анализ помогает обнаруживать характерную лексику, технический шум, дубликаты и особенности источников. Очень частые элементы могут отражать шаблон оформления, а редкие элементы могут быть терминами или опечатками. Полезно сравнивать распределения по классам и источникам, учитывая объём каждой группы и не выводя смысловую значимость только из частоты.</a:t>
            </a:r>
          </a:p>
        </p:txBody>
      </p:sp>
    </p:spTree>
    <p:extLst>
      <p:ext uri="{BB962C8B-B14F-4D97-AF65-F5344CB8AC3E}">
        <p14:creationId xmlns:p14="http://schemas.microsoft.com/office/powerpoint/2010/main" val="148676367"/>
      </p:ext>
    </p:extLst>
  </p:cSld>
</p:sld>
</file>

<file path=ppt/slides/slide4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8" name="exp90-0">
            <a:extLst xmlns:a="http://schemas.openxmlformats.org/drawingml/2006/main">
              <a:ext uri="{FF2B5EF4-FFF2-40B4-BE49-F238E27FC236}">
                <a16:creationId xmlns:a16="http://schemas.microsoft.com/office/drawing/2014/main" id="{995CB5CE-C254-4C8B-AFFC-AE911958F150}"/>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90-1">
            <a:extLst xmlns:a="http://schemas.openxmlformats.org/drawingml/2006/main">
              <a:ext uri="{FF2B5EF4-FFF2-40B4-BE49-F238E27FC236}">
                <a16:creationId xmlns:a16="http://schemas.microsoft.com/office/drawing/2014/main" id="{367A7C85-F1FB-41E4-806D-7218BB1AE5AF}"/>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45</a:t>
            </a:r>
          </a:p>
        </p:txBody>
      </p:sp>
      <p:sp>
        <p:nvSpPr>
          <p:cNvPr id="3" name="">
            <a:extLst xmlns:a="http://schemas.openxmlformats.org/drawingml/2006/main">
              <a:ext uri="{FF2B5EF4-FFF2-40B4-BE49-F238E27FC236}">
                <a16:creationId xmlns:a16="http://schemas.microsoft.com/office/drawing/2014/main" id="{985AD7EE-CA01-4664-AD0F-3B63E7670867}"/>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0">
            <a:solidFill>
              <a:srgbClr val="28282B"/>
            </a:solidFill>
          </a:ln>
        </p:spPr>
      </p:sp>
      <p:sp>
        <p:nvSpPr>
          <p:cNvPr id="4" name="exp90-3">
            <a:extLst xmlns:a="http://schemas.openxmlformats.org/drawingml/2006/main">
              <a:ext uri="{FF2B5EF4-FFF2-40B4-BE49-F238E27FC236}">
                <a16:creationId xmlns:a16="http://schemas.microsoft.com/office/drawing/2014/main" id="{AC849866-F05E-4847-A52A-A2646C9683E6}"/>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Token frequency</a:t>
            </a:r>
          </a:p>
        </p:txBody>
      </p:sp>
      <p:pic>
        <p:nvPicPr>
          <p:cNvPr id="5" name="">
            <a:extLst xmlns:a="http://schemas.openxmlformats.org/drawingml/2006/main">
              <a:ext uri="{FF2B5EF4-FFF2-40B4-BE49-F238E27FC236}">
                <a16:creationId xmlns:a16="http://schemas.microsoft.com/office/drawing/2014/main" id="{2315763B-6AE3-4C54-9E30-334709B166F2}"/>
              </a:ext>
            </a:extLst>
          </p:cNvPr>
          <p:cNvPicPr>
            <a:picLocks xmlns:a="http://schemas.openxmlformats.org/drawingml/2006/main" noChangeAspect="1"/>
          </p:cNvPicPr>
          <p:nvPr/>
        </p:nvPicPr>
        <p:blipFill>
          <a:blip xmlns:r="http://schemas.openxmlformats.org/officeDocument/2006/relationships" xmlns:a="http://schemas.openxmlformats.org/drawingml/2006/main" r:embed="R6b043f8027654ff0"/>
          <a:srcRect xmlns:a="http://schemas.openxmlformats.org/drawingml/2006/main" l="0" t="0" r="0" b="0"/>
          <a:stretch xmlns:a="http://schemas.openxmlformats.org/drawingml/2006/main">
            <a:fillRect l="0" t="0" r="0" b="0"/>
          </a:stretch>
        </p:blipFill>
        <p:spPr>
          <a:xfrm xmlns:a="http://schemas.openxmlformats.org/drawingml/2006/main">
            <a:off x="2486828" y="1943100"/>
            <a:ext cx="7218343" cy="4048125"/>
          </a:xfrm>
          <a:prstGeom xmlns:a="http://schemas.openxmlformats.org/drawingml/2006/main" prst="rect">
            <a:avLst/>
          </a:prstGeom>
        </p:spPr>
      </p:pic>
      <p:sp>
        <p:nvSpPr>
          <p:cNvPr id="6" name="exp90-4">
            <a:extLst xmlns:a="http://schemas.openxmlformats.org/drawingml/2006/main">
              <a:ext uri="{FF2B5EF4-FFF2-40B4-BE49-F238E27FC236}">
                <a16:creationId xmlns:a16="http://schemas.microsoft.com/office/drawing/2014/main" id="{E713CC77-476F-415A-81FC-5B357A8720F1}"/>
              </a:ext>
            </a:extLst>
          </p:cNvPr>
          <p:cNvSpPr>
            <a:spLocks xmlns:a="http://schemas.openxmlformats.org/drawingml/2006/main" noGrp="1"/>
          </p:cNvSpPr>
          <p:nvPr/>
        </p:nvSpPr>
        <p:spPr>
          <a:xfrm xmlns:a="http://schemas.openxmlformats.org/drawingml/2006/main">
            <a:off x="685800" y="6153150"/>
            <a:ext cx="10820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CDCDD3"/>
                </a:solidFill>
                <a:latin typeface="Helvetica Neue"/>
                <a:ea typeface="Helvetica Neue"/>
                <a:cs typeface="Helvetica Neue"/>
              </a:defRPr>
            </a:defPPr>
            <a:lvl1pPr>
              <a:buNone/>
              <a:defRPr sz="1650" b="0">
                <a:solidFill>
                  <a:srgbClr val="CDCDD3"/>
                </a:solidFill>
                <a:latin typeface="Helvetica Neue"/>
                <a:ea typeface="Helvetica Neue"/>
                <a:cs typeface="Helvetica Neue"/>
              </a:defRPr>
            </a:lvl1pPr>
            <a:lvl2pPr>
              <a:buNone/>
              <a:defRPr sz="1650" b="0">
                <a:solidFill>
                  <a:srgbClr val="CDCDD3"/>
                </a:solidFill>
                <a:latin typeface="Helvetica Neue"/>
                <a:ea typeface="Helvetica Neue"/>
                <a:cs typeface="Helvetica Neue"/>
              </a:defRPr>
            </a:lvl2pPr>
            <a:lvl3pPr>
              <a:buNone/>
              <a:defRPr sz="1650" b="0">
                <a:solidFill>
                  <a:srgbClr val="CDCDD3"/>
                </a:solidFill>
                <a:latin typeface="Helvetica Neue"/>
                <a:ea typeface="Helvetica Neue"/>
                <a:cs typeface="Helvetica Neue"/>
              </a:defRPr>
            </a:lvl3pPr>
            <a:lvl4pPr>
              <a:buNone/>
              <a:defRPr sz="1650" b="0">
                <a:solidFill>
                  <a:srgbClr val="CDCDD3"/>
                </a:solidFill>
                <a:latin typeface="Helvetica Neue"/>
                <a:ea typeface="Helvetica Neue"/>
                <a:cs typeface="Helvetica Neue"/>
              </a:defRPr>
            </a:lvl4pPr>
            <a:lvl5pPr>
              <a:buNone/>
              <a:defRPr sz="1650" b="0">
                <a:solidFill>
                  <a:srgbClr val="CDCDD3"/>
                </a:solidFill>
                <a:latin typeface="Helvetica Neue"/>
                <a:ea typeface="Helvetica Neue"/>
                <a:cs typeface="Helvetica Neue"/>
              </a:defRPr>
            </a:lvl5pPr>
            <a:lvl6pPr>
              <a:buNone/>
              <a:defRPr sz="1650" b="0">
                <a:solidFill>
                  <a:srgbClr val="CDCDD3"/>
                </a:solidFill>
                <a:latin typeface="Helvetica Neue"/>
                <a:ea typeface="Helvetica Neue"/>
                <a:cs typeface="Helvetica Neue"/>
              </a:defRPr>
            </a:lvl6pPr>
            <a:lvl7pPr>
              <a:buNone/>
              <a:defRPr sz="1650" b="0">
                <a:solidFill>
                  <a:srgbClr val="CDCDD3"/>
                </a:solidFill>
                <a:latin typeface="Helvetica Neue"/>
                <a:ea typeface="Helvetica Neue"/>
                <a:cs typeface="Helvetica Neue"/>
              </a:defRPr>
            </a:lvl7pPr>
            <a:lvl8pPr>
              <a:buNone/>
              <a:defRPr sz="1650" b="0">
                <a:solidFill>
                  <a:srgbClr val="CDCDD3"/>
                </a:solidFill>
                <a:latin typeface="Helvetica Neue"/>
                <a:ea typeface="Helvetica Neue"/>
                <a:cs typeface="Helvetica Neue"/>
              </a:defRPr>
            </a:lvl8pPr>
            <a:lvl9pPr>
              <a:buNone/>
              <a:defRPr sz="1650" b="0">
                <a:solidFill>
                  <a:srgbClr val="CDCDD3"/>
                </a:solidFill>
                <a:latin typeface="Helvetica Neue"/>
                <a:ea typeface="Helvetica Neue"/>
                <a:cs typeface="Helvetica Neue"/>
              </a:defRPr>
            </a:lvl9pPr>
          </a:lstStyle>
          <a:p xmlns:a="http://schemas.openxmlformats.org/drawingml/2006/main">
            <a:pPr>
              <a:buNone/>
              <a:defRPr sz="1650" b="0">
                <a:solidFill>
                  <a:srgbClr val="CDCDD3"/>
                </a:solidFill>
                <a:latin typeface="Helvetica Neue"/>
                <a:ea typeface="Helvetica Neue"/>
                <a:cs typeface="Helvetica Neue"/>
              </a:defRPr>
            </a:pPr>
            <a:r>
              <a:rPr sz="1650" b="0">
                <a:solidFill>
                  <a:srgbClr val="CDCDD3"/>
                </a:solidFill>
                <a:latin typeface="Helvetica Neue"/>
                <a:ea typeface="Helvetica Neue"/>
                <a:cs typeface="Helvetica Neue"/>
              </a:rPr>
              <a:t>По X: частые токены. По Y: сумма их вхождений. Данные Moby Dick из NLTK Book.</a:t>
            </a:r>
          </a:p>
        </p:txBody>
      </p:sp>
      <p:sp>
        <p:nvSpPr>
          <p:cNvPr id="7" name="exp90-5">
            <a:extLst xmlns:a="http://schemas.openxmlformats.org/drawingml/2006/main">
              <a:ext uri="{FF2B5EF4-FFF2-40B4-BE49-F238E27FC236}">
                <a16:creationId xmlns:a16="http://schemas.microsoft.com/office/drawing/2014/main" id="{5EF5DF61-D13D-43E0-9BDA-791121848931}"/>
              </a:ext>
            </a:extLst>
          </p:cNvPr>
          <p:cNvSpPr>
            <a:spLocks xmlns:a="http://schemas.openxmlformats.org/drawingml/2006/main" noGrp="1"/>
          </p:cNvSpPr>
          <p:nvPr/>
        </p:nvSpPr>
        <p:spPr>
          <a:xfrm xmlns:a="http://schemas.openxmlformats.org/drawingml/2006/main">
            <a:off x="685800" y="6648450"/>
            <a:ext cx="10820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63" b="0">
                <a:solidFill>
                  <a:srgbClr val="98989F"/>
                </a:solidFill>
                <a:latin typeface="Helvetica Neue"/>
                <a:ea typeface="Helvetica Neue"/>
                <a:cs typeface="Helvetica Neue"/>
              </a:defRPr>
            </a:defPPr>
            <a:lvl1pPr>
              <a:buNone/>
              <a:defRPr sz="1163" b="0">
                <a:solidFill>
                  <a:srgbClr val="98989F"/>
                </a:solidFill>
                <a:latin typeface="Helvetica Neue"/>
                <a:ea typeface="Helvetica Neue"/>
                <a:cs typeface="Helvetica Neue"/>
              </a:defRPr>
            </a:lvl1pPr>
            <a:lvl2pPr>
              <a:buNone/>
              <a:defRPr sz="1163" b="0">
                <a:solidFill>
                  <a:srgbClr val="98989F"/>
                </a:solidFill>
                <a:latin typeface="Helvetica Neue"/>
                <a:ea typeface="Helvetica Neue"/>
                <a:cs typeface="Helvetica Neue"/>
              </a:defRPr>
            </a:lvl2pPr>
            <a:lvl3pPr>
              <a:buNone/>
              <a:defRPr sz="1163" b="0">
                <a:solidFill>
                  <a:srgbClr val="98989F"/>
                </a:solidFill>
                <a:latin typeface="Helvetica Neue"/>
                <a:ea typeface="Helvetica Neue"/>
                <a:cs typeface="Helvetica Neue"/>
              </a:defRPr>
            </a:lvl3pPr>
            <a:lvl4pPr>
              <a:buNone/>
              <a:defRPr sz="1163" b="0">
                <a:solidFill>
                  <a:srgbClr val="98989F"/>
                </a:solidFill>
                <a:latin typeface="Helvetica Neue"/>
                <a:ea typeface="Helvetica Neue"/>
                <a:cs typeface="Helvetica Neue"/>
              </a:defRPr>
            </a:lvl4pPr>
            <a:lvl5pPr>
              <a:buNone/>
              <a:defRPr sz="1163" b="0">
                <a:solidFill>
                  <a:srgbClr val="98989F"/>
                </a:solidFill>
                <a:latin typeface="Helvetica Neue"/>
                <a:ea typeface="Helvetica Neue"/>
                <a:cs typeface="Helvetica Neue"/>
              </a:defRPr>
            </a:lvl5pPr>
            <a:lvl6pPr>
              <a:buNone/>
              <a:defRPr sz="1163" b="0">
                <a:solidFill>
                  <a:srgbClr val="98989F"/>
                </a:solidFill>
                <a:latin typeface="Helvetica Neue"/>
                <a:ea typeface="Helvetica Neue"/>
                <a:cs typeface="Helvetica Neue"/>
              </a:defRPr>
            </a:lvl6pPr>
            <a:lvl7pPr>
              <a:buNone/>
              <a:defRPr sz="1163" b="0">
                <a:solidFill>
                  <a:srgbClr val="98989F"/>
                </a:solidFill>
                <a:latin typeface="Helvetica Neue"/>
                <a:ea typeface="Helvetica Neue"/>
                <a:cs typeface="Helvetica Neue"/>
              </a:defRPr>
            </a:lvl7pPr>
            <a:lvl8pPr>
              <a:buNone/>
              <a:defRPr sz="1163" b="0">
                <a:solidFill>
                  <a:srgbClr val="98989F"/>
                </a:solidFill>
                <a:latin typeface="Helvetica Neue"/>
                <a:ea typeface="Helvetica Neue"/>
                <a:cs typeface="Helvetica Neue"/>
              </a:defRPr>
            </a:lvl8pPr>
            <a:lvl9pPr>
              <a:buNone/>
              <a:defRPr sz="1163" b="0">
                <a:solidFill>
                  <a:srgbClr val="98989F"/>
                </a:solidFill>
                <a:latin typeface="Helvetica Neue"/>
                <a:ea typeface="Helvetica Neue"/>
                <a:cs typeface="Helvetica Neue"/>
              </a:defRPr>
            </a:lvl9pPr>
          </a:lstStyle>
          <a:p xmlns:a="http://schemas.openxmlformats.org/drawingml/2006/main">
            <a:pPr>
              <a:buNone/>
              <a:defRPr sz="1163" b="0">
                <a:solidFill>
                  <a:srgbClr val="98989F"/>
                </a:solidFill>
                <a:latin typeface="Helvetica Neue"/>
                <a:ea typeface="Helvetica Neue"/>
                <a:cs typeface="Helvetica Neue"/>
              </a:defRPr>
            </a:pPr>
            <a:r>
              <a:rPr sz="1163" b="0">
                <a:solidFill>
                  <a:srgbClr val="98989F"/>
                </a:solidFill>
                <a:latin typeface="Helvetica Neue"/>
                <a:ea typeface="Helvetica Neue"/>
                <a:cs typeface="Helvetica Neue"/>
                <a:hlinkClick xmlns:r="http://schemas.openxmlformats.org/officeDocument/2006/relationships" r:id="R9056be80896d4363"/>
              </a:rPr>
              <a:t>Источник: NLTK Book, гл. 1</a:t>
            </a:r>
          </a:p>
        </p:txBody>
      </p:sp>
    </p:spTree>
    <p:extLst>
      <p:ext uri="{BB962C8B-B14F-4D97-AF65-F5344CB8AC3E}">
        <p14:creationId xmlns:p14="http://schemas.microsoft.com/office/powerpoint/2010/main" val="446426707"/>
      </p:ext>
    </p:extLst>
  </p:cSld>
</p:sld>
</file>

<file path=ppt/slides/slide4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396ABA50-DFD7-48BE-9A9E-3F9862B2140D}"/>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98989F"/>
                </a:solidFill>
                <a:latin typeface="Helvetica Neue"/>
                <a:ea typeface="Helvetica Neue"/>
                <a:cs typeface="Helvetica Neue"/>
              </a:defRPr>
            </a:defPPr>
            <a:lvl1pPr algn="l">
              <a:buNone/>
              <a:defRPr sz="1425" b="0">
                <a:solidFill>
                  <a:srgbClr val="98989F"/>
                </a:solidFill>
                <a:latin typeface="Helvetica Neue"/>
                <a:ea typeface="Helvetica Neue"/>
                <a:cs typeface="Helvetica Neue"/>
              </a:defRPr>
            </a:lvl1pPr>
            <a:lvl2pPr algn="l">
              <a:buNone/>
              <a:defRPr sz="1425" b="0">
                <a:solidFill>
                  <a:srgbClr val="98989F"/>
                </a:solidFill>
                <a:latin typeface="Helvetica Neue"/>
                <a:ea typeface="Helvetica Neue"/>
                <a:cs typeface="Helvetica Neue"/>
              </a:defRPr>
            </a:lvl2pPr>
            <a:lvl3pPr algn="l">
              <a:buNone/>
              <a:defRPr sz="1425" b="0">
                <a:solidFill>
                  <a:srgbClr val="98989F"/>
                </a:solidFill>
                <a:latin typeface="Helvetica Neue"/>
                <a:ea typeface="Helvetica Neue"/>
                <a:cs typeface="Helvetica Neue"/>
              </a:defRPr>
            </a:lvl3pPr>
            <a:lvl4pPr algn="l">
              <a:buNone/>
              <a:defRPr sz="1425" b="0">
                <a:solidFill>
                  <a:srgbClr val="98989F"/>
                </a:solidFill>
                <a:latin typeface="Helvetica Neue"/>
                <a:ea typeface="Helvetica Neue"/>
                <a:cs typeface="Helvetica Neue"/>
              </a:defRPr>
            </a:lvl4pPr>
            <a:lvl5pPr algn="l">
              <a:buNone/>
              <a:defRPr sz="1425" b="0">
                <a:solidFill>
                  <a:srgbClr val="98989F"/>
                </a:solidFill>
                <a:latin typeface="Helvetica Neue"/>
                <a:ea typeface="Helvetica Neue"/>
                <a:cs typeface="Helvetica Neue"/>
              </a:defRPr>
            </a:lvl5pPr>
            <a:lvl6pPr algn="l">
              <a:buNone/>
              <a:defRPr sz="1425" b="0">
                <a:solidFill>
                  <a:srgbClr val="98989F"/>
                </a:solidFill>
                <a:latin typeface="Helvetica Neue"/>
                <a:ea typeface="Helvetica Neue"/>
                <a:cs typeface="Helvetica Neue"/>
              </a:defRPr>
            </a:lvl6pPr>
            <a:lvl7pPr algn="l">
              <a:buNone/>
              <a:defRPr sz="1425" b="0">
                <a:solidFill>
                  <a:srgbClr val="98989F"/>
                </a:solidFill>
                <a:latin typeface="Helvetica Neue"/>
                <a:ea typeface="Helvetica Neue"/>
                <a:cs typeface="Helvetica Neue"/>
              </a:defRPr>
            </a:lvl7pPr>
            <a:lvl8pPr algn="l">
              <a:buNone/>
              <a:defRPr sz="1425" b="0">
                <a:solidFill>
                  <a:srgbClr val="98989F"/>
                </a:solidFill>
                <a:latin typeface="Helvetica Neue"/>
                <a:ea typeface="Helvetica Neue"/>
                <a:cs typeface="Helvetica Neue"/>
              </a:defRPr>
            </a:lvl8pPr>
            <a:lvl9pPr algn="l">
              <a:buNone/>
              <a:defRPr sz="1425" b="0">
                <a:solidFill>
                  <a:srgbClr val="98989F"/>
                </a:solidFill>
                <a:latin typeface="Helvetica Neue"/>
                <a:ea typeface="Helvetica Neue"/>
                <a:cs typeface="Helvetica Neue"/>
              </a:defRPr>
            </a:lvl9pPr>
          </a:lstStyle>
          <a:p xmlns:a="http://schemas.openxmlformats.org/drawingml/2006/main">
            <a:pPr algn="l">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text-1">
            <a:extLst xmlns:a="http://schemas.openxmlformats.org/drawingml/2006/main">
              <a:ext uri="{FF2B5EF4-FFF2-40B4-BE49-F238E27FC236}">
                <a16:creationId xmlns:a16="http://schemas.microsoft.com/office/drawing/2014/main" id="{24BF321E-1DAC-40EE-8405-891B183F5E5E}"/>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46</a:t>
            </a:r>
          </a:p>
        </p:txBody>
      </p:sp>
      <p:sp>
        <p:nvSpPr>
          <p:cNvPr id="3" name="">
            <a:extLst xmlns:a="http://schemas.openxmlformats.org/drawingml/2006/main">
              <a:ext uri="{FF2B5EF4-FFF2-40B4-BE49-F238E27FC236}">
                <a16:creationId xmlns:a16="http://schemas.microsoft.com/office/drawing/2014/main" id="{97886F11-842B-4C58-B19D-15628088A945}"/>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prstDash val="solid"/>
          </a:ln>
        </p:spPr>
      </p:sp>
      <p:sp>
        <p:nvSpPr>
          <p:cNvPr id="4" name="text-3">
            <a:extLst xmlns:a="http://schemas.openxmlformats.org/drawingml/2006/main">
              <a:ext uri="{FF2B5EF4-FFF2-40B4-BE49-F238E27FC236}">
                <a16:creationId xmlns:a16="http://schemas.microsoft.com/office/drawing/2014/main" id="{B3838B9E-9C86-419E-8725-D3FA9EFB70C4}"/>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5F7"/>
                </a:solidFill>
                <a:latin typeface="Helvetica Neue"/>
                <a:ea typeface="Helvetica Neue"/>
                <a:cs typeface="Helvetica Neue"/>
              </a:defRPr>
            </a:defPPr>
            <a:lvl1pPr algn="l">
              <a:buNone/>
              <a:defRPr sz="3450" b="1">
                <a:solidFill>
                  <a:srgbClr val="F5F5F7"/>
                </a:solidFill>
                <a:latin typeface="Helvetica Neue"/>
                <a:ea typeface="Helvetica Neue"/>
                <a:cs typeface="Helvetica Neue"/>
              </a:defRPr>
            </a:lvl1pPr>
            <a:lvl2pPr algn="l">
              <a:buNone/>
              <a:defRPr sz="3450" b="1">
                <a:solidFill>
                  <a:srgbClr val="F5F5F7"/>
                </a:solidFill>
                <a:latin typeface="Helvetica Neue"/>
                <a:ea typeface="Helvetica Neue"/>
                <a:cs typeface="Helvetica Neue"/>
              </a:defRPr>
            </a:lvl2pPr>
            <a:lvl3pPr algn="l">
              <a:buNone/>
              <a:defRPr sz="3450" b="1">
                <a:solidFill>
                  <a:srgbClr val="F5F5F7"/>
                </a:solidFill>
                <a:latin typeface="Helvetica Neue"/>
                <a:ea typeface="Helvetica Neue"/>
                <a:cs typeface="Helvetica Neue"/>
              </a:defRPr>
            </a:lvl3pPr>
            <a:lvl4pPr algn="l">
              <a:buNone/>
              <a:defRPr sz="3450" b="1">
                <a:solidFill>
                  <a:srgbClr val="F5F5F7"/>
                </a:solidFill>
                <a:latin typeface="Helvetica Neue"/>
                <a:ea typeface="Helvetica Neue"/>
                <a:cs typeface="Helvetica Neue"/>
              </a:defRPr>
            </a:lvl4pPr>
            <a:lvl5pPr algn="l">
              <a:buNone/>
              <a:defRPr sz="3450" b="1">
                <a:solidFill>
                  <a:srgbClr val="F5F5F7"/>
                </a:solidFill>
                <a:latin typeface="Helvetica Neue"/>
                <a:ea typeface="Helvetica Neue"/>
                <a:cs typeface="Helvetica Neue"/>
              </a:defRPr>
            </a:lvl5pPr>
            <a:lvl6pPr algn="l">
              <a:buNone/>
              <a:defRPr sz="3450" b="1">
                <a:solidFill>
                  <a:srgbClr val="F5F5F7"/>
                </a:solidFill>
                <a:latin typeface="Helvetica Neue"/>
                <a:ea typeface="Helvetica Neue"/>
                <a:cs typeface="Helvetica Neue"/>
              </a:defRPr>
            </a:lvl6pPr>
            <a:lvl7pPr algn="l">
              <a:buNone/>
              <a:defRPr sz="3450" b="1">
                <a:solidFill>
                  <a:srgbClr val="F5F5F7"/>
                </a:solidFill>
                <a:latin typeface="Helvetica Neue"/>
                <a:ea typeface="Helvetica Neue"/>
                <a:cs typeface="Helvetica Neue"/>
              </a:defRPr>
            </a:lvl7pPr>
            <a:lvl8pPr algn="l">
              <a:buNone/>
              <a:defRPr sz="3450" b="1">
                <a:solidFill>
                  <a:srgbClr val="F5F5F7"/>
                </a:solidFill>
                <a:latin typeface="Helvetica Neue"/>
                <a:ea typeface="Helvetica Neue"/>
                <a:cs typeface="Helvetica Neue"/>
              </a:defRPr>
            </a:lvl8pPr>
            <a:lvl9pPr algn="l">
              <a:buNone/>
              <a:defRPr sz="3450" b="1">
                <a:solidFill>
                  <a:srgbClr val="F5F5F7"/>
                </a:solidFill>
                <a:latin typeface="Helvetica Neue"/>
                <a:ea typeface="Helvetica Neue"/>
                <a:cs typeface="Helvetica Neue"/>
              </a:defRPr>
            </a:lvl9pPr>
          </a:lstStyle>
          <a:p xmlns:a="http://schemas.openxmlformats.org/drawingml/2006/main">
            <a:pPr algn="l">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Zipf’s law</a:t>
            </a:r>
          </a:p>
        </p:txBody>
      </p:sp>
      <p:graphicFrame>
        <p:nvGraphicFramePr>
          <p:cNvPr id="7" name="Chart">
            <a:extLst xmlns:a="http://schemas.openxmlformats.org/drawingml/2006/main">
              <a:ext uri="{FF2B5EF4-FFF2-40B4-BE49-F238E27FC236}">
                <a16:creationId xmlns:a16="http://schemas.microsoft.com/office/drawing/2014/main" id="{206B5EDE-2D61-4311-93FE-E3657673C5D3}"/>
              </a:ext>
            </a:extLst>
          </p:cNvPr>
          <p:cNvGraphicFramePr/>
          <p:nvPr/>
        </p:nvGraphicFramePr>
        <p:xfrm>
          <a:off xmlns:a="http://schemas.openxmlformats.org/drawingml/2006/main" x="628650" y="2219325"/>
          <a:ext xmlns:a="http://schemas.openxmlformats.org/drawingml/2006/main" cx="5905500" cy="3333750"/>
        </p:xfrm>
        <a:graphic xmlns:a="http://schemas.openxmlformats.org/drawingml/2006/main">
          <a:graphicData uri="http://schemas.openxmlformats.org/drawingml/2006/chart">
            <c:chart xmlns:r="http://schemas.openxmlformats.org/officeDocument/2006/relationships" xmlns:c="http://schemas.openxmlformats.org/drawingml/2006/chart" r:id="Re00d194a3e604167"/>
          </a:graphicData>
        </a:graphic>
      </p:graphicFrame>
      <p:sp>
        <p:nvSpPr>
          <p:cNvPr id="10" name="academic-4">
            <a:extLst xmlns:a="http://schemas.openxmlformats.org/drawingml/2006/main">
              <a:ext uri="{FF2B5EF4-FFF2-40B4-BE49-F238E27FC236}">
                <a16:creationId xmlns:a16="http://schemas.microsoft.com/office/drawing/2014/main" id="{196A2954-AA74-4398-A8DE-16E106070903}"/>
              </a:ext>
            </a:extLst>
          </p:cNvPr>
          <p:cNvSpPr>
            <a:spLocks xmlns:a="http://schemas.openxmlformats.org/drawingml/2006/main" noGrp="1"/>
          </p:cNvSpPr>
          <p:nvPr/>
        </p:nvSpPr>
        <p:spPr>
          <a:xfrm xmlns:a="http://schemas.openxmlformats.org/drawingml/2006/main">
            <a:off x="685800" y="1943100"/>
            <a:ext cx="571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0">
                <a:solidFill>
                  <a:srgbClr val="98989F"/>
                </a:solidFill>
                <a:latin typeface="Helvetica Neue"/>
                <a:ea typeface="Helvetica Neue"/>
                <a:cs typeface="Helvetica Neue"/>
              </a:defRPr>
            </a:defPPr>
            <a:lvl1pPr>
              <a:buNone/>
              <a:defRPr sz="1500" b="0">
                <a:solidFill>
                  <a:srgbClr val="98989F"/>
                </a:solidFill>
                <a:latin typeface="Helvetica Neue"/>
                <a:ea typeface="Helvetica Neue"/>
                <a:cs typeface="Helvetica Neue"/>
              </a:defRPr>
            </a:lvl1pPr>
            <a:lvl2pPr>
              <a:buNone/>
              <a:defRPr sz="1500" b="0">
                <a:solidFill>
                  <a:srgbClr val="98989F"/>
                </a:solidFill>
                <a:latin typeface="Helvetica Neue"/>
                <a:ea typeface="Helvetica Neue"/>
                <a:cs typeface="Helvetica Neue"/>
              </a:defRPr>
            </a:lvl2pPr>
            <a:lvl3pPr>
              <a:buNone/>
              <a:defRPr sz="1500" b="0">
                <a:solidFill>
                  <a:srgbClr val="98989F"/>
                </a:solidFill>
                <a:latin typeface="Helvetica Neue"/>
                <a:ea typeface="Helvetica Neue"/>
                <a:cs typeface="Helvetica Neue"/>
              </a:defRPr>
            </a:lvl3pPr>
            <a:lvl4pPr>
              <a:buNone/>
              <a:defRPr sz="1500" b="0">
                <a:solidFill>
                  <a:srgbClr val="98989F"/>
                </a:solidFill>
                <a:latin typeface="Helvetica Neue"/>
                <a:ea typeface="Helvetica Neue"/>
                <a:cs typeface="Helvetica Neue"/>
              </a:defRPr>
            </a:lvl4pPr>
            <a:lvl5pPr>
              <a:buNone/>
              <a:defRPr sz="1500" b="0">
                <a:solidFill>
                  <a:srgbClr val="98989F"/>
                </a:solidFill>
                <a:latin typeface="Helvetica Neue"/>
                <a:ea typeface="Helvetica Neue"/>
                <a:cs typeface="Helvetica Neue"/>
              </a:defRPr>
            </a:lvl5pPr>
            <a:lvl6pPr>
              <a:buNone/>
              <a:defRPr sz="1500" b="0">
                <a:solidFill>
                  <a:srgbClr val="98989F"/>
                </a:solidFill>
                <a:latin typeface="Helvetica Neue"/>
                <a:ea typeface="Helvetica Neue"/>
                <a:cs typeface="Helvetica Neue"/>
              </a:defRPr>
            </a:lvl6pPr>
            <a:lvl7pPr>
              <a:buNone/>
              <a:defRPr sz="1500" b="0">
                <a:solidFill>
                  <a:srgbClr val="98989F"/>
                </a:solidFill>
                <a:latin typeface="Helvetica Neue"/>
                <a:ea typeface="Helvetica Neue"/>
                <a:cs typeface="Helvetica Neue"/>
              </a:defRPr>
            </a:lvl7pPr>
            <a:lvl8pPr>
              <a:buNone/>
              <a:defRPr sz="1500" b="0">
                <a:solidFill>
                  <a:srgbClr val="98989F"/>
                </a:solidFill>
                <a:latin typeface="Helvetica Neue"/>
                <a:ea typeface="Helvetica Neue"/>
                <a:cs typeface="Helvetica Neue"/>
              </a:defRPr>
            </a:lvl8pPr>
            <a:lvl9pPr>
              <a:buNone/>
              <a:defRPr sz="1500" b="0">
                <a:solidFill>
                  <a:srgbClr val="98989F"/>
                </a:solidFill>
                <a:latin typeface="Helvetica Neue"/>
                <a:ea typeface="Helvetica Neue"/>
                <a:cs typeface="Helvetica Neue"/>
              </a:defRPr>
            </a:lvl9pPr>
          </a:lstStyle>
          <a:p xmlns:a="http://schemas.openxmlformats.org/drawingml/2006/main">
            <a:pPr>
              <a:buNone/>
              <a:defRPr sz="1500" b="0">
                <a:solidFill>
                  <a:srgbClr val="98989F"/>
                </a:solidFill>
                <a:latin typeface="Helvetica Neue"/>
                <a:ea typeface="Helvetica Neue"/>
                <a:cs typeface="Helvetica Neue"/>
              </a:defRPr>
            </a:pPr>
            <a:r>
              <a:rPr sz="1500" b="0">
                <a:solidFill>
                  <a:srgbClr val="98989F"/>
                </a:solidFill>
                <a:latin typeface="Helvetica Neue"/>
                <a:ea typeface="Helvetica Neue"/>
                <a:cs typeface="Helvetica Neue"/>
              </a:rPr>
              <a:t>Условная частота</a:t>
            </a:r>
          </a:p>
        </p:txBody>
      </p:sp>
      <p:sp>
        <p:nvSpPr>
          <p:cNvPr id="11" name="theory-5">
            <a:extLst xmlns:a="http://schemas.openxmlformats.org/drawingml/2006/main">
              <a:ext uri="{FF2B5EF4-FFF2-40B4-BE49-F238E27FC236}">
                <a16:creationId xmlns:a16="http://schemas.microsoft.com/office/drawing/2014/main" id="{67194FF4-3806-48C7-85EE-84E256C982B9}"/>
              </a:ext>
            </a:extLst>
          </p:cNvPr>
          <p:cNvSpPr>
            <a:spLocks xmlns:a="http://schemas.openxmlformats.org/drawingml/2006/main" noGrp="1"/>
          </p:cNvSpPr>
          <p:nvPr/>
        </p:nvSpPr>
        <p:spPr>
          <a:xfrm xmlns:a="http://schemas.openxmlformats.org/drawingml/2006/main">
            <a:off x="685800" y="1943100"/>
            <a:ext cx="571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0">
                <a:solidFill>
                  <a:srgbClr val="98989F"/>
                </a:solidFill>
                <a:latin typeface="Helvetica Neue"/>
                <a:ea typeface="Helvetica Neue"/>
                <a:cs typeface="Helvetica Neue"/>
              </a:defRPr>
            </a:defPPr>
            <a:lvl1pPr>
              <a:buNone/>
              <a:defRPr sz="1500" b="0">
                <a:solidFill>
                  <a:srgbClr val="98989F"/>
                </a:solidFill>
                <a:latin typeface="Helvetica Neue"/>
                <a:ea typeface="Helvetica Neue"/>
                <a:cs typeface="Helvetica Neue"/>
              </a:defRPr>
            </a:lvl1pPr>
            <a:lvl2pPr>
              <a:buNone/>
              <a:defRPr sz="1500" b="0">
                <a:solidFill>
                  <a:srgbClr val="98989F"/>
                </a:solidFill>
                <a:latin typeface="Helvetica Neue"/>
                <a:ea typeface="Helvetica Neue"/>
                <a:cs typeface="Helvetica Neue"/>
              </a:defRPr>
            </a:lvl2pPr>
            <a:lvl3pPr>
              <a:buNone/>
              <a:defRPr sz="1500" b="0">
                <a:solidFill>
                  <a:srgbClr val="98989F"/>
                </a:solidFill>
                <a:latin typeface="Helvetica Neue"/>
                <a:ea typeface="Helvetica Neue"/>
                <a:cs typeface="Helvetica Neue"/>
              </a:defRPr>
            </a:lvl3pPr>
            <a:lvl4pPr>
              <a:buNone/>
              <a:defRPr sz="1500" b="0">
                <a:solidFill>
                  <a:srgbClr val="98989F"/>
                </a:solidFill>
                <a:latin typeface="Helvetica Neue"/>
                <a:ea typeface="Helvetica Neue"/>
                <a:cs typeface="Helvetica Neue"/>
              </a:defRPr>
            </a:lvl4pPr>
            <a:lvl5pPr>
              <a:buNone/>
              <a:defRPr sz="1500" b="0">
                <a:solidFill>
                  <a:srgbClr val="98989F"/>
                </a:solidFill>
                <a:latin typeface="Helvetica Neue"/>
                <a:ea typeface="Helvetica Neue"/>
                <a:cs typeface="Helvetica Neue"/>
              </a:defRPr>
            </a:lvl5pPr>
            <a:lvl6pPr>
              <a:buNone/>
              <a:defRPr sz="1500" b="0">
                <a:solidFill>
                  <a:srgbClr val="98989F"/>
                </a:solidFill>
                <a:latin typeface="Helvetica Neue"/>
                <a:ea typeface="Helvetica Neue"/>
                <a:cs typeface="Helvetica Neue"/>
              </a:defRPr>
            </a:lvl6pPr>
            <a:lvl7pPr>
              <a:buNone/>
              <a:defRPr sz="1500" b="0">
                <a:solidFill>
                  <a:srgbClr val="98989F"/>
                </a:solidFill>
                <a:latin typeface="Helvetica Neue"/>
                <a:ea typeface="Helvetica Neue"/>
                <a:cs typeface="Helvetica Neue"/>
              </a:defRPr>
            </a:lvl7pPr>
            <a:lvl8pPr>
              <a:buNone/>
              <a:defRPr sz="1500" b="0">
                <a:solidFill>
                  <a:srgbClr val="98989F"/>
                </a:solidFill>
                <a:latin typeface="Helvetica Neue"/>
                <a:ea typeface="Helvetica Neue"/>
                <a:cs typeface="Helvetica Neue"/>
              </a:defRPr>
            </a:lvl8pPr>
            <a:lvl9pPr>
              <a:buNone/>
              <a:defRPr sz="1500" b="0">
                <a:solidFill>
                  <a:srgbClr val="98989F"/>
                </a:solidFill>
                <a:latin typeface="Helvetica Neue"/>
                <a:ea typeface="Helvetica Neue"/>
                <a:cs typeface="Helvetica Neue"/>
              </a:defRPr>
            </a:lvl9pPr>
          </a:lstStyle>
          <a:p xmlns:a="http://schemas.openxmlformats.org/drawingml/2006/main">
            <a:pPr>
              <a:buNone/>
              <a:defRPr sz="1500" b="0">
                <a:solidFill>
                  <a:srgbClr val="98989F"/>
                </a:solidFill>
                <a:latin typeface="Helvetica Neue"/>
                <a:ea typeface="Helvetica Neue"/>
                <a:cs typeface="Helvetica Neue"/>
              </a:defRPr>
            </a:pPr>
            <a:r>
              <a:rPr sz="1500" b="0">
                <a:solidFill>
                  <a:srgbClr val="98989F"/>
                </a:solidFill>
                <a:latin typeface="Helvetica Neue"/>
                <a:ea typeface="Helvetica Neue"/>
                <a:cs typeface="Helvetica Neue"/>
              </a:rPr>
              <a:t>Условная частота</a:t>
            </a:r>
          </a:p>
        </p:txBody>
      </p:sp>
      <p:sp>
        <p:nvSpPr>
          <p:cNvPr id="12" name="theory-6">
            <a:extLst xmlns:a="http://schemas.openxmlformats.org/drawingml/2006/main">
              <a:ext uri="{FF2B5EF4-FFF2-40B4-BE49-F238E27FC236}">
                <a16:creationId xmlns:a16="http://schemas.microsoft.com/office/drawing/2014/main" id="{D88A220D-3CA6-42BE-91E5-65F4389481C4}"/>
              </a:ext>
            </a:extLst>
          </p:cNvPr>
          <p:cNvSpPr>
            <a:spLocks xmlns:a="http://schemas.openxmlformats.org/drawingml/2006/main" noGrp="1"/>
          </p:cNvSpPr>
          <p:nvPr/>
        </p:nvSpPr>
        <p:spPr>
          <a:xfrm xmlns:a="http://schemas.openxmlformats.org/drawingml/2006/main">
            <a:off x="7048500" y="2133600"/>
            <a:ext cx="4457700" cy="3648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CDCDD3"/>
                </a:solidFill>
                <a:latin typeface="Helvetica Neue"/>
                <a:ea typeface="Helvetica Neue"/>
                <a:cs typeface="Helvetica Neue"/>
              </a:defRPr>
            </a:defPPr>
            <a:lvl1pPr>
              <a:buNone/>
              <a:defRPr sz="1875" b="0">
                <a:solidFill>
                  <a:srgbClr val="CDCDD3"/>
                </a:solidFill>
                <a:latin typeface="Helvetica Neue"/>
                <a:ea typeface="Helvetica Neue"/>
                <a:cs typeface="Helvetica Neue"/>
              </a:defRPr>
            </a:lvl1pPr>
            <a:lvl2pPr>
              <a:buNone/>
              <a:defRPr sz="1875" b="0">
                <a:solidFill>
                  <a:srgbClr val="CDCDD3"/>
                </a:solidFill>
                <a:latin typeface="Helvetica Neue"/>
                <a:ea typeface="Helvetica Neue"/>
                <a:cs typeface="Helvetica Neue"/>
              </a:defRPr>
            </a:lvl2pPr>
            <a:lvl3pPr>
              <a:buNone/>
              <a:defRPr sz="1875" b="0">
                <a:solidFill>
                  <a:srgbClr val="CDCDD3"/>
                </a:solidFill>
                <a:latin typeface="Helvetica Neue"/>
                <a:ea typeface="Helvetica Neue"/>
                <a:cs typeface="Helvetica Neue"/>
              </a:defRPr>
            </a:lvl3pPr>
            <a:lvl4pPr>
              <a:buNone/>
              <a:defRPr sz="1875" b="0">
                <a:solidFill>
                  <a:srgbClr val="CDCDD3"/>
                </a:solidFill>
                <a:latin typeface="Helvetica Neue"/>
                <a:ea typeface="Helvetica Neue"/>
                <a:cs typeface="Helvetica Neue"/>
              </a:defRPr>
            </a:lvl4pPr>
            <a:lvl5pPr>
              <a:buNone/>
              <a:defRPr sz="1875" b="0">
                <a:solidFill>
                  <a:srgbClr val="CDCDD3"/>
                </a:solidFill>
                <a:latin typeface="Helvetica Neue"/>
                <a:ea typeface="Helvetica Neue"/>
                <a:cs typeface="Helvetica Neue"/>
              </a:defRPr>
            </a:lvl5pPr>
            <a:lvl6pPr>
              <a:buNone/>
              <a:defRPr sz="1875" b="0">
                <a:solidFill>
                  <a:srgbClr val="CDCDD3"/>
                </a:solidFill>
                <a:latin typeface="Helvetica Neue"/>
                <a:ea typeface="Helvetica Neue"/>
                <a:cs typeface="Helvetica Neue"/>
              </a:defRPr>
            </a:lvl6pPr>
            <a:lvl7pPr>
              <a:buNone/>
              <a:defRPr sz="1875" b="0">
                <a:solidFill>
                  <a:srgbClr val="CDCDD3"/>
                </a:solidFill>
                <a:latin typeface="Helvetica Neue"/>
                <a:ea typeface="Helvetica Neue"/>
                <a:cs typeface="Helvetica Neue"/>
              </a:defRPr>
            </a:lvl7pPr>
            <a:lvl8pPr>
              <a:buNone/>
              <a:defRPr sz="1875" b="0">
                <a:solidFill>
                  <a:srgbClr val="CDCDD3"/>
                </a:solidFill>
                <a:latin typeface="Helvetica Neue"/>
                <a:ea typeface="Helvetica Neue"/>
                <a:cs typeface="Helvetica Neue"/>
              </a:defRPr>
            </a:lvl8pPr>
            <a:lvl9pPr>
              <a:buNone/>
              <a:defRPr sz="1875" b="0">
                <a:solidFill>
                  <a:srgbClr val="CDCDD3"/>
                </a:solidFill>
                <a:latin typeface="Helvetica Neue"/>
                <a:ea typeface="Helvetica Neue"/>
                <a:cs typeface="Helvetica Neue"/>
              </a:defRPr>
            </a:lvl9pPr>
          </a:lstStyle>
          <a:p xmlns:a="http://schemas.openxmlformats.org/drawingml/2006/main">
            <a:pPr>
              <a:buNone/>
              <a:defRPr sz="1875" b="0">
                <a:solidFill>
                  <a:srgbClr val="CDCDD3"/>
                </a:solidFill>
                <a:latin typeface="Helvetica Neue"/>
                <a:ea typeface="Helvetica Neue"/>
                <a:cs typeface="Helvetica Neue"/>
              </a:defRPr>
            </a:pPr>
            <a:r>
              <a:rPr sz="1875" b="0">
                <a:solidFill>
                  <a:srgbClr val="CDCDD3"/>
                </a:solidFill>
                <a:latin typeface="Helvetica Neue"/>
                <a:ea typeface="Helvetica Neue"/>
                <a:cs typeface="Helvetica Neue"/>
              </a:rPr>
              <a:t>Если упорядочить слова по убыванию частоты, небольшая часть слов окажется очень частой, а многие слова будут редкими. Zipf’s law описывает приближённое убывание частоты с ростом ранга.</a:t>
            </a:r>
          </a:p>
          <a:p xmlns:a="http://schemas.openxmlformats.org/drawingml/2006/main">
            <a:r>
              <a:t/>
            </a:r>
          </a:p>
          <a:p xmlns:a="http://schemas.openxmlformats.org/drawingml/2006/main">
            <a:pPr>
              <a:buNone/>
              <a:defRPr sz="1875" b="0">
                <a:solidFill>
                  <a:srgbClr val="CDCDD3"/>
                </a:solidFill>
                <a:latin typeface="Helvetica Neue"/>
                <a:ea typeface="Helvetica Neue"/>
                <a:cs typeface="Helvetica Neue"/>
              </a:defRPr>
            </a:pPr>
            <a:r>
              <a:rPr sz="1875" b="0">
                <a:solidFill>
                  <a:srgbClr val="CDCDD3"/>
                </a:solidFill>
                <a:latin typeface="Helvetica Neue"/>
                <a:ea typeface="Helvetica Neue"/>
                <a:cs typeface="Helvetica Neue"/>
              </a:rPr>
              <a:t>Для обработки текста это означает неравномерное распределение наблюдений: распространённые слова дают много примеров, а редкие требуют осторожной оценки. Кривая не определяет полезность слова для конкретной задачи.</a:t>
            </a:r>
          </a:p>
        </p:txBody>
      </p:sp>
      <p:sp>
        <p:nvSpPr>
          <p:cNvPr id="13" name="theory-7">
            <a:extLst xmlns:a="http://schemas.openxmlformats.org/drawingml/2006/main">
              <a:ext uri="{FF2B5EF4-FFF2-40B4-BE49-F238E27FC236}">
                <a16:creationId xmlns:a16="http://schemas.microsoft.com/office/drawing/2014/main" id="{6E9CFAB0-7E02-4981-812E-F2AD6A188C9C}"/>
              </a:ext>
            </a:extLst>
          </p:cNvPr>
          <p:cNvSpPr>
            <a:spLocks xmlns:a="http://schemas.openxmlformats.org/drawingml/2006/main" noGrp="1"/>
          </p:cNvSpPr>
          <p:nvPr/>
        </p:nvSpPr>
        <p:spPr>
          <a:xfrm xmlns:a="http://schemas.openxmlformats.org/drawingml/2006/main">
            <a:off x="685800" y="619125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13" b="0">
                <a:solidFill>
                  <a:srgbClr val="98989F"/>
                </a:solidFill>
                <a:latin typeface="Helvetica Neue"/>
                <a:ea typeface="Helvetica Neue"/>
                <a:cs typeface="Helvetica Neue"/>
              </a:defRPr>
            </a:defPPr>
            <a:lvl1pPr>
              <a:buNone/>
              <a:defRPr sz="1613" b="0">
                <a:solidFill>
                  <a:srgbClr val="98989F"/>
                </a:solidFill>
                <a:latin typeface="Helvetica Neue"/>
                <a:ea typeface="Helvetica Neue"/>
                <a:cs typeface="Helvetica Neue"/>
              </a:defRPr>
            </a:lvl1pPr>
            <a:lvl2pPr>
              <a:buNone/>
              <a:defRPr sz="1613" b="0">
                <a:solidFill>
                  <a:srgbClr val="98989F"/>
                </a:solidFill>
                <a:latin typeface="Helvetica Neue"/>
                <a:ea typeface="Helvetica Neue"/>
                <a:cs typeface="Helvetica Neue"/>
              </a:defRPr>
            </a:lvl2pPr>
            <a:lvl3pPr>
              <a:buNone/>
              <a:defRPr sz="1613" b="0">
                <a:solidFill>
                  <a:srgbClr val="98989F"/>
                </a:solidFill>
                <a:latin typeface="Helvetica Neue"/>
                <a:ea typeface="Helvetica Neue"/>
                <a:cs typeface="Helvetica Neue"/>
              </a:defRPr>
            </a:lvl3pPr>
            <a:lvl4pPr>
              <a:buNone/>
              <a:defRPr sz="1613" b="0">
                <a:solidFill>
                  <a:srgbClr val="98989F"/>
                </a:solidFill>
                <a:latin typeface="Helvetica Neue"/>
                <a:ea typeface="Helvetica Neue"/>
                <a:cs typeface="Helvetica Neue"/>
              </a:defRPr>
            </a:lvl4pPr>
            <a:lvl5pPr>
              <a:buNone/>
              <a:defRPr sz="1613" b="0">
                <a:solidFill>
                  <a:srgbClr val="98989F"/>
                </a:solidFill>
                <a:latin typeface="Helvetica Neue"/>
                <a:ea typeface="Helvetica Neue"/>
                <a:cs typeface="Helvetica Neue"/>
              </a:defRPr>
            </a:lvl5pPr>
            <a:lvl6pPr>
              <a:buNone/>
              <a:defRPr sz="1613" b="0">
                <a:solidFill>
                  <a:srgbClr val="98989F"/>
                </a:solidFill>
                <a:latin typeface="Helvetica Neue"/>
                <a:ea typeface="Helvetica Neue"/>
                <a:cs typeface="Helvetica Neue"/>
              </a:defRPr>
            </a:lvl6pPr>
            <a:lvl7pPr>
              <a:buNone/>
              <a:defRPr sz="1613" b="0">
                <a:solidFill>
                  <a:srgbClr val="98989F"/>
                </a:solidFill>
                <a:latin typeface="Helvetica Neue"/>
                <a:ea typeface="Helvetica Neue"/>
                <a:cs typeface="Helvetica Neue"/>
              </a:defRPr>
            </a:lvl7pPr>
            <a:lvl8pPr>
              <a:buNone/>
              <a:defRPr sz="1613" b="0">
                <a:solidFill>
                  <a:srgbClr val="98989F"/>
                </a:solidFill>
                <a:latin typeface="Helvetica Neue"/>
                <a:ea typeface="Helvetica Neue"/>
                <a:cs typeface="Helvetica Neue"/>
              </a:defRPr>
            </a:lvl8pPr>
            <a:lvl9pPr>
              <a:buNone/>
              <a:defRPr sz="1613" b="0">
                <a:solidFill>
                  <a:srgbClr val="98989F"/>
                </a:solidFill>
                <a:latin typeface="Helvetica Neue"/>
                <a:ea typeface="Helvetica Neue"/>
                <a:cs typeface="Helvetica Neue"/>
              </a:defRPr>
            </a:lvl9pPr>
          </a:lstStyle>
          <a:p xmlns:a="http://schemas.openxmlformats.org/drawingml/2006/main">
            <a:pPr>
              <a:buNone/>
              <a:defRPr sz="1613" b="0">
                <a:solidFill>
                  <a:srgbClr val="98989F"/>
                </a:solidFill>
                <a:latin typeface="Helvetica Neue"/>
                <a:ea typeface="Helvetica Neue"/>
                <a:cs typeface="Helvetica Neue"/>
              </a:defRPr>
            </a:pPr>
            <a:r>
              <a:rPr sz="1613" b="0">
                <a:solidFill>
                  <a:srgbClr val="98989F"/>
                </a:solidFill>
                <a:latin typeface="Helvetica Neue"/>
                <a:ea typeface="Helvetica Neue"/>
                <a:cs typeface="Helvetica Neue"/>
              </a:rPr>
              <a:t>График иллюстрирует условную зависимость «частота = 1000 / ранг». Это схема закономерности, а не измерение учебного корпуса.</a:t>
            </a:r>
          </a:p>
        </p:txBody>
      </p:sp>
    </p:spTree>
    <p:extLst>
      <p:ext uri="{BB962C8B-B14F-4D97-AF65-F5344CB8AC3E}">
        <p14:creationId xmlns:p14="http://schemas.microsoft.com/office/powerpoint/2010/main" val="1798341656"/>
      </p:ext>
    </p:extLst>
  </p:cSld>
</p:sld>
</file>

<file path=ppt/slides/slide4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63D52B8B-0E06-49A0-BE97-AF7604CCE64D}"/>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98989F"/>
                </a:solidFill>
                <a:latin typeface="Helvetica Neue"/>
                <a:ea typeface="Helvetica Neue"/>
                <a:cs typeface="Helvetica Neue"/>
              </a:defRPr>
            </a:defPPr>
            <a:lvl1pPr algn="l">
              <a:buNone/>
              <a:defRPr sz="1425" b="0">
                <a:solidFill>
                  <a:srgbClr val="98989F"/>
                </a:solidFill>
                <a:latin typeface="Helvetica Neue"/>
                <a:ea typeface="Helvetica Neue"/>
                <a:cs typeface="Helvetica Neue"/>
              </a:defRPr>
            </a:lvl1pPr>
            <a:lvl2pPr algn="l">
              <a:buNone/>
              <a:defRPr sz="1425" b="0">
                <a:solidFill>
                  <a:srgbClr val="98989F"/>
                </a:solidFill>
                <a:latin typeface="Helvetica Neue"/>
                <a:ea typeface="Helvetica Neue"/>
                <a:cs typeface="Helvetica Neue"/>
              </a:defRPr>
            </a:lvl2pPr>
            <a:lvl3pPr algn="l">
              <a:buNone/>
              <a:defRPr sz="1425" b="0">
                <a:solidFill>
                  <a:srgbClr val="98989F"/>
                </a:solidFill>
                <a:latin typeface="Helvetica Neue"/>
                <a:ea typeface="Helvetica Neue"/>
                <a:cs typeface="Helvetica Neue"/>
              </a:defRPr>
            </a:lvl3pPr>
            <a:lvl4pPr algn="l">
              <a:buNone/>
              <a:defRPr sz="1425" b="0">
                <a:solidFill>
                  <a:srgbClr val="98989F"/>
                </a:solidFill>
                <a:latin typeface="Helvetica Neue"/>
                <a:ea typeface="Helvetica Neue"/>
                <a:cs typeface="Helvetica Neue"/>
              </a:defRPr>
            </a:lvl4pPr>
            <a:lvl5pPr algn="l">
              <a:buNone/>
              <a:defRPr sz="1425" b="0">
                <a:solidFill>
                  <a:srgbClr val="98989F"/>
                </a:solidFill>
                <a:latin typeface="Helvetica Neue"/>
                <a:ea typeface="Helvetica Neue"/>
                <a:cs typeface="Helvetica Neue"/>
              </a:defRPr>
            </a:lvl5pPr>
            <a:lvl6pPr algn="l">
              <a:buNone/>
              <a:defRPr sz="1425" b="0">
                <a:solidFill>
                  <a:srgbClr val="98989F"/>
                </a:solidFill>
                <a:latin typeface="Helvetica Neue"/>
                <a:ea typeface="Helvetica Neue"/>
                <a:cs typeface="Helvetica Neue"/>
              </a:defRPr>
            </a:lvl6pPr>
            <a:lvl7pPr algn="l">
              <a:buNone/>
              <a:defRPr sz="1425" b="0">
                <a:solidFill>
                  <a:srgbClr val="98989F"/>
                </a:solidFill>
                <a:latin typeface="Helvetica Neue"/>
                <a:ea typeface="Helvetica Neue"/>
                <a:cs typeface="Helvetica Neue"/>
              </a:defRPr>
            </a:lvl7pPr>
            <a:lvl8pPr algn="l">
              <a:buNone/>
              <a:defRPr sz="1425" b="0">
                <a:solidFill>
                  <a:srgbClr val="98989F"/>
                </a:solidFill>
                <a:latin typeface="Helvetica Neue"/>
                <a:ea typeface="Helvetica Neue"/>
                <a:cs typeface="Helvetica Neue"/>
              </a:defRPr>
            </a:lvl8pPr>
            <a:lvl9pPr algn="l">
              <a:buNone/>
              <a:defRPr sz="1425" b="0">
                <a:solidFill>
                  <a:srgbClr val="98989F"/>
                </a:solidFill>
                <a:latin typeface="Helvetica Neue"/>
                <a:ea typeface="Helvetica Neue"/>
                <a:cs typeface="Helvetica Neue"/>
              </a:defRPr>
            </a:lvl9pPr>
          </a:lstStyle>
          <a:p xmlns:a="http://schemas.openxmlformats.org/drawingml/2006/main">
            <a:pPr algn="l">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text-1">
            <a:extLst xmlns:a="http://schemas.openxmlformats.org/drawingml/2006/main">
              <a:ext uri="{FF2B5EF4-FFF2-40B4-BE49-F238E27FC236}">
                <a16:creationId xmlns:a16="http://schemas.microsoft.com/office/drawing/2014/main" id="{A17EF396-BD6F-4D2A-A989-616E051F0171}"/>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47</a:t>
            </a:r>
          </a:p>
        </p:txBody>
      </p:sp>
      <p:sp>
        <p:nvSpPr>
          <p:cNvPr id="3" name="">
            <a:extLst xmlns:a="http://schemas.openxmlformats.org/drawingml/2006/main">
              <a:ext uri="{FF2B5EF4-FFF2-40B4-BE49-F238E27FC236}">
                <a16:creationId xmlns:a16="http://schemas.microsoft.com/office/drawing/2014/main" id="{1EC848CA-A7AC-4F01-A675-73BA78581EDD}"/>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prstDash val="solid"/>
          </a:ln>
        </p:spPr>
      </p:sp>
      <p:sp>
        <p:nvSpPr>
          <p:cNvPr id="4" name="text-3">
            <a:extLst xmlns:a="http://schemas.openxmlformats.org/drawingml/2006/main">
              <a:ext uri="{FF2B5EF4-FFF2-40B4-BE49-F238E27FC236}">
                <a16:creationId xmlns:a16="http://schemas.microsoft.com/office/drawing/2014/main" id="{B72592B0-6AA0-48FF-87E0-9950DBF83C86}"/>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5F7"/>
                </a:solidFill>
                <a:latin typeface="Helvetica Neue"/>
                <a:ea typeface="Helvetica Neue"/>
                <a:cs typeface="Helvetica Neue"/>
              </a:defRPr>
            </a:defPPr>
            <a:lvl1pPr algn="l">
              <a:buNone/>
              <a:defRPr sz="3450" b="1">
                <a:solidFill>
                  <a:srgbClr val="F5F5F7"/>
                </a:solidFill>
                <a:latin typeface="Helvetica Neue"/>
                <a:ea typeface="Helvetica Neue"/>
                <a:cs typeface="Helvetica Neue"/>
              </a:defRPr>
            </a:lvl1pPr>
            <a:lvl2pPr algn="l">
              <a:buNone/>
              <a:defRPr sz="3450" b="1">
                <a:solidFill>
                  <a:srgbClr val="F5F5F7"/>
                </a:solidFill>
                <a:latin typeface="Helvetica Neue"/>
                <a:ea typeface="Helvetica Neue"/>
                <a:cs typeface="Helvetica Neue"/>
              </a:defRPr>
            </a:lvl2pPr>
            <a:lvl3pPr algn="l">
              <a:buNone/>
              <a:defRPr sz="3450" b="1">
                <a:solidFill>
                  <a:srgbClr val="F5F5F7"/>
                </a:solidFill>
                <a:latin typeface="Helvetica Neue"/>
                <a:ea typeface="Helvetica Neue"/>
                <a:cs typeface="Helvetica Neue"/>
              </a:defRPr>
            </a:lvl3pPr>
            <a:lvl4pPr algn="l">
              <a:buNone/>
              <a:defRPr sz="3450" b="1">
                <a:solidFill>
                  <a:srgbClr val="F5F5F7"/>
                </a:solidFill>
                <a:latin typeface="Helvetica Neue"/>
                <a:ea typeface="Helvetica Neue"/>
                <a:cs typeface="Helvetica Neue"/>
              </a:defRPr>
            </a:lvl4pPr>
            <a:lvl5pPr algn="l">
              <a:buNone/>
              <a:defRPr sz="3450" b="1">
                <a:solidFill>
                  <a:srgbClr val="F5F5F7"/>
                </a:solidFill>
                <a:latin typeface="Helvetica Neue"/>
                <a:ea typeface="Helvetica Neue"/>
                <a:cs typeface="Helvetica Neue"/>
              </a:defRPr>
            </a:lvl5pPr>
            <a:lvl6pPr algn="l">
              <a:buNone/>
              <a:defRPr sz="3450" b="1">
                <a:solidFill>
                  <a:srgbClr val="F5F5F7"/>
                </a:solidFill>
                <a:latin typeface="Helvetica Neue"/>
                <a:ea typeface="Helvetica Neue"/>
                <a:cs typeface="Helvetica Neue"/>
              </a:defRPr>
            </a:lvl6pPr>
            <a:lvl7pPr algn="l">
              <a:buNone/>
              <a:defRPr sz="3450" b="1">
                <a:solidFill>
                  <a:srgbClr val="F5F5F7"/>
                </a:solidFill>
                <a:latin typeface="Helvetica Neue"/>
                <a:ea typeface="Helvetica Neue"/>
                <a:cs typeface="Helvetica Neue"/>
              </a:defRPr>
            </a:lvl7pPr>
            <a:lvl8pPr algn="l">
              <a:buNone/>
              <a:defRPr sz="3450" b="1">
                <a:solidFill>
                  <a:srgbClr val="F5F5F7"/>
                </a:solidFill>
                <a:latin typeface="Helvetica Neue"/>
                <a:ea typeface="Helvetica Neue"/>
                <a:cs typeface="Helvetica Neue"/>
              </a:defRPr>
            </a:lvl8pPr>
            <a:lvl9pPr algn="l">
              <a:buNone/>
              <a:defRPr sz="3450" b="1">
                <a:solidFill>
                  <a:srgbClr val="F5F5F7"/>
                </a:solidFill>
                <a:latin typeface="Helvetica Neue"/>
                <a:ea typeface="Helvetica Neue"/>
                <a:cs typeface="Helvetica Neue"/>
              </a:defRPr>
            </a:lvl9pPr>
          </a:lstStyle>
          <a:p xmlns:a="http://schemas.openxmlformats.org/drawingml/2006/main">
            <a:pPr algn="l">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Word n-grams и character n-grams</a:t>
            </a:r>
          </a:p>
        </p:txBody>
      </p:sp>
      <p:sp>
        <p:nvSpPr>
          <p:cNvPr id="15" name="theory-4">
            <a:extLst xmlns:a="http://schemas.openxmlformats.org/drawingml/2006/main">
              <a:ext uri="{FF2B5EF4-FFF2-40B4-BE49-F238E27FC236}">
                <a16:creationId xmlns:a16="http://schemas.microsoft.com/office/drawing/2014/main" id="{F90F0CF4-C275-4FF9-9D62-25170CC14EC0}"/>
              </a:ext>
            </a:extLst>
          </p:cNvPr>
          <p:cNvSpPr>
            <a:spLocks xmlns:a="http://schemas.openxmlformats.org/drawingml/2006/main" noGrp="1"/>
          </p:cNvSpPr>
          <p:nvPr/>
        </p:nvSpPr>
        <p:spPr>
          <a:xfrm xmlns:a="http://schemas.openxmlformats.org/drawingml/2006/main">
            <a:off x="685800" y="20478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buNone/>
              <a:defRPr sz="1950" b="1">
                <a:solidFill>
                  <a:srgbClr val="BD9FE3"/>
                </a:solidFill>
                <a:latin typeface="Helvetica Neue"/>
                <a:ea typeface="Helvetica Neue"/>
                <a:cs typeface="Helvetica Neue"/>
              </a:defRPr>
            </a:lvl1pPr>
            <a:lvl2pPr>
              <a:buNone/>
              <a:defRPr sz="1950" b="1">
                <a:solidFill>
                  <a:srgbClr val="BD9FE3"/>
                </a:solidFill>
                <a:latin typeface="Helvetica Neue"/>
                <a:ea typeface="Helvetica Neue"/>
                <a:cs typeface="Helvetica Neue"/>
              </a:defRPr>
            </a:lvl2pPr>
            <a:lvl3pPr>
              <a:buNone/>
              <a:defRPr sz="1950" b="1">
                <a:solidFill>
                  <a:srgbClr val="BD9FE3"/>
                </a:solidFill>
                <a:latin typeface="Helvetica Neue"/>
                <a:ea typeface="Helvetica Neue"/>
                <a:cs typeface="Helvetica Neue"/>
              </a:defRPr>
            </a:lvl3pPr>
            <a:lvl4pPr>
              <a:buNone/>
              <a:defRPr sz="1950" b="1">
                <a:solidFill>
                  <a:srgbClr val="BD9FE3"/>
                </a:solidFill>
                <a:latin typeface="Helvetica Neue"/>
                <a:ea typeface="Helvetica Neue"/>
                <a:cs typeface="Helvetica Neue"/>
              </a:defRPr>
            </a:lvl4pPr>
            <a:lvl5pPr>
              <a:buNone/>
              <a:defRPr sz="1950" b="1">
                <a:solidFill>
                  <a:srgbClr val="BD9FE3"/>
                </a:solidFill>
                <a:latin typeface="Helvetica Neue"/>
                <a:ea typeface="Helvetica Neue"/>
                <a:cs typeface="Helvetica Neue"/>
              </a:defRPr>
            </a:lvl5pPr>
            <a:lvl6pPr>
              <a:buNone/>
              <a:defRPr sz="1950" b="1">
                <a:solidFill>
                  <a:srgbClr val="BD9FE3"/>
                </a:solidFill>
                <a:latin typeface="Helvetica Neue"/>
                <a:ea typeface="Helvetica Neue"/>
                <a:cs typeface="Helvetica Neue"/>
              </a:defRPr>
            </a:lvl6pPr>
            <a:lvl7pPr>
              <a:buNone/>
              <a:defRPr sz="1950" b="1">
                <a:solidFill>
                  <a:srgbClr val="BD9FE3"/>
                </a:solidFill>
                <a:latin typeface="Helvetica Neue"/>
                <a:ea typeface="Helvetica Neue"/>
                <a:cs typeface="Helvetica Neue"/>
              </a:defRPr>
            </a:lvl7pPr>
            <a:lvl8pPr>
              <a:buNone/>
              <a:defRPr sz="1950" b="1">
                <a:solidFill>
                  <a:srgbClr val="BD9FE3"/>
                </a:solidFill>
                <a:latin typeface="Helvetica Neue"/>
                <a:ea typeface="Helvetica Neue"/>
                <a:cs typeface="Helvetica Neue"/>
              </a:defRPr>
            </a:lvl8pPr>
            <a:lvl9pPr>
              <a:buNone/>
              <a:defRPr sz="1950" b="1">
                <a:solidFill>
                  <a:srgbClr val="BD9FE3"/>
                </a:solidFill>
                <a:latin typeface="Helvetica Neue"/>
                <a:ea typeface="Helvetica Neue"/>
                <a:cs typeface="Helvetica Neue"/>
              </a:defRPr>
            </a:lvl9pPr>
          </a:lstStyle>
          <a:p xmlns:a="http://schemas.openxmlformats.org/drawingml/2006/main">
            <a:pPr>
              <a:buNone/>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Последовательности соседних элементов</a:t>
            </a:r>
          </a:p>
        </p:txBody>
      </p:sp>
      <p:sp>
        <p:nvSpPr>
          <p:cNvPr id="16" name="theory-5">
            <a:extLst xmlns:a="http://schemas.openxmlformats.org/drawingml/2006/main">
              <a:ext uri="{FF2B5EF4-FFF2-40B4-BE49-F238E27FC236}">
                <a16:creationId xmlns:a16="http://schemas.microsoft.com/office/drawing/2014/main" id="{863BB1AD-7E4B-400C-B33A-1AF9CC827B39}"/>
              </a:ext>
            </a:extLst>
          </p:cNvPr>
          <p:cNvSpPr>
            <a:spLocks xmlns:a="http://schemas.openxmlformats.org/drawingml/2006/main" noGrp="1"/>
          </p:cNvSpPr>
          <p:nvPr/>
        </p:nvSpPr>
        <p:spPr>
          <a:xfrm xmlns:a="http://schemas.openxmlformats.org/drawingml/2006/main">
            <a:off x="685800" y="2514600"/>
            <a:ext cx="108204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buNone/>
              <a:defRPr sz="2025" b="0">
                <a:solidFill>
                  <a:srgbClr val="CDCDD3"/>
                </a:solidFill>
                <a:latin typeface="Helvetica Neue"/>
                <a:ea typeface="Helvetica Neue"/>
                <a:cs typeface="Helvetica Neue"/>
              </a:defRPr>
            </a:lvl1pPr>
            <a:lvl2pPr>
              <a:buNone/>
              <a:defRPr sz="2025" b="0">
                <a:solidFill>
                  <a:srgbClr val="CDCDD3"/>
                </a:solidFill>
                <a:latin typeface="Helvetica Neue"/>
                <a:ea typeface="Helvetica Neue"/>
                <a:cs typeface="Helvetica Neue"/>
              </a:defRPr>
            </a:lvl2pPr>
            <a:lvl3pPr>
              <a:buNone/>
              <a:defRPr sz="2025" b="0">
                <a:solidFill>
                  <a:srgbClr val="CDCDD3"/>
                </a:solidFill>
                <a:latin typeface="Helvetica Neue"/>
                <a:ea typeface="Helvetica Neue"/>
                <a:cs typeface="Helvetica Neue"/>
              </a:defRPr>
            </a:lvl3pPr>
            <a:lvl4pPr>
              <a:buNone/>
              <a:defRPr sz="2025" b="0">
                <a:solidFill>
                  <a:srgbClr val="CDCDD3"/>
                </a:solidFill>
                <a:latin typeface="Helvetica Neue"/>
                <a:ea typeface="Helvetica Neue"/>
                <a:cs typeface="Helvetica Neue"/>
              </a:defRPr>
            </a:lvl4pPr>
            <a:lvl5pPr>
              <a:buNone/>
              <a:defRPr sz="2025" b="0">
                <a:solidFill>
                  <a:srgbClr val="CDCDD3"/>
                </a:solidFill>
                <a:latin typeface="Helvetica Neue"/>
                <a:ea typeface="Helvetica Neue"/>
                <a:cs typeface="Helvetica Neue"/>
              </a:defRPr>
            </a:lvl5pPr>
            <a:lvl6pPr>
              <a:buNone/>
              <a:defRPr sz="2025" b="0">
                <a:solidFill>
                  <a:srgbClr val="CDCDD3"/>
                </a:solidFill>
                <a:latin typeface="Helvetica Neue"/>
                <a:ea typeface="Helvetica Neue"/>
                <a:cs typeface="Helvetica Neue"/>
              </a:defRPr>
            </a:lvl6pPr>
            <a:lvl7pPr>
              <a:buNone/>
              <a:defRPr sz="2025" b="0">
                <a:solidFill>
                  <a:srgbClr val="CDCDD3"/>
                </a:solidFill>
                <a:latin typeface="Helvetica Neue"/>
                <a:ea typeface="Helvetica Neue"/>
                <a:cs typeface="Helvetica Neue"/>
              </a:defRPr>
            </a:lvl7pPr>
            <a:lvl8pPr>
              <a:buNone/>
              <a:defRPr sz="2025" b="0">
                <a:solidFill>
                  <a:srgbClr val="CDCDD3"/>
                </a:solidFill>
                <a:latin typeface="Helvetica Neue"/>
                <a:ea typeface="Helvetica Neue"/>
                <a:cs typeface="Helvetica Neue"/>
              </a:defRPr>
            </a:lvl8pPr>
            <a:lvl9pPr>
              <a:buNone/>
              <a:defRPr sz="2025" b="0">
                <a:solidFill>
                  <a:srgbClr val="CDCDD3"/>
                </a:solidFill>
                <a:latin typeface="Helvetica Neue"/>
                <a:ea typeface="Helvetica Neue"/>
                <a:cs typeface="Helvetica Neue"/>
              </a:defRPr>
            </a:lvl9pPr>
          </a:lstStyle>
          <a:p xmlns:a="http://schemas.openxmlformats.org/drawingml/2006/main">
            <a:pPr>
              <a:buNone/>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N-gram содержит n последовательных элементов. Для фразы «товар не понравился» unigram features — отдельные слова; bigram features — «товар не» и «не понравился». Word n-grams сохраняют локальный порядок. Character n-grams описывают фрагменты написания и могут учитывать части слов, окончания и характерные сочетания символов.</a:t>
            </a:r>
          </a:p>
        </p:txBody>
      </p:sp>
      <p:sp>
        <p:nvSpPr>
          <p:cNvPr id="17" name="theory-6">
            <a:extLst xmlns:a="http://schemas.openxmlformats.org/drawingml/2006/main">
              <a:ext uri="{FF2B5EF4-FFF2-40B4-BE49-F238E27FC236}">
                <a16:creationId xmlns:a16="http://schemas.microsoft.com/office/drawing/2014/main" id="{07C7DD70-FAA4-4AA9-AD11-3905D7743DD6}"/>
              </a:ext>
            </a:extLst>
          </p:cNvPr>
          <p:cNvSpPr>
            <a:spLocks xmlns:a="http://schemas.openxmlformats.org/drawingml/2006/main" noGrp="1"/>
          </p:cNvSpPr>
          <p:nvPr/>
        </p:nvSpPr>
        <p:spPr>
          <a:xfrm xmlns:a="http://schemas.openxmlformats.org/drawingml/2006/main">
            <a:off x="685800" y="4229100"/>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buNone/>
              <a:defRPr sz="1950" b="1">
                <a:solidFill>
                  <a:srgbClr val="BD9FE3"/>
                </a:solidFill>
                <a:latin typeface="Helvetica Neue"/>
                <a:ea typeface="Helvetica Neue"/>
                <a:cs typeface="Helvetica Neue"/>
              </a:defRPr>
            </a:lvl1pPr>
            <a:lvl2pPr>
              <a:buNone/>
              <a:defRPr sz="1950" b="1">
                <a:solidFill>
                  <a:srgbClr val="BD9FE3"/>
                </a:solidFill>
                <a:latin typeface="Helvetica Neue"/>
                <a:ea typeface="Helvetica Neue"/>
                <a:cs typeface="Helvetica Neue"/>
              </a:defRPr>
            </a:lvl2pPr>
            <a:lvl3pPr>
              <a:buNone/>
              <a:defRPr sz="1950" b="1">
                <a:solidFill>
                  <a:srgbClr val="BD9FE3"/>
                </a:solidFill>
                <a:latin typeface="Helvetica Neue"/>
                <a:ea typeface="Helvetica Neue"/>
                <a:cs typeface="Helvetica Neue"/>
              </a:defRPr>
            </a:lvl3pPr>
            <a:lvl4pPr>
              <a:buNone/>
              <a:defRPr sz="1950" b="1">
                <a:solidFill>
                  <a:srgbClr val="BD9FE3"/>
                </a:solidFill>
                <a:latin typeface="Helvetica Neue"/>
                <a:ea typeface="Helvetica Neue"/>
                <a:cs typeface="Helvetica Neue"/>
              </a:defRPr>
            </a:lvl4pPr>
            <a:lvl5pPr>
              <a:buNone/>
              <a:defRPr sz="1950" b="1">
                <a:solidFill>
                  <a:srgbClr val="BD9FE3"/>
                </a:solidFill>
                <a:latin typeface="Helvetica Neue"/>
                <a:ea typeface="Helvetica Neue"/>
                <a:cs typeface="Helvetica Neue"/>
              </a:defRPr>
            </a:lvl5pPr>
            <a:lvl6pPr>
              <a:buNone/>
              <a:defRPr sz="1950" b="1">
                <a:solidFill>
                  <a:srgbClr val="BD9FE3"/>
                </a:solidFill>
                <a:latin typeface="Helvetica Neue"/>
                <a:ea typeface="Helvetica Neue"/>
                <a:cs typeface="Helvetica Neue"/>
              </a:defRPr>
            </a:lvl6pPr>
            <a:lvl7pPr>
              <a:buNone/>
              <a:defRPr sz="1950" b="1">
                <a:solidFill>
                  <a:srgbClr val="BD9FE3"/>
                </a:solidFill>
                <a:latin typeface="Helvetica Neue"/>
                <a:ea typeface="Helvetica Neue"/>
                <a:cs typeface="Helvetica Neue"/>
              </a:defRPr>
            </a:lvl7pPr>
            <a:lvl8pPr>
              <a:buNone/>
              <a:defRPr sz="1950" b="1">
                <a:solidFill>
                  <a:srgbClr val="BD9FE3"/>
                </a:solidFill>
                <a:latin typeface="Helvetica Neue"/>
                <a:ea typeface="Helvetica Neue"/>
                <a:cs typeface="Helvetica Neue"/>
              </a:defRPr>
            </a:lvl8pPr>
            <a:lvl9pPr>
              <a:buNone/>
              <a:defRPr sz="1950" b="1">
                <a:solidFill>
                  <a:srgbClr val="BD9FE3"/>
                </a:solidFill>
                <a:latin typeface="Helvetica Neue"/>
                <a:ea typeface="Helvetica Neue"/>
                <a:cs typeface="Helvetica Neue"/>
              </a:defRPr>
            </a:lvl9pPr>
          </a:lstStyle>
          <a:p xmlns:a="http://schemas.openxmlformats.org/drawingml/2006/main">
            <a:pPr>
              <a:buNone/>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Выбор длины и уровня</a:t>
            </a:r>
          </a:p>
        </p:txBody>
      </p:sp>
      <p:sp>
        <p:nvSpPr>
          <p:cNvPr id="18" name="theory-7">
            <a:extLst xmlns:a="http://schemas.openxmlformats.org/drawingml/2006/main">
              <a:ext uri="{FF2B5EF4-FFF2-40B4-BE49-F238E27FC236}">
                <a16:creationId xmlns:a16="http://schemas.microsoft.com/office/drawing/2014/main" id="{405E7C10-EBB3-4EA6-9618-B819C3B28B8D}"/>
              </a:ext>
            </a:extLst>
          </p:cNvPr>
          <p:cNvSpPr>
            <a:spLocks xmlns:a="http://schemas.openxmlformats.org/drawingml/2006/main" noGrp="1"/>
          </p:cNvSpPr>
          <p:nvPr/>
        </p:nvSpPr>
        <p:spPr>
          <a:xfrm xmlns:a="http://schemas.openxmlformats.org/drawingml/2006/main">
            <a:off x="685800" y="4695825"/>
            <a:ext cx="10820400" cy="1743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buNone/>
              <a:defRPr sz="2025" b="0">
                <a:solidFill>
                  <a:srgbClr val="CDCDD3"/>
                </a:solidFill>
                <a:latin typeface="Helvetica Neue"/>
                <a:ea typeface="Helvetica Neue"/>
                <a:cs typeface="Helvetica Neue"/>
              </a:defRPr>
            </a:lvl1pPr>
            <a:lvl2pPr>
              <a:buNone/>
              <a:defRPr sz="2025" b="0">
                <a:solidFill>
                  <a:srgbClr val="CDCDD3"/>
                </a:solidFill>
                <a:latin typeface="Helvetica Neue"/>
                <a:ea typeface="Helvetica Neue"/>
                <a:cs typeface="Helvetica Neue"/>
              </a:defRPr>
            </a:lvl2pPr>
            <a:lvl3pPr>
              <a:buNone/>
              <a:defRPr sz="2025" b="0">
                <a:solidFill>
                  <a:srgbClr val="CDCDD3"/>
                </a:solidFill>
                <a:latin typeface="Helvetica Neue"/>
                <a:ea typeface="Helvetica Neue"/>
                <a:cs typeface="Helvetica Neue"/>
              </a:defRPr>
            </a:lvl3pPr>
            <a:lvl4pPr>
              <a:buNone/>
              <a:defRPr sz="2025" b="0">
                <a:solidFill>
                  <a:srgbClr val="CDCDD3"/>
                </a:solidFill>
                <a:latin typeface="Helvetica Neue"/>
                <a:ea typeface="Helvetica Neue"/>
                <a:cs typeface="Helvetica Neue"/>
              </a:defRPr>
            </a:lvl4pPr>
            <a:lvl5pPr>
              <a:buNone/>
              <a:defRPr sz="2025" b="0">
                <a:solidFill>
                  <a:srgbClr val="CDCDD3"/>
                </a:solidFill>
                <a:latin typeface="Helvetica Neue"/>
                <a:ea typeface="Helvetica Neue"/>
                <a:cs typeface="Helvetica Neue"/>
              </a:defRPr>
            </a:lvl5pPr>
            <a:lvl6pPr>
              <a:buNone/>
              <a:defRPr sz="2025" b="0">
                <a:solidFill>
                  <a:srgbClr val="CDCDD3"/>
                </a:solidFill>
                <a:latin typeface="Helvetica Neue"/>
                <a:ea typeface="Helvetica Neue"/>
                <a:cs typeface="Helvetica Neue"/>
              </a:defRPr>
            </a:lvl6pPr>
            <a:lvl7pPr>
              <a:buNone/>
              <a:defRPr sz="2025" b="0">
                <a:solidFill>
                  <a:srgbClr val="CDCDD3"/>
                </a:solidFill>
                <a:latin typeface="Helvetica Neue"/>
                <a:ea typeface="Helvetica Neue"/>
                <a:cs typeface="Helvetica Neue"/>
              </a:defRPr>
            </a:lvl7pPr>
            <a:lvl8pPr>
              <a:buNone/>
              <a:defRPr sz="2025" b="0">
                <a:solidFill>
                  <a:srgbClr val="CDCDD3"/>
                </a:solidFill>
                <a:latin typeface="Helvetica Neue"/>
                <a:ea typeface="Helvetica Neue"/>
                <a:cs typeface="Helvetica Neue"/>
              </a:defRPr>
            </a:lvl8pPr>
            <a:lvl9pPr>
              <a:buNone/>
              <a:defRPr sz="2025" b="0">
                <a:solidFill>
                  <a:srgbClr val="CDCDD3"/>
                </a:solidFill>
                <a:latin typeface="Helvetica Neue"/>
                <a:ea typeface="Helvetica Neue"/>
                <a:cs typeface="Helvetica Neue"/>
              </a:defRPr>
            </a:lvl9pPr>
          </a:lstStyle>
          <a:p xmlns:a="http://schemas.openxmlformats.org/drawingml/2006/main">
            <a:pPr>
              <a:buNone/>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Увеличение длины позволяет учитывать более специфичные конструкции, но уменьшает число повторений каждой из них и расширяет пространство признаков. Bigrams могут сохранить связь отрицания с оценкой, однако не описывают весь контекст предложения. Диапазон длин выбирают на валидации, учитывая размер корпуса, изменчивость формулировок и вычислительные затраты.</a:t>
            </a:r>
          </a:p>
        </p:txBody>
      </p:sp>
    </p:spTree>
    <p:extLst>
      <p:ext uri="{BB962C8B-B14F-4D97-AF65-F5344CB8AC3E}">
        <p14:creationId xmlns:p14="http://schemas.microsoft.com/office/powerpoint/2010/main" val="1271386959"/>
      </p:ext>
    </p:extLst>
  </p:cSld>
</p:sld>
</file>

<file path=ppt/slides/slide4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8" name="exp90-0">
            <a:extLst xmlns:a="http://schemas.openxmlformats.org/drawingml/2006/main">
              <a:ext uri="{FF2B5EF4-FFF2-40B4-BE49-F238E27FC236}">
                <a16:creationId xmlns:a16="http://schemas.microsoft.com/office/drawing/2014/main" id="{4790CEA6-BDE3-4192-8FA1-FFB688D53B23}"/>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90-1">
            <a:extLst xmlns:a="http://schemas.openxmlformats.org/drawingml/2006/main">
              <a:ext uri="{FF2B5EF4-FFF2-40B4-BE49-F238E27FC236}">
                <a16:creationId xmlns:a16="http://schemas.microsoft.com/office/drawing/2014/main" id="{62731216-BFD8-44C3-849C-97DDFDE0D37A}"/>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48</a:t>
            </a:r>
          </a:p>
        </p:txBody>
      </p:sp>
      <p:sp>
        <p:nvSpPr>
          <p:cNvPr id="3" name="">
            <a:extLst xmlns:a="http://schemas.openxmlformats.org/drawingml/2006/main">
              <a:ext uri="{FF2B5EF4-FFF2-40B4-BE49-F238E27FC236}">
                <a16:creationId xmlns:a16="http://schemas.microsoft.com/office/drawing/2014/main" id="{A318F199-4ADB-4B50-ABB9-87AC10E698C3}"/>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0">
            <a:solidFill>
              <a:srgbClr val="28282B"/>
            </a:solidFill>
          </a:ln>
        </p:spPr>
      </p:sp>
      <p:sp>
        <p:nvSpPr>
          <p:cNvPr id="4" name="exp90-3">
            <a:extLst xmlns:a="http://schemas.openxmlformats.org/drawingml/2006/main">
              <a:ext uri="{FF2B5EF4-FFF2-40B4-BE49-F238E27FC236}">
                <a16:creationId xmlns:a16="http://schemas.microsoft.com/office/drawing/2014/main" id="{BD17BFAE-71EE-4C0F-8D60-3FEE52CB48AE}"/>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Примеры n-grams</a:t>
            </a:r>
          </a:p>
        </p:txBody>
      </p:sp>
      <p:sp>
        <p:nvSpPr>
          <p:cNvPr id="5" name="exp90-4">
            <a:extLst xmlns:a="http://schemas.openxmlformats.org/drawingml/2006/main">
              <a:ext uri="{FF2B5EF4-FFF2-40B4-BE49-F238E27FC236}">
                <a16:creationId xmlns:a16="http://schemas.microsoft.com/office/drawing/2014/main" id="{0F82E842-8735-4853-9252-7D17D19A6272}"/>
              </a:ext>
            </a:extLst>
          </p:cNvPr>
          <p:cNvSpPr>
            <a:spLocks xmlns:a="http://schemas.openxmlformats.org/drawingml/2006/main" noGrp="1"/>
          </p:cNvSpPr>
          <p:nvPr/>
        </p:nvSpPr>
        <p:spPr>
          <a:xfrm xmlns:a="http://schemas.openxmlformats.org/drawingml/2006/main">
            <a:off x="685800" y="20097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88" b="0">
                <a:solidFill>
                  <a:srgbClr val="F5F5F7"/>
                </a:solidFill>
                <a:latin typeface="Helvetica Neue"/>
                <a:ea typeface="Helvetica Neue"/>
                <a:cs typeface="Helvetica Neue"/>
              </a:defRPr>
            </a:defPPr>
            <a:lvl1pPr>
              <a:buNone/>
              <a:defRPr sz="1988" b="0">
                <a:solidFill>
                  <a:srgbClr val="F5F5F7"/>
                </a:solidFill>
                <a:latin typeface="Helvetica Neue"/>
                <a:ea typeface="Helvetica Neue"/>
                <a:cs typeface="Helvetica Neue"/>
              </a:defRPr>
            </a:lvl1pPr>
            <a:lvl2pPr>
              <a:buNone/>
              <a:defRPr sz="1988" b="0">
                <a:solidFill>
                  <a:srgbClr val="F5F5F7"/>
                </a:solidFill>
                <a:latin typeface="Helvetica Neue"/>
                <a:ea typeface="Helvetica Neue"/>
                <a:cs typeface="Helvetica Neue"/>
              </a:defRPr>
            </a:lvl2pPr>
            <a:lvl3pPr>
              <a:buNone/>
              <a:defRPr sz="1988" b="0">
                <a:solidFill>
                  <a:srgbClr val="F5F5F7"/>
                </a:solidFill>
                <a:latin typeface="Helvetica Neue"/>
                <a:ea typeface="Helvetica Neue"/>
                <a:cs typeface="Helvetica Neue"/>
              </a:defRPr>
            </a:lvl3pPr>
            <a:lvl4pPr>
              <a:buNone/>
              <a:defRPr sz="1988" b="0">
                <a:solidFill>
                  <a:srgbClr val="F5F5F7"/>
                </a:solidFill>
                <a:latin typeface="Helvetica Neue"/>
                <a:ea typeface="Helvetica Neue"/>
                <a:cs typeface="Helvetica Neue"/>
              </a:defRPr>
            </a:lvl4pPr>
            <a:lvl5pPr>
              <a:buNone/>
              <a:defRPr sz="1988" b="0">
                <a:solidFill>
                  <a:srgbClr val="F5F5F7"/>
                </a:solidFill>
                <a:latin typeface="Helvetica Neue"/>
                <a:ea typeface="Helvetica Neue"/>
                <a:cs typeface="Helvetica Neue"/>
              </a:defRPr>
            </a:lvl5pPr>
            <a:lvl6pPr>
              <a:buNone/>
              <a:defRPr sz="1988" b="0">
                <a:solidFill>
                  <a:srgbClr val="F5F5F7"/>
                </a:solidFill>
                <a:latin typeface="Helvetica Neue"/>
                <a:ea typeface="Helvetica Neue"/>
                <a:cs typeface="Helvetica Neue"/>
              </a:defRPr>
            </a:lvl6pPr>
            <a:lvl7pPr>
              <a:buNone/>
              <a:defRPr sz="1988" b="0">
                <a:solidFill>
                  <a:srgbClr val="F5F5F7"/>
                </a:solidFill>
                <a:latin typeface="Helvetica Neue"/>
                <a:ea typeface="Helvetica Neue"/>
                <a:cs typeface="Helvetica Neue"/>
              </a:defRPr>
            </a:lvl7pPr>
            <a:lvl8pPr>
              <a:buNone/>
              <a:defRPr sz="1988" b="0">
                <a:solidFill>
                  <a:srgbClr val="F5F5F7"/>
                </a:solidFill>
                <a:latin typeface="Helvetica Neue"/>
                <a:ea typeface="Helvetica Neue"/>
                <a:cs typeface="Helvetica Neue"/>
              </a:defRPr>
            </a:lvl8pPr>
            <a:lvl9pPr>
              <a:buNone/>
              <a:defRPr sz="1988" b="0">
                <a:solidFill>
                  <a:srgbClr val="F5F5F7"/>
                </a:solidFill>
                <a:latin typeface="Helvetica Neue"/>
                <a:ea typeface="Helvetica Neue"/>
                <a:cs typeface="Helvetica Neue"/>
              </a:defRPr>
            </a:lvl9pPr>
          </a:lstStyle>
          <a:p xmlns:a="http://schemas.openxmlformats.org/drawingml/2006/main">
            <a:pPr>
              <a:buNone/>
              <a:defRPr sz="1988" b="0">
                <a:solidFill>
                  <a:srgbClr val="F5F5F7"/>
                </a:solidFill>
                <a:latin typeface="Helvetica Neue"/>
                <a:ea typeface="Helvetica Neue"/>
                <a:cs typeface="Helvetica Neue"/>
              </a:defRPr>
            </a:pPr>
            <a:r>
              <a:rPr sz="1988" b="0">
                <a:solidFill>
                  <a:srgbClr val="F5F5F7"/>
                </a:solidFill>
                <a:latin typeface="Helvetica Neue"/>
                <a:ea typeface="Helvetica Neue"/>
                <a:cs typeface="Helvetica Neue"/>
              </a:rPr>
              <a:t>Уровень анализа задаёт элементы последовательности, а n определяет число соседних элементов в каждом признаке.</a:t>
            </a:r>
          </a:p>
        </p:txBody>
      </p:sp>
      <p:graphicFrame>
        <p:nvGraphicFramePr>
          <p:cNvPr id="6" name="">
            <a:extLst xmlns:a="http://schemas.openxmlformats.org/drawingml/2006/main">
              <a:ext uri="{FF2B5EF4-FFF2-40B4-BE49-F238E27FC236}">
                <a16:creationId xmlns:a16="http://schemas.microsoft.com/office/drawing/2014/main" id="{0F472ECB-3AA6-48A8-92C8-5DC811DE7533}"/>
              </a:ext>
            </a:extLst>
          </p:cNvPr>
          <p:cNvGraphicFramePr/>
          <p:nvPr/>
        </p:nvGraphicFramePr>
        <p:xfrm>
          <a:off xmlns:a="http://schemas.openxmlformats.org/drawingml/2006/main" x="685800" y="2876550"/>
          <a:ext xmlns:a="http://schemas.openxmlformats.org/drawingml/2006/main" cx="10820400" cy="3143250"/>
        </p:xfrm>
        <a:graphic xmlns:a="http://schemas.openxmlformats.org/drawingml/2006/main">
          <a:graphicData uri="http://schemas.openxmlformats.org/drawingml/2006/table">
            <a:tbl>
              <a:tblPr/>
              <a:tblGrid>
                <a:gridCol w="3333750"/>
                <a:gridCol w="2857500"/>
                <a:gridCol w="4629150"/>
              </a:tblGrid>
              <a:tr h="628650">
                <a:tc>
                  <a:txBody>
                    <a:bodyPr lIns="133350" tIns="76200" rIns="133350" bIns="76200"/>
                    <a:lstStyle/>
                    <a:p>
                      <a:r>
                        <a:rPr sz="1800" b="1">
                          <a:solidFill>
                            <a:srgbClr val="98989F"/>
                          </a:solidFill>
                          <a:latin typeface="Helvetica Neue"/>
                          <a:ea typeface="Helvetica Neue"/>
                          <a:cs typeface="Helvetica Neue"/>
                        </a:rPr>
                        <a:t>Представление</a:t>
                      </a:r>
                    </a:p>
                  </a:txBody>
                  <a:tcPr marL="91440" marR="91440" marT="45720" marB="45720" anchor="ctr">
                    <a:lnL w="9525">
                      <a:solidFill>
                        <a:srgbClr val="28282B"/>
                      </a:solidFill>
                      <a:prstDash val="solid"/>
                    </a:lnL>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c>
                  <a:txBody>
                    <a:bodyPr lIns="133350" tIns="76200" rIns="133350" bIns="76200"/>
                    <a:lstStyle/>
                    <a:p>
                      <a:r>
                        <a:rPr sz="1800" b="1">
                          <a:solidFill>
                            <a:srgbClr val="98989F"/>
                          </a:solidFill>
                          <a:latin typeface="Helvetica Neue"/>
                          <a:ea typeface="Helvetica Neue"/>
                          <a:cs typeface="Helvetica Neue"/>
                        </a:rPr>
                        <a:t>Исходная запись</a:t>
                      </a:r>
                    </a:p>
                  </a:txBody>
                  <a:tcPr marL="91440" marR="91440" marT="45720" marB="45720" anchor="ctr">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c>
                  <a:txBody>
                    <a:bodyPr lIns="133350" tIns="76200" rIns="133350" bIns="76200"/>
                    <a:lstStyle/>
                    <a:p>
                      <a:r>
                        <a:rPr sz="1800" b="1">
                          <a:solidFill>
                            <a:srgbClr val="98989F"/>
                          </a:solidFill>
                          <a:latin typeface="Helvetica Neue"/>
                          <a:ea typeface="Helvetica Neue"/>
                          <a:cs typeface="Helvetica Neue"/>
                        </a:rPr>
                        <a:t>Полученные элементы</a:t>
                      </a:r>
                    </a:p>
                  </a:txBody>
                  <a:tcPr marL="91440" marR="91440" marT="45720" marB="45720" anchor="ctr">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r>
              <a:tr h="628650">
                <a:tc>
                  <a:txBody>
                    <a:bodyPr lIns="133350" tIns="76200" rIns="133350" bIns="76200"/>
                    <a:lstStyle/>
                    <a:p>
                      <a:r>
                        <a:rPr sz="1800" b="0">
                          <a:solidFill>
                            <a:srgbClr val="F5F5F7"/>
                          </a:solidFill>
                          <a:latin typeface="Helvetica Neue"/>
                          <a:ea typeface="Helvetica Neue"/>
                          <a:cs typeface="Helvetica Neue"/>
                        </a:rPr>
                        <a:t>Word unigrams</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800" b="0">
                          <a:solidFill>
                            <a:srgbClr val="F5F5F7"/>
                          </a:solidFill>
                          <a:latin typeface="Helvetica Neue"/>
                          <a:ea typeface="Helvetica Neue"/>
                          <a:cs typeface="Helvetica Neue"/>
                        </a:rPr>
                        <a:t>товар не пришёл</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800" b="0">
                          <a:solidFill>
                            <a:srgbClr val="F5F5F7"/>
                          </a:solidFill>
                          <a:latin typeface="Helvetica Neue"/>
                          <a:ea typeface="Helvetica Neue"/>
                          <a:cs typeface="Helvetica Neue"/>
                        </a:rPr>
                        <a:t>товар · не · пришёл</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r h="628650">
                <a:tc>
                  <a:txBody>
                    <a:bodyPr lIns="133350" tIns="76200" rIns="133350" bIns="76200"/>
                    <a:lstStyle/>
                    <a:p>
                      <a:r>
                        <a:rPr sz="1800" b="0">
                          <a:solidFill>
                            <a:srgbClr val="F5F5F7"/>
                          </a:solidFill>
                          <a:latin typeface="Helvetica Neue"/>
                          <a:ea typeface="Helvetica Neue"/>
                          <a:cs typeface="Helvetica Neue"/>
                        </a:rPr>
                        <a:t>Word bigrams</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800" b="0">
                          <a:solidFill>
                            <a:srgbClr val="F5F5F7"/>
                          </a:solidFill>
                          <a:latin typeface="Helvetica Neue"/>
                          <a:ea typeface="Helvetica Neue"/>
                          <a:cs typeface="Helvetica Neue"/>
                        </a:rPr>
                        <a:t>товар не пришёл</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800" b="0">
                          <a:solidFill>
                            <a:srgbClr val="F5F5F7"/>
                          </a:solidFill>
                          <a:latin typeface="Helvetica Neue"/>
                          <a:ea typeface="Helvetica Neue"/>
                          <a:cs typeface="Helvetica Neue"/>
                        </a:rPr>
                        <a:t>товар не · не пришёл</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r h="628650">
                <a:tc>
                  <a:txBody>
                    <a:bodyPr lIns="133350" tIns="76200" rIns="133350" bIns="76200"/>
                    <a:lstStyle/>
                    <a:p>
                      <a:r>
                        <a:rPr sz="1800" b="0">
                          <a:solidFill>
                            <a:srgbClr val="F5F5F7"/>
                          </a:solidFill>
                          <a:latin typeface="Helvetica Neue"/>
                          <a:ea typeface="Helvetica Neue"/>
                          <a:cs typeface="Helvetica Neue"/>
                        </a:rPr>
                        <a:t>Character trigrams</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800" b="0">
                          <a:solidFill>
                            <a:srgbClr val="F5F5F7"/>
                          </a:solidFill>
                          <a:latin typeface="Helvetica Neue"/>
                          <a:ea typeface="Helvetica Neue"/>
                          <a:cs typeface="Helvetica Neue"/>
                        </a:rPr>
                        <a:t>товар</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800" b="0">
                          <a:solidFill>
                            <a:srgbClr val="F5F5F7"/>
                          </a:solidFill>
                          <a:latin typeface="Helvetica Neue"/>
                          <a:ea typeface="Helvetica Neue"/>
                          <a:cs typeface="Helvetica Neue"/>
                        </a:rPr>
                        <a:t>тов · ова · вар</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r h="628650">
                <a:tc>
                  <a:txBody>
                    <a:bodyPr lIns="133350" tIns="76200" rIns="133350" bIns="76200"/>
                    <a:lstStyle/>
                    <a:p>
                      <a:r>
                        <a:rPr sz="1800" b="0">
                          <a:solidFill>
                            <a:srgbClr val="F5F5F7"/>
                          </a:solidFill>
                          <a:latin typeface="Helvetica Neue"/>
                          <a:ea typeface="Helvetica Neue"/>
                          <a:cs typeface="Helvetica Neue"/>
                        </a:rPr>
                        <a:t>Character 4-grams</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800" b="0">
                          <a:solidFill>
                            <a:srgbClr val="F5F5F7"/>
                          </a:solidFill>
                          <a:latin typeface="Helvetica Neue"/>
                          <a:ea typeface="Helvetica Neue"/>
                          <a:cs typeface="Helvetica Neue"/>
                        </a:rPr>
                        <a:t>товар</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800" b="0">
                          <a:solidFill>
                            <a:srgbClr val="F5F5F7"/>
                          </a:solidFill>
                          <a:latin typeface="Helvetica Neue"/>
                          <a:ea typeface="Helvetica Neue"/>
                          <a:cs typeface="Helvetica Neue"/>
                        </a:rPr>
                        <a:t>това · овар</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bl>
          </a:graphicData>
        </a:graphic>
      </p:graphicFrame>
      <p:sp>
        <p:nvSpPr>
          <p:cNvPr id="7" name="exp90-5">
            <a:extLst xmlns:a="http://schemas.openxmlformats.org/drawingml/2006/main">
              <a:ext uri="{FF2B5EF4-FFF2-40B4-BE49-F238E27FC236}">
                <a16:creationId xmlns:a16="http://schemas.microsoft.com/office/drawing/2014/main" id="{7CA2D50C-23C7-4BAA-9641-8027ABA8C2F7}"/>
              </a:ext>
            </a:extLst>
          </p:cNvPr>
          <p:cNvSpPr>
            <a:spLocks xmlns:a="http://schemas.openxmlformats.org/drawingml/2006/main" noGrp="1"/>
          </p:cNvSpPr>
          <p:nvPr/>
        </p:nvSpPr>
        <p:spPr>
          <a:xfrm xmlns:a="http://schemas.openxmlformats.org/drawingml/2006/main">
            <a:off x="685800" y="618172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CDCDD3"/>
                </a:solidFill>
                <a:latin typeface="Helvetica Neue"/>
                <a:ea typeface="Helvetica Neue"/>
                <a:cs typeface="Helvetica Neue"/>
              </a:defRPr>
            </a:defPPr>
            <a:lvl1pPr>
              <a:buNone/>
              <a:defRPr sz="1650" b="0">
                <a:solidFill>
                  <a:srgbClr val="CDCDD3"/>
                </a:solidFill>
                <a:latin typeface="Helvetica Neue"/>
                <a:ea typeface="Helvetica Neue"/>
                <a:cs typeface="Helvetica Neue"/>
              </a:defRPr>
            </a:lvl1pPr>
            <a:lvl2pPr>
              <a:buNone/>
              <a:defRPr sz="1650" b="0">
                <a:solidFill>
                  <a:srgbClr val="CDCDD3"/>
                </a:solidFill>
                <a:latin typeface="Helvetica Neue"/>
                <a:ea typeface="Helvetica Neue"/>
                <a:cs typeface="Helvetica Neue"/>
              </a:defRPr>
            </a:lvl2pPr>
            <a:lvl3pPr>
              <a:buNone/>
              <a:defRPr sz="1650" b="0">
                <a:solidFill>
                  <a:srgbClr val="CDCDD3"/>
                </a:solidFill>
                <a:latin typeface="Helvetica Neue"/>
                <a:ea typeface="Helvetica Neue"/>
                <a:cs typeface="Helvetica Neue"/>
              </a:defRPr>
            </a:lvl3pPr>
            <a:lvl4pPr>
              <a:buNone/>
              <a:defRPr sz="1650" b="0">
                <a:solidFill>
                  <a:srgbClr val="CDCDD3"/>
                </a:solidFill>
                <a:latin typeface="Helvetica Neue"/>
                <a:ea typeface="Helvetica Neue"/>
                <a:cs typeface="Helvetica Neue"/>
              </a:defRPr>
            </a:lvl4pPr>
            <a:lvl5pPr>
              <a:buNone/>
              <a:defRPr sz="1650" b="0">
                <a:solidFill>
                  <a:srgbClr val="CDCDD3"/>
                </a:solidFill>
                <a:latin typeface="Helvetica Neue"/>
                <a:ea typeface="Helvetica Neue"/>
                <a:cs typeface="Helvetica Neue"/>
              </a:defRPr>
            </a:lvl5pPr>
            <a:lvl6pPr>
              <a:buNone/>
              <a:defRPr sz="1650" b="0">
                <a:solidFill>
                  <a:srgbClr val="CDCDD3"/>
                </a:solidFill>
                <a:latin typeface="Helvetica Neue"/>
                <a:ea typeface="Helvetica Neue"/>
                <a:cs typeface="Helvetica Neue"/>
              </a:defRPr>
            </a:lvl6pPr>
            <a:lvl7pPr>
              <a:buNone/>
              <a:defRPr sz="1650" b="0">
                <a:solidFill>
                  <a:srgbClr val="CDCDD3"/>
                </a:solidFill>
                <a:latin typeface="Helvetica Neue"/>
                <a:ea typeface="Helvetica Neue"/>
                <a:cs typeface="Helvetica Neue"/>
              </a:defRPr>
            </a:lvl7pPr>
            <a:lvl8pPr>
              <a:buNone/>
              <a:defRPr sz="1650" b="0">
                <a:solidFill>
                  <a:srgbClr val="CDCDD3"/>
                </a:solidFill>
                <a:latin typeface="Helvetica Neue"/>
                <a:ea typeface="Helvetica Neue"/>
                <a:cs typeface="Helvetica Neue"/>
              </a:defRPr>
            </a:lvl8pPr>
            <a:lvl9pPr>
              <a:buNone/>
              <a:defRPr sz="1650" b="0">
                <a:solidFill>
                  <a:srgbClr val="CDCDD3"/>
                </a:solidFill>
                <a:latin typeface="Helvetica Neue"/>
                <a:ea typeface="Helvetica Neue"/>
                <a:cs typeface="Helvetica Neue"/>
              </a:defRPr>
            </a:lvl9pPr>
          </a:lstStyle>
          <a:p xmlns:a="http://schemas.openxmlformats.org/drawingml/2006/main">
            <a:pPr>
              <a:buNone/>
              <a:defRPr sz="1650" b="0">
                <a:solidFill>
                  <a:srgbClr val="CDCDD3"/>
                </a:solidFill>
                <a:latin typeface="Helvetica Neue"/>
                <a:ea typeface="Helvetica Neue"/>
                <a:cs typeface="Helvetica Neue"/>
              </a:defRPr>
            </a:pPr>
            <a:r>
              <a:rPr sz="1650" b="0">
                <a:solidFill>
                  <a:srgbClr val="CDCDD3"/>
                </a:solidFill>
                <a:latin typeface="Helvetica Neue"/>
                <a:ea typeface="Helvetica Neue"/>
                <a:cs typeface="Helvetica Neue"/>
              </a:rPr>
              <a:t>Для character n-grams отдельно определяют обработку пробелов и границ слов. Схема показывает локальные фрагменты, которые могут стать столбцами матрицы признаков.</a:t>
            </a:r>
          </a:p>
        </p:txBody>
      </p:sp>
    </p:spTree>
    <p:extLst>
      <p:ext uri="{BB962C8B-B14F-4D97-AF65-F5344CB8AC3E}">
        <p14:creationId xmlns:p14="http://schemas.microsoft.com/office/powerpoint/2010/main" val="658546195"/>
      </p:ext>
    </p:extLst>
  </p:cSld>
</p:sld>
</file>

<file path=ppt/slides/slide4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9" name="exp90-0">
            <a:extLst xmlns:a="http://schemas.openxmlformats.org/drawingml/2006/main">
              <a:ext uri="{FF2B5EF4-FFF2-40B4-BE49-F238E27FC236}">
                <a16:creationId xmlns:a16="http://schemas.microsoft.com/office/drawing/2014/main" id="{F72B3907-C547-47A8-B7F3-E8D7A28C6385}"/>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90-1">
            <a:extLst xmlns:a="http://schemas.openxmlformats.org/drawingml/2006/main">
              <a:ext uri="{FF2B5EF4-FFF2-40B4-BE49-F238E27FC236}">
                <a16:creationId xmlns:a16="http://schemas.microsoft.com/office/drawing/2014/main" id="{181BBF7D-158F-4F1C-AFB4-B324778D3BA5}"/>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49</a:t>
            </a:r>
          </a:p>
        </p:txBody>
      </p:sp>
      <p:sp>
        <p:nvSpPr>
          <p:cNvPr id="3" name="">
            <a:extLst xmlns:a="http://schemas.openxmlformats.org/drawingml/2006/main">
              <a:ext uri="{FF2B5EF4-FFF2-40B4-BE49-F238E27FC236}">
                <a16:creationId xmlns:a16="http://schemas.microsoft.com/office/drawing/2014/main" id="{3F89AFB5-C51D-41CD-A063-2FD8AE544D42}"/>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0">
            <a:solidFill>
              <a:srgbClr val="28282B"/>
            </a:solidFill>
          </a:ln>
        </p:spPr>
      </p:sp>
      <p:sp>
        <p:nvSpPr>
          <p:cNvPr id="4" name="exp90-3">
            <a:extLst xmlns:a="http://schemas.openxmlformats.org/drawingml/2006/main">
              <a:ext uri="{FF2B5EF4-FFF2-40B4-BE49-F238E27FC236}">
                <a16:creationId xmlns:a16="http://schemas.microsoft.com/office/drawing/2014/main" id="{FF028964-C73A-4034-8A92-278F4A1C3EBF}"/>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N-gram features и language modeling</a:t>
            </a:r>
          </a:p>
        </p:txBody>
      </p:sp>
      <p:pic>
        <p:nvPicPr>
          <p:cNvPr id="10" name="">
            <a:extLst xmlns:a="http://schemas.openxmlformats.org/drawingml/2006/main">
              <a:ext uri="{FF2B5EF4-FFF2-40B4-BE49-F238E27FC236}">
                <a16:creationId xmlns:a16="http://schemas.microsoft.com/office/drawing/2014/main" id="{0FF73C6C-8EF9-4D8E-9252-EE216FCD5C54}"/>
              </a:ext>
            </a:extLst>
          </p:cNvPr>
          <p:cNvPicPr>
            <a:picLocks xmlns:a="http://schemas.openxmlformats.org/drawingml/2006/main" noChangeAspect="1"/>
          </p:cNvPicPr>
          <p:nvPr/>
        </p:nvPicPr>
        <p:blipFill>
          <a:blip xmlns:r="http://schemas.openxmlformats.org/officeDocument/2006/relationships" xmlns:a="http://schemas.openxmlformats.org/drawingml/2006/main" r:embed="Rd639662629d04605"/>
          <a:stretch xmlns:a="http://schemas.openxmlformats.org/drawingml/2006/main"/>
        </p:blipFill>
        <p:spPr>
          <a:xfrm xmlns:a="http://schemas.openxmlformats.org/drawingml/2006/main">
            <a:off x="2562169" y="2000250"/>
            <a:ext cx="7067663" cy="3981450"/>
          </a:xfrm>
          <a:prstGeom xmlns:a="http://schemas.openxmlformats.org/drawingml/2006/main" prst="rect">
            <a:avLst/>
          </a:prstGeom>
        </p:spPr>
      </p:pic>
      <p:sp>
        <p:nvSpPr>
          <p:cNvPr id="11" name="ysda-4">
            <a:extLst xmlns:a="http://schemas.openxmlformats.org/drawingml/2006/main">
              <a:ext uri="{FF2B5EF4-FFF2-40B4-BE49-F238E27FC236}">
                <a16:creationId xmlns:a16="http://schemas.microsoft.com/office/drawing/2014/main" id="{27EEEE5B-AE0E-4CFA-8D65-346BAD51E84E}"/>
              </a:ext>
            </a:extLst>
          </p:cNvPr>
          <p:cNvSpPr>
            <a:spLocks xmlns:a="http://schemas.openxmlformats.org/drawingml/2006/main" noGrp="1"/>
          </p:cNvSpPr>
          <p:nvPr/>
        </p:nvSpPr>
        <p:spPr>
          <a:xfrm xmlns:a="http://schemas.openxmlformats.org/drawingml/2006/main">
            <a:off x="685800" y="6124575"/>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CDCDD3"/>
                </a:solidFill>
                <a:latin typeface="Helvetica Neue"/>
                <a:ea typeface="Helvetica Neue"/>
                <a:cs typeface="Helvetica Neue"/>
              </a:defRPr>
            </a:defPPr>
            <a:lvl1pPr>
              <a:defRPr sz="1725" b="0">
                <a:solidFill>
                  <a:srgbClr val="CDCDD3"/>
                </a:solidFill>
                <a:latin typeface="Helvetica Neue"/>
                <a:ea typeface="Helvetica Neue"/>
                <a:cs typeface="Helvetica Neue"/>
              </a:defRPr>
            </a:lvl1pPr>
            <a:lvl2pPr>
              <a:defRPr sz="1725" b="0">
                <a:solidFill>
                  <a:srgbClr val="CDCDD3"/>
                </a:solidFill>
                <a:latin typeface="Helvetica Neue"/>
                <a:ea typeface="Helvetica Neue"/>
                <a:cs typeface="Helvetica Neue"/>
              </a:defRPr>
            </a:lvl2pPr>
            <a:lvl3pPr>
              <a:defRPr sz="1725" b="0">
                <a:solidFill>
                  <a:srgbClr val="CDCDD3"/>
                </a:solidFill>
                <a:latin typeface="Helvetica Neue"/>
                <a:ea typeface="Helvetica Neue"/>
                <a:cs typeface="Helvetica Neue"/>
              </a:defRPr>
            </a:lvl3pPr>
            <a:lvl4pPr>
              <a:defRPr sz="1725" b="0">
                <a:solidFill>
                  <a:srgbClr val="CDCDD3"/>
                </a:solidFill>
                <a:latin typeface="Helvetica Neue"/>
                <a:ea typeface="Helvetica Neue"/>
                <a:cs typeface="Helvetica Neue"/>
              </a:defRPr>
            </a:lvl4pPr>
            <a:lvl5pPr>
              <a:defRPr sz="1725" b="0">
                <a:solidFill>
                  <a:srgbClr val="CDCDD3"/>
                </a:solidFill>
                <a:latin typeface="Helvetica Neue"/>
                <a:ea typeface="Helvetica Neue"/>
                <a:cs typeface="Helvetica Neue"/>
              </a:defRPr>
            </a:lvl5pPr>
            <a:lvl6pPr>
              <a:defRPr sz="1725" b="0">
                <a:solidFill>
                  <a:srgbClr val="CDCDD3"/>
                </a:solidFill>
                <a:latin typeface="Helvetica Neue"/>
                <a:ea typeface="Helvetica Neue"/>
                <a:cs typeface="Helvetica Neue"/>
              </a:defRPr>
            </a:lvl6pPr>
            <a:lvl7pPr>
              <a:defRPr sz="1725" b="0">
                <a:solidFill>
                  <a:srgbClr val="CDCDD3"/>
                </a:solidFill>
                <a:latin typeface="Helvetica Neue"/>
                <a:ea typeface="Helvetica Neue"/>
                <a:cs typeface="Helvetica Neue"/>
              </a:defRPr>
            </a:lvl7pPr>
            <a:lvl8pPr>
              <a:defRPr sz="1725" b="0">
                <a:solidFill>
                  <a:srgbClr val="CDCDD3"/>
                </a:solidFill>
                <a:latin typeface="Helvetica Neue"/>
                <a:ea typeface="Helvetica Neue"/>
                <a:cs typeface="Helvetica Neue"/>
              </a:defRPr>
            </a:lvl8pPr>
            <a:lvl9pPr>
              <a:defRPr sz="1725" b="0">
                <a:solidFill>
                  <a:srgbClr val="CDCDD3"/>
                </a:solidFill>
                <a:latin typeface="Helvetica Neue"/>
                <a:ea typeface="Helvetica Neue"/>
                <a:cs typeface="Helvetica Neue"/>
              </a:defRPr>
            </a:lvl9pPr>
          </a:lstStyle>
          <a:p xmlns:a="http://schemas.openxmlformats.org/drawingml/2006/main">
            <a:pPr>
              <a:defRPr sz="1725" b="0">
                <a:solidFill>
                  <a:srgbClr val="CDCDD3"/>
                </a:solidFill>
                <a:latin typeface="Helvetica Neue"/>
                <a:ea typeface="Helvetica Neue"/>
                <a:cs typeface="Helvetica Neue"/>
              </a:defRPr>
            </a:pPr>
            <a:r>
              <a:rPr sz="1725" b="0">
                <a:solidFill>
                  <a:srgbClr val="CDCDD3"/>
                </a:solidFill>
                <a:latin typeface="Helvetica Neue"/>
                <a:ea typeface="Helvetica Neue"/>
                <a:cs typeface="Helvetica Neue"/>
              </a:rPr>
              <a:t>N-gram language model ограничивает контекст предыдущими n − 1 tokens. N-gram features используются для описания документа.</a:t>
            </a:r>
          </a:p>
        </p:txBody>
      </p:sp>
    </p:spTree>
    <p:extLst>
      <p:ext uri="{BB962C8B-B14F-4D97-AF65-F5344CB8AC3E}">
        <p14:creationId xmlns:p14="http://schemas.microsoft.com/office/powerpoint/2010/main" val="880034302"/>
      </p:ext>
    </p:extLst>
  </p:cSld>
</p:sld>
</file>

<file path=ppt/slides/slide5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E8929B3E-F568-4D4D-83E0-32A1DAE3ABF4}"/>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98989F"/>
                </a:solidFill>
                <a:latin typeface="Helvetica Neue"/>
                <a:ea typeface="Helvetica Neue"/>
                <a:cs typeface="Helvetica Neue"/>
              </a:defRPr>
            </a:defPPr>
            <a:lvl1pPr algn="l">
              <a:buNone/>
              <a:defRPr sz="1425" b="0">
                <a:solidFill>
                  <a:srgbClr val="98989F"/>
                </a:solidFill>
                <a:latin typeface="Helvetica Neue"/>
                <a:ea typeface="Helvetica Neue"/>
                <a:cs typeface="Helvetica Neue"/>
              </a:defRPr>
            </a:lvl1pPr>
            <a:lvl2pPr algn="l">
              <a:buNone/>
              <a:defRPr sz="1425" b="0">
                <a:solidFill>
                  <a:srgbClr val="98989F"/>
                </a:solidFill>
                <a:latin typeface="Helvetica Neue"/>
                <a:ea typeface="Helvetica Neue"/>
                <a:cs typeface="Helvetica Neue"/>
              </a:defRPr>
            </a:lvl2pPr>
            <a:lvl3pPr algn="l">
              <a:buNone/>
              <a:defRPr sz="1425" b="0">
                <a:solidFill>
                  <a:srgbClr val="98989F"/>
                </a:solidFill>
                <a:latin typeface="Helvetica Neue"/>
                <a:ea typeface="Helvetica Neue"/>
                <a:cs typeface="Helvetica Neue"/>
              </a:defRPr>
            </a:lvl3pPr>
            <a:lvl4pPr algn="l">
              <a:buNone/>
              <a:defRPr sz="1425" b="0">
                <a:solidFill>
                  <a:srgbClr val="98989F"/>
                </a:solidFill>
                <a:latin typeface="Helvetica Neue"/>
                <a:ea typeface="Helvetica Neue"/>
                <a:cs typeface="Helvetica Neue"/>
              </a:defRPr>
            </a:lvl4pPr>
            <a:lvl5pPr algn="l">
              <a:buNone/>
              <a:defRPr sz="1425" b="0">
                <a:solidFill>
                  <a:srgbClr val="98989F"/>
                </a:solidFill>
                <a:latin typeface="Helvetica Neue"/>
                <a:ea typeface="Helvetica Neue"/>
                <a:cs typeface="Helvetica Neue"/>
              </a:defRPr>
            </a:lvl5pPr>
            <a:lvl6pPr algn="l">
              <a:buNone/>
              <a:defRPr sz="1425" b="0">
                <a:solidFill>
                  <a:srgbClr val="98989F"/>
                </a:solidFill>
                <a:latin typeface="Helvetica Neue"/>
                <a:ea typeface="Helvetica Neue"/>
                <a:cs typeface="Helvetica Neue"/>
              </a:defRPr>
            </a:lvl6pPr>
            <a:lvl7pPr algn="l">
              <a:buNone/>
              <a:defRPr sz="1425" b="0">
                <a:solidFill>
                  <a:srgbClr val="98989F"/>
                </a:solidFill>
                <a:latin typeface="Helvetica Neue"/>
                <a:ea typeface="Helvetica Neue"/>
                <a:cs typeface="Helvetica Neue"/>
              </a:defRPr>
            </a:lvl7pPr>
            <a:lvl8pPr algn="l">
              <a:buNone/>
              <a:defRPr sz="1425" b="0">
                <a:solidFill>
                  <a:srgbClr val="98989F"/>
                </a:solidFill>
                <a:latin typeface="Helvetica Neue"/>
                <a:ea typeface="Helvetica Neue"/>
                <a:cs typeface="Helvetica Neue"/>
              </a:defRPr>
            </a:lvl8pPr>
            <a:lvl9pPr algn="l">
              <a:buNone/>
              <a:defRPr sz="1425" b="0">
                <a:solidFill>
                  <a:srgbClr val="98989F"/>
                </a:solidFill>
                <a:latin typeface="Helvetica Neue"/>
                <a:ea typeface="Helvetica Neue"/>
                <a:cs typeface="Helvetica Neue"/>
              </a:defRPr>
            </a:lvl9pPr>
          </a:lstStyle>
          <a:p xmlns:a="http://schemas.openxmlformats.org/drawingml/2006/main">
            <a:pPr algn="l">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text-1">
            <a:extLst xmlns:a="http://schemas.openxmlformats.org/drawingml/2006/main">
              <a:ext uri="{FF2B5EF4-FFF2-40B4-BE49-F238E27FC236}">
                <a16:creationId xmlns:a16="http://schemas.microsoft.com/office/drawing/2014/main" id="{FBD41045-A134-435B-AFB1-7FAB0CCF00A6}"/>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50</a:t>
            </a:r>
          </a:p>
        </p:txBody>
      </p:sp>
      <p:sp>
        <p:nvSpPr>
          <p:cNvPr id="3" name="">
            <a:extLst xmlns:a="http://schemas.openxmlformats.org/drawingml/2006/main">
              <a:ext uri="{FF2B5EF4-FFF2-40B4-BE49-F238E27FC236}">
                <a16:creationId xmlns:a16="http://schemas.microsoft.com/office/drawing/2014/main" id="{0517B006-3EF6-46A3-AE93-DBB5DC6B67D9}"/>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prstDash val="solid"/>
          </a:ln>
        </p:spPr>
      </p:sp>
      <p:sp>
        <p:nvSpPr>
          <p:cNvPr id="4" name="text-3">
            <a:extLst xmlns:a="http://schemas.openxmlformats.org/drawingml/2006/main">
              <a:ext uri="{FF2B5EF4-FFF2-40B4-BE49-F238E27FC236}">
                <a16:creationId xmlns:a16="http://schemas.microsoft.com/office/drawing/2014/main" id="{9101DDDD-747A-4AD6-B8A8-991CD275DFE9}"/>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5F7"/>
                </a:solidFill>
                <a:latin typeface="Helvetica Neue"/>
                <a:ea typeface="Helvetica Neue"/>
                <a:cs typeface="Helvetica Neue"/>
              </a:defRPr>
            </a:defPPr>
            <a:lvl1pPr algn="l">
              <a:buNone/>
              <a:defRPr sz="3450" b="1">
                <a:solidFill>
                  <a:srgbClr val="F5F5F7"/>
                </a:solidFill>
                <a:latin typeface="Helvetica Neue"/>
                <a:ea typeface="Helvetica Neue"/>
                <a:cs typeface="Helvetica Neue"/>
              </a:defRPr>
            </a:lvl1pPr>
            <a:lvl2pPr algn="l">
              <a:buNone/>
              <a:defRPr sz="3450" b="1">
                <a:solidFill>
                  <a:srgbClr val="F5F5F7"/>
                </a:solidFill>
                <a:latin typeface="Helvetica Neue"/>
                <a:ea typeface="Helvetica Neue"/>
                <a:cs typeface="Helvetica Neue"/>
              </a:defRPr>
            </a:lvl2pPr>
            <a:lvl3pPr algn="l">
              <a:buNone/>
              <a:defRPr sz="3450" b="1">
                <a:solidFill>
                  <a:srgbClr val="F5F5F7"/>
                </a:solidFill>
                <a:latin typeface="Helvetica Neue"/>
                <a:ea typeface="Helvetica Neue"/>
                <a:cs typeface="Helvetica Neue"/>
              </a:defRPr>
            </a:lvl3pPr>
            <a:lvl4pPr algn="l">
              <a:buNone/>
              <a:defRPr sz="3450" b="1">
                <a:solidFill>
                  <a:srgbClr val="F5F5F7"/>
                </a:solidFill>
                <a:latin typeface="Helvetica Neue"/>
                <a:ea typeface="Helvetica Neue"/>
                <a:cs typeface="Helvetica Neue"/>
              </a:defRPr>
            </a:lvl4pPr>
            <a:lvl5pPr algn="l">
              <a:buNone/>
              <a:defRPr sz="3450" b="1">
                <a:solidFill>
                  <a:srgbClr val="F5F5F7"/>
                </a:solidFill>
                <a:latin typeface="Helvetica Neue"/>
                <a:ea typeface="Helvetica Neue"/>
                <a:cs typeface="Helvetica Neue"/>
              </a:defRPr>
            </a:lvl5pPr>
            <a:lvl6pPr algn="l">
              <a:buNone/>
              <a:defRPr sz="3450" b="1">
                <a:solidFill>
                  <a:srgbClr val="F5F5F7"/>
                </a:solidFill>
                <a:latin typeface="Helvetica Neue"/>
                <a:ea typeface="Helvetica Neue"/>
                <a:cs typeface="Helvetica Neue"/>
              </a:defRPr>
            </a:lvl6pPr>
            <a:lvl7pPr algn="l">
              <a:buNone/>
              <a:defRPr sz="3450" b="1">
                <a:solidFill>
                  <a:srgbClr val="F5F5F7"/>
                </a:solidFill>
                <a:latin typeface="Helvetica Neue"/>
                <a:ea typeface="Helvetica Neue"/>
                <a:cs typeface="Helvetica Neue"/>
              </a:defRPr>
            </a:lvl7pPr>
            <a:lvl8pPr algn="l">
              <a:buNone/>
              <a:defRPr sz="3450" b="1">
                <a:solidFill>
                  <a:srgbClr val="F5F5F7"/>
                </a:solidFill>
                <a:latin typeface="Helvetica Neue"/>
                <a:ea typeface="Helvetica Neue"/>
                <a:cs typeface="Helvetica Neue"/>
              </a:defRPr>
            </a:lvl8pPr>
            <a:lvl9pPr algn="l">
              <a:buNone/>
              <a:defRPr sz="3450" b="1">
                <a:solidFill>
                  <a:srgbClr val="F5F5F7"/>
                </a:solidFill>
                <a:latin typeface="Helvetica Neue"/>
                <a:ea typeface="Helvetica Neue"/>
                <a:cs typeface="Helvetica Neue"/>
              </a:defRPr>
            </a:lvl9pPr>
          </a:lstStyle>
          <a:p xmlns:a="http://schemas.openxmlformats.org/drawingml/2006/main">
            <a:pPr algn="l">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Bag of Words</a:t>
            </a:r>
          </a:p>
        </p:txBody>
      </p:sp>
      <p:graphicFrame>
        <p:nvGraphicFramePr>
          <p:cNvPr id="5" name="">
            <a:extLst xmlns:a="http://schemas.openxmlformats.org/drawingml/2006/main">
              <a:ext uri="{FF2B5EF4-FFF2-40B4-BE49-F238E27FC236}">
                <a16:creationId xmlns:a16="http://schemas.microsoft.com/office/drawing/2014/main" id="{8B6709FD-B5E2-4B7B-8BEA-CBD51B09859E}"/>
              </a:ext>
            </a:extLst>
          </p:cNvPr>
          <p:cNvGraphicFramePr/>
          <p:nvPr/>
        </p:nvGraphicFramePr>
        <p:xfrm>
          <a:off xmlns:a="http://schemas.openxmlformats.org/drawingml/2006/main" x="685800" y="2952750"/>
          <a:ext xmlns:a="http://schemas.openxmlformats.org/drawingml/2006/main" cx="10820400" cy="2314575"/>
        </p:xfrm>
        <a:graphic xmlns:a="http://schemas.openxmlformats.org/drawingml/2006/main">
          <a:graphicData uri="http://schemas.openxmlformats.org/drawingml/2006/table">
            <a:tbl>
              <a:tblPr/>
              <a:tblGrid>
                <a:gridCol w="6191250"/>
                <a:gridCol w="1543050"/>
                <a:gridCol w="1543050"/>
                <a:gridCol w="1543050"/>
              </a:tblGrid>
              <a:tr h="578644">
                <a:tc>
                  <a:txBody>
                    <a:bodyPr lIns="142875" tIns="76200" rIns="142875" bIns="76200"/>
                    <a:lstStyle/>
                    <a:p>
                      <a:r>
                        <a:rPr sz="1800" b="1">
                          <a:solidFill>
                            <a:srgbClr val="98989F"/>
                          </a:solidFill>
                          <a:latin typeface="Helvetica Neue"/>
                          <a:ea typeface="Helvetica Neue"/>
                          <a:cs typeface="Helvetica Neue"/>
                        </a:rPr>
                        <a:t>Текст</a:t>
                      </a:r>
                    </a:p>
                  </a:txBody>
                  <a:tcPr marL="91440" marR="91440" marT="45720" marB="45720" anchor="ctr">
                    <a:lnL w="9525">
                      <a:solidFill>
                        <a:srgbClr val="28282B"/>
                      </a:solidFill>
                      <a:prstDash val="solid"/>
                    </a:lnL>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c>
                  <a:txBody>
                    <a:bodyPr lIns="142875" tIns="76200" rIns="142875" bIns="76200"/>
                    <a:lstStyle/>
                    <a:p>
                      <a:r>
                        <a:rPr sz="1800" b="1">
                          <a:solidFill>
                            <a:srgbClr val="98989F"/>
                          </a:solidFill>
                          <a:latin typeface="Helvetica Neue"/>
                          <a:ea typeface="Helvetica Neue"/>
                          <a:cs typeface="Helvetica Neue"/>
                        </a:rPr>
                        <a:t>товар</a:t>
                      </a:r>
                    </a:p>
                  </a:txBody>
                  <a:tcPr marL="91440" marR="91440" marT="45720" marB="45720" anchor="ctr">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c>
                  <a:txBody>
                    <a:bodyPr lIns="142875" tIns="76200" rIns="142875" bIns="76200"/>
                    <a:lstStyle/>
                    <a:p>
                      <a:r>
                        <a:rPr sz="1800" b="1">
                          <a:solidFill>
                            <a:srgbClr val="98989F"/>
                          </a:solidFill>
                          <a:latin typeface="Helvetica Neue"/>
                          <a:ea typeface="Helvetica Neue"/>
                          <a:cs typeface="Helvetica Neue"/>
                        </a:rPr>
                        <a:t>хороший</a:t>
                      </a:r>
                    </a:p>
                  </a:txBody>
                  <a:tcPr marL="91440" marR="91440" marT="45720" marB="45720" anchor="ctr">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c>
                  <a:txBody>
                    <a:bodyPr lIns="142875" tIns="76200" rIns="142875" bIns="76200"/>
                    <a:lstStyle/>
                    <a:p>
                      <a:r>
                        <a:rPr sz="1800" b="1">
                          <a:solidFill>
                            <a:srgbClr val="98989F"/>
                          </a:solidFill>
                          <a:latin typeface="Helvetica Neue"/>
                          <a:ea typeface="Helvetica Neue"/>
                          <a:cs typeface="Helvetica Neue"/>
                        </a:rPr>
                        <a:t>плохой</a:t>
                      </a:r>
                    </a:p>
                  </a:txBody>
                  <a:tcPr marL="91440" marR="91440" marT="45720" marB="45720" anchor="ctr">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r>
              <a:tr h="578644">
                <a:tc>
                  <a:txBody>
                    <a:bodyPr lIns="142875" tIns="76200" rIns="142875" bIns="76200"/>
                    <a:lstStyle/>
                    <a:p>
                      <a:r>
                        <a:rPr sz="1875" b="0">
                          <a:solidFill>
                            <a:srgbClr val="F5F5F7"/>
                          </a:solidFill>
                          <a:latin typeface="Helvetica Neue"/>
                          <a:ea typeface="Helvetica Neue"/>
                          <a:cs typeface="Helvetica Neue"/>
                        </a:rPr>
                        <a:t>«товар хороший»</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42875" tIns="76200" rIns="142875" bIns="76200"/>
                    <a:lstStyle/>
                    <a:p>
                      <a:r>
                        <a:rPr sz="1875" b="0">
                          <a:solidFill>
                            <a:srgbClr val="F5F5F7"/>
                          </a:solidFill>
                          <a:latin typeface="Helvetica Neue"/>
                          <a:ea typeface="Helvetica Neue"/>
                          <a:cs typeface="Helvetica Neue"/>
                        </a:rPr>
                        <a:t>1</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42875" tIns="76200" rIns="142875" bIns="76200"/>
                    <a:lstStyle/>
                    <a:p>
                      <a:r>
                        <a:rPr sz="1875" b="0">
                          <a:solidFill>
                            <a:srgbClr val="F5F5F7"/>
                          </a:solidFill>
                          <a:latin typeface="Helvetica Neue"/>
                          <a:ea typeface="Helvetica Neue"/>
                          <a:cs typeface="Helvetica Neue"/>
                        </a:rPr>
                        <a:t>1</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42875" tIns="76200" rIns="142875" bIns="76200"/>
                    <a:lstStyle/>
                    <a:p>
                      <a:r>
                        <a:rPr sz="1875" b="0">
                          <a:solidFill>
                            <a:srgbClr val="F5F5F7"/>
                          </a:solidFill>
                          <a:latin typeface="Helvetica Neue"/>
                          <a:ea typeface="Helvetica Neue"/>
                          <a:cs typeface="Helvetica Neue"/>
                        </a:rPr>
                        <a:t>0</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r h="578644">
                <a:tc>
                  <a:txBody>
                    <a:bodyPr lIns="142875" tIns="76200" rIns="142875" bIns="76200"/>
                    <a:lstStyle/>
                    <a:p>
                      <a:r>
                        <a:rPr sz="1875" b="0">
                          <a:solidFill>
                            <a:srgbClr val="F5F5F7"/>
                          </a:solidFill>
                          <a:latin typeface="Helvetica Neue"/>
                          <a:ea typeface="Helvetica Neue"/>
                          <a:cs typeface="Helvetica Neue"/>
                        </a:rPr>
                        <a:t>«товар плохой»</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42875" tIns="76200" rIns="142875" bIns="76200"/>
                    <a:lstStyle/>
                    <a:p>
                      <a:r>
                        <a:rPr sz="1875" b="0">
                          <a:solidFill>
                            <a:srgbClr val="F5F5F7"/>
                          </a:solidFill>
                          <a:latin typeface="Helvetica Neue"/>
                          <a:ea typeface="Helvetica Neue"/>
                          <a:cs typeface="Helvetica Neue"/>
                        </a:rPr>
                        <a:t>1</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42875" tIns="76200" rIns="142875" bIns="76200"/>
                    <a:lstStyle/>
                    <a:p>
                      <a:r>
                        <a:rPr sz="1875" b="0">
                          <a:solidFill>
                            <a:srgbClr val="F5F5F7"/>
                          </a:solidFill>
                          <a:latin typeface="Helvetica Neue"/>
                          <a:ea typeface="Helvetica Neue"/>
                          <a:cs typeface="Helvetica Neue"/>
                        </a:rPr>
                        <a:t>0</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42875" tIns="76200" rIns="142875" bIns="76200"/>
                    <a:lstStyle/>
                    <a:p>
                      <a:r>
                        <a:rPr sz="1875" b="0">
                          <a:solidFill>
                            <a:srgbClr val="F5F5F7"/>
                          </a:solidFill>
                          <a:latin typeface="Helvetica Neue"/>
                          <a:ea typeface="Helvetica Neue"/>
                          <a:cs typeface="Helvetica Neue"/>
                        </a:rPr>
                        <a:t>1</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r h="578644">
                <a:tc>
                  <a:txBody>
                    <a:bodyPr lIns="142875" tIns="76200" rIns="142875" bIns="76200"/>
                    <a:lstStyle/>
                    <a:p>
                      <a:r>
                        <a:rPr sz="1875" b="0">
                          <a:solidFill>
                            <a:srgbClr val="F5F5F7"/>
                          </a:solidFill>
                          <a:latin typeface="Helvetica Neue"/>
                          <a:ea typeface="Helvetica Neue"/>
                          <a:cs typeface="Helvetica Neue"/>
                        </a:rPr>
                        <a:t>«хороший хороший товар»</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42875" tIns="76200" rIns="142875" bIns="76200"/>
                    <a:lstStyle/>
                    <a:p>
                      <a:r>
                        <a:rPr sz="1875" b="0">
                          <a:solidFill>
                            <a:srgbClr val="F5F5F7"/>
                          </a:solidFill>
                          <a:latin typeface="Helvetica Neue"/>
                          <a:ea typeface="Helvetica Neue"/>
                          <a:cs typeface="Helvetica Neue"/>
                        </a:rPr>
                        <a:t>1</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42875" tIns="76200" rIns="142875" bIns="76200"/>
                    <a:lstStyle/>
                    <a:p>
                      <a:r>
                        <a:rPr sz="1875" b="0">
                          <a:solidFill>
                            <a:srgbClr val="F5F5F7"/>
                          </a:solidFill>
                          <a:latin typeface="Helvetica Neue"/>
                          <a:ea typeface="Helvetica Neue"/>
                          <a:cs typeface="Helvetica Neue"/>
                        </a:rPr>
                        <a:t>2</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42875" tIns="76200" rIns="142875" bIns="76200"/>
                    <a:lstStyle/>
                    <a:p>
                      <a:r>
                        <a:rPr sz="1875" b="0">
                          <a:solidFill>
                            <a:srgbClr val="F5F5F7"/>
                          </a:solidFill>
                          <a:latin typeface="Helvetica Neue"/>
                          <a:ea typeface="Helvetica Neue"/>
                          <a:cs typeface="Helvetica Neue"/>
                        </a:rPr>
                        <a:t>0</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bl>
          </a:graphicData>
        </a:graphic>
      </p:graphicFrame>
      <p:sp>
        <p:nvSpPr>
          <p:cNvPr id="8" name="theory-4">
            <a:extLst xmlns:a="http://schemas.openxmlformats.org/drawingml/2006/main">
              <a:ext uri="{FF2B5EF4-FFF2-40B4-BE49-F238E27FC236}">
                <a16:creationId xmlns:a16="http://schemas.microsoft.com/office/drawing/2014/main" id="{BA420D9D-DAE5-460C-807C-2F200E6658B4}"/>
              </a:ext>
            </a:extLst>
          </p:cNvPr>
          <p:cNvSpPr>
            <a:spLocks xmlns:a="http://schemas.openxmlformats.org/drawingml/2006/main" noGrp="1"/>
          </p:cNvSpPr>
          <p:nvPr/>
        </p:nvSpPr>
        <p:spPr>
          <a:xfrm xmlns:a="http://schemas.openxmlformats.org/drawingml/2006/main">
            <a:off x="685800" y="2009775"/>
            <a:ext cx="108204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88" b="0">
                <a:solidFill>
                  <a:srgbClr val="F5F5F7"/>
                </a:solidFill>
                <a:latin typeface="Helvetica Neue"/>
                <a:ea typeface="Helvetica Neue"/>
                <a:cs typeface="Helvetica Neue"/>
              </a:defRPr>
            </a:defPPr>
            <a:lvl1pPr>
              <a:buNone/>
              <a:defRPr sz="1988" b="0">
                <a:solidFill>
                  <a:srgbClr val="F5F5F7"/>
                </a:solidFill>
                <a:latin typeface="Helvetica Neue"/>
                <a:ea typeface="Helvetica Neue"/>
                <a:cs typeface="Helvetica Neue"/>
              </a:defRPr>
            </a:lvl1pPr>
            <a:lvl2pPr>
              <a:buNone/>
              <a:defRPr sz="1988" b="0">
                <a:solidFill>
                  <a:srgbClr val="F5F5F7"/>
                </a:solidFill>
                <a:latin typeface="Helvetica Neue"/>
                <a:ea typeface="Helvetica Neue"/>
                <a:cs typeface="Helvetica Neue"/>
              </a:defRPr>
            </a:lvl2pPr>
            <a:lvl3pPr>
              <a:buNone/>
              <a:defRPr sz="1988" b="0">
                <a:solidFill>
                  <a:srgbClr val="F5F5F7"/>
                </a:solidFill>
                <a:latin typeface="Helvetica Neue"/>
                <a:ea typeface="Helvetica Neue"/>
                <a:cs typeface="Helvetica Neue"/>
              </a:defRPr>
            </a:lvl3pPr>
            <a:lvl4pPr>
              <a:buNone/>
              <a:defRPr sz="1988" b="0">
                <a:solidFill>
                  <a:srgbClr val="F5F5F7"/>
                </a:solidFill>
                <a:latin typeface="Helvetica Neue"/>
                <a:ea typeface="Helvetica Neue"/>
                <a:cs typeface="Helvetica Neue"/>
              </a:defRPr>
            </a:lvl4pPr>
            <a:lvl5pPr>
              <a:buNone/>
              <a:defRPr sz="1988" b="0">
                <a:solidFill>
                  <a:srgbClr val="F5F5F7"/>
                </a:solidFill>
                <a:latin typeface="Helvetica Neue"/>
                <a:ea typeface="Helvetica Neue"/>
                <a:cs typeface="Helvetica Neue"/>
              </a:defRPr>
            </a:lvl5pPr>
            <a:lvl6pPr>
              <a:buNone/>
              <a:defRPr sz="1988" b="0">
                <a:solidFill>
                  <a:srgbClr val="F5F5F7"/>
                </a:solidFill>
                <a:latin typeface="Helvetica Neue"/>
                <a:ea typeface="Helvetica Neue"/>
                <a:cs typeface="Helvetica Neue"/>
              </a:defRPr>
            </a:lvl6pPr>
            <a:lvl7pPr>
              <a:buNone/>
              <a:defRPr sz="1988" b="0">
                <a:solidFill>
                  <a:srgbClr val="F5F5F7"/>
                </a:solidFill>
                <a:latin typeface="Helvetica Neue"/>
                <a:ea typeface="Helvetica Neue"/>
                <a:cs typeface="Helvetica Neue"/>
              </a:defRPr>
            </a:lvl7pPr>
            <a:lvl8pPr>
              <a:buNone/>
              <a:defRPr sz="1988" b="0">
                <a:solidFill>
                  <a:srgbClr val="F5F5F7"/>
                </a:solidFill>
                <a:latin typeface="Helvetica Neue"/>
                <a:ea typeface="Helvetica Neue"/>
                <a:cs typeface="Helvetica Neue"/>
              </a:defRPr>
            </a:lvl8pPr>
            <a:lvl9pPr>
              <a:buNone/>
              <a:defRPr sz="1988" b="0">
                <a:solidFill>
                  <a:srgbClr val="F5F5F7"/>
                </a:solidFill>
                <a:latin typeface="Helvetica Neue"/>
                <a:ea typeface="Helvetica Neue"/>
                <a:cs typeface="Helvetica Neue"/>
              </a:defRPr>
            </a:lvl9pPr>
          </a:lstStyle>
          <a:p xmlns:a="http://schemas.openxmlformats.org/drawingml/2006/main">
            <a:pPr>
              <a:buNone/>
              <a:defRPr sz="1988" b="0">
                <a:solidFill>
                  <a:srgbClr val="F5F5F7"/>
                </a:solidFill>
                <a:latin typeface="Helvetica Neue"/>
                <a:ea typeface="Helvetica Neue"/>
                <a:cs typeface="Helvetica Neue"/>
              </a:defRPr>
            </a:pPr>
            <a:r>
              <a:rPr sz="1988" b="0">
                <a:solidFill>
                  <a:srgbClr val="F5F5F7"/>
                </a:solidFill>
                <a:latin typeface="Helvetica Neue"/>
                <a:ea typeface="Helvetica Neue"/>
                <a:cs typeface="Helvetica Neue"/>
              </a:rPr>
              <a:t>Каждому элементу словаря соответствует отдельный столбец. Документ получает числовой вектор, а значения показывают число вхождений выбранных слов.</a:t>
            </a:r>
          </a:p>
        </p:txBody>
      </p:sp>
      <p:sp>
        <p:nvSpPr>
          <p:cNvPr id="9" name="theory-5">
            <a:extLst xmlns:a="http://schemas.openxmlformats.org/drawingml/2006/main">
              <a:ext uri="{FF2B5EF4-FFF2-40B4-BE49-F238E27FC236}">
                <a16:creationId xmlns:a16="http://schemas.microsoft.com/office/drawing/2014/main" id="{147C8977-3AF3-4027-B315-5792F6D01EDF}"/>
              </a:ext>
            </a:extLst>
          </p:cNvPr>
          <p:cNvSpPr>
            <a:spLocks xmlns:a="http://schemas.openxmlformats.org/drawingml/2006/main" noGrp="1"/>
          </p:cNvSpPr>
          <p:nvPr/>
        </p:nvSpPr>
        <p:spPr>
          <a:xfrm xmlns:a="http://schemas.openxmlformats.org/drawingml/2006/main">
            <a:off x="685800" y="592455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88" b="0">
                <a:solidFill>
                  <a:srgbClr val="98989F"/>
                </a:solidFill>
                <a:latin typeface="Helvetica Neue"/>
                <a:ea typeface="Helvetica Neue"/>
                <a:cs typeface="Helvetica Neue"/>
              </a:defRPr>
            </a:defPPr>
            <a:lvl1pPr>
              <a:buNone/>
              <a:defRPr sz="1688" b="0">
                <a:solidFill>
                  <a:srgbClr val="98989F"/>
                </a:solidFill>
                <a:latin typeface="Helvetica Neue"/>
                <a:ea typeface="Helvetica Neue"/>
                <a:cs typeface="Helvetica Neue"/>
              </a:defRPr>
            </a:lvl1pPr>
            <a:lvl2pPr>
              <a:buNone/>
              <a:defRPr sz="1688" b="0">
                <a:solidFill>
                  <a:srgbClr val="98989F"/>
                </a:solidFill>
                <a:latin typeface="Helvetica Neue"/>
                <a:ea typeface="Helvetica Neue"/>
                <a:cs typeface="Helvetica Neue"/>
              </a:defRPr>
            </a:lvl2pPr>
            <a:lvl3pPr>
              <a:buNone/>
              <a:defRPr sz="1688" b="0">
                <a:solidFill>
                  <a:srgbClr val="98989F"/>
                </a:solidFill>
                <a:latin typeface="Helvetica Neue"/>
                <a:ea typeface="Helvetica Neue"/>
                <a:cs typeface="Helvetica Neue"/>
              </a:defRPr>
            </a:lvl3pPr>
            <a:lvl4pPr>
              <a:buNone/>
              <a:defRPr sz="1688" b="0">
                <a:solidFill>
                  <a:srgbClr val="98989F"/>
                </a:solidFill>
                <a:latin typeface="Helvetica Neue"/>
                <a:ea typeface="Helvetica Neue"/>
                <a:cs typeface="Helvetica Neue"/>
              </a:defRPr>
            </a:lvl4pPr>
            <a:lvl5pPr>
              <a:buNone/>
              <a:defRPr sz="1688" b="0">
                <a:solidFill>
                  <a:srgbClr val="98989F"/>
                </a:solidFill>
                <a:latin typeface="Helvetica Neue"/>
                <a:ea typeface="Helvetica Neue"/>
                <a:cs typeface="Helvetica Neue"/>
              </a:defRPr>
            </a:lvl5pPr>
            <a:lvl6pPr>
              <a:buNone/>
              <a:defRPr sz="1688" b="0">
                <a:solidFill>
                  <a:srgbClr val="98989F"/>
                </a:solidFill>
                <a:latin typeface="Helvetica Neue"/>
                <a:ea typeface="Helvetica Neue"/>
                <a:cs typeface="Helvetica Neue"/>
              </a:defRPr>
            </a:lvl6pPr>
            <a:lvl7pPr>
              <a:buNone/>
              <a:defRPr sz="1688" b="0">
                <a:solidFill>
                  <a:srgbClr val="98989F"/>
                </a:solidFill>
                <a:latin typeface="Helvetica Neue"/>
                <a:ea typeface="Helvetica Neue"/>
                <a:cs typeface="Helvetica Neue"/>
              </a:defRPr>
            </a:lvl7pPr>
            <a:lvl8pPr>
              <a:buNone/>
              <a:defRPr sz="1688" b="0">
                <a:solidFill>
                  <a:srgbClr val="98989F"/>
                </a:solidFill>
                <a:latin typeface="Helvetica Neue"/>
                <a:ea typeface="Helvetica Neue"/>
                <a:cs typeface="Helvetica Neue"/>
              </a:defRPr>
            </a:lvl8pPr>
            <a:lvl9pPr>
              <a:buNone/>
              <a:defRPr sz="1688" b="0">
                <a:solidFill>
                  <a:srgbClr val="98989F"/>
                </a:solidFill>
                <a:latin typeface="Helvetica Neue"/>
                <a:ea typeface="Helvetica Neue"/>
                <a:cs typeface="Helvetica Neue"/>
              </a:defRPr>
            </a:lvl9pPr>
          </a:lstStyle>
          <a:p xmlns:a="http://schemas.openxmlformats.org/drawingml/2006/main">
            <a:pPr>
              <a:buNone/>
              <a:defRPr sz="1688" b="0">
                <a:solidFill>
                  <a:srgbClr val="98989F"/>
                </a:solidFill>
                <a:latin typeface="Helvetica Neue"/>
                <a:ea typeface="Helvetica Neue"/>
                <a:cs typeface="Helvetica Neue"/>
              </a:defRPr>
            </a:pPr>
            <a:r>
              <a:rPr sz="1688" b="0">
                <a:solidFill>
                  <a:srgbClr val="98989F"/>
                </a:solidFill>
                <a:latin typeface="Helvetica Neue"/>
                <a:ea typeface="Helvetica Neue"/>
                <a:cs typeface="Helvetica Neue"/>
              </a:rPr>
              <a:t>В этом примере порядок слов не сохраняется. Повторение «хороший» увеличивает счётчик, но само по себе не задаёт силу оценки. Для учёта локального порядка в словарь можно добавить n-grams.</a:t>
            </a:r>
          </a:p>
        </p:txBody>
      </p:sp>
    </p:spTree>
    <p:extLst>
      <p:ext uri="{BB962C8B-B14F-4D97-AF65-F5344CB8AC3E}">
        <p14:creationId xmlns:p14="http://schemas.microsoft.com/office/powerpoint/2010/main" val="776932637"/>
      </p:ext>
    </p:extLst>
  </p:cSld>
</p:sld>
</file>

<file path=ppt/slides/slide5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9" name="exp90-0">
            <a:extLst xmlns:a="http://schemas.openxmlformats.org/drawingml/2006/main">
              <a:ext uri="{FF2B5EF4-FFF2-40B4-BE49-F238E27FC236}">
                <a16:creationId xmlns:a16="http://schemas.microsoft.com/office/drawing/2014/main" id="{16D1588E-3147-454F-8EE5-3892B086F32F}"/>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90-1">
            <a:extLst xmlns:a="http://schemas.openxmlformats.org/drawingml/2006/main">
              <a:ext uri="{FF2B5EF4-FFF2-40B4-BE49-F238E27FC236}">
                <a16:creationId xmlns:a16="http://schemas.microsoft.com/office/drawing/2014/main" id="{6A479260-94D8-4A0D-B2F6-166862E3DB54}"/>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51</a:t>
            </a:r>
          </a:p>
        </p:txBody>
      </p:sp>
      <p:sp>
        <p:nvSpPr>
          <p:cNvPr id="3" name="">
            <a:extLst xmlns:a="http://schemas.openxmlformats.org/drawingml/2006/main">
              <a:ext uri="{FF2B5EF4-FFF2-40B4-BE49-F238E27FC236}">
                <a16:creationId xmlns:a16="http://schemas.microsoft.com/office/drawing/2014/main" id="{4D80E6AF-ADFF-4686-B987-2297CEC0C983}"/>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0">
            <a:solidFill>
              <a:srgbClr val="28282B"/>
            </a:solidFill>
          </a:ln>
        </p:spPr>
      </p:sp>
      <p:sp>
        <p:nvSpPr>
          <p:cNvPr id="4" name="exp90-3">
            <a:extLst xmlns:a="http://schemas.openxmlformats.org/drawingml/2006/main">
              <a:ext uri="{FF2B5EF4-FFF2-40B4-BE49-F238E27FC236}">
                <a16:creationId xmlns:a16="http://schemas.microsoft.com/office/drawing/2014/main" id="{52F4C639-3503-4FA5-815A-E20AF6263948}"/>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Term–document matrix</a:t>
            </a:r>
          </a:p>
        </p:txBody>
      </p:sp>
      <p:pic>
        <p:nvPicPr>
          <p:cNvPr id="5" name="">
            <a:extLst xmlns:a="http://schemas.openxmlformats.org/drawingml/2006/main">
              <a:ext uri="{FF2B5EF4-FFF2-40B4-BE49-F238E27FC236}">
                <a16:creationId xmlns:a16="http://schemas.microsoft.com/office/drawing/2014/main" id="{767F6557-0570-4EF5-AF6C-9C31EAF27FE4}"/>
              </a:ext>
            </a:extLst>
          </p:cNvPr>
          <p:cNvPicPr>
            <a:picLocks xmlns:a="http://schemas.openxmlformats.org/drawingml/2006/main" noChangeAspect="1"/>
          </p:cNvPicPr>
          <p:nvPr/>
        </p:nvPicPr>
        <p:blipFill>
          <a:blip xmlns:r="http://schemas.openxmlformats.org/officeDocument/2006/relationships" xmlns:a="http://schemas.openxmlformats.org/drawingml/2006/main" r:embed="R9e2a1e3607eb4cde"/>
          <a:srcRect xmlns:a="http://schemas.openxmlformats.org/drawingml/2006/main" l="0" t="0" r="0" b="0"/>
          <a:stretch xmlns:a="http://schemas.openxmlformats.org/drawingml/2006/main">
            <a:fillRect l="0" t="0" r="0" b="0"/>
          </a:stretch>
        </p:blipFill>
        <p:spPr>
          <a:xfrm xmlns:a="http://schemas.openxmlformats.org/drawingml/2006/main">
            <a:off x="3493238" y="2009775"/>
            <a:ext cx="5205523" cy="2381250"/>
          </a:xfrm>
          <a:prstGeom xmlns:a="http://schemas.openxmlformats.org/drawingml/2006/main" prst="rect">
            <a:avLst/>
          </a:prstGeom>
        </p:spPr>
      </p:pic>
      <p:sp>
        <p:nvSpPr>
          <p:cNvPr id="6" name="exp90-4">
            <a:extLst xmlns:a="http://schemas.openxmlformats.org/drawingml/2006/main">
              <a:ext uri="{FF2B5EF4-FFF2-40B4-BE49-F238E27FC236}">
                <a16:creationId xmlns:a16="http://schemas.microsoft.com/office/drawing/2014/main" id="{170FCD1D-D686-4F51-A833-FB6BF6B9D3DE}"/>
              </a:ext>
            </a:extLst>
          </p:cNvPr>
          <p:cNvSpPr>
            <a:spLocks xmlns:a="http://schemas.openxmlformats.org/drawingml/2006/main" noGrp="1"/>
          </p:cNvSpPr>
          <p:nvPr/>
        </p:nvSpPr>
        <p:spPr>
          <a:xfrm xmlns:a="http://schemas.openxmlformats.org/drawingml/2006/main">
            <a:off x="685800" y="4610100"/>
            <a:ext cx="10820400" cy="1552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13" b="0">
                <a:solidFill>
                  <a:srgbClr val="CDCDD3"/>
                </a:solidFill>
                <a:latin typeface="Helvetica Neue"/>
                <a:ea typeface="Helvetica Neue"/>
                <a:cs typeface="Helvetica Neue"/>
              </a:defRPr>
            </a:defPPr>
            <a:lvl1pPr>
              <a:buNone/>
              <a:defRPr sz="1913" b="0">
                <a:solidFill>
                  <a:srgbClr val="CDCDD3"/>
                </a:solidFill>
                <a:latin typeface="Helvetica Neue"/>
                <a:ea typeface="Helvetica Neue"/>
                <a:cs typeface="Helvetica Neue"/>
              </a:defRPr>
            </a:lvl1pPr>
            <a:lvl2pPr>
              <a:buNone/>
              <a:defRPr sz="1913" b="0">
                <a:solidFill>
                  <a:srgbClr val="CDCDD3"/>
                </a:solidFill>
                <a:latin typeface="Helvetica Neue"/>
                <a:ea typeface="Helvetica Neue"/>
                <a:cs typeface="Helvetica Neue"/>
              </a:defRPr>
            </a:lvl2pPr>
            <a:lvl3pPr>
              <a:buNone/>
              <a:defRPr sz="1913" b="0">
                <a:solidFill>
                  <a:srgbClr val="CDCDD3"/>
                </a:solidFill>
                <a:latin typeface="Helvetica Neue"/>
                <a:ea typeface="Helvetica Neue"/>
                <a:cs typeface="Helvetica Neue"/>
              </a:defRPr>
            </a:lvl3pPr>
            <a:lvl4pPr>
              <a:buNone/>
              <a:defRPr sz="1913" b="0">
                <a:solidFill>
                  <a:srgbClr val="CDCDD3"/>
                </a:solidFill>
                <a:latin typeface="Helvetica Neue"/>
                <a:ea typeface="Helvetica Neue"/>
                <a:cs typeface="Helvetica Neue"/>
              </a:defRPr>
            </a:lvl4pPr>
            <a:lvl5pPr>
              <a:buNone/>
              <a:defRPr sz="1913" b="0">
                <a:solidFill>
                  <a:srgbClr val="CDCDD3"/>
                </a:solidFill>
                <a:latin typeface="Helvetica Neue"/>
                <a:ea typeface="Helvetica Neue"/>
                <a:cs typeface="Helvetica Neue"/>
              </a:defRPr>
            </a:lvl5pPr>
            <a:lvl6pPr>
              <a:buNone/>
              <a:defRPr sz="1913" b="0">
                <a:solidFill>
                  <a:srgbClr val="CDCDD3"/>
                </a:solidFill>
                <a:latin typeface="Helvetica Neue"/>
                <a:ea typeface="Helvetica Neue"/>
                <a:cs typeface="Helvetica Neue"/>
              </a:defRPr>
            </a:lvl6pPr>
            <a:lvl7pPr>
              <a:buNone/>
              <a:defRPr sz="1913" b="0">
                <a:solidFill>
                  <a:srgbClr val="CDCDD3"/>
                </a:solidFill>
                <a:latin typeface="Helvetica Neue"/>
                <a:ea typeface="Helvetica Neue"/>
                <a:cs typeface="Helvetica Neue"/>
              </a:defRPr>
            </a:lvl7pPr>
            <a:lvl8pPr>
              <a:buNone/>
              <a:defRPr sz="1913" b="0">
                <a:solidFill>
                  <a:srgbClr val="CDCDD3"/>
                </a:solidFill>
                <a:latin typeface="Helvetica Neue"/>
                <a:ea typeface="Helvetica Neue"/>
                <a:cs typeface="Helvetica Neue"/>
              </a:defRPr>
            </a:lvl8pPr>
            <a:lvl9pPr>
              <a:buNone/>
              <a:defRPr sz="1913" b="0">
                <a:solidFill>
                  <a:srgbClr val="CDCDD3"/>
                </a:solidFill>
                <a:latin typeface="Helvetica Neue"/>
                <a:ea typeface="Helvetica Neue"/>
                <a:cs typeface="Helvetica Neue"/>
              </a:defRPr>
            </a:lvl9pPr>
          </a:lstStyle>
          <a:p xmlns:a="http://schemas.openxmlformats.org/drawingml/2006/main">
            <a:pPr>
              <a:buNone/>
              <a:defRPr sz="1913" b="0">
                <a:solidFill>
                  <a:srgbClr val="CDCDD3"/>
                </a:solidFill>
                <a:latin typeface="Helvetica Neue"/>
                <a:ea typeface="Helvetica Neue"/>
                <a:cs typeface="Helvetica Neue"/>
              </a:defRPr>
            </a:pPr>
            <a:r>
              <a:rPr sz="1913" b="0">
                <a:solidFill>
                  <a:srgbClr val="CDCDD3"/>
                </a:solidFill>
                <a:latin typeface="Helvetica Neue"/>
                <a:ea typeface="Helvetica Neue"/>
                <a:cs typeface="Helvetica Neue"/>
              </a:rPr>
              <a:t>В учебном примере строки соответствуют терминам, столбцы соответствуют произведениям. Единица означает присутствие термина, ноль означает его отсутствие. Это бинарное представление: число повторений не учитывается. В библиотеках машинного обучения часто используют транспонированную ориентацию, где документам соответствуют строки, а признакам соответствуют столбцы.</a:t>
            </a:r>
          </a:p>
        </p:txBody>
      </p:sp>
      <p:sp>
        <p:nvSpPr>
          <p:cNvPr id="7" name="exp90-5">
            <a:extLst xmlns:a="http://schemas.openxmlformats.org/drawingml/2006/main">
              <a:ext uri="{FF2B5EF4-FFF2-40B4-BE49-F238E27FC236}">
                <a16:creationId xmlns:a16="http://schemas.microsoft.com/office/drawing/2014/main" id="{EF2EB100-308C-4772-ACDE-99541A81E339}"/>
              </a:ext>
            </a:extLst>
          </p:cNvPr>
          <p:cNvSpPr>
            <a:spLocks xmlns:a="http://schemas.openxmlformats.org/drawingml/2006/main" noGrp="1"/>
          </p:cNvSpPr>
          <p:nvPr/>
        </p:nvSpPr>
        <p:spPr>
          <a:xfrm xmlns:a="http://schemas.openxmlformats.org/drawingml/2006/main">
            <a:off x="685800" y="6210300"/>
            <a:ext cx="108204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88" b="0">
                <a:solidFill>
                  <a:srgbClr val="98989F"/>
                </a:solidFill>
                <a:latin typeface="Helvetica Neue"/>
                <a:ea typeface="Helvetica Neue"/>
                <a:cs typeface="Helvetica Neue"/>
              </a:defRPr>
            </a:defPPr>
            <a:lvl1pPr>
              <a:buNone/>
              <a:defRPr sz="1388" b="0">
                <a:solidFill>
                  <a:srgbClr val="98989F"/>
                </a:solidFill>
                <a:latin typeface="Helvetica Neue"/>
                <a:ea typeface="Helvetica Neue"/>
                <a:cs typeface="Helvetica Neue"/>
              </a:defRPr>
            </a:lvl1pPr>
            <a:lvl2pPr>
              <a:buNone/>
              <a:defRPr sz="1388" b="0">
                <a:solidFill>
                  <a:srgbClr val="98989F"/>
                </a:solidFill>
                <a:latin typeface="Helvetica Neue"/>
                <a:ea typeface="Helvetica Neue"/>
                <a:cs typeface="Helvetica Neue"/>
              </a:defRPr>
            </a:lvl2pPr>
            <a:lvl3pPr>
              <a:buNone/>
              <a:defRPr sz="1388" b="0">
                <a:solidFill>
                  <a:srgbClr val="98989F"/>
                </a:solidFill>
                <a:latin typeface="Helvetica Neue"/>
                <a:ea typeface="Helvetica Neue"/>
                <a:cs typeface="Helvetica Neue"/>
              </a:defRPr>
            </a:lvl3pPr>
            <a:lvl4pPr>
              <a:buNone/>
              <a:defRPr sz="1388" b="0">
                <a:solidFill>
                  <a:srgbClr val="98989F"/>
                </a:solidFill>
                <a:latin typeface="Helvetica Neue"/>
                <a:ea typeface="Helvetica Neue"/>
                <a:cs typeface="Helvetica Neue"/>
              </a:defRPr>
            </a:lvl4pPr>
            <a:lvl5pPr>
              <a:buNone/>
              <a:defRPr sz="1388" b="0">
                <a:solidFill>
                  <a:srgbClr val="98989F"/>
                </a:solidFill>
                <a:latin typeface="Helvetica Neue"/>
                <a:ea typeface="Helvetica Neue"/>
                <a:cs typeface="Helvetica Neue"/>
              </a:defRPr>
            </a:lvl5pPr>
            <a:lvl6pPr>
              <a:buNone/>
              <a:defRPr sz="1388" b="0">
                <a:solidFill>
                  <a:srgbClr val="98989F"/>
                </a:solidFill>
                <a:latin typeface="Helvetica Neue"/>
                <a:ea typeface="Helvetica Neue"/>
                <a:cs typeface="Helvetica Neue"/>
              </a:defRPr>
            </a:lvl6pPr>
            <a:lvl7pPr>
              <a:buNone/>
              <a:defRPr sz="1388" b="0">
                <a:solidFill>
                  <a:srgbClr val="98989F"/>
                </a:solidFill>
                <a:latin typeface="Helvetica Neue"/>
                <a:ea typeface="Helvetica Neue"/>
                <a:cs typeface="Helvetica Neue"/>
              </a:defRPr>
            </a:lvl7pPr>
            <a:lvl8pPr>
              <a:buNone/>
              <a:defRPr sz="1388" b="0">
                <a:solidFill>
                  <a:srgbClr val="98989F"/>
                </a:solidFill>
                <a:latin typeface="Helvetica Neue"/>
                <a:ea typeface="Helvetica Neue"/>
                <a:cs typeface="Helvetica Neue"/>
              </a:defRPr>
            </a:lvl8pPr>
            <a:lvl9pPr>
              <a:buNone/>
              <a:defRPr sz="1388" b="0">
                <a:solidFill>
                  <a:srgbClr val="98989F"/>
                </a:solidFill>
                <a:latin typeface="Helvetica Neue"/>
                <a:ea typeface="Helvetica Neue"/>
                <a:cs typeface="Helvetica Neue"/>
              </a:defRPr>
            </a:lvl9pPr>
          </a:lstStyle>
          <a:p xmlns:a="http://schemas.openxmlformats.org/drawingml/2006/main">
            <a:pPr>
              <a:buNone/>
              <a:defRPr sz="1388" b="0">
                <a:solidFill>
                  <a:srgbClr val="98989F"/>
                </a:solidFill>
                <a:latin typeface="Helvetica Neue"/>
                <a:ea typeface="Helvetica Neue"/>
                <a:cs typeface="Helvetica Neue"/>
              </a:defRPr>
            </a:pPr>
            <a:r>
              <a:rPr sz="1388" b="0">
                <a:solidFill>
                  <a:srgbClr val="98989F"/>
                </a:solidFill>
                <a:latin typeface="Helvetica Neue"/>
                <a:ea typeface="Helvetica Neue"/>
                <a:cs typeface="Helvetica Neue"/>
              </a:rPr>
              <a:t>Матрица из Introduction to Information Retrieval. Ориентацию осей необходимо проверять перед интерпретацией.</a:t>
            </a:r>
          </a:p>
        </p:txBody>
      </p:sp>
      <p:sp>
        <p:nvSpPr>
          <p:cNvPr id="8" name="exp90-6">
            <a:extLst xmlns:a="http://schemas.openxmlformats.org/drawingml/2006/main">
              <a:ext uri="{FF2B5EF4-FFF2-40B4-BE49-F238E27FC236}">
                <a16:creationId xmlns:a16="http://schemas.microsoft.com/office/drawing/2014/main" id="{F4F8C132-3AFA-4ECD-B402-7D779052C5CD}"/>
              </a:ext>
            </a:extLst>
          </p:cNvPr>
          <p:cNvSpPr>
            <a:spLocks xmlns:a="http://schemas.openxmlformats.org/drawingml/2006/main" noGrp="1"/>
          </p:cNvSpPr>
          <p:nvPr/>
        </p:nvSpPr>
        <p:spPr>
          <a:xfrm xmlns:a="http://schemas.openxmlformats.org/drawingml/2006/main">
            <a:off x="685800" y="6648450"/>
            <a:ext cx="10820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63" b="0">
                <a:solidFill>
                  <a:srgbClr val="98989F"/>
                </a:solidFill>
                <a:latin typeface="Helvetica Neue"/>
                <a:ea typeface="Helvetica Neue"/>
                <a:cs typeface="Helvetica Neue"/>
              </a:defRPr>
            </a:defPPr>
            <a:lvl1pPr>
              <a:buNone/>
              <a:defRPr sz="1163" b="0">
                <a:solidFill>
                  <a:srgbClr val="98989F"/>
                </a:solidFill>
                <a:latin typeface="Helvetica Neue"/>
                <a:ea typeface="Helvetica Neue"/>
                <a:cs typeface="Helvetica Neue"/>
              </a:defRPr>
            </a:lvl1pPr>
            <a:lvl2pPr>
              <a:buNone/>
              <a:defRPr sz="1163" b="0">
                <a:solidFill>
                  <a:srgbClr val="98989F"/>
                </a:solidFill>
                <a:latin typeface="Helvetica Neue"/>
                <a:ea typeface="Helvetica Neue"/>
                <a:cs typeface="Helvetica Neue"/>
              </a:defRPr>
            </a:lvl2pPr>
            <a:lvl3pPr>
              <a:buNone/>
              <a:defRPr sz="1163" b="0">
                <a:solidFill>
                  <a:srgbClr val="98989F"/>
                </a:solidFill>
                <a:latin typeface="Helvetica Neue"/>
                <a:ea typeface="Helvetica Neue"/>
                <a:cs typeface="Helvetica Neue"/>
              </a:defRPr>
            </a:lvl3pPr>
            <a:lvl4pPr>
              <a:buNone/>
              <a:defRPr sz="1163" b="0">
                <a:solidFill>
                  <a:srgbClr val="98989F"/>
                </a:solidFill>
                <a:latin typeface="Helvetica Neue"/>
                <a:ea typeface="Helvetica Neue"/>
                <a:cs typeface="Helvetica Neue"/>
              </a:defRPr>
            </a:lvl4pPr>
            <a:lvl5pPr>
              <a:buNone/>
              <a:defRPr sz="1163" b="0">
                <a:solidFill>
                  <a:srgbClr val="98989F"/>
                </a:solidFill>
                <a:latin typeface="Helvetica Neue"/>
                <a:ea typeface="Helvetica Neue"/>
                <a:cs typeface="Helvetica Neue"/>
              </a:defRPr>
            </a:lvl5pPr>
            <a:lvl6pPr>
              <a:buNone/>
              <a:defRPr sz="1163" b="0">
                <a:solidFill>
                  <a:srgbClr val="98989F"/>
                </a:solidFill>
                <a:latin typeface="Helvetica Neue"/>
                <a:ea typeface="Helvetica Neue"/>
                <a:cs typeface="Helvetica Neue"/>
              </a:defRPr>
            </a:lvl6pPr>
            <a:lvl7pPr>
              <a:buNone/>
              <a:defRPr sz="1163" b="0">
                <a:solidFill>
                  <a:srgbClr val="98989F"/>
                </a:solidFill>
                <a:latin typeface="Helvetica Neue"/>
                <a:ea typeface="Helvetica Neue"/>
                <a:cs typeface="Helvetica Neue"/>
              </a:defRPr>
            </a:lvl7pPr>
            <a:lvl8pPr>
              <a:buNone/>
              <a:defRPr sz="1163" b="0">
                <a:solidFill>
                  <a:srgbClr val="98989F"/>
                </a:solidFill>
                <a:latin typeface="Helvetica Neue"/>
                <a:ea typeface="Helvetica Neue"/>
                <a:cs typeface="Helvetica Neue"/>
              </a:defRPr>
            </a:lvl8pPr>
            <a:lvl9pPr>
              <a:buNone/>
              <a:defRPr sz="1163" b="0">
                <a:solidFill>
                  <a:srgbClr val="98989F"/>
                </a:solidFill>
                <a:latin typeface="Helvetica Neue"/>
                <a:ea typeface="Helvetica Neue"/>
                <a:cs typeface="Helvetica Neue"/>
              </a:defRPr>
            </a:lvl9pPr>
          </a:lstStyle>
          <a:p xmlns:a="http://schemas.openxmlformats.org/drawingml/2006/main">
            <a:pPr>
              <a:buNone/>
              <a:defRPr sz="1163" b="0">
                <a:solidFill>
                  <a:srgbClr val="98989F"/>
                </a:solidFill>
                <a:latin typeface="Helvetica Neue"/>
                <a:ea typeface="Helvetica Neue"/>
                <a:cs typeface="Helvetica Neue"/>
              </a:defRPr>
            </a:pPr>
            <a:r>
              <a:rPr sz="1163" b="0">
                <a:solidFill>
                  <a:srgbClr val="98989F"/>
                </a:solidFill>
                <a:latin typeface="Helvetica Neue"/>
                <a:ea typeface="Helvetica Neue"/>
                <a:cs typeface="Helvetica Neue"/>
                <a:hlinkClick xmlns:r="http://schemas.openxmlformats.org/officeDocument/2006/relationships" r:id="Ra3f892ccfb80413d"/>
              </a:rPr>
              <a:t>Источник: Manning, Raghavan, Schütze, Introduction to IR</a:t>
            </a:r>
          </a:p>
        </p:txBody>
      </p:sp>
    </p:spTree>
    <p:extLst>
      <p:ext uri="{BB962C8B-B14F-4D97-AF65-F5344CB8AC3E}">
        <p14:creationId xmlns:p14="http://schemas.microsoft.com/office/powerpoint/2010/main" val="1526063574"/>
      </p:ext>
    </p:extLst>
  </p:cSld>
</p:sld>
</file>

<file path=ppt/slides/slide5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8" name="exp90-0">
            <a:extLst xmlns:a="http://schemas.openxmlformats.org/drawingml/2006/main">
              <a:ext uri="{FF2B5EF4-FFF2-40B4-BE49-F238E27FC236}">
                <a16:creationId xmlns:a16="http://schemas.microsoft.com/office/drawing/2014/main" id="{879C6E60-23D4-476B-9B4A-4511FBF002C3}"/>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90-1">
            <a:extLst xmlns:a="http://schemas.openxmlformats.org/drawingml/2006/main">
              <a:ext uri="{FF2B5EF4-FFF2-40B4-BE49-F238E27FC236}">
                <a16:creationId xmlns:a16="http://schemas.microsoft.com/office/drawing/2014/main" id="{4EAB5D63-1DD0-4E7C-8E10-FD7733E36431}"/>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52</a:t>
            </a:r>
          </a:p>
        </p:txBody>
      </p:sp>
      <p:sp>
        <p:nvSpPr>
          <p:cNvPr id="3" name="">
            <a:extLst xmlns:a="http://schemas.openxmlformats.org/drawingml/2006/main">
              <a:ext uri="{FF2B5EF4-FFF2-40B4-BE49-F238E27FC236}">
                <a16:creationId xmlns:a16="http://schemas.microsoft.com/office/drawing/2014/main" id="{70858B28-F9B8-4ED5-8F49-841AA118F7A7}"/>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0">
            <a:solidFill>
              <a:srgbClr val="28282B"/>
            </a:solidFill>
          </a:ln>
        </p:spPr>
      </p:sp>
      <p:sp>
        <p:nvSpPr>
          <p:cNvPr id="4" name="exp90-3">
            <a:extLst xmlns:a="http://schemas.openxmlformats.org/drawingml/2006/main">
              <a:ext uri="{FF2B5EF4-FFF2-40B4-BE49-F238E27FC236}">
                <a16:creationId xmlns:a16="http://schemas.microsoft.com/office/drawing/2014/main" id="{6C29C19B-B9DC-4A6E-B642-544A111F6583}"/>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Sparse representation</a:t>
            </a:r>
          </a:p>
        </p:txBody>
      </p:sp>
      <p:sp>
        <p:nvSpPr>
          <p:cNvPr id="5" name="exp90-4">
            <a:extLst xmlns:a="http://schemas.openxmlformats.org/drawingml/2006/main">
              <a:ext uri="{FF2B5EF4-FFF2-40B4-BE49-F238E27FC236}">
                <a16:creationId xmlns:a16="http://schemas.microsoft.com/office/drawing/2014/main" id="{88E2B113-EDA4-429B-8D8E-D15D23701E75}"/>
              </a:ext>
            </a:extLst>
          </p:cNvPr>
          <p:cNvSpPr>
            <a:spLocks xmlns:a="http://schemas.openxmlformats.org/drawingml/2006/main" noGrp="1"/>
          </p:cNvSpPr>
          <p:nvPr/>
        </p:nvSpPr>
        <p:spPr>
          <a:xfrm xmlns:a="http://schemas.openxmlformats.org/drawingml/2006/main">
            <a:off x="685800" y="20097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88" b="0">
                <a:solidFill>
                  <a:srgbClr val="F5F5F7"/>
                </a:solidFill>
                <a:latin typeface="Helvetica Neue"/>
                <a:ea typeface="Helvetica Neue"/>
                <a:cs typeface="Helvetica Neue"/>
              </a:defRPr>
            </a:defPPr>
            <a:lvl1pPr>
              <a:buNone/>
              <a:defRPr sz="1988" b="0">
                <a:solidFill>
                  <a:srgbClr val="F5F5F7"/>
                </a:solidFill>
                <a:latin typeface="Helvetica Neue"/>
                <a:ea typeface="Helvetica Neue"/>
                <a:cs typeface="Helvetica Neue"/>
              </a:defRPr>
            </a:lvl1pPr>
            <a:lvl2pPr>
              <a:buNone/>
              <a:defRPr sz="1988" b="0">
                <a:solidFill>
                  <a:srgbClr val="F5F5F7"/>
                </a:solidFill>
                <a:latin typeface="Helvetica Neue"/>
                <a:ea typeface="Helvetica Neue"/>
                <a:cs typeface="Helvetica Neue"/>
              </a:defRPr>
            </a:lvl2pPr>
            <a:lvl3pPr>
              <a:buNone/>
              <a:defRPr sz="1988" b="0">
                <a:solidFill>
                  <a:srgbClr val="F5F5F7"/>
                </a:solidFill>
                <a:latin typeface="Helvetica Neue"/>
                <a:ea typeface="Helvetica Neue"/>
                <a:cs typeface="Helvetica Neue"/>
              </a:defRPr>
            </a:lvl3pPr>
            <a:lvl4pPr>
              <a:buNone/>
              <a:defRPr sz="1988" b="0">
                <a:solidFill>
                  <a:srgbClr val="F5F5F7"/>
                </a:solidFill>
                <a:latin typeface="Helvetica Neue"/>
                <a:ea typeface="Helvetica Neue"/>
                <a:cs typeface="Helvetica Neue"/>
              </a:defRPr>
            </a:lvl4pPr>
            <a:lvl5pPr>
              <a:buNone/>
              <a:defRPr sz="1988" b="0">
                <a:solidFill>
                  <a:srgbClr val="F5F5F7"/>
                </a:solidFill>
                <a:latin typeface="Helvetica Neue"/>
                <a:ea typeface="Helvetica Neue"/>
                <a:cs typeface="Helvetica Neue"/>
              </a:defRPr>
            </a:lvl5pPr>
            <a:lvl6pPr>
              <a:buNone/>
              <a:defRPr sz="1988" b="0">
                <a:solidFill>
                  <a:srgbClr val="F5F5F7"/>
                </a:solidFill>
                <a:latin typeface="Helvetica Neue"/>
                <a:ea typeface="Helvetica Neue"/>
                <a:cs typeface="Helvetica Neue"/>
              </a:defRPr>
            </a:lvl6pPr>
            <a:lvl7pPr>
              <a:buNone/>
              <a:defRPr sz="1988" b="0">
                <a:solidFill>
                  <a:srgbClr val="F5F5F7"/>
                </a:solidFill>
                <a:latin typeface="Helvetica Neue"/>
                <a:ea typeface="Helvetica Neue"/>
                <a:cs typeface="Helvetica Neue"/>
              </a:defRPr>
            </a:lvl7pPr>
            <a:lvl8pPr>
              <a:buNone/>
              <a:defRPr sz="1988" b="0">
                <a:solidFill>
                  <a:srgbClr val="F5F5F7"/>
                </a:solidFill>
                <a:latin typeface="Helvetica Neue"/>
                <a:ea typeface="Helvetica Neue"/>
                <a:cs typeface="Helvetica Neue"/>
              </a:defRPr>
            </a:lvl8pPr>
            <a:lvl9pPr>
              <a:buNone/>
              <a:defRPr sz="1988" b="0">
                <a:solidFill>
                  <a:srgbClr val="F5F5F7"/>
                </a:solidFill>
                <a:latin typeface="Helvetica Neue"/>
                <a:ea typeface="Helvetica Neue"/>
                <a:cs typeface="Helvetica Neue"/>
              </a:defRPr>
            </a:lvl9pPr>
          </a:lstStyle>
          <a:p xmlns:a="http://schemas.openxmlformats.org/drawingml/2006/main">
            <a:pPr>
              <a:buNone/>
              <a:defRPr sz="1988" b="0">
                <a:solidFill>
                  <a:srgbClr val="F5F5F7"/>
                </a:solidFill>
                <a:latin typeface="Helvetica Neue"/>
                <a:ea typeface="Helvetica Neue"/>
                <a:cs typeface="Helvetica Neue"/>
              </a:defRPr>
            </a:pPr>
            <a:r>
              <a:rPr sz="1988" b="0">
                <a:solidFill>
                  <a:srgbClr val="F5F5F7"/>
                </a:solidFill>
                <a:latin typeface="Helvetica Neue"/>
                <a:ea typeface="Helvetica Neue"/>
                <a:cs typeface="Helvetica Neue"/>
              </a:rPr>
              <a:t>Условная матрица содержит четыре документа и пять выбранных слов. Значения показывают число вхождений.</a:t>
            </a:r>
          </a:p>
        </p:txBody>
      </p:sp>
      <p:graphicFrame>
        <p:nvGraphicFramePr>
          <p:cNvPr id="6" name="">
            <a:extLst xmlns:a="http://schemas.openxmlformats.org/drawingml/2006/main">
              <a:ext uri="{FF2B5EF4-FFF2-40B4-BE49-F238E27FC236}">
                <a16:creationId xmlns:a16="http://schemas.microsoft.com/office/drawing/2014/main" id="{F92EC1A7-A1E5-4A78-AB58-3BF316DFC22F}"/>
              </a:ext>
            </a:extLst>
          </p:cNvPr>
          <p:cNvGraphicFramePr/>
          <p:nvPr/>
        </p:nvGraphicFramePr>
        <p:xfrm>
          <a:off xmlns:a="http://schemas.openxmlformats.org/drawingml/2006/main" x="685800" y="2876550"/>
          <a:ext xmlns:a="http://schemas.openxmlformats.org/drawingml/2006/main" cx="10820400" cy="3143250"/>
        </p:xfrm>
        <a:graphic xmlns:a="http://schemas.openxmlformats.org/drawingml/2006/main">
          <a:graphicData uri="http://schemas.openxmlformats.org/drawingml/2006/table">
            <a:tbl>
              <a:tblPr/>
              <a:tblGrid>
                <a:gridCol w="2247900"/>
                <a:gridCol w="1714500"/>
                <a:gridCol w="1714500"/>
                <a:gridCol w="1714500"/>
                <a:gridCol w="1714500"/>
                <a:gridCol w="1714500"/>
              </a:tblGrid>
              <a:tr h="628650">
                <a:tc>
                  <a:txBody>
                    <a:bodyPr lIns="133350" tIns="76200" rIns="133350" bIns="76200"/>
                    <a:lstStyle/>
                    <a:p>
                      <a:r>
                        <a:rPr sz="1800" b="1">
                          <a:solidFill>
                            <a:srgbClr val="98989F"/>
                          </a:solidFill>
                          <a:latin typeface="Helvetica Neue"/>
                          <a:ea typeface="Helvetica Neue"/>
                          <a:cs typeface="Helvetica Neue"/>
                        </a:rPr>
                        <a:t>Документ</a:t>
                      </a:r>
                    </a:p>
                  </a:txBody>
                  <a:tcPr marL="91440" marR="91440" marT="45720" marB="45720" anchor="ctr">
                    <a:lnL w="9525">
                      <a:solidFill>
                        <a:srgbClr val="28282B"/>
                      </a:solidFill>
                      <a:prstDash val="solid"/>
                    </a:lnL>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c>
                  <a:txBody>
                    <a:bodyPr lIns="133350" tIns="76200" rIns="133350" bIns="76200"/>
                    <a:lstStyle/>
                    <a:p>
                      <a:r>
                        <a:rPr sz="1800" b="1">
                          <a:solidFill>
                            <a:srgbClr val="98989F"/>
                          </a:solidFill>
                          <a:latin typeface="Helvetica Neue"/>
                          <a:ea typeface="Helvetica Neue"/>
                          <a:cs typeface="Helvetica Neue"/>
                        </a:rPr>
                        <a:t>товар</a:t>
                      </a:r>
                    </a:p>
                  </a:txBody>
                  <a:tcPr marL="91440" marR="91440" marT="45720" marB="45720" anchor="ctr">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c>
                  <a:txBody>
                    <a:bodyPr lIns="133350" tIns="76200" rIns="133350" bIns="76200"/>
                    <a:lstStyle/>
                    <a:p>
                      <a:r>
                        <a:rPr sz="1800" b="1">
                          <a:solidFill>
                            <a:srgbClr val="98989F"/>
                          </a:solidFill>
                          <a:latin typeface="Helvetica Neue"/>
                          <a:ea typeface="Helvetica Neue"/>
                          <a:cs typeface="Helvetica Neue"/>
                        </a:rPr>
                        <a:t>доставка</a:t>
                      </a:r>
                    </a:p>
                  </a:txBody>
                  <a:tcPr marL="91440" marR="91440" marT="45720" marB="45720" anchor="ctr">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c>
                  <a:txBody>
                    <a:bodyPr lIns="133350" tIns="76200" rIns="133350" bIns="76200"/>
                    <a:lstStyle/>
                    <a:p>
                      <a:r>
                        <a:rPr sz="1800" b="1">
                          <a:solidFill>
                            <a:srgbClr val="98989F"/>
                          </a:solidFill>
                          <a:latin typeface="Helvetica Neue"/>
                          <a:ea typeface="Helvetica Neue"/>
                          <a:cs typeface="Helvetica Neue"/>
                        </a:rPr>
                        <a:t>цена</a:t>
                      </a:r>
                    </a:p>
                  </a:txBody>
                  <a:tcPr marL="91440" marR="91440" marT="45720" marB="45720" anchor="ctr">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c>
                  <a:txBody>
                    <a:bodyPr lIns="133350" tIns="76200" rIns="133350" bIns="76200"/>
                    <a:lstStyle/>
                    <a:p>
                      <a:r>
                        <a:rPr sz="1800" b="1">
                          <a:solidFill>
                            <a:srgbClr val="98989F"/>
                          </a:solidFill>
                          <a:latin typeface="Helvetica Neue"/>
                          <a:ea typeface="Helvetica Neue"/>
                          <a:cs typeface="Helvetica Neue"/>
                        </a:rPr>
                        <a:t>экран</a:t>
                      </a:r>
                    </a:p>
                  </a:txBody>
                  <a:tcPr marL="91440" marR="91440" marT="45720" marB="45720" anchor="ctr">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c>
                  <a:txBody>
                    <a:bodyPr lIns="133350" tIns="76200" rIns="133350" bIns="76200"/>
                    <a:lstStyle/>
                    <a:p>
                      <a:r>
                        <a:rPr sz="1800" b="1">
                          <a:solidFill>
                            <a:srgbClr val="98989F"/>
                          </a:solidFill>
                          <a:latin typeface="Helvetica Neue"/>
                          <a:ea typeface="Helvetica Neue"/>
                          <a:cs typeface="Helvetica Neue"/>
                        </a:rPr>
                        <a:t>батарея</a:t>
                      </a:r>
                    </a:p>
                  </a:txBody>
                  <a:tcPr marL="91440" marR="91440" marT="45720" marB="45720" anchor="ctr">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r>
              <a:tr h="628650">
                <a:tc>
                  <a:txBody>
                    <a:bodyPr lIns="133350" tIns="76200" rIns="133350" bIns="76200"/>
                    <a:lstStyle/>
                    <a:p>
                      <a:r>
                        <a:rPr sz="1800" b="0">
                          <a:solidFill>
                            <a:srgbClr val="F5F5F7"/>
                          </a:solidFill>
                          <a:latin typeface="Helvetica Neue"/>
                          <a:ea typeface="Helvetica Neue"/>
                          <a:cs typeface="Helvetica Neue"/>
                        </a:rPr>
                        <a:t>A</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800" b="0">
                          <a:solidFill>
                            <a:srgbClr val="F5F5F7"/>
                          </a:solidFill>
                          <a:latin typeface="Helvetica Neue"/>
                          <a:ea typeface="Helvetica Neue"/>
                          <a:cs typeface="Helvetica Neue"/>
                        </a:rPr>
                        <a:t>1</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800" b="0">
                          <a:solidFill>
                            <a:srgbClr val="98989F"/>
                          </a:solidFill>
                          <a:latin typeface="Helvetica Neue"/>
                          <a:ea typeface="Helvetica Neue"/>
                          <a:cs typeface="Helvetica Neue"/>
                        </a:rPr>
                        <a:t>0</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800" b="0">
                          <a:solidFill>
                            <a:srgbClr val="98989F"/>
                          </a:solidFill>
                          <a:latin typeface="Helvetica Neue"/>
                          <a:ea typeface="Helvetica Neue"/>
                          <a:cs typeface="Helvetica Neue"/>
                        </a:rPr>
                        <a:t>0</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800" b="0">
                          <a:solidFill>
                            <a:srgbClr val="98989F"/>
                          </a:solidFill>
                          <a:latin typeface="Helvetica Neue"/>
                          <a:ea typeface="Helvetica Neue"/>
                          <a:cs typeface="Helvetica Neue"/>
                        </a:rPr>
                        <a:t>0</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800" b="0">
                          <a:solidFill>
                            <a:srgbClr val="98989F"/>
                          </a:solidFill>
                          <a:latin typeface="Helvetica Neue"/>
                          <a:ea typeface="Helvetica Neue"/>
                          <a:cs typeface="Helvetica Neue"/>
                        </a:rPr>
                        <a:t>0</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r h="628650">
                <a:tc>
                  <a:txBody>
                    <a:bodyPr lIns="133350" tIns="76200" rIns="133350" bIns="76200"/>
                    <a:lstStyle/>
                    <a:p>
                      <a:r>
                        <a:rPr sz="1800" b="0">
                          <a:solidFill>
                            <a:srgbClr val="F5F5F7"/>
                          </a:solidFill>
                          <a:latin typeface="Helvetica Neue"/>
                          <a:ea typeface="Helvetica Neue"/>
                          <a:cs typeface="Helvetica Neue"/>
                        </a:rPr>
                        <a:t>B</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800" b="0">
                          <a:solidFill>
                            <a:srgbClr val="F5F5F7"/>
                          </a:solidFill>
                          <a:latin typeface="Helvetica Neue"/>
                          <a:ea typeface="Helvetica Neue"/>
                          <a:cs typeface="Helvetica Neue"/>
                        </a:rPr>
                        <a:t>1</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800" b="0">
                          <a:solidFill>
                            <a:srgbClr val="F5F5F7"/>
                          </a:solidFill>
                          <a:latin typeface="Helvetica Neue"/>
                          <a:ea typeface="Helvetica Neue"/>
                          <a:cs typeface="Helvetica Neue"/>
                        </a:rPr>
                        <a:t>1</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800" b="0">
                          <a:solidFill>
                            <a:srgbClr val="98989F"/>
                          </a:solidFill>
                          <a:latin typeface="Helvetica Neue"/>
                          <a:ea typeface="Helvetica Neue"/>
                          <a:cs typeface="Helvetica Neue"/>
                        </a:rPr>
                        <a:t>0</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800" b="0">
                          <a:solidFill>
                            <a:srgbClr val="98989F"/>
                          </a:solidFill>
                          <a:latin typeface="Helvetica Neue"/>
                          <a:ea typeface="Helvetica Neue"/>
                          <a:cs typeface="Helvetica Neue"/>
                        </a:rPr>
                        <a:t>0</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800" b="0">
                          <a:solidFill>
                            <a:srgbClr val="98989F"/>
                          </a:solidFill>
                          <a:latin typeface="Helvetica Neue"/>
                          <a:ea typeface="Helvetica Neue"/>
                          <a:cs typeface="Helvetica Neue"/>
                        </a:rPr>
                        <a:t>0</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r h="628650">
                <a:tc>
                  <a:txBody>
                    <a:bodyPr lIns="133350" tIns="76200" rIns="133350" bIns="76200"/>
                    <a:lstStyle/>
                    <a:p>
                      <a:r>
                        <a:rPr sz="1800" b="0">
                          <a:solidFill>
                            <a:srgbClr val="F5F5F7"/>
                          </a:solidFill>
                          <a:latin typeface="Helvetica Neue"/>
                          <a:ea typeface="Helvetica Neue"/>
                          <a:cs typeface="Helvetica Neue"/>
                        </a:rPr>
                        <a:t>C</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800" b="0">
                          <a:solidFill>
                            <a:srgbClr val="98989F"/>
                          </a:solidFill>
                          <a:latin typeface="Helvetica Neue"/>
                          <a:ea typeface="Helvetica Neue"/>
                          <a:cs typeface="Helvetica Neue"/>
                        </a:rPr>
                        <a:t>0</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800" b="0">
                          <a:solidFill>
                            <a:srgbClr val="98989F"/>
                          </a:solidFill>
                          <a:latin typeface="Helvetica Neue"/>
                          <a:ea typeface="Helvetica Neue"/>
                          <a:cs typeface="Helvetica Neue"/>
                        </a:rPr>
                        <a:t>0</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800" b="0">
                          <a:solidFill>
                            <a:srgbClr val="F5F5F7"/>
                          </a:solidFill>
                          <a:latin typeface="Helvetica Neue"/>
                          <a:ea typeface="Helvetica Neue"/>
                          <a:cs typeface="Helvetica Neue"/>
                        </a:rPr>
                        <a:t>1</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800" b="0">
                          <a:solidFill>
                            <a:srgbClr val="F5F5F7"/>
                          </a:solidFill>
                          <a:latin typeface="Helvetica Neue"/>
                          <a:ea typeface="Helvetica Neue"/>
                          <a:cs typeface="Helvetica Neue"/>
                        </a:rPr>
                        <a:t>1</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800" b="0">
                          <a:solidFill>
                            <a:srgbClr val="98989F"/>
                          </a:solidFill>
                          <a:latin typeface="Helvetica Neue"/>
                          <a:ea typeface="Helvetica Neue"/>
                          <a:cs typeface="Helvetica Neue"/>
                        </a:rPr>
                        <a:t>0</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r h="628650">
                <a:tc>
                  <a:txBody>
                    <a:bodyPr lIns="133350" tIns="76200" rIns="133350" bIns="76200"/>
                    <a:lstStyle/>
                    <a:p>
                      <a:r>
                        <a:rPr sz="1800" b="0">
                          <a:solidFill>
                            <a:srgbClr val="F5F5F7"/>
                          </a:solidFill>
                          <a:latin typeface="Helvetica Neue"/>
                          <a:ea typeface="Helvetica Neue"/>
                          <a:cs typeface="Helvetica Neue"/>
                        </a:rPr>
                        <a:t>D</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800" b="0">
                          <a:solidFill>
                            <a:srgbClr val="98989F"/>
                          </a:solidFill>
                          <a:latin typeface="Helvetica Neue"/>
                          <a:ea typeface="Helvetica Neue"/>
                          <a:cs typeface="Helvetica Neue"/>
                        </a:rPr>
                        <a:t>0</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800" b="0">
                          <a:solidFill>
                            <a:srgbClr val="98989F"/>
                          </a:solidFill>
                          <a:latin typeface="Helvetica Neue"/>
                          <a:ea typeface="Helvetica Neue"/>
                          <a:cs typeface="Helvetica Neue"/>
                        </a:rPr>
                        <a:t>0</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800" b="0">
                          <a:solidFill>
                            <a:srgbClr val="98989F"/>
                          </a:solidFill>
                          <a:latin typeface="Helvetica Neue"/>
                          <a:ea typeface="Helvetica Neue"/>
                          <a:cs typeface="Helvetica Neue"/>
                        </a:rPr>
                        <a:t>0</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800" b="0">
                          <a:solidFill>
                            <a:srgbClr val="98989F"/>
                          </a:solidFill>
                          <a:latin typeface="Helvetica Neue"/>
                          <a:ea typeface="Helvetica Neue"/>
                          <a:cs typeface="Helvetica Neue"/>
                        </a:rPr>
                        <a:t>0</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800" b="0">
                          <a:solidFill>
                            <a:srgbClr val="F5F5F7"/>
                          </a:solidFill>
                          <a:latin typeface="Helvetica Neue"/>
                          <a:ea typeface="Helvetica Neue"/>
                          <a:cs typeface="Helvetica Neue"/>
                        </a:rPr>
                        <a:t>2</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bl>
          </a:graphicData>
        </a:graphic>
      </p:graphicFrame>
      <p:sp>
        <p:nvSpPr>
          <p:cNvPr id="7" name="exp90-5">
            <a:extLst xmlns:a="http://schemas.openxmlformats.org/drawingml/2006/main">
              <a:ext uri="{FF2B5EF4-FFF2-40B4-BE49-F238E27FC236}">
                <a16:creationId xmlns:a16="http://schemas.microsoft.com/office/drawing/2014/main" id="{7748A579-5F6A-4B35-9F0A-5879C92D0BF6}"/>
              </a:ext>
            </a:extLst>
          </p:cNvPr>
          <p:cNvSpPr>
            <a:spLocks xmlns:a="http://schemas.openxmlformats.org/drawingml/2006/main" noGrp="1"/>
          </p:cNvSpPr>
          <p:nvPr/>
        </p:nvSpPr>
        <p:spPr>
          <a:xfrm xmlns:a="http://schemas.openxmlformats.org/drawingml/2006/main">
            <a:off x="685800" y="618172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CDCDD3"/>
                </a:solidFill>
                <a:latin typeface="Helvetica Neue"/>
                <a:ea typeface="Helvetica Neue"/>
                <a:cs typeface="Helvetica Neue"/>
              </a:defRPr>
            </a:defPPr>
            <a:lvl1pPr>
              <a:buNone/>
              <a:defRPr sz="1650" b="0">
                <a:solidFill>
                  <a:srgbClr val="CDCDD3"/>
                </a:solidFill>
                <a:latin typeface="Helvetica Neue"/>
                <a:ea typeface="Helvetica Neue"/>
                <a:cs typeface="Helvetica Neue"/>
              </a:defRPr>
            </a:lvl1pPr>
            <a:lvl2pPr>
              <a:buNone/>
              <a:defRPr sz="1650" b="0">
                <a:solidFill>
                  <a:srgbClr val="CDCDD3"/>
                </a:solidFill>
                <a:latin typeface="Helvetica Neue"/>
                <a:ea typeface="Helvetica Neue"/>
                <a:cs typeface="Helvetica Neue"/>
              </a:defRPr>
            </a:lvl2pPr>
            <a:lvl3pPr>
              <a:buNone/>
              <a:defRPr sz="1650" b="0">
                <a:solidFill>
                  <a:srgbClr val="CDCDD3"/>
                </a:solidFill>
                <a:latin typeface="Helvetica Neue"/>
                <a:ea typeface="Helvetica Neue"/>
                <a:cs typeface="Helvetica Neue"/>
              </a:defRPr>
            </a:lvl3pPr>
            <a:lvl4pPr>
              <a:buNone/>
              <a:defRPr sz="1650" b="0">
                <a:solidFill>
                  <a:srgbClr val="CDCDD3"/>
                </a:solidFill>
                <a:latin typeface="Helvetica Neue"/>
                <a:ea typeface="Helvetica Neue"/>
                <a:cs typeface="Helvetica Neue"/>
              </a:defRPr>
            </a:lvl4pPr>
            <a:lvl5pPr>
              <a:buNone/>
              <a:defRPr sz="1650" b="0">
                <a:solidFill>
                  <a:srgbClr val="CDCDD3"/>
                </a:solidFill>
                <a:latin typeface="Helvetica Neue"/>
                <a:ea typeface="Helvetica Neue"/>
                <a:cs typeface="Helvetica Neue"/>
              </a:defRPr>
            </a:lvl5pPr>
            <a:lvl6pPr>
              <a:buNone/>
              <a:defRPr sz="1650" b="0">
                <a:solidFill>
                  <a:srgbClr val="CDCDD3"/>
                </a:solidFill>
                <a:latin typeface="Helvetica Neue"/>
                <a:ea typeface="Helvetica Neue"/>
                <a:cs typeface="Helvetica Neue"/>
              </a:defRPr>
            </a:lvl6pPr>
            <a:lvl7pPr>
              <a:buNone/>
              <a:defRPr sz="1650" b="0">
                <a:solidFill>
                  <a:srgbClr val="CDCDD3"/>
                </a:solidFill>
                <a:latin typeface="Helvetica Neue"/>
                <a:ea typeface="Helvetica Neue"/>
                <a:cs typeface="Helvetica Neue"/>
              </a:defRPr>
            </a:lvl7pPr>
            <a:lvl8pPr>
              <a:buNone/>
              <a:defRPr sz="1650" b="0">
                <a:solidFill>
                  <a:srgbClr val="CDCDD3"/>
                </a:solidFill>
                <a:latin typeface="Helvetica Neue"/>
                <a:ea typeface="Helvetica Neue"/>
                <a:cs typeface="Helvetica Neue"/>
              </a:defRPr>
            </a:lvl8pPr>
            <a:lvl9pPr>
              <a:buNone/>
              <a:defRPr sz="1650" b="0">
                <a:solidFill>
                  <a:srgbClr val="CDCDD3"/>
                </a:solidFill>
                <a:latin typeface="Helvetica Neue"/>
                <a:ea typeface="Helvetica Neue"/>
                <a:cs typeface="Helvetica Neue"/>
              </a:defRPr>
            </a:lvl9pPr>
          </a:lstStyle>
          <a:p xmlns:a="http://schemas.openxmlformats.org/drawingml/2006/main">
            <a:pPr>
              <a:buNone/>
              <a:defRPr sz="1650" b="0">
                <a:solidFill>
                  <a:srgbClr val="CDCDD3"/>
                </a:solidFill>
                <a:latin typeface="Helvetica Neue"/>
                <a:ea typeface="Helvetica Neue"/>
                <a:cs typeface="Helvetica Neue"/>
              </a:defRPr>
            </a:pPr>
            <a:r>
              <a:rPr sz="1650" b="0">
                <a:solidFill>
                  <a:srgbClr val="CDCDD3"/>
                </a:solidFill>
                <a:latin typeface="Helvetica Neue"/>
                <a:ea typeface="Helvetica Neue"/>
                <a:cs typeface="Helvetica Neue"/>
              </a:rPr>
              <a:t>Из 20 ячеек только 6 ненулевые. Разреженный формат хранит ненулевые значения и их позиции, что особенно полезно при большом словаре.</a:t>
            </a:r>
          </a:p>
        </p:txBody>
      </p:sp>
    </p:spTree>
    <p:extLst>
      <p:ext uri="{BB962C8B-B14F-4D97-AF65-F5344CB8AC3E}">
        <p14:creationId xmlns:p14="http://schemas.microsoft.com/office/powerpoint/2010/main" val="335467540"/>
      </p:ext>
    </p:extLst>
  </p:cSld>
</p:sld>
</file>

<file path=ppt/slides/slide5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3" name="text-0">
            <a:extLst xmlns:a="http://schemas.openxmlformats.org/drawingml/2006/main">
              <a:ext uri="{FF2B5EF4-FFF2-40B4-BE49-F238E27FC236}">
                <a16:creationId xmlns:a16="http://schemas.microsoft.com/office/drawing/2014/main" id="{FACF7A50-2F00-48EF-9A70-587D7C648137}"/>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98989F"/>
                </a:solidFill>
                <a:latin typeface="Helvetica Neue"/>
                <a:ea typeface="Helvetica Neue"/>
                <a:cs typeface="Helvetica Neue"/>
              </a:defRPr>
            </a:defPPr>
            <a:lvl1pPr algn="l">
              <a:buNone/>
              <a:defRPr sz="1425" b="0">
                <a:solidFill>
                  <a:srgbClr val="98989F"/>
                </a:solidFill>
                <a:latin typeface="Helvetica Neue"/>
                <a:ea typeface="Helvetica Neue"/>
                <a:cs typeface="Helvetica Neue"/>
              </a:defRPr>
            </a:lvl1pPr>
            <a:lvl2pPr algn="l">
              <a:buNone/>
              <a:defRPr sz="1425" b="0">
                <a:solidFill>
                  <a:srgbClr val="98989F"/>
                </a:solidFill>
                <a:latin typeface="Helvetica Neue"/>
                <a:ea typeface="Helvetica Neue"/>
                <a:cs typeface="Helvetica Neue"/>
              </a:defRPr>
            </a:lvl2pPr>
            <a:lvl3pPr algn="l">
              <a:buNone/>
              <a:defRPr sz="1425" b="0">
                <a:solidFill>
                  <a:srgbClr val="98989F"/>
                </a:solidFill>
                <a:latin typeface="Helvetica Neue"/>
                <a:ea typeface="Helvetica Neue"/>
                <a:cs typeface="Helvetica Neue"/>
              </a:defRPr>
            </a:lvl3pPr>
            <a:lvl4pPr algn="l">
              <a:buNone/>
              <a:defRPr sz="1425" b="0">
                <a:solidFill>
                  <a:srgbClr val="98989F"/>
                </a:solidFill>
                <a:latin typeface="Helvetica Neue"/>
                <a:ea typeface="Helvetica Neue"/>
                <a:cs typeface="Helvetica Neue"/>
              </a:defRPr>
            </a:lvl4pPr>
            <a:lvl5pPr algn="l">
              <a:buNone/>
              <a:defRPr sz="1425" b="0">
                <a:solidFill>
                  <a:srgbClr val="98989F"/>
                </a:solidFill>
                <a:latin typeface="Helvetica Neue"/>
                <a:ea typeface="Helvetica Neue"/>
                <a:cs typeface="Helvetica Neue"/>
              </a:defRPr>
            </a:lvl5pPr>
            <a:lvl6pPr algn="l">
              <a:buNone/>
              <a:defRPr sz="1425" b="0">
                <a:solidFill>
                  <a:srgbClr val="98989F"/>
                </a:solidFill>
                <a:latin typeface="Helvetica Neue"/>
                <a:ea typeface="Helvetica Neue"/>
                <a:cs typeface="Helvetica Neue"/>
              </a:defRPr>
            </a:lvl6pPr>
            <a:lvl7pPr algn="l">
              <a:buNone/>
              <a:defRPr sz="1425" b="0">
                <a:solidFill>
                  <a:srgbClr val="98989F"/>
                </a:solidFill>
                <a:latin typeface="Helvetica Neue"/>
                <a:ea typeface="Helvetica Neue"/>
                <a:cs typeface="Helvetica Neue"/>
              </a:defRPr>
            </a:lvl7pPr>
            <a:lvl8pPr algn="l">
              <a:buNone/>
              <a:defRPr sz="1425" b="0">
                <a:solidFill>
                  <a:srgbClr val="98989F"/>
                </a:solidFill>
                <a:latin typeface="Helvetica Neue"/>
                <a:ea typeface="Helvetica Neue"/>
                <a:cs typeface="Helvetica Neue"/>
              </a:defRPr>
            </a:lvl8pPr>
            <a:lvl9pPr algn="l">
              <a:buNone/>
              <a:defRPr sz="1425" b="0">
                <a:solidFill>
                  <a:srgbClr val="98989F"/>
                </a:solidFill>
                <a:latin typeface="Helvetica Neue"/>
                <a:ea typeface="Helvetica Neue"/>
                <a:cs typeface="Helvetica Neue"/>
              </a:defRPr>
            </a:lvl9pPr>
          </a:lstStyle>
          <a:p xmlns:a="http://schemas.openxmlformats.org/drawingml/2006/main">
            <a:pPr algn="l">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text-1">
            <a:extLst xmlns:a="http://schemas.openxmlformats.org/drawingml/2006/main">
              <a:ext uri="{FF2B5EF4-FFF2-40B4-BE49-F238E27FC236}">
                <a16:creationId xmlns:a16="http://schemas.microsoft.com/office/drawing/2014/main" id="{9480E1EC-391A-4BF6-B3BD-EC40F30ADE98}"/>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53</a:t>
            </a:r>
          </a:p>
        </p:txBody>
      </p:sp>
      <p:sp>
        <p:nvSpPr>
          <p:cNvPr id="3" name="">
            <a:extLst xmlns:a="http://schemas.openxmlformats.org/drawingml/2006/main">
              <a:ext uri="{FF2B5EF4-FFF2-40B4-BE49-F238E27FC236}">
                <a16:creationId xmlns:a16="http://schemas.microsoft.com/office/drawing/2014/main" id="{B86FB0F8-ED18-4D3D-979B-3792E4E0D9AE}"/>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prstDash val="solid"/>
          </a:ln>
        </p:spPr>
      </p:sp>
      <p:sp>
        <p:nvSpPr>
          <p:cNvPr id="4" name="text-3">
            <a:extLst xmlns:a="http://schemas.openxmlformats.org/drawingml/2006/main">
              <a:ext uri="{FF2B5EF4-FFF2-40B4-BE49-F238E27FC236}">
                <a16:creationId xmlns:a16="http://schemas.microsoft.com/office/drawing/2014/main" id="{F90222AE-367C-4DC2-B625-0C31D17658AA}"/>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5F7"/>
                </a:solidFill>
                <a:latin typeface="Helvetica Neue"/>
                <a:ea typeface="Helvetica Neue"/>
                <a:cs typeface="Helvetica Neue"/>
              </a:defRPr>
            </a:defPPr>
            <a:lvl1pPr algn="l">
              <a:buNone/>
              <a:defRPr sz="3450" b="1">
                <a:solidFill>
                  <a:srgbClr val="F5F5F7"/>
                </a:solidFill>
                <a:latin typeface="Helvetica Neue"/>
                <a:ea typeface="Helvetica Neue"/>
                <a:cs typeface="Helvetica Neue"/>
              </a:defRPr>
            </a:lvl1pPr>
            <a:lvl2pPr algn="l">
              <a:buNone/>
              <a:defRPr sz="3450" b="1">
                <a:solidFill>
                  <a:srgbClr val="F5F5F7"/>
                </a:solidFill>
                <a:latin typeface="Helvetica Neue"/>
                <a:ea typeface="Helvetica Neue"/>
                <a:cs typeface="Helvetica Neue"/>
              </a:defRPr>
            </a:lvl2pPr>
            <a:lvl3pPr algn="l">
              <a:buNone/>
              <a:defRPr sz="3450" b="1">
                <a:solidFill>
                  <a:srgbClr val="F5F5F7"/>
                </a:solidFill>
                <a:latin typeface="Helvetica Neue"/>
                <a:ea typeface="Helvetica Neue"/>
                <a:cs typeface="Helvetica Neue"/>
              </a:defRPr>
            </a:lvl3pPr>
            <a:lvl4pPr algn="l">
              <a:buNone/>
              <a:defRPr sz="3450" b="1">
                <a:solidFill>
                  <a:srgbClr val="F5F5F7"/>
                </a:solidFill>
                <a:latin typeface="Helvetica Neue"/>
                <a:ea typeface="Helvetica Neue"/>
                <a:cs typeface="Helvetica Neue"/>
              </a:defRPr>
            </a:lvl4pPr>
            <a:lvl5pPr algn="l">
              <a:buNone/>
              <a:defRPr sz="3450" b="1">
                <a:solidFill>
                  <a:srgbClr val="F5F5F7"/>
                </a:solidFill>
                <a:latin typeface="Helvetica Neue"/>
                <a:ea typeface="Helvetica Neue"/>
                <a:cs typeface="Helvetica Neue"/>
              </a:defRPr>
            </a:lvl5pPr>
            <a:lvl6pPr algn="l">
              <a:buNone/>
              <a:defRPr sz="3450" b="1">
                <a:solidFill>
                  <a:srgbClr val="F5F5F7"/>
                </a:solidFill>
                <a:latin typeface="Helvetica Neue"/>
                <a:ea typeface="Helvetica Neue"/>
                <a:cs typeface="Helvetica Neue"/>
              </a:defRPr>
            </a:lvl6pPr>
            <a:lvl7pPr algn="l">
              <a:buNone/>
              <a:defRPr sz="3450" b="1">
                <a:solidFill>
                  <a:srgbClr val="F5F5F7"/>
                </a:solidFill>
                <a:latin typeface="Helvetica Neue"/>
                <a:ea typeface="Helvetica Neue"/>
                <a:cs typeface="Helvetica Neue"/>
              </a:defRPr>
            </a:lvl7pPr>
            <a:lvl8pPr algn="l">
              <a:buNone/>
              <a:defRPr sz="3450" b="1">
                <a:solidFill>
                  <a:srgbClr val="F5F5F7"/>
                </a:solidFill>
                <a:latin typeface="Helvetica Neue"/>
                <a:ea typeface="Helvetica Neue"/>
                <a:cs typeface="Helvetica Neue"/>
              </a:defRPr>
            </a:lvl8pPr>
            <a:lvl9pPr algn="l">
              <a:buNone/>
              <a:defRPr sz="3450" b="1">
                <a:solidFill>
                  <a:srgbClr val="F5F5F7"/>
                </a:solidFill>
                <a:latin typeface="Helvetica Neue"/>
                <a:ea typeface="Helvetica Neue"/>
                <a:cs typeface="Helvetica Neue"/>
              </a:defRPr>
            </a:lvl9pPr>
          </a:lstStyle>
          <a:p xmlns:a="http://schemas.openxmlformats.org/drawingml/2006/main">
            <a:pPr algn="l">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TF-IDF</a:t>
            </a:r>
          </a:p>
        </p:txBody>
      </p:sp>
      <p:sp>
        <p:nvSpPr>
          <p:cNvPr id="14" name="ysda-4">
            <a:extLst xmlns:a="http://schemas.openxmlformats.org/drawingml/2006/main">
              <a:ext uri="{FF2B5EF4-FFF2-40B4-BE49-F238E27FC236}">
                <a16:creationId xmlns:a16="http://schemas.microsoft.com/office/drawing/2014/main" id="{1FE674D9-6374-45F3-BD1A-85D7498D80C3}"/>
              </a:ext>
            </a:extLst>
          </p:cNvPr>
          <p:cNvSpPr>
            <a:spLocks xmlns:a="http://schemas.openxmlformats.org/drawingml/2006/main" noGrp="1"/>
          </p:cNvSpPr>
          <p:nvPr/>
        </p:nvSpPr>
        <p:spPr>
          <a:xfrm xmlns:a="http://schemas.openxmlformats.org/drawingml/2006/main">
            <a:off x="685800" y="20478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Term frequency и inverse document frequency</a:t>
            </a:r>
          </a:p>
        </p:txBody>
      </p:sp>
      <p:sp>
        <p:nvSpPr>
          <p:cNvPr id="15" name="ysda-5">
            <a:extLst xmlns:a="http://schemas.openxmlformats.org/drawingml/2006/main">
              <a:ext uri="{FF2B5EF4-FFF2-40B4-BE49-F238E27FC236}">
                <a16:creationId xmlns:a16="http://schemas.microsoft.com/office/drawing/2014/main" id="{FD102BDA-5394-41D9-BA2C-E42E23D963D2}"/>
              </a:ext>
            </a:extLst>
          </p:cNvPr>
          <p:cNvSpPr>
            <a:spLocks xmlns:a="http://schemas.openxmlformats.org/drawingml/2006/main" noGrp="1"/>
          </p:cNvSpPr>
          <p:nvPr/>
        </p:nvSpPr>
        <p:spPr>
          <a:xfrm xmlns:a="http://schemas.openxmlformats.org/drawingml/2006/main">
            <a:off x="685800" y="2514600"/>
            <a:ext cx="108204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TF описывает, как часто term встречается в данном документе. IDF зависит от document frequency: сколько документов corpus содержат этот term. TF-IDF объединяет локальную частоту с распространённостью по коллекции. Координата получает больший вес, когда элемент характерен для документа и относительно редко встречается в других документах.</a:t>
            </a:r>
          </a:p>
        </p:txBody>
      </p:sp>
      <p:sp>
        <p:nvSpPr>
          <p:cNvPr id="16" name="ysda-6">
            <a:extLst xmlns:a="http://schemas.openxmlformats.org/drawingml/2006/main">
              <a:ext uri="{FF2B5EF4-FFF2-40B4-BE49-F238E27FC236}">
                <a16:creationId xmlns:a16="http://schemas.microsoft.com/office/drawing/2014/main" id="{04B35F9B-02AF-45AC-9C65-583040766C78}"/>
              </a:ext>
            </a:extLst>
          </p:cNvPr>
          <p:cNvSpPr>
            <a:spLocks xmlns:a="http://schemas.openxmlformats.org/drawingml/2006/main" noGrp="1"/>
          </p:cNvSpPr>
          <p:nvPr/>
        </p:nvSpPr>
        <p:spPr>
          <a:xfrm xmlns:a="http://schemas.openxmlformats.org/drawingml/2006/main">
            <a:off x="685800" y="4229100"/>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Интерпретация веса</a:t>
            </a:r>
          </a:p>
        </p:txBody>
      </p:sp>
      <p:sp>
        <p:nvSpPr>
          <p:cNvPr id="17" name="ysda-7">
            <a:extLst xmlns:a="http://schemas.openxmlformats.org/drawingml/2006/main">
              <a:ext uri="{FF2B5EF4-FFF2-40B4-BE49-F238E27FC236}">
                <a16:creationId xmlns:a16="http://schemas.microsoft.com/office/drawing/2014/main" id="{E5A2DB74-9B5D-4544-874D-B79A47EA5E54}"/>
              </a:ext>
            </a:extLst>
          </p:cNvPr>
          <p:cNvSpPr>
            <a:spLocks xmlns:a="http://schemas.openxmlformats.org/drawingml/2006/main" noGrp="1"/>
          </p:cNvSpPr>
          <p:nvPr/>
        </p:nvSpPr>
        <p:spPr>
          <a:xfrm xmlns:a="http://schemas.openxmlformats.org/drawingml/2006/main">
            <a:off x="685800" y="4695825"/>
            <a:ext cx="10820400" cy="1914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TF-IDF — способ построить features, а не оценка смысла, истинности или тональности. Высокий вес может получить полезное слово, редкое имя или случайная опечатка. Конкретное значение зависит от определения TF, smoothing, log scaling и normalization. Vocabulary и IDF вычисляют на train; при обработке dev, test и новых текстов используют уже полученные параметры.</a:t>
            </a:r>
          </a:p>
        </p:txBody>
      </p:sp>
    </p:spTree>
    <p:extLst>
      <p:ext uri="{BB962C8B-B14F-4D97-AF65-F5344CB8AC3E}">
        <p14:creationId xmlns:p14="http://schemas.microsoft.com/office/powerpoint/2010/main" val="1763343896"/>
      </p:ext>
    </p:extLst>
  </p:cSld>
</p:sld>
</file>

<file path=ppt/slides/slide5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7" name="text-0">
            <a:extLst xmlns:a="http://schemas.openxmlformats.org/drawingml/2006/main">
              <a:ext uri="{FF2B5EF4-FFF2-40B4-BE49-F238E27FC236}">
                <a16:creationId xmlns:a16="http://schemas.microsoft.com/office/drawing/2014/main" id="{5C19F941-6118-40FE-A629-0C38E0C1F53A}"/>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98989F"/>
                </a:solidFill>
                <a:latin typeface="Helvetica Neue"/>
                <a:ea typeface="Helvetica Neue"/>
                <a:cs typeface="Helvetica Neue"/>
              </a:defRPr>
            </a:defPPr>
            <a:lvl1pPr algn="l">
              <a:buNone/>
              <a:defRPr sz="1425" b="0">
                <a:solidFill>
                  <a:srgbClr val="98989F"/>
                </a:solidFill>
                <a:latin typeface="Helvetica Neue"/>
                <a:ea typeface="Helvetica Neue"/>
                <a:cs typeface="Helvetica Neue"/>
              </a:defRPr>
            </a:lvl1pPr>
            <a:lvl2pPr algn="l">
              <a:buNone/>
              <a:defRPr sz="1425" b="0">
                <a:solidFill>
                  <a:srgbClr val="98989F"/>
                </a:solidFill>
                <a:latin typeface="Helvetica Neue"/>
                <a:ea typeface="Helvetica Neue"/>
                <a:cs typeface="Helvetica Neue"/>
              </a:defRPr>
            </a:lvl2pPr>
            <a:lvl3pPr algn="l">
              <a:buNone/>
              <a:defRPr sz="1425" b="0">
                <a:solidFill>
                  <a:srgbClr val="98989F"/>
                </a:solidFill>
                <a:latin typeface="Helvetica Neue"/>
                <a:ea typeface="Helvetica Neue"/>
                <a:cs typeface="Helvetica Neue"/>
              </a:defRPr>
            </a:lvl3pPr>
            <a:lvl4pPr algn="l">
              <a:buNone/>
              <a:defRPr sz="1425" b="0">
                <a:solidFill>
                  <a:srgbClr val="98989F"/>
                </a:solidFill>
                <a:latin typeface="Helvetica Neue"/>
                <a:ea typeface="Helvetica Neue"/>
                <a:cs typeface="Helvetica Neue"/>
              </a:defRPr>
            </a:lvl4pPr>
            <a:lvl5pPr algn="l">
              <a:buNone/>
              <a:defRPr sz="1425" b="0">
                <a:solidFill>
                  <a:srgbClr val="98989F"/>
                </a:solidFill>
                <a:latin typeface="Helvetica Neue"/>
                <a:ea typeface="Helvetica Neue"/>
                <a:cs typeface="Helvetica Neue"/>
              </a:defRPr>
            </a:lvl5pPr>
            <a:lvl6pPr algn="l">
              <a:buNone/>
              <a:defRPr sz="1425" b="0">
                <a:solidFill>
                  <a:srgbClr val="98989F"/>
                </a:solidFill>
                <a:latin typeface="Helvetica Neue"/>
                <a:ea typeface="Helvetica Neue"/>
                <a:cs typeface="Helvetica Neue"/>
              </a:defRPr>
            </a:lvl6pPr>
            <a:lvl7pPr algn="l">
              <a:buNone/>
              <a:defRPr sz="1425" b="0">
                <a:solidFill>
                  <a:srgbClr val="98989F"/>
                </a:solidFill>
                <a:latin typeface="Helvetica Neue"/>
                <a:ea typeface="Helvetica Neue"/>
                <a:cs typeface="Helvetica Neue"/>
              </a:defRPr>
            </a:lvl7pPr>
            <a:lvl8pPr algn="l">
              <a:buNone/>
              <a:defRPr sz="1425" b="0">
                <a:solidFill>
                  <a:srgbClr val="98989F"/>
                </a:solidFill>
                <a:latin typeface="Helvetica Neue"/>
                <a:ea typeface="Helvetica Neue"/>
                <a:cs typeface="Helvetica Neue"/>
              </a:defRPr>
            </a:lvl8pPr>
            <a:lvl9pPr algn="l">
              <a:buNone/>
              <a:defRPr sz="1425" b="0">
                <a:solidFill>
                  <a:srgbClr val="98989F"/>
                </a:solidFill>
                <a:latin typeface="Helvetica Neue"/>
                <a:ea typeface="Helvetica Neue"/>
                <a:cs typeface="Helvetica Neue"/>
              </a:defRPr>
            </a:lvl9pPr>
          </a:lstStyle>
          <a:p xmlns:a="http://schemas.openxmlformats.org/drawingml/2006/main">
            <a:pPr algn="l">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text-1">
            <a:extLst xmlns:a="http://schemas.openxmlformats.org/drawingml/2006/main">
              <a:ext uri="{FF2B5EF4-FFF2-40B4-BE49-F238E27FC236}">
                <a16:creationId xmlns:a16="http://schemas.microsoft.com/office/drawing/2014/main" id="{C6E33831-AB6F-4C71-ADE3-ACBDD96D1B27}"/>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54</a:t>
            </a:r>
          </a:p>
        </p:txBody>
      </p:sp>
      <p:sp>
        <p:nvSpPr>
          <p:cNvPr id="3" name="">
            <a:extLst xmlns:a="http://schemas.openxmlformats.org/drawingml/2006/main">
              <a:ext uri="{FF2B5EF4-FFF2-40B4-BE49-F238E27FC236}">
                <a16:creationId xmlns:a16="http://schemas.microsoft.com/office/drawing/2014/main" id="{3FDF05DE-5C17-42F7-AB39-3C4EE5A13744}"/>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prstDash val="solid"/>
          </a:ln>
        </p:spPr>
      </p:sp>
      <p:sp>
        <p:nvSpPr>
          <p:cNvPr id="4" name="text-3">
            <a:extLst xmlns:a="http://schemas.openxmlformats.org/drawingml/2006/main">
              <a:ext uri="{FF2B5EF4-FFF2-40B4-BE49-F238E27FC236}">
                <a16:creationId xmlns:a16="http://schemas.microsoft.com/office/drawing/2014/main" id="{689385D4-D2EE-444C-94A6-F034E6C499DE}"/>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5F7"/>
                </a:solidFill>
                <a:latin typeface="Helvetica Neue"/>
                <a:ea typeface="Helvetica Neue"/>
                <a:cs typeface="Helvetica Neue"/>
              </a:defRPr>
            </a:defPPr>
            <a:lvl1pPr algn="l">
              <a:buNone/>
              <a:defRPr sz="3450" b="1">
                <a:solidFill>
                  <a:srgbClr val="F5F5F7"/>
                </a:solidFill>
                <a:latin typeface="Helvetica Neue"/>
                <a:ea typeface="Helvetica Neue"/>
                <a:cs typeface="Helvetica Neue"/>
              </a:defRPr>
            </a:lvl1pPr>
            <a:lvl2pPr algn="l">
              <a:buNone/>
              <a:defRPr sz="3450" b="1">
                <a:solidFill>
                  <a:srgbClr val="F5F5F7"/>
                </a:solidFill>
                <a:latin typeface="Helvetica Neue"/>
                <a:ea typeface="Helvetica Neue"/>
                <a:cs typeface="Helvetica Neue"/>
              </a:defRPr>
            </a:lvl2pPr>
            <a:lvl3pPr algn="l">
              <a:buNone/>
              <a:defRPr sz="3450" b="1">
                <a:solidFill>
                  <a:srgbClr val="F5F5F7"/>
                </a:solidFill>
                <a:latin typeface="Helvetica Neue"/>
                <a:ea typeface="Helvetica Neue"/>
                <a:cs typeface="Helvetica Neue"/>
              </a:defRPr>
            </a:lvl3pPr>
            <a:lvl4pPr algn="l">
              <a:buNone/>
              <a:defRPr sz="3450" b="1">
                <a:solidFill>
                  <a:srgbClr val="F5F5F7"/>
                </a:solidFill>
                <a:latin typeface="Helvetica Neue"/>
                <a:ea typeface="Helvetica Neue"/>
                <a:cs typeface="Helvetica Neue"/>
              </a:defRPr>
            </a:lvl4pPr>
            <a:lvl5pPr algn="l">
              <a:buNone/>
              <a:defRPr sz="3450" b="1">
                <a:solidFill>
                  <a:srgbClr val="F5F5F7"/>
                </a:solidFill>
                <a:latin typeface="Helvetica Neue"/>
                <a:ea typeface="Helvetica Neue"/>
                <a:cs typeface="Helvetica Neue"/>
              </a:defRPr>
            </a:lvl5pPr>
            <a:lvl6pPr algn="l">
              <a:buNone/>
              <a:defRPr sz="3450" b="1">
                <a:solidFill>
                  <a:srgbClr val="F5F5F7"/>
                </a:solidFill>
                <a:latin typeface="Helvetica Neue"/>
                <a:ea typeface="Helvetica Neue"/>
                <a:cs typeface="Helvetica Neue"/>
              </a:defRPr>
            </a:lvl6pPr>
            <a:lvl7pPr algn="l">
              <a:buNone/>
              <a:defRPr sz="3450" b="1">
                <a:solidFill>
                  <a:srgbClr val="F5F5F7"/>
                </a:solidFill>
                <a:latin typeface="Helvetica Neue"/>
                <a:ea typeface="Helvetica Neue"/>
                <a:cs typeface="Helvetica Neue"/>
              </a:defRPr>
            </a:lvl7pPr>
            <a:lvl8pPr algn="l">
              <a:buNone/>
              <a:defRPr sz="3450" b="1">
                <a:solidFill>
                  <a:srgbClr val="F5F5F7"/>
                </a:solidFill>
                <a:latin typeface="Helvetica Neue"/>
                <a:ea typeface="Helvetica Neue"/>
                <a:cs typeface="Helvetica Neue"/>
              </a:defRPr>
            </a:lvl8pPr>
            <a:lvl9pPr algn="l">
              <a:buNone/>
              <a:defRPr sz="3450" b="1">
                <a:solidFill>
                  <a:srgbClr val="F5F5F7"/>
                </a:solidFill>
                <a:latin typeface="Helvetica Neue"/>
                <a:ea typeface="Helvetica Neue"/>
                <a:cs typeface="Helvetica Neue"/>
              </a:defRPr>
            </a:lvl9pPr>
          </a:lstStyle>
          <a:p xmlns:a="http://schemas.openxmlformats.org/drawingml/2006/main">
            <a:pPr algn="l">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TF-IDF: пример на небольшой коллекции</a:t>
            </a:r>
          </a:p>
        </p:txBody>
      </p:sp>
      <p:sp>
        <p:nvSpPr>
          <p:cNvPr id="28" name="theory-4">
            <a:extLst xmlns:a="http://schemas.openxmlformats.org/drawingml/2006/main">
              <a:ext uri="{FF2B5EF4-FFF2-40B4-BE49-F238E27FC236}">
                <a16:creationId xmlns:a16="http://schemas.microsoft.com/office/drawing/2014/main" id="{D2E5F75B-FFDB-4420-8CE4-2E16BFBAEC22}"/>
              </a:ext>
            </a:extLst>
          </p:cNvPr>
          <p:cNvSpPr>
            <a:spLocks xmlns:a="http://schemas.openxmlformats.org/drawingml/2006/main" noGrp="1"/>
          </p:cNvSpPr>
          <p:nvPr/>
        </p:nvSpPr>
        <p:spPr>
          <a:xfrm xmlns:a="http://schemas.openxmlformats.org/drawingml/2006/main">
            <a:off x="685800" y="20478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buNone/>
              <a:defRPr sz="1950" b="1">
                <a:solidFill>
                  <a:srgbClr val="BD9FE3"/>
                </a:solidFill>
                <a:latin typeface="Helvetica Neue"/>
                <a:ea typeface="Helvetica Neue"/>
                <a:cs typeface="Helvetica Neue"/>
              </a:defRPr>
            </a:lvl1pPr>
            <a:lvl2pPr>
              <a:buNone/>
              <a:defRPr sz="1950" b="1">
                <a:solidFill>
                  <a:srgbClr val="BD9FE3"/>
                </a:solidFill>
                <a:latin typeface="Helvetica Neue"/>
                <a:ea typeface="Helvetica Neue"/>
                <a:cs typeface="Helvetica Neue"/>
              </a:defRPr>
            </a:lvl2pPr>
            <a:lvl3pPr>
              <a:buNone/>
              <a:defRPr sz="1950" b="1">
                <a:solidFill>
                  <a:srgbClr val="BD9FE3"/>
                </a:solidFill>
                <a:latin typeface="Helvetica Neue"/>
                <a:ea typeface="Helvetica Neue"/>
                <a:cs typeface="Helvetica Neue"/>
              </a:defRPr>
            </a:lvl3pPr>
            <a:lvl4pPr>
              <a:buNone/>
              <a:defRPr sz="1950" b="1">
                <a:solidFill>
                  <a:srgbClr val="BD9FE3"/>
                </a:solidFill>
                <a:latin typeface="Helvetica Neue"/>
                <a:ea typeface="Helvetica Neue"/>
                <a:cs typeface="Helvetica Neue"/>
              </a:defRPr>
            </a:lvl4pPr>
            <a:lvl5pPr>
              <a:buNone/>
              <a:defRPr sz="1950" b="1">
                <a:solidFill>
                  <a:srgbClr val="BD9FE3"/>
                </a:solidFill>
                <a:latin typeface="Helvetica Neue"/>
                <a:ea typeface="Helvetica Neue"/>
                <a:cs typeface="Helvetica Neue"/>
              </a:defRPr>
            </a:lvl5pPr>
            <a:lvl6pPr>
              <a:buNone/>
              <a:defRPr sz="1950" b="1">
                <a:solidFill>
                  <a:srgbClr val="BD9FE3"/>
                </a:solidFill>
                <a:latin typeface="Helvetica Neue"/>
                <a:ea typeface="Helvetica Neue"/>
                <a:cs typeface="Helvetica Neue"/>
              </a:defRPr>
            </a:lvl6pPr>
            <a:lvl7pPr>
              <a:buNone/>
              <a:defRPr sz="1950" b="1">
                <a:solidFill>
                  <a:srgbClr val="BD9FE3"/>
                </a:solidFill>
                <a:latin typeface="Helvetica Neue"/>
                <a:ea typeface="Helvetica Neue"/>
                <a:cs typeface="Helvetica Neue"/>
              </a:defRPr>
            </a:lvl7pPr>
            <a:lvl8pPr>
              <a:buNone/>
              <a:defRPr sz="1950" b="1">
                <a:solidFill>
                  <a:srgbClr val="BD9FE3"/>
                </a:solidFill>
                <a:latin typeface="Helvetica Neue"/>
                <a:ea typeface="Helvetica Neue"/>
                <a:cs typeface="Helvetica Neue"/>
              </a:defRPr>
            </a:lvl8pPr>
            <a:lvl9pPr>
              <a:buNone/>
              <a:defRPr sz="1950" b="1">
                <a:solidFill>
                  <a:srgbClr val="BD9FE3"/>
                </a:solidFill>
                <a:latin typeface="Helvetica Neue"/>
                <a:ea typeface="Helvetica Neue"/>
                <a:cs typeface="Helvetica Neue"/>
              </a:defRPr>
            </a:lvl9pPr>
          </a:lstStyle>
          <a:p xmlns:a="http://schemas.openxmlformats.org/drawingml/2006/main">
            <a:pPr>
              <a:buNone/>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Учебная коллекция</a:t>
            </a:r>
          </a:p>
        </p:txBody>
      </p:sp>
      <p:sp>
        <p:nvSpPr>
          <p:cNvPr id="29" name="theory-5">
            <a:extLst xmlns:a="http://schemas.openxmlformats.org/drawingml/2006/main">
              <a:ext uri="{FF2B5EF4-FFF2-40B4-BE49-F238E27FC236}">
                <a16:creationId xmlns:a16="http://schemas.microsoft.com/office/drawing/2014/main" id="{9CE8BE3F-CFE8-4810-97F0-56646769339E}"/>
              </a:ext>
            </a:extLst>
          </p:cNvPr>
          <p:cNvSpPr>
            <a:spLocks xmlns:a="http://schemas.openxmlformats.org/drawingml/2006/main" noGrp="1"/>
          </p:cNvSpPr>
          <p:nvPr/>
        </p:nvSpPr>
        <p:spPr>
          <a:xfrm xmlns:a="http://schemas.openxmlformats.org/drawingml/2006/main">
            <a:off x="685800" y="2514600"/>
            <a:ext cx="108204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buNone/>
              <a:defRPr sz="2025" b="0">
                <a:solidFill>
                  <a:srgbClr val="CDCDD3"/>
                </a:solidFill>
                <a:latin typeface="Helvetica Neue"/>
                <a:ea typeface="Helvetica Neue"/>
                <a:cs typeface="Helvetica Neue"/>
              </a:defRPr>
            </a:lvl1pPr>
            <a:lvl2pPr>
              <a:buNone/>
              <a:defRPr sz="2025" b="0">
                <a:solidFill>
                  <a:srgbClr val="CDCDD3"/>
                </a:solidFill>
                <a:latin typeface="Helvetica Neue"/>
                <a:ea typeface="Helvetica Neue"/>
                <a:cs typeface="Helvetica Neue"/>
              </a:defRPr>
            </a:lvl2pPr>
            <a:lvl3pPr>
              <a:buNone/>
              <a:defRPr sz="2025" b="0">
                <a:solidFill>
                  <a:srgbClr val="CDCDD3"/>
                </a:solidFill>
                <a:latin typeface="Helvetica Neue"/>
                <a:ea typeface="Helvetica Neue"/>
                <a:cs typeface="Helvetica Neue"/>
              </a:defRPr>
            </a:lvl3pPr>
            <a:lvl4pPr>
              <a:buNone/>
              <a:defRPr sz="2025" b="0">
                <a:solidFill>
                  <a:srgbClr val="CDCDD3"/>
                </a:solidFill>
                <a:latin typeface="Helvetica Neue"/>
                <a:ea typeface="Helvetica Neue"/>
                <a:cs typeface="Helvetica Neue"/>
              </a:defRPr>
            </a:lvl4pPr>
            <a:lvl5pPr>
              <a:buNone/>
              <a:defRPr sz="2025" b="0">
                <a:solidFill>
                  <a:srgbClr val="CDCDD3"/>
                </a:solidFill>
                <a:latin typeface="Helvetica Neue"/>
                <a:ea typeface="Helvetica Neue"/>
                <a:cs typeface="Helvetica Neue"/>
              </a:defRPr>
            </a:lvl5pPr>
            <a:lvl6pPr>
              <a:buNone/>
              <a:defRPr sz="2025" b="0">
                <a:solidFill>
                  <a:srgbClr val="CDCDD3"/>
                </a:solidFill>
                <a:latin typeface="Helvetica Neue"/>
                <a:ea typeface="Helvetica Neue"/>
                <a:cs typeface="Helvetica Neue"/>
              </a:defRPr>
            </a:lvl6pPr>
            <a:lvl7pPr>
              <a:buNone/>
              <a:defRPr sz="2025" b="0">
                <a:solidFill>
                  <a:srgbClr val="CDCDD3"/>
                </a:solidFill>
                <a:latin typeface="Helvetica Neue"/>
                <a:ea typeface="Helvetica Neue"/>
                <a:cs typeface="Helvetica Neue"/>
              </a:defRPr>
            </a:lvl7pPr>
            <a:lvl8pPr>
              <a:buNone/>
              <a:defRPr sz="2025" b="0">
                <a:solidFill>
                  <a:srgbClr val="CDCDD3"/>
                </a:solidFill>
                <a:latin typeface="Helvetica Neue"/>
                <a:ea typeface="Helvetica Neue"/>
                <a:cs typeface="Helvetica Neue"/>
              </a:defRPr>
            </a:lvl8pPr>
            <a:lvl9pPr>
              <a:buNone/>
              <a:defRPr sz="2025" b="0">
                <a:solidFill>
                  <a:srgbClr val="CDCDD3"/>
                </a:solidFill>
                <a:latin typeface="Helvetica Neue"/>
                <a:ea typeface="Helvetica Neue"/>
                <a:cs typeface="Helvetica Neue"/>
              </a:defRPr>
            </a:lvl9pPr>
          </a:lstStyle>
          <a:p xmlns:a="http://schemas.openxmlformats.org/drawingml/2006/main">
            <a:pPr>
              <a:buNone/>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Рассмотрим три документа: «доставка быстрая», «доставка дорогая» и «аккумулятор хороший». Слово «доставка» встречается в двух документах, а «аккумулятор» встречается в одном. Если частота каждого рассматриваемого слова внутри своего документа равна единице, различие их ненормированных весов определяется компонентой IDF и выбранным сглаживанием.</a:t>
            </a:r>
          </a:p>
        </p:txBody>
      </p:sp>
      <p:sp>
        <p:nvSpPr>
          <p:cNvPr id="30" name="theory-6">
            <a:extLst xmlns:a="http://schemas.openxmlformats.org/drawingml/2006/main">
              <a:ext uri="{FF2B5EF4-FFF2-40B4-BE49-F238E27FC236}">
                <a16:creationId xmlns:a16="http://schemas.microsoft.com/office/drawing/2014/main" id="{D3252D7A-D419-4938-8A9E-96FEE31C2C74}"/>
              </a:ext>
            </a:extLst>
          </p:cNvPr>
          <p:cNvSpPr>
            <a:spLocks xmlns:a="http://schemas.openxmlformats.org/drawingml/2006/main" noGrp="1"/>
          </p:cNvSpPr>
          <p:nvPr/>
        </p:nvSpPr>
        <p:spPr>
          <a:xfrm xmlns:a="http://schemas.openxmlformats.org/drawingml/2006/main">
            <a:off x="685800" y="4229100"/>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buNone/>
              <a:defRPr sz="1950" b="1">
                <a:solidFill>
                  <a:srgbClr val="BD9FE3"/>
                </a:solidFill>
                <a:latin typeface="Helvetica Neue"/>
                <a:ea typeface="Helvetica Neue"/>
                <a:cs typeface="Helvetica Neue"/>
              </a:defRPr>
            </a:lvl1pPr>
            <a:lvl2pPr>
              <a:buNone/>
              <a:defRPr sz="1950" b="1">
                <a:solidFill>
                  <a:srgbClr val="BD9FE3"/>
                </a:solidFill>
                <a:latin typeface="Helvetica Neue"/>
                <a:ea typeface="Helvetica Neue"/>
                <a:cs typeface="Helvetica Neue"/>
              </a:defRPr>
            </a:lvl2pPr>
            <a:lvl3pPr>
              <a:buNone/>
              <a:defRPr sz="1950" b="1">
                <a:solidFill>
                  <a:srgbClr val="BD9FE3"/>
                </a:solidFill>
                <a:latin typeface="Helvetica Neue"/>
                <a:ea typeface="Helvetica Neue"/>
                <a:cs typeface="Helvetica Neue"/>
              </a:defRPr>
            </a:lvl3pPr>
            <a:lvl4pPr>
              <a:buNone/>
              <a:defRPr sz="1950" b="1">
                <a:solidFill>
                  <a:srgbClr val="BD9FE3"/>
                </a:solidFill>
                <a:latin typeface="Helvetica Neue"/>
                <a:ea typeface="Helvetica Neue"/>
                <a:cs typeface="Helvetica Neue"/>
              </a:defRPr>
            </a:lvl4pPr>
            <a:lvl5pPr>
              <a:buNone/>
              <a:defRPr sz="1950" b="1">
                <a:solidFill>
                  <a:srgbClr val="BD9FE3"/>
                </a:solidFill>
                <a:latin typeface="Helvetica Neue"/>
                <a:ea typeface="Helvetica Neue"/>
                <a:cs typeface="Helvetica Neue"/>
              </a:defRPr>
            </a:lvl5pPr>
            <a:lvl6pPr>
              <a:buNone/>
              <a:defRPr sz="1950" b="1">
                <a:solidFill>
                  <a:srgbClr val="BD9FE3"/>
                </a:solidFill>
                <a:latin typeface="Helvetica Neue"/>
                <a:ea typeface="Helvetica Neue"/>
                <a:cs typeface="Helvetica Neue"/>
              </a:defRPr>
            </a:lvl6pPr>
            <a:lvl7pPr>
              <a:buNone/>
              <a:defRPr sz="1950" b="1">
                <a:solidFill>
                  <a:srgbClr val="BD9FE3"/>
                </a:solidFill>
                <a:latin typeface="Helvetica Neue"/>
                <a:ea typeface="Helvetica Neue"/>
                <a:cs typeface="Helvetica Neue"/>
              </a:defRPr>
            </a:lvl7pPr>
            <a:lvl8pPr>
              <a:buNone/>
              <a:defRPr sz="1950" b="1">
                <a:solidFill>
                  <a:srgbClr val="BD9FE3"/>
                </a:solidFill>
                <a:latin typeface="Helvetica Neue"/>
                <a:ea typeface="Helvetica Neue"/>
                <a:cs typeface="Helvetica Neue"/>
              </a:defRPr>
            </a:lvl8pPr>
            <a:lvl9pPr>
              <a:buNone/>
              <a:defRPr sz="1950" b="1">
                <a:solidFill>
                  <a:srgbClr val="BD9FE3"/>
                </a:solidFill>
                <a:latin typeface="Helvetica Neue"/>
                <a:ea typeface="Helvetica Neue"/>
                <a:cs typeface="Helvetica Neue"/>
              </a:defRPr>
            </a:lvl9pPr>
          </a:lstStyle>
          <a:p xmlns:a="http://schemas.openxmlformats.org/drawingml/2006/main">
            <a:pPr>
              <a:buNone/>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Что показывает сравнение</a:t>
            </a:r>
          </a:p>
        </p:txBody>
      </p:sp>
      <p:sp>
        <p:nvSpPr>
          <p:cNvPr id="31" name="theory-7">
            <a:extLst xmlns:a="http://schemas.openxmlformats.org/drawingml/2006/main">
              <a:ext uri="{FF2B5EF4-FFF2-40B4-BE49-F238E27FC236}">
                <a16:creationId xmlns:a16="http://schemas.microsoft.com/office/drawing/2014/main" id="{DA059BF6-4168-4DCC-98A5-A21658CFD81F}"/>
              </a:ext>
            </a:extLst>
          </p:cNvPr>
          <p:cNvSpPr>
            <a:spLocks xmlns:a="http://schemas.openxmlformats.org/drawingml/2006/main" noGrp="1"/>
          </p:cNvSpPr>
          <p:nvPr/>
        </p:nvSpPr>
        <p:spPr>
          <a:xfrm xmlns:a="http://schemas.openxmlformats.org/drawingml/2006/main">
            <a:off x="685800" y="4695825"/>
            <a:ext cx="10820400" cy="1743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buNone/>
              <a:defRPr sz="2025" b="0">
                <a:solidFill>
                  <a:srgbClr val="CDCDD3"/>
                </a:solidFill>
                <a:latin typeface="Helvetica Neue"/>
                <a:ea typeface="Helvetica Neue"/>
                <a:cs typeface="Helvetica Neue"/>
              </a:defRPr>
            </a:lvl1pPr>
            <a:lvl2pPr>
              <a:buNone/>
              <a:defRPr sz="2025" b="0">
                <a:solidFill>
                  <a:srgbClr val="CDCDD3"/>
                </a:solidFill>
                <a:latin typeface="Helvetica Neue"/>
                <a:ea typeface="Helvetica Neue"/>
                <a:cs typeface="Helvetica Neue"/>
              </a:defRPr>
            </a:lvl2pPr>
            <a:lvl3pPr>
              <a:buNone/>
              <a:defRPr sz="2025" b="0">
                <a:solidFill>
                  <a:srgbClr val="CDCDD3"/>
                </a:solidFill>
                <a:latin typeface="Helvetica Neue"/>
                <a:ea typeface="Helvetica Neue"/>
                <a:cs typeface="Helvetica Neue"/>
              </a:defRPr>
            </a:lvl3pPr>
            <a:lvl4pPr>
              <a:buNone/>
              <a:defRPr sz="2025" b="0">
                <a:solidFill>
                  <a:srgbClr val="CDCDD3"/>
                </a:solidFill>
                <a:latin typeface="Helvetica Neue"/>
                <a:ea typeface="Helvetica Neue"/>
                <a:cs typeface="Helvetica Neue"/>
              </a:defRPr>
            </a:lvl4pPr>
            <a:lvl5pPr>
              <a:buNone/>
              <a:defRPr sz="2025" b="0">
                <a:solidFill>
                  <a:srgbClr val="CDCDD3"/>
                </a:solidFill>
                <a:latin typeface="Helvetica Neue"/>
                <a:ea typeface="Helvetica Neue"/>
                <a:cs typeface="Helvetica Neue"/>
              </a:defRPr>
            </a:lvl5pPr>
            <a:lvl6pPr>
              <a:buNone/>
              <a:defRPr sz="2025" b="0">
                <a:solidFill>
                  <a:srgbClr val="CDCDD3"/>
                </a:solidFill>
                <a:latin typeface="Helvetica Neue"/>
                <a:ea typeface="Helvetica Neue"/>
                <a:cs typeface="Helvetica Neue"/>
              </a:defRPr>
            </a:lvl6pPr>
            <a:lvl7pPr>
              <a:buNone/>
              <a:defRPr sz="2025" b="0">
                <a:solidFill>
                  <a:srgbClr val="CDCDD3"/>
                </a:solidFill>
                <a:latin typeface="Helvetica Neue"/>
                <a:ea typeface="Helvetica Neue"/>
                <a:cs typeface="Helvetica Neue"/>
              </a:defRPr>
            </a:lvl7pPr>
            <a:lvl8pPr>
              <a:buNone/>
              <a:defRPr sz="2025" b="0">
                <a:solidFill>
                  <a:srgbClr val="CDCDD3"/>
                </a:solidFill>
                <a:latin typeface="Helvetica Neue"/>
                <a:ea typeface="Helvetica Neue"/>
                <a:cs typeface="Helvetica Neue"/>
              </a:defRPr>
            </a:lvl8pPr>
            <a:lvl9pPr>
              <a:buNone/>
              <a:defRPr sz="2025" b="0">
                <a:solidFill>
                  <a:srgbClr val="CDCDD3"/>
                </a:solidFill>
                <a:latin typeface="Helvetica Neue"/>
                <a:ea typeface="Helvetica Neue"/>
                <a:cs typeface="Helvetica Neue"/>
              </a:defRPr>
            </a:lvl9pPr>
          </a:lstStyle>
          <a:p xmlns:a="http://schemas.openxmlformats.org/drawingml/2006/main">
            <a:pPr>
              <a:buNone/>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При стандартном убывании IDF с документной частотой более редкое слово «аккумулятор» получает больший коэффициент IDF. Это помогает отличить третий документ от остальных по лексике. Из примера нельзя заключить, что аккумулятор важнее доставки для пользователя. После нормировки сравнение отдельных чисел также зависит от остальных признаков каждого документа.</a:t>
            </a:r>
          </a:p>
        </p:txBody>
      </p:sp>
    </p:spTree>
    <p:extLst>
      <p:ext uri="{BB962C8B-B14F-4D97-AF65-F5344CB8AC3E}">
        <p14:creationId xmlns:p14="http://schemas.microsoft.com/office/powerpoint/2010/main" val="949824255"/>
      </p:ext>
    </p:extLst>
  </p:cSld>
</p:sld>
</file>

<file path=ppt/slides/slide5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8" name="exp90-0">
            <a:extLst xmlns:a="http://schemas.openxmlformats.org/drawingml/2006/main">
              <a:ext uri="{FF2B5EF4-FFF2-40B4-BE49-F238E27FC236}">
                <a16:creationId xmlns:a16="http://schemas.microsoft.com/office/drawing/2014/main" id="{D8EF42EB-4804-4489-A0D0-1A052F0B740E}"/>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90-1">
            <a:extLst xmlns:a="http://schemas.openxmlformats.org/drawingml/2006/main">
              <a:ext uri="{FF2B5EF4-FFF2-40B4-BE49-F238E27FC236}">
                <a16:creationId xmlns:a16="http://schemas.microsoft.com/office/drawing/2014/main" id="{C5144A96-5F0B-49C6-BE19-6E6537DA001D}"/>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55</a:t>
            </a:r>
          </a:p>
        </p:txBody>
      </p:sp>
      <p:sp>
        <p:nvSpPr>
          <p:cNvPr id="3" name="">
            <a:extLst xmlns:a="http://schemas.openxmlformats.org/drawingml/2006/main">
              <a:ext uri="{FF2B5EF4-FFF2-40B4-BE49-F238E27FC236}">
                <a16:creationId xmlns:a16="http://schemas.microsoft.com/office/drawing/2014/main" id="{3EE800AB-3D47-4117-B4DE-7F0C8151BD8C}"/>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0">
            <a:solidFill>
              <a:srgbClr val="28282B"/>
            </a:solidFill>
          </a:ln>
        </p:spPr>
      </p:sp>
      <p:sp>
        <p:nvSpPr>
          <p:cNvPr id="4" name="exp90-3">
            <a:extLst xmlns:a="http://schemas.openxmlformats.org/drawingml/2006/main">
              <a:ext uri="{FF2B5EF4-FFF2-40B4-BE49-F238E27FC236}">
                <a16:creationId xmlns:a16="http://schemas.microsoft.com/office/drawing/2014/main" id="{64A2A4CB-6FB8-49B6-92B0-D87080E48654}"/>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Document frequency и IDF</a:t>
            </a:r>
          </a:p>
        </p:txBody>
      </p:sp>
      <p:sp>
        <p:nvSpPr>
          <p:cNvPr id="5" name="exp90-4">
            <a:extLst xmlns:a="http://schemas.openxmlformats.org/drawingml/2006/main">
              <a:ext uri="{FF2B5EF4-FFF2-40B4-BE49-F238E27FC236}">
                <a16:creationId xmlns:a16="http://schemas.microsoft.com/office/drawing/2014/main" id="{B3B43D84-AD41-4894-B165-B10E272753FC}"/>
              </a:ext>
            </a:extLst>
          </p:cNvPr>
          <p:cNvSpPr>
            <a:spLocks xmlns:a="http://schemas.openxmlformats.org/drawingml/2006/main" noGrp="1"/>
          </p:cNvSpPr>
          <p:nvPr/>
        </p:nvSpPr>
        <p:spPr>
          <a:xfrm xmlns:a="http://schemas.openxmlformats.org/drawingml/2006/main">
            <a:off x="685800" y="20097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88" b="0">
                <a:solidFill>
                  <a:srgbClr val="F5F5F7"/>
                </a:solidFill>
                <a:latin typeface="Helvetica Neue"/>
                <a:ea typeface="Helvetica Neue"/>
                <a:cs typeface="Helvetica Neue"/>
              </a:defRPr>
            </a:defPPr>
            <a:lvl1pPr>
              <a:buNone/>
              <a:defRPr sz="1988" b="0">
                <a:solidFill>
                  <a:srgbClr val="F5F5F7"/>
                </a:solidFill>
                <a:latin typeface="Helvetica Neue"/>
                <a:ea typeface="Helvetica Neue"/>
                <a:cs typeface="Helvetica Neue"/>
              </a:defRPr>
            </a:lvl1pPr>
            <a:lvl2pPr>
              <a:buNone/>
              <a:defRPr sz="1988" b="0">
                <a:solidFill>
                  <a:srgbClr val="F5F5F7"/>
                </a:solidFill>
                <a:latin typeface="Helvetica Neue"/>
                <a:ea typeface="Helvetica Neue"/>
                <a:cs typeface="Helvetica Neue"/>
              </a:defRPr>
            </a:lvl2pPr>
            <a:lvl3pPr>
              <a:buNone/>
              <a:defRPr sz="1988" b="0">
                <a:solidFill>
                  <a:srgbClr val="F5F5F7"/>
                </a:solidFill>
                <a:latin typeface="Helvetica Neue"/>
                <a:ea typeface="Helvetica Neue"/>
                <a:cs typeface="Helvetica Neue"/>
              </a:defRPr>
            </a:lvl3pPr>
            <a:lvl4pPr>
              <a:buNone/>
              <a:defRPr sz="1988" b="0">
                <a:solidFill>
                  <a:srgbClr val="F5F5F7"/>
                </a:solidFill>
                <a:latin typeface="Helvetica Neue"/>
                <a:ea typeface="Helvetica Neue"/>
                <a:cs typeface="Helvetica Neue"/>
              </a:defRPr>
            </a:lvl4pPr>
            <a:lvl5pPr>
              <a:buNone/>
              <a:defRPr sz="1988" b="0">
                <a:solidFill>
                  <a:srgbClr val="F5F5F7"/>
                </a:solidFill>
                <a:latin typeface="Helvetica Neue"/>
                <a:ea typeface="Helvetica Neue"/>
                <a:cs typeface="Helvetica Neue"/>
              </a:defRPr>
            </a:lvl5pPr>
            <a:lvl6pPr>
              <a:buNone/>
              <a:defRPr sz="1988" b="0">
                <a:solidFill>
                  <a:srgbClr val="F5F5F7"/>
                </a:solidFill>
                <a:latin typeface="Helvetica Neue"/>
                <a:ea typeface="Helvetica Neue"/>
                <a:cs typeface="Helvetica Neue"/>
              </a:defRPr>
            </a:lvl6pPr>
            <a:lvl7pPr>
              <a:buNone/>
              <a:defRPr sz="1988" b="0">
                <a:solidFill>
                  <a:srgbClr val="F5F5F7"/>
                </a:solidFill>
                <a:latin typeface="Helvetica Neue"/>
                <a:ea typeface="Helvetica Neue"/>
                <a:cs typeface="Helvetica Neue"/>
              </a:defRPr>
            </a:lvl7pPr>
            <a:lvl8pPr>
              <a:buNone/>
              <a:defRPr sz="1988" b="0">
                <a:solidFill>
                  <a:srgbClr val="F5F5F7"/>
                </a:solidFill>
                <a:latin typeface="Helvetica Neue"/>
                <a:ea typeface="Helvetica Neue"/>
                <a:cs typeface="Helvetica Neue"/>
              </a:defRPr>
            </a:lvl8pPr>
            <a:lvl9pPr>
              <a:buNone/>
              <a:defRPr sz="1988" b="0">
                <a:solidFill>
                  <a:srgbClr val="F5F5F7"/>
                </a:solidFill>
                <a:latin typeface="Helvetica Neue"/>
                <a:ea typeface="Helvetica Neue"/>
                <a:cs typeface="Helvetica Neue"/>
              </a:defRPr>
            </a:lvl9pPr>
          </a:lstStyle>
          <a:p xmlns:a="http://schemas.openxmlformats.org/drawingml/2006/main">
            <a:pPr>
              <a:buNone/>
              <a:defRPr sz="1988" b="0">
                <a:solidFill>
                  <a:srgbClr val="F5F5F7"/>
                </a:solidFill>
                <a:latin typeface="Helvetica Neue"/>
                <a:ea typeface="Helvetica Neue"/>
                <a:cs typeface="Helvetica Neue"/>
              </a:defRPr>
            </a:pPr>
            <a:r>
              <a:rPr sz="1988" b="0">
                <a:solidFill>
                  <a:srgbClr val="F5F5F7"/>
                </a:solidFill>
                <a:latin typeface="Helvetica Neue"/>
                <a:ea typeface="Helvetica Neue"/>
                <a:cs typeface="Helvetica Neue"/>
              </a:rPr>
              <a:t>Условный корпус: «товар хороший», «товар плохой», «доставка быстрая». В нём три документа. Ниже показаны четыре выбранных термина.</a:t>
            </a:r>
          </a:p>
        </p:txBody>
      </p:sp>
      <p:graphicFrame>
        <p:nvGraphicFramePr>
          <p:cNvPr id="6" name="">
            <a:extLst xmlns:a="http://schemas.openxmlformats.org/drawingml/2006/main">
              <a:ext uri="{FF2B5EF4-FFF2-40B4-BE49-F238E27FC236}">
                <a16:creationId xmlns:a16="http://schemas.microsoft.com/office/drawing/2014/main" id="{D2983068-7823-4CFA-9B91-0901B9BAE7DB}"/>
              </a:ext>
            </a:extLst>
          </p:cNvPr>
          <p:cNvGraphicFramePr/>
          <p:nvPr/>
        </p:nvGraphicFramePr>
        <p:xfrm>
          <a:off xmlns:a="http://schemas.openxmlformats.org/drawingml/2006/main" x="685800" y="2876550"/>
          <a:ext xmlns:a="http://schemas.openxmlformats.org/drawingml/2006/main" cx="10820400" cy="3143250"/>
        </p:xfrm>
        <a:graphic xmlns:a="http://schemas.openxmlformats.org/drawingml/2006/main">
          <a:graphicData uri="http://schemas.openxmlformats.org/drawingml/2006/table">
            <a:tbl>
              <a:tblPr/>
              <a:tblGrid>
                <a:gridCol w="4286250"/>
                <a:gridCol w="3429000"/>
                <a:gridCol w="3105150"/>
              </a:tblGrid>
              <a:tr h="628650">
                <a:tc>
                  <a:txBody>
                    <a:bodyPr lIns="133350" tIns="76200" rIns="133350" bIns="76200"/>
                    <a:lstStyle/>
                    <a:p>
                      <a:r>
                        <a:rPr sz="1800" b="1">
                          <a:solidFill>
                            <a:srgbClr val="98989F"/>
                          </a:solidFill>
                          <a:latin typeface="Helvetica Neue"/>
                          <a:ea typeface="Helvetica Neue"/>
                          <a:cs typeface="Helvetica Neue"/>
                        </a:rPr>
                        <a:t>Термин</a:t>
                      </a:r>
                    </a:p>
                  </a:txBody>
                  <a:tcPr marL="91440" marR="91440" marT="45720" marB="45720" anchor="ctr">
                    <a:lnL w="9525">
                      <a:solidFill>
                        <a:srgbClr val="28282B"/>
                      </a:solidFill>
                      <a:prstDash val="solid"/>
                    </a:lnL>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c>
                  <a:txBody>
                    <a:bodyPr lIns="133350" tIns="76200" rIns="133350" bIns="76200"/>
                    <a:lstStyle/>
                    <a:p>
                      <a:r>
                        <a:rPr sz="1800" b="1">
                          <a:solidFill>
                            <a:srgbClr val="98989F"/>
                          </a:solidFill>
                          <a:latin typeface="Helvetica Neue"/>
                          <a:ea typeface="Helvetica Neue"/>
                          <a:cs typeface="Helvetica Neue"/>
                        </a:rPr>
                        <a:t>Документов с термином</a:t>
                      </a:r>
                    </a:p>
                  </a:txBody>
                  <a:tcPr marL="91440" marR="91440" marT="45720" marB="45720" anchor="ctr">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c>
                  <a:txBody>
                    <a:bodyPr lIns="133350" tIns="76200" rIns="133350" bIns="76200"/>
                    <a:lstStyle/>
                    <a:p>
                      <a:r>
                        <a:rPr sz="1800" b="1">
                          <a:solidFill>
                            <a:srgbClr val="98989F"/>
                          </a:solidFill>
                          <a:latin typeface="Helvetica Neue"/>
                          <a:ea typeface="Helvetica Neue"/>
                          <a:cs typeface="Helvetica Neue"/>
                        </a:rPr>
                        <a:t>Сглаженный IDF</a:t>
                      </a:r>
                    </a:p>
                  </a:txBody>
                  <a:tcPr marL="91440" marR="91440" marT="45720" marB="45720" anchor="ctr">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r>
              <a:tr h="628650">
                <a:tc>
                  <a:txBody>
                    <a:bodyPr lIns="133350" tIns="76200" rIns="133350" bIns="76200"/>
                    <a:lstStyle/>
                    <a:p>
                      <a:r>
                        <a:rPr sz="1800" b="0">
                          <a:solidFill>
                            <a:srgbClr val="F5F5F7"/>
                          </a:solidFill>
                          <a:latin typeface="Helvetica Neue"/>
                          <a:ea typeface="Helvetica Neue"/>
                          <a:cs typeface="Helvetica Neue"/>
                        </a:rPr>
                        <a:t>товар</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800" b="0">
                          <a:solidFill>
                            <a:srgbClr val="F5F5F7"/>
                          </a:solidFill>
                          <a:latin typeface="Helvetica Neue"/>
                          <a:ea typeface="Helvetica Neue"/>
                          <a:cs typeface="Helvetica Neue"/>
                        </a:rPr>
                        <a:t>2</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800" b="0">
                          <a:solidFill>
                            <a:srgbClr val="F5F5F7"/>
                          </a:solidFill>
                          <a:latin typeface="Helvetica Neue"/>
                          <a:ea typeface="Helvetica Neue"/>
                          <a:cs typeface="Helvetica Neue"/>
                        </a:rPr>
                        <a:t>1,288</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r h="628650">
                <a:tc>
                  <a:txBody>
                    <a:bodyPr lIns="133350" tIns="76200" rIns="133350" bIns="76200"/>
                    <a:lstStyle/>
                    <a:p>
                      <a:r>
                        <a:rPr sz="1800" b="0">
                          <a:solidFill>
                            <a:srgbClr val="F5F5F7"/>
                          </a:solidFill>
                          <a:latin typeface="Helvetica Neue"/>
                          <a:ea typeface="Helvetica Neue"/>
                          <a:cs typeface="Helvetica Neue"/>
                        </a:rPr>
                        <a:t>хороший</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800" b="0">
                          <a:solidFill>
                            <a:srgbClr val="F5F5F7"/>
                          </a:solidFill>
                          <a:latin typeface="Helvetica Neue"/>
                          <a:ea typeface="Helvetica Neue"/>
                          <a:cs typeface="Helvetica Neue"/>
                        </a:rPr>
                        <a:t>1</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800" b="0">
                          <a:solidFill>
                            <a:srgbClr val="F5F5F7"/>
                          </a:solidFill>
                          <a:latin typeface="Helvetica Neue"/>
                          <a:ea typeface="Helvetica Neue"/>
                          <a:cs typeface="Helvetica Neue"/>
                        </a:rPr>
                        <a:t>1,693</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r h="628650">
                <a:tc>
                  <a:txBody>
                    <a:bodyPr lIns="133350" tIns="76200" rIns="133350" bIns="76200"/>
                    <a:lstStyle/>
                    <a:p>
                      <a:r>
                        <a:rPr sz="1800" b="0">
                          <a:solidFill>
                            <a:srgbClr val="F5F5F7"/>
                          </a:solidFill>
                          <a:latin typeface="Helvetica Neue"/>
                          <a:ea typeface="Helvetica Neue"/>
                          <a:cs typeface="Helvetica Neue"/>
                        </a:rPr>
                        <a:t>плохой</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800" b="0">
                          <a:solidFill>
                            <a:srgbClr val="F5F5F7"/>
                          </a:solidFill>
                          <a:latin typeface="Helvetica Neue"/>
                          <a:ea typeface="Helvetica Neue"/>
                          <a:cs typeface="Helvetica Neue"/>
                        </a:rPr>
                        <a:t>1</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800" b="0">
                          <a:solidFill>
                            <a:srgbClr val="F5F5F7"/>
                          </a:solidFill>
                          <a:latin typeface="Helvetica Neue"/>
                          <a:ea typeface="Helvetica Neue"/>
                          <a:cs typeface="Helvetica Neue"/>
                        </a:rPr>
                        <a:t>1,693</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r h="628650">
                <a:tc>
                  <a:txBody>
                    <a:bodyPr lIns="133350" tIns="76200" rIns="133350" bIns="76200"/>
                    <a:lstStyle/>
                    <a:p>
                      <a:r>
                        <a:rPr sz="1800" b="0">
                          <a:solidFill>
                            <a:srgbClr val="F5F5F7"/>
                          </a:solidFill>
                          <a:latin typeface="Helvetica Neue"/>
                          <a:ea typeface="Helvetica Neue"/>
                          <a:cs typeface="Helvetica Neue"/>
                        </a:rPr>
                        <a:t>доставка</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800" b="0">
                          <a:solidFill>
                            <a:srgbClr val="F5F5F7"/>
                          </a:solidFill>
                          <a:latin typeface="Helvetica Neue"/>
                          <a:ea typeface="Helvetica Neue"/>
                          <a:cs typeface="Helvetica Neue"/>
                        </a:rPr>
                        <a:t>1</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800" b="0">
                          <a:solidFill>
                            <a:srgbClr val="F5F5F7"/>
                          </a:solidFill>
                          <a:latin typeface="Helvetica Neue"/>
                          <a:ea typeface="Helvetica Neue"/>
                          <a:cs typeface="Helvetica Neue"/>
                        </a:rPr>
                        <a:t>1,693</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bl>
          </a:graphicData>
        </a:graphic>
      </p:graphicFrame>
      <p:sp>
        <p:nvSpPr>
          <p:cNvPr id="7" name="exp90-5">
            <a:extLst xmlns:a="http://schemas.openxmlformats.org/drawingml/2006/main">
              <a:ext uri="{FF2B5EF4-FFF2-40B4-BE49-F238E27FC236}">
                <a16:creationId xmlns:a16="http://schemas.microsoft.com/office/drawing/2014/main" id="{17C47C18-4EBD-4A89-9B1C-8BF5FDC8136F}"/>
              </a:ext>
            </a:extLst>
          </p:cNvPr>
          <p:cNvSpPr>
            <a:spLocks xmlns:a="http://schemas.openxmlformats.org/drawingml/2006/main" noGrp="1"/>
          </p:cNvSpPr>
          <p:nvPr/>
        </p:nvSpPr>
        <p:spPr>
          <a:xfrm xmlns:a="http://schemas.openxmlformats.org/drawingml/2006/main">
            <a:off x="685800" y="618172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CDCDD3"/>
                </a:solidFill>
                <a:latin typeface="Helvetica Neue"/>
                <a:ea typeface="Helvetica Neue"/>
                <a:cs typeface="Helvetica Neue"/>
              </a:defRPr>
            </a:defPPr>
            <a:lvl1pPr>
              <a:buNone/>
              <a:defRPr sz="1650" b="0">
                <a:solidFill>
                  <a:srgbClr val="CDCDD3"/>
                </a:solidFill>
                <a:latin typeface="Helvetica Neue"/>
                <a:ea typeface="Helvetica Neue"/>
                <a:cs typeface="Helvetica Neue"/>
              </a:defRPr>
            </a:lvl1pPr>
            <a:lvl2pPr>
              <a:buNone/>
              <a:defRPr sz="1650" b="0">
                <a:solidFill>
                  <a:srgbClr val="CDCDD3"/>
                </a:solidFill>
                <a:latin typeface="Helvetica Neue"/>
                <a:ea typeface="Helvetica Neue"/>
                <a:cs typeface="Helvetica Neue"/>
              </a:defRPr>
            </a:lvl2pPr>
            <a:lvl3pPr>
              <a:buNone/>
              <a:defRPr sz="1650" b="0">
                <a:solidFill>
                  <a:srgbClr val="CDCDD3"/>
                </a:solidFill>
                <a:latin typeface="Helvetica Neue"/>
                <a:ea typeface="Helvetica Neue"/>
                <a:cs typeface="Helvetica Neue"/>
              </a:defRPr>
            </a:lvl3pPr>
            <a:lvl4pPr>
              <a:buNone/>
              <a:defRPr sz="1650" b="0">
                <a:solidFill>
                  <a:srgbClr val="CDCDD3"/>
                </a:solidFill>
                <a:latin typeface="Helvetica Neue"/>
                <a:ea typeface="Helvetica Neue"/>
                <a:cs typeface="Helvetica Neue"/>
              </a:defRPr>
            </a:lvl4pPr>
            <a:lvl5pPr>
              <a:buNone/>
              <a:defRPr sz="1650" b="0">
                <a:solidFill>
                  <a:srgbClr val="CDCDD3"/>
                </a:solidFill>
                <a:latin typeface="Helvetica Neue"/>
                <a:ea typeface="Helvetica Neue"/>
                <a:cs typeface="Helvetica Neue"/>
              </a:defRPr>
            </a:lvl5pPr>
            <a:lvl6pPr>
              <a:buNone/>
              <a:defRPr sz="1650" b="0">
                <a:solidFill>
                  <a:srgbClr val="CDCDD3"/>
                </a:solidFill>
                <a:latin typeface="Helvetica Neue"/>
                <a:ea typeface="Helvetica Neue"/>
                <a:cs typeface="Helvetica Neue"/>
              </a:defRPr>
            </a:lvl6pPr>
            <a:lvl7pPr>
              <a:buNone/>
              <a:defRPr sz="1650" b="0">
                <a:solidFill>
                  <a:srgbClr val="CDCDD3"/>
                </a:solidFill>
                <a:latin typeface="Helvetica Neue"/>
                <a:ea typeface="Helvetica Neue"/>
                <a:cs typeface="Helvetica Neue"/>
              </a:defRPr>
            </a:lvl7pPr>
            <a:lvl8pPr>
              <a:buNone/>
              <a:defRPr sz="1650" b="0">
                <a:solidFill>
                  <a:srgbClr val="CDCDD3"/>
                </a:solidFill>
                <a:latin typeface="Helvetica Neue"/>
                <a:ea typeface="Helvetica Neue"/>
                <a:cs typeface="Helvetica Neue"/>
              </a:defRPr>
            </a:lvl8pPr>
            <a:lvl9pPr>
              <a:buNone/>
              <a:defRPr sz="1650" b="0">
                <a:solidFill>
                  <a:srgbClr val="CDCDD3"/>
                </a:solidFill>
                <a:latin typeface="Helvetica Neue"/>
                <a:ea typeface="Helvetica Neue"/>
                <a:cs typeface="Helvetica Neue"/>
              </a:defRPr>
            </a:lvl9pPr>
          </a:lstStyle>
          <a:p xmlns:a="http://schemas.openxmlformats.org/drawingml/2006/main">
            <a:pPr>
              <a:buNone/>
              <a:defRPr sz="1650" b="0">
                <a:solidFill>
                  <a:srgbClr val="CDCDD3"/>
                </a:solidFill>
                <a:latin typeface="Helvetica Neue"/>
                <a:ea typeface="Helvetica Neue"/>
                <a:cs typeface="Helvetica Neue"/>
              </a:defRPr>
            </a:pPr>
            <a:r>
              <a:rPr sz="1650" b="0">
                <a:solidFill>
                  <a:srgbClr val="CDCDD3"/>
                </a:solidFill>
                <a:latin typeface="Helvetica Neue"/>
                <a:ea typeface="Helvetica Neue"/>
                <a:cs typeface="Helvetica Neue"/>
              </a:rPr>
              <a:t>Расчёт: IDF = 1 + ln((1 + N) / (1 + df)). Это коэффициент IDF до умножения на TF и нормировки вектора. Значения округлены до трёх знаков.</a:t>
            </a:r>
          </a:p>
        </p:txBody>
      </p:sp>
    </p:spTree>
    <p:extLst>
      <p:ext uri="{BB962C8B-B14F-4D97-AF65-F5344CB8AC3E}">
        <p14:creationId xmlns:p14="http://schemas.microsoft.com/office/powerpoint/2010/main" val="1133215608"/>
      </p:ext>
    </p:extLst>
  </p:cSld>
</p:sld>
</file>

<file path=ppt/slides/slide5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1" name="expanded-0">
            <a:extLst xmlns:a="http://schemas.openxmlformats.org/drawingml/2006/main">
              <a:ext uri="{FF2B5EF4-FFF2-40B4-BE49-F238E27FC236}">
                <a16:creationId xmlns:a16="http://schemas.microsoft.com/office/drawing/2014/main" id="{CE42CABC-BEE9-4B7C-9A27-2911BDA11047}"/>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anded-1">
            <a:extLst xmlns:a="http://schemas.openxmlformats.org/drawingml/2006/main">
              <a:ext uri="{FF2B5EF4-FFF2-40B4-BE49-F238E27FC236}">
                <a16:creationId xmlns:a16="http://schemas.microsoft.com/office/drawing/2014/main" id="{99C43F06-DEBD-4D96-8E10-0017CCBC54CC}"/>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56</a:t>
            </a:r>
          </a:p>
        </p:txBody>
      </p:sp>
      <p:sp>
        <p:nvSpPr>
          <p:cNvPr id="3" name="">
            <a:extLst xmlns:a="http://schemas.openxmlformats.org/drawingml/2006/main">
              <a:ext uri="{FF2B5EF4-FFF2-40B4-BE49-F238E27FC236}">
                <a16:creationId xmlns:a16="http://schemas.microsoft.com/office/drawing/2014/main" id="{FC7050A8-9E72-42E8-BAC7-2515700F7119}"/>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ln>
        </p:spPr>
      </p:sp>
      <p:sp>
        <p:nvSpPr>
          <p:cNvPr id="4" name="expanded-3">
            <a:extLst xmlns:a="http://schemas.openxmlformats.org/drawingml/2006/main">
              <a:ext uri="{FF2B5EF4-FFF2-40B4-BE49-F238E27FC236}">
                <a16:creationId xmlns:a16="http://schemas.microsoft.com/office/drawing/2014/main" id="{5D47CD1D-4939-4F8A-9543-12FD70D12849}"/>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Fit и transform</a:t>
            </a:r>
          </a:p>
        </p:txBody>
      </p:sp>
      <p:sp>
        <p:nvSpPr>
          <p:cNvPr id="12" name="theory-4">
            <a:extLst xmlns:a="http://schemas.openxmlformats.org/drawingml/2006/main">
              <a:ext uri="{FF2B5EF4-FFF2-40B4-BE49-F238E27FC236}">
                <a16:creationId xmlns:a16="http://schemas.microsoft.com/office/drawing/2014/main" id="{B8D09F05-C600-4640-A71C-2ED913FCB0CA}"/>
              </a:ext>
            </a:extLst>
          </p:cNvPr>
          <p:cNvSpPr>
            <a:spLocks xmlns:a="http://schemas.openxmlformats.org/drawingml/2006/main" noGrp="1"/>
          </p:cNvSpPr>
          <p:nvPr/>
        </p:nvSpPr>
        <p:spPr>
          <a:xfrm xmlns:a="http://schemas.openxmlformats.org/drawingml/2006/main">
            <a:off x="685800" y="20478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buNone/>
              <a:defRPr sz="1950" b="1">
                <a:solidFill>
                  <a:srgbClr val="BD9FE3"/>
                </a:solidFill>
                <a:latin typeface="Helvetica Neue"/>
                <a:ea typeface="Helvetica Neue"/>
                <a:cs typeface="Helvetica Neue"/>
              </a:defRPr>
            </a:lvl1pPr>
            <a:lvl2pPr>
              <a:buNone/>
              <a:defRPr sz="1950" b="1">
                <a:solidFill>
                  <a:srgbClr val="BD9FE3"/>
                </a:solidFill>
                <a:latin typeface="Helvetica Neue"/>
                <a:ea typeface="Helvetica Neue"/>
                <a:cs typeface="Helvetica Neue"/>
              </a:defRPr>
            </a:lvl2pPr>
            <a:lvl3pPr>
              <a:buNone/>
              <a:defRPr sz="1950" b="1">
                <a:solidFill>
                  <a:srgbClr val="BD9FE3"/>
                </a:solidFill>
                <a:latin typeface="Helvetica Neue"/>
                <a:ea typeface="Helvetica Neue"/>
                <a:cs typeface="Helvetica Neue"/>
              </a:defRPr>
            </a:lvl3pPr>
            <a:lvl4pPr>
              <a:buNone/>
              <a:defRPr sz="1950" b="1">
                <a:solidFill>
                  <a:srgbClr val="BD9FE3"/>
                </a:solidFill>
                <a:latin typeface="Helvetica Neue"/>
                <a:ea typeface="Helvetica Neue"/>
                <a:cs typeface="Helvetica Neue"/>
              </a:defRPr>
            </a:lvl4pPr>
            <a:lvl5pPr>
              <a:buNone/>
              <a:defRPr sz="1950" b="1">
                <a:solidFill>
                  <a:srgbClr val="BD9FE3"/>
                </a:solidFill>
                <a:latin typeface="Helvetica Neue"/>
                <a:ea typeface="Helvetica Neue"/>
                <a:cs typeface="Helvetica Neue"/>
              </a:defRPr>
            </a:lvl5pPr>
            <a:lvl6pPr>
              <a:buNone/>
              <a:defRPr sz="1950" b="1">
                <a:solidFill>
                  <a:srgbClr val="BD9FE3"/>
                </a:solidFill>
                <a:latin typeface="Helvetica Neue"/>
                <a:ea typeface="Helvetica Neue"/>
                <a:cs typeface="Helvetica Neue"/>
              </a:defRPr>
            </a:lvl6pPr>
            <a:lvl7pPr>
              <a:buNone/>
              <a:defRPr sz="1950" b="1">
                <a:solidFill>
                  <a:srgbClr val="BD9FE3"/>
                </a:solidFill>
                <a:latin typeface="Helvetica Neue"/>
                <a:ea typeface="Helvetica Neue"/>
                <a:cs typeface="Helvetica Neue"/>
              </a:defRPr>
            </a:lvl7pPr>
            <a:lvl8pPr>
              <a:buNone/>
              <a:defRPr sz="1950" b="1">
                <a:solidFill>
                  <a:srgbClr val="BD9FE3"/>
                </a:solidFill>
                <a:latin typeface="Helvetica Neue"/>
                <a:ea typeface="Helvetica Neue"/>
                <a:cs typeface="Helvetica Neue"/>
              </a:defRPr>
            </a:lvl8pPr>
            <a:lvl9pPr>
              <a:buNone/>
              <a:defRPr sz="1950" b="1">
                <a:solidFill>
                  <a:srgbClr val="BD9FE3"/>
                </a:solidFill>
                <a:latin typeface="Helvetica Neue"/>
                <a:ea typeface="Helvetica Neue"/>
                <a:cs typeface="Helvetica Neue"/>
              </a:defRPr>
            </a:lvl9pPr>
          </a:lstStyle>
          <a:p xmlns:a="http://schemas.openxmlformats.org/drawingml/2006/main">
            <a:pPr>
              <a:buNone/>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Оценка статистики по корпусу</a:t>
            </a:r>
          </a:p>
        </p:txBody>
      </p:sp>
      <p:sp>
        <p:nvSpPr>
          <p:cNvPr id="13" name="theory-5">
            <a:extLst xmlns:a="http://schemas.openxmlformats.org/drawingml/2006/main">
              <a:ext uri="{FF2B5EF4-FFF2-40B4-BE49-F238E27FC236}">
                <a16:creationId xmlns:a16="http://schemas.microsoft.com/office/drawing/2014/main" id="{41A07BDF-4044-44B6-8DB4-7BA981ED6B03}"/>
              </a:ext>
            </a:extLst>
          </p:cNvPr>
          <p:cNvSpPr>
            <a:spLocks xmlns:a="http://schemas.openxmlformats.org/drawingml/2006/main" noGrp="1"/>
          </p:cNvSpPr>
          <p:nvPr/>
        </p:nvSpPr>
        <p:spPr>
          <a:xfrm xmlns:a="http://schemas.openxmlformats.org/drawingml/2006/main">
            <a:off x="685800" y="2514600"/>
            <a:ext cx="108204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buNone/>
              <a:defRPr sz="2025" b="0">
                <a:solidFill>
                  <a:srgbClr val="CDCDD3"/>
                </a:solidFill>
                <a:latin typeface="Helvetica Neue"/>
                <a:ea typeface="Helvetica Neue"/>
                <a:cs typeface="Helvetica Neue"/>
              </a:defRPr>
            </a:lvl1pPr>
            <a:lvl2pPr>
              <a:buNone/>
              <a:defRPr sz="2025" b="0">
                <a:solidFill>
                  <a:srgbClr val="CDCDD3"/>
                </a:solidFill>
                <a:latin typeface="Helvetica Neue"/>
                <a:ea typeface="Helvetica Neue"/>
                <a:cs typeface="Helvetica Neue"/>
              </a:defRPr>
            </a:lvl2pPr>
            <a:lvl3pPr>
              <a:buNone/>
              <a:defRPr sz="2025" b="0">
                <a:solidFill>
                  <a:srgbClr val="CDCDD3"/>
                </a:solidFill>
                <a:latin typeface="Helvetica Neue"/>
                <a:ea typeface="Helvetica Neue"/>
                <a:cs typeface="Helvetica Neue"/>
              </a:defRPr>
            </a:lvl3pPr>
            <a:lvl4pPr>
              <a:buNone/>
              <a:defRPr sz="2025" b="0">
                <a:solidFill>
                  <a:srgbClr val="CDCDD3"/>
                </a:solidFill>
                <a:latin typeface="Helvetica Neue"/>
                <a:ea typeface="Helvetica Neue"/>
                <a:cs typeface="Helvetica Neue"/>
              </a:defRPr>
            </a:lvl4pPr>
            <a:lvl5pPr>
              <a:buNone/>
              <a:defRPr sz="2025" b="0">
                <a:solidFill>
                  <a:srgbClr val="CDCDD3"/>
                </a:solidFill>
                <a:latin typeface="Helvetica Neue"/>
                <a:ea typeface="Helvetica Neue"/>
                <a:cs typeface="Helvetica Neue"/>
              </a:defRPr>
            </a:lvl5pPr>
            <a:lvl6pPr>
              <a:buNone/>
              <a:defRPr sz="2025" b="0">
                <a:solidFill>
                  <a:srgbClr val="CDCDD3"/>
                </a:solidFill>
                <a:latin typeface="Helvetica Neue"/>
                <a:ea typeface="Helvetica Neue"/>
                <a:cs typeface="Helvetica Neue"/>
              </a:defRPr>
            </a:lvl6pPr>
            <a:lvl7pPr>
              <a:buNone/>
              <a:defRPr sz="2025" b="0">
                <a:solidFill>
                  <a:srgbClr val="CDCDD3"/>
                </a:solidFill>
                <a:latin typeface="Helvetica Neue"/>
                <a:ea typeface="Helvetica Neue"/>
                <a:cs typeface="Helvetica Neue"/>
              </a:defRPr>
            </a:lvl7pPr>
            <a:lvl8pPr>
              <a:buNone/>
              <a:defRPr sz="2025" b="0">
                <a:solidFill>
                  <a:srgbClr val="CDCDD3"/>
                </a:solidFill>
                <a:latin typeface="Helvetica Neue"/>
                <a:ea typeface="Helvetica Neue"/>
                <a:cs typeface="Helvetica Neue"/>
              </a:defRPr>
            </a:lvl8pPr>
            <a:lvl9pPr>
              <a:buNone/>
              <a:defRPr sz="2025" b="0">
                <a:solidFill>
                  <a:srgbClr val="CDCDD3"/>
                </a:solidFill>
                <a:latin typeface="Helvetica Neue"/>
                <a:ea typeface="Helvetica Neue"/>
                <a:cs typeface="Helvetica Neue"/>
              </a:defRPr>
            </a:lvl9pPr>
          </a:lstStyle>
          <a:p xmlns:a="http://schemas.openxmlformats.org/drawingml/2006/main">
            <a:pPr>
              <a:buNone/>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При обучении векторизатора определяются словарь и необходимые статистики, например документные частоты. Для классификатора обучение означает подбор параметров связи между признаками и метками. Эти операции используют тренировочные данные. Их результат необходимо сохранить, чтобы новые документы попадали в то же пространство признаков и оценивались согласованно.</a:t>
            </a:r>
          </a:p>
        </p:txBody>
      </p:sp>
      <p:sp>
        <p:nvSpPr>
          <p:cNvPr id="14" name="theory-6">
            <a:extLst xmlns:a="http://schemas.openxmlformats.org/drawingml/2006/main">
              <a:ext uri="{FF2B5EF4-FFF2-40B4-BE49-F238E27FC236}">
                <a16:creationId xmlns:a16="http://schemas.microsoft.com/office/drawing/2014/main" id="{B0733DBE-2F5F-46C3-86CC-2673145FC486}"/>
              </a:ext>
            </a:extLst>
          </p:cNvPr>
          <p:cNvSpPr>
            <a:spLocks xmlns:a="http://schemas.openxmlformats.org/drawingml/2006/main" noGrp="1"/>
          </p:cNvSpPr>
          <p:nvPr/>
        </p:nvSpPr>
        <p:spPr>
          <a:xfrm xmlns:a="http://schemas.openxmlformats.org/drawingml/2006/main">
            <a:off x="685800" y="4229100"/>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buNone/>
              <a:defRPr sz="1950" b="1">
                <a:solidFill>
                  <a:srgbClr val="BD9FE3"/>
                </a:solidFill>
                <a:latin typeface="Helvetica Neue"/>
                <a:ea typeface="Helvetica Neue"/>
                <a:cs typeface="Helvetica Neue"/>
              </a:defRPr>
            </a:lvl1pPr>
            <a:lvl2pPr>
              <a:buNone/>
              <a:defRPr sz="1950" b="1">
                <a:solidFill>
                  <a:srgbClr val="BD9FE3"/>
                </a:solidFill>
                <a:latin typeface="Helvetica Neue"/>
                <a:ea typeface="Helvetica Neue"/>
                <a:cs typeface="Helvetica Neue"/>
              </a:defRPr>
            </a:lvl2pPr>
            <a:lvl3pPr>
              <a:buNone/>
              <a:defRPr sz="1950" b="1">
                <a:solidFill>
                  <a:srgbClr val="BD9FE3"/>
                </a:solidFill>
                <a:latin typeface="Helvetica Neue"/>
                <a:ea typeface="Helvetica Neue"/>
                <a:cs typeface="Helvetica Neue"/>
              </a:defRPr>
            </a:lvl3pPr>
            <a:lvl4pPr>
              <a:buNone/>
              <a:defRPr sz="1950" b="1">
                <a:solidFill>
                  <a:srgbClr val="BD9FE3"/>
                </a:solidFill>
                <a:latin typeface="Helvetica Neue"/>
                <a:ea typeface="Helvetica Neue"/>
                <a:cs typeface="Helvetica Neue"/>
              </a:defRPr>
            </a:lvl4pPr>
            <a:lvl5pPr>
              <a:buNone/>
              <a:defRPr sz="1950" b="1">
                <a:solidFill>
                  <a:srgbClr val="BD9FE3"/>
                </a:solidFill>
                <a:latin typeface="Helvetica Neue"/>
                <a:ea typeface="Helvetica Neue"/>
                <a:cs typeface="Helvetica Neue"/>
              </a:defRPr>
            </a:lvl5pPr>
            <a:lvl6pPr>
              <a:buNone/>
              <a:defRPr sz="1950" b="1">
                <a:solidFill>
                  <a:srgbClr val="BD9FE3"/>
                </a:solidFill>
                <a:latin typeface="Helvetica Neue"/>
                <a:ea typeface="Helvetica Neue"/>
                <a:cs typeface="Helvetica Neue"/>
              </a:defRPr>
            </a:lvl6pPr>
            <a:lvl7pPr>
              <a:buNone/>
              <a:defRPr sz="1950" b="1">
                <a:solidFill>
                  <a:srgbClr val="BD9FE3"/>
                </a:solidFill>
                <a:latin typeface="Helvetica Neue"/>
                <a:ea typeface="Helvetica Neue"/>
                <a:cs typeface="Helvetica Neue"/>
              </a:defRPr>
            </a:lvl7pPr>
            <a:lvl8pPr>
              <a:buNone/>
              <a:defRPr sz="1950" b="1">
                <a:solidFill>
                  <a:srgbClr val="BD9FE3"/>
                </a:solidFill>
                <a:latin typeface="Helvetica Neue"/>
                <a:ea typeface="Helvetica Neue"/>
                <a:cs typeface="Helvetica Neue"/>
              </a:defRPr>
            </a:lvl8pPr>
            <a:lvl9pPr>
              <a:buNone/>
              <a:defRPr sz="1950" b="1">
                <a:solidFill>
                  <a:srgbClr val="BD9FE3"/>
                </a:solidFill>
                <a:latin typeface="Helvetica Neue"/>
                <a:ea typeface="Helvetica Neue"/>
                <a:cs typeface="Helvetica Neue"/>
              </a:defRPr>
            </a:lvl9pPr>
          </a:lstStyle>
          <a:p xmlns:a="http://schemas.openxmlformats.org/drawingml/2006/main">
            <a:pPr>
              <a:buNone/>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Обработка новых объектов</a:t>
            </a:r>
          </a:p>
        </p:txBody>
      </p:sp>
      <p:sp>
        <p:nvSpPr>
          <p:cNvPr id="15" name="theory-7">
            <a:extLst xmlns:a="http://schemas.openxmlformats.org/drawingml/2006/main">
              <a:ext uri="{FF2B5EF4-FFF2-40B4-BE49-F238E27FC236}">
                <a16:creationId xmlns:a16="http://schemas.microsoft.com/office/drawing/2014/main" id="{C0ACE15A-D5C1-48A2-A6E2-79F9E2DDFB7A}"/>
              </a:ext>
            </a:extLst>
          </p:cNvPr>
          <p:cNvSpPr>
            <a:spLocks xmlns:a="http://schemas.openxmlformats.org/drawingml/2006/main" noGrp="1"/>
          </p:cNvSpPr>
          <p:nvPr/>
        </p:nvSpPr>
        <p:spPr>
          <a:xfrm xmlns:a="http://schemas.openxmlformats.org/drawingml/2006/main">
            <a:off x="685800" y="4695825"/>
            <a:ext cx="10820400" cy="1743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buNone/>
              <a:defRPr sz="2025" b="0">
                <a:solidFill>
                  <a:srgbClr val="CDCDD3"/>
                </a:solidFill>
                <a:latin typeface="Helvetica Neue"/>
                <a:ea typeface="Helvetica Neue"/>
                <a:cs typeface="Helvetica Neue"/>
              </a:defRPr>
            </a:lvl1pPr>
            <a:lvl2pPr>
              <a:buNone/>
              <a:defRPr sz="2025" b="0">
                <a:solidFill>
                  <a:srgbClr val="CDCDD3"/>
                </a:solidFill>
                <a:latin typeface="Helvetica Neue"/>
                <a:ea typeface="Helvetica Neue"/>
                <a:cs typeface="Helvetica Neue"/>
              </a:defRPr>
            </a:lvl2pPr>
            <a:lvl3pPr>
              <a:buNone/>
              <a:defRPr sz="2025" b="0">
                <a:solidFill>
                  <a:srgbClr val="CDCDD3"/>
                </a:solidFill>
                <a:latin typeface="Helvetica Neue"/>
                <a:ea typeface="Helvetica Neue"/>
                <a:cs typeface="Helvetica Neue"/>
              </a:defRPr>
            </a:lvl3pPr>
            <a:lvl4pPr>
              <a:buNone/>
              <a:defRPr sz="2025" b="0">
                <a:solidFill>
                  <a:srgbClr val="CDCDD3"/>
                </a:solidFill>
                <a:latin typeface="Helvetica Neue"/>
                <a:ea typeface="Helvetica Neue"/>
                <a:cs typeface="Helvetica Neue"/>
              </a:defRPr>
            </a:lvl4pPr>
            <a:lvl5pPr>
              <a:buNone/>
              <a:defRPr sz="2025" b="0">
                <a:solidFill>
                  <a:srgbClr val="CDCDD3"/>
                </a:solidFill>
                <a:latin typeface="Helvetica Neue"/>
                <a:ea typeface="Helvetica Neue"/>
                <a:cs typeface="Helvetica Neue"/>
              </a:defRPr>
            </a:lvl5pPr>
            <a:lvl6pPr>
              <a:buNone/>
              <a:defRPr sz="2025" b="0">
                <a:solidFill>
                  <a:srgbClr val="CDCDD3"/>
                </a:solidFill>
                <a:latin typeface="Helvetica Neue"/>
                <a:ea typeface="Helvetica Neue"/>
                <a:cs typeface="Helvetica Neue"/>
              </a:defRPr>
            </a:lvl6pPr>
            <a:lvl7pPr>
              <a:buNone/>
              <a:defRPr sz="2025" b="0">
                <a:solidFill>
                  <a:srgbClr val="CDCDD3"/>
                </a:solidFill>
                <a:latin typeface="Helvetica Neue"/>
                <a:ea typeface="Helvetica Neue"/>
                <a:cs typeface="Helvetica Neue"/>
              </a:defRPr>
            </a:lvl7pPr>
            <a:lvl8pPr>
              <a:buNone/>
              <a:defRPr sz="2025" b="0">
                <a:solidFill>
                  <a:srgbClr val="CDCDD3"/>
                </a:solidFill>
                <a:latin typeface="Helvetica Neue"/>
                <a:ea typeface="Helvetica Neue"/>
                <a:cs typeface="Helvetica Neue"/>
              </a:defRPr>
            </a:lvl8pPr>
            <a:lvl9pPr>
              <a:buNone/>
              <a:defRPr sz="2025" b="0">
                <a:solidFill>
                  <a:srgbClr val="CDCDD3"/>
                </a:solidFill>
                <a:latin typeface="Helvetica Neue"/>
                <a:ea typeface="Helvetica Neue"/>
                <a:cs typeface="Helvetica Neue"/>
              </a:defRPr>
            </a:lvl9pPr>
          </a:lstStyle>
          <a:p xmlns:a="http://schemas.openxmlformats.org/drawingml/2006/main">
            <a:pPr>
              <a:buNone/>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При применении готового преобразования проверочные тексты получают признаки в соответствии с сохранённым словарём. Для словарной модели ранее неизвестные элементы обычно не добавляют новые столбцы автоматически. Изменение словаря требует согласования с классификатором. Поэтому обучение преобразований и получение ответа для новых объектов рассматривают как разные этапы.</a:t>
            </a:r>
          </a:p>
        </p:txBody>
      </p:sp>
    </p:spTree>
    <p:extLst>
      <p:ext uri="{BB962C8B-B14F-4D97-AF65-F5344CB8AC3E}">
        <p14:creationId xmlns:p14="http://schemas.microsoft.com/office/powerpoint/2010/main" val="1003386502"/>
      </p:ext>
    </p:extLst>
  </p:cSld>
</p:sld>
</file>

<file path=ppt/slides/slide5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3" name="text-0">
            <a:extLst xmlns:a="http://schemas.openxmlformats.org/drawingml/2006/main">
              <a:ext uri="{FF2B5EF4-FFF2-40B4-BE49-F238E27FC236}">
                <a16:creationId xmlns:a16="http://schemas.microsoft.com/office/drawing/2014/main" id="{4CBF4A3B-53E9-4B1C-B94D-67F3323DF4BE}"/>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98989F"/>
                </a:solidFill>
                <a:latin typeface="Helvetica Neue"/>
                <a:ea typeface="Helvetica Neue"/>
                <a:cs typeface="Helvetica Neue"/>
              </a:defRPr>
            </a:defPPr>
            <a:lvl1pPr algn="l">
              <a:buNone/>
              <a:defRPr sz="1425" b="0">
                <a:solidFill>
                  <a:srgbClr val="98989F"/>
                </a:solidFill>
                <a:latin typeface="Helvetica Neue"/>
                <a:ea typeface="Helvetica Neue"/>
                <a:cs typeface="Helvetica Neue"/>
              </a:defRPr>
            </a:lvl1pPr>
            <a:lvl2pPr algn="l">
              <a:buNone/>
              <a:defRPr sz="1425" b="0">
                <a:solidFill>
                  <a:srgbClr val="98989F"/>
                </a:solidFill>
                <a:latin typeface="Helvetica Neue"/>
                <a:ea typeface="Helvetica Neue"/>
                <a:cs typeface="Helvetica Neue"/>
              </a:defRPr>
            </a:lvl2pPr>
            <a:lvl3pPr algn="l">
              <a:buNone/>
              <a:defRPr sz="1425" b="0">
                <a:solidFill>
                  <a:srgbClr val="98989F"/>
                </a:solidFill>
                <a:latin typeface="Helvetica Neue"/>
                <a:ea typeface="Helvetica Neue"/>
                <a:cs typeface="Helvetica Neue"/>
              </a:defRPr>
            </a:lvl3pPr>
            <a:lvl4pPr algn="l">
              <a:buNone/>
              <a:defRPr sz="1425" b="0">
                <a:solidFill>
                  <a:srgbClr val="98989F"/>
                </a:solidFill>
                <a:latin typeface="Helvetica Neue"/>
                <a:ea typeface="Helvetica Neue"/>
                <a:cs typeface="Helvetica Neue"/>
              </a:defRPr>
            </a:lvl4pPr>
            <a:lvl5pPr algn="l">
              <a:buNone/>
              <a:defRPr sz="1425" b="0">
                <a:solidFill>
                  <a:srgbClr val="98989F"/>
                </a:solidFill>
                <a:latin typeface="Helvetica Neue"/>
                <a:ea typeface="Helvetica Neue"/>
                <a:cs typeface="Helvetica Neue"/>
              </a:defRPr>
            </a:lvl5pPr>
            <a:lvl6pPr algn="l">
              <a:buNone/>
              <a:defRPr sz="1425" b="0">
                <a:solidFill>
                  <a:srgbClr val="98989F"/>
                </a:solidFill>
                <a:latin typeface="Helvetica Neue"/>
                <a:ea typeface="Helvetica Neue"/>
                <a:cs typeface="Helvetica Neue"/>
              </a:defRPr>
            </a:lvl6pPr>
            <a:lvl7pPr algn="l">
              <a:buNone/>
              <a:defRPr sz="1425" b="0">
                <a:solidFill>
                  <a:srgbClr val="98989F"/>
                </a:solidFill>
                <a:latin typeface="Helvetica Neue"/>
                <a:ea typeface="Helvetica Neue"/>
                <a:cs typeface="Helvetica Neue"/>
              </a:defRPr>
            </a:lvl7pPr>
            <a:lvl8pPr algn="l">
              <a:buNone/>
              <a:defRPr sz="1425" b="0">
                <a:solidFill>
                  <a:srgbClr val="98989F"/>
                </a:solidFill>
                <a:latin typeface="Helvetica Neue"/>
                <a:ea typeface="Helvetica Neue"/>
                <a:cs typeface="Helvetica Neue"/>
              </a:defRPr>
            </a:lvl8pPr>
            <a:lvl9pPr algn="l">
              <a:buNone/>
              <a:defRPr sz="1425" b="0">
                <a:solidFill>
                  <a:srgbClr val="98989F"/>
                </a:solidFill>
                <a:latin typeface="Helvetica Neue"/>
                <a:ea typeface="Helvetica Neue"/>
                <a:cs typeface="Helvetica Neue"/>
              </a:defRPr>
            </a:lvl9pPr>
          </a:lstStyle>
          <a:p xmlns:a="http://schemas.openxmlformats.org/drawingml/2006/main">
            <a:pPr algn="l">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text-1">
            <a:extLst xmlns:a="http://schemas.openxmlformats.org/drawingml/2006/main">
              <a:ext uri="{FF2B5EF4-FFF2-40B4-BE49-F238E27FC236}">
                <a16:creationId xmlns:a16="http://schemas.microsoft.com/office/drawing/2014/main" id="{FB99BDCE-DAE7-42BD-8197-A163CA7861EE}"/>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57</a:t>
            </a:r>
          </a:p>
        </p:txBody>
      </p:sp>
      <p:sp>
        <p:nvSpPr>
          <p:cNvPr id="3" name="">
            <a:extLst xmlns:a="http://schemas.openxmlformats.org/drawingml/2006/main">
              <a:ext uri="{FF2B5EF4-FFF2-40B4-BE49-F238E27FC236}">
                <a16:creationId xmlns:a16="http://schemas.microsoft.com/office/drawing/2014/main" id="{38175B4E-CCC3-49D6-BBBF-7F855CA49C32}"/>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prstDash val="solid"/>
          </a:ln>
        </p:spPr>
      </p:sp>
      <p:sp>
        <p:nvSpPr>
          <p:cNvPr id="4" name="text-3">
            <a:extLst xmlns:a="http://schemas.openxmlformats.org/drawingml/2006/main">
              <a:ext uri="{FF2B5EF4-FFF2-40B4-BE49-F238E27FC236}">
                <a16:creationId xmlns:a16="http://schemas.microsoft.com/office/drawing/2014/main" id="{BEB2F56F-B1F6-4F7D-8D5A-5CDD279DC09A}"/>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5F7"/>
                </a:solidFill>
                <a:latin typeface="Helvetica Neue"/>
                <a:ea typeface="Helvetica Neue"/>
                <a:cs typeface="Helvetica Neue"/>
              </a:defRPr>
            </a:defPPr>
            <a:lvl1pPr algn="l">
              <a:buNone/>
              <a:defRPr sz="3450" b="1">
                <a:solidFill>
                  <a:srgbClr val="F5F5F7"/>
                </a:solidFill>
                <a:latin typeface="Helvetica Neue"/>
                <a:ea typeface="Helvetica Neue"/>
                <a:cs typeface="Helvetica Neue"/>
              </a:defRPr>
            </a:lvl1pPr>
            <a:lvl2pPr algn="l">
              <a:buNone/>
              <a:defRPr sz="3450" b="1">
                <a:solidFill>
                  <a:srgbClr val="F5F5F7"/>
                </a:solidFill>
                <a:latin typeface="Helvetica Neue"/>
                <a:ea typeface="Helvetica Neue"/>
                <a:cs typeface="Helvetica Neue"/>
              </a:defRPr>
            </a:lvl2pPr>
            <a:lvl3pPr algn="l">
              <a:buNone/>
              <a:defRPr sz="3450" b="1">
                <a:solidFill>
                  <a:srgbClr val="F5F5F7"/>
                </a:solidFill>
                <a:latin typeface="Helvetica Neue"/>
                <a:ea typeface="Helvetica Neue"/>
                <a:cs typeface="Helvetica Neue"/>
              </a:defRPr>
            </a:lvl3pPr>
            <a:lvl4pPr algn="l">
              <a:buNone/>
              <a:defRPr sz="3450" b="1">
                <a:solidFill>
                  <a:srgbClr val="F5F5F7"/>
                </a:solidFill>
                <a:latin typeface="Helvetica Neue"/>
                <a:ea typeface="Helvetica Neue"/>
                <a:cs typeface="Helvetica Neue"/>
              </a:defRPr>
            </a:lvl4pPr>
            <a:lvl5pPr algn="l">
              <a:buNone/>
              <a:defRPr sz="3450" b="1">
                <a:solidFill>
                  <a:srgbClr val="F5F5F7"/>
                </a:solidFill>
                <a:latin typeface="Helvetica Neue"/>
                <a:ea typeface="Helvetica Neue"/>
                <a:cs typeface="Helvetica Neue"/>
              </a:defRPr>
            </a:lvl5pPr>
            <a:lvl6pPr algn="l">
              <a:buNone/>
              <a:defRPr sz="3450" b="1">
                <a:solidFill>
                  <a:srgbClr val="F5F5F7"/>
                </a:solidFill>
                <a:latin typeface="Helvetica Neue"/>
                <a:ea typeface="Helvetica Neue"/>
                <a:cs typeface="Helvetica Neue"/>
              </a:defRPr>
            </a:lvl6pPr>
            <a:lvl7pPr algn="l">
              <a:buNone/>
              <a:defRPr sz="3450" b="1">
                <a:solidFill>
                  <a:srgbClr val="F5F5F7"/>
                </a:solidFill>
                <a:latin typeface="Helvetica Neue"/>
                <a:ea typeface="Helvetica Neue"/>
                <a:cs typeface="Helvetica Neue"/>
              </a:defRPr>
            </a:lvl7pPr>
            <a:lvl8pPr algn="l">
              <a:buNone/>
              <a:defRPr sz="3450" b="1">
                <a:solidFill>
                  <a:srgbClr val="F5F5F7"/>
                </a:solidFill>
                <a:latin typeface="Helvetica Neue"/>
                <a:ea typeface="Helvetica Neue"/>
                <a:cs typeface="Helvetica Neue"/>
              </a:defRPr>
            </a:lvl8pPr>
            <a:lvl9pPr algn="l">
              <a:buNone/>
              <a:defRPr sz="3450" b="1">
                <a:solidFill>
                  <a:srgbClr val="F5F5F7"/>
                </a:solidFill>
                <a:latin typeface="Helvetica Neue"/>
                <a:ea typeface="Helvetica Neue"/>
                <a:cs typeface="Helvetica Neue"/>
              </a:defRPr>
            </a:lvl9pPr>
          </a:lstStyle>
          <a:p xmlns:a="http://schemas.openxmlformats.org/drawingml/2006/main">
            <a:pPr algn="l">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Ограничения lexical features</a:t>
            </a:r>
          </a:p>
        </p:txBody>
      </p:sp>
      <p:sp>
        <p:nvSpPr>
          <p:cNvPr id="14" name="theory-4">
            <a:extLst xmlns:a="http://schemas.openxmlformats.org/drawingml/2006/main">
              <a:ext uri="{FF2B5EF4-FFF2-40B4-BE49-F238E27FC236}">
                <a16:creationId xmlns:a16="http://schemas.microsoft.com/office/drawing/2014/main" id="{53C3BFD0-E38E-4C52-A8B5-F916469E0986}"/>
              </a:ext>
            </a:extLst>
          </p:cNvPr>
          <p:cNvSpPr>
            <a:spLocks xmlns:a="http://schemas.openxmlformats.org/drawingml/2006/main" noGrp="1"/>
          </p:cNvSpPr>
          <p:nvPr/>
        </p:nvSpPr>
        <p:spPr>
          <a:xfrm xmlns:a="http://schemas.openxmlformats.org/drawingml/2006/main">
            <a:off x="685800" y="20478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buNone/>
              <a:defRPr sz="1950" b="1">
                <a:solidFill>
                  <a:srgbClr val="BD9FE3"/>
                </a:solidFill>
                <a:latin typeface="Helvetica Neue"/>
                <a:ea typeface="Helvetica Neue"/>
                <a:cs typeface="Helvetica Neue"/>
              </a:defRPr>
            </a:lvl1pPr>
            <a:lvl2pPr>
              <a:buNone/>
              <a:defRPr sz="1950" b="1">
                <a:solidFill>
                  <a:srgbClr val="BD9FE3"/>
                </a:solidFill>
                <a:latin typeface="Helvetica Neue"/>
                <a:ea typeface="Helvetica Neue"/>
                <a:cs typeface="Helvetica Neue"/>
              </a:defRPr>
            </a:lvl2pPr>
            <a:lvl3pPr>
              <a:buNone/>
              <a:defRPr sz="1950" b="1">
                <a:solidFill>
                  <a:srgbClr val="BD9FE3"/>
                </a:solidFill>
                <a:latin typeface="Helvetica Neue"/>
                <a:ea typeface="Helvetica Neue"/>
                <a:cs typeface="Helvetica Neue"/>
              </a:defRPr>
            </a:lvl3pPr>
            <a:lvl4pPr>
              <a:buNone/>
              <a:defRPr sz="1950" b="1">
                <a:solidFill>
                  <a:srgbClr val="BD9FE3"/>
                </a:solidFill>
                <a:latin typeface="Helvetica Neue"/>
                <a:ea typeface="Helvetica Neue"/>
                <a:cs typeface="Helvetica Neue"/>
              </a:defRPr>
            </a:lvl4pPr>
            <a:lvl5pPr>
              <a:buNone/>
              <a:defRPr sz="1950" b="1">
                <a:solidFill>
                  <a:srgbClr val="BD9FE3"/>
                </a:solidFill>
                <a:latin typeface="Helvetica Neue"/>
                <a:ea typeface="Helvetica Neue"/>
                <a:cs typeface="Helvetica Neue"/>
              </a:defRPr>
            </a:lvl5pPr>
            <a:lvl6pPr>
              <a:buNone/>
              <a:defRPr sz="1950" b="1">
                <a:solidFill>
                  <a:srgbClr val="BD9FE3"/>
                </a:solidFill>
                <a:latin typeface="Helvetica Neue"/>
                <a:ea typeface="Helvetica Neue"/>
                <a:cs typeface="Helvetica Neue"/>
              </a:defRPr>
            </a:lvl6pPr>
            <a:lvl7pPr>
              <a:buNone/>
              <a:defRPr sz="1950" b="1">
                <a:solidFill>
                  <a:srgbClr val="BD9FE3"/>
                </a:solidFill>
                <a:latin typeface="Helvetica Neue"/>
                <a:ea typeface="Helvetica Neue"/>
                <a:cs typeface="Helvetica Neue"/>
              </a:defRPr>
            </a:lvl7pPr>
            <a:lvl8pPr>
              <a:buNone/>
              <a:defRPr sz="1950" b="1">
                <a:solidFill>
                  <a:srgbClr val="BD9FE3"/>
                </a:solidFill>
                <a:latin typeface="Helvetica Neue"/>
                <a:ea typeface="Helvetica Neue"/>
                <a:cs typeface="Helvetica Neue"/>
              </a:defRPr>
            </a:lvl8pPr>
            <a:lvl9pPr>
              <a:buNone/>
              <a:defRPr sz="1950" b="1">
                <a:solidFill>
                  <a:srgbClr val="BD9FE3"/>
                </a:solidFill>
                <a:latin typeface="Helvetica Neue"/>
                <a:ea typeface="Helvetica Neue"/>
                <a:cs typeface="Helvetica Neue"/>
              </a:defRPr>
            </a:lvl9pPr>
          </a:lstStyle>
          <a:p xmlns:a="http://schemas.openxmlformats.org/drawingml/2006/main">
            <a:pPr>
              <a:buNone/>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Смысловая близость и совпадение слов</a:t>
            </a:r>
          </a:p>
        </p:txBody>
      </p:sp>
      <p:sp>
        <p:nvSpPr>
          <p:cNvPr id="15" name="theory-5">
            <a:extLst xmlns:a="http://schemas.openxmlformats.org/drawingml/2006/main">
              <a:ext uri="{FF2B5EF4-FFF2-40B4-BE49-F238E27FC236}">
                <a16:creationId xmlns:a16="http://schemas.microsoft.com/office/drawing/2014/main" id="{215B2A2C-EA15-4857-9C55-B92727F9A404}"/>
              </a:ext>
            </a:extLst>
          </p:cNvPr>
          <p:cNvSpPr>
            <a:spLocks xmlns:a="http://schemas.openxmlformats.org/drawingml/2006/main" noGrp="1"/>
          </p:cNvSpPr>
          <p:nvPr/>
        </p:nvSpPr>
        <p:spPr>
          <a:xfrm xmlns:a="http://schemas.openxmlformats.org/drawingml/2006/main">
            <a:off x="685800" y="2514600"/>
            <a:ext cx="108204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buNone/>
              <a:defRPr sz="2025" b="0">
                <a:solidFill>
                  <a:srgbClr val="CDCDD3"/>
                </a:solidFill>
                <a:latin typeface="Helvetica Neue"/>
                <a:ea typeface="Helvetica Neue"/>
                <a:cs typeface="Helvetica Neue"/>
              </a:defRPr>
            </a:lvl1pPr>
            <a:lvl2pPr>
              <a:buNone/>
              <a:defRPr sz="2025" b="0">
                <a:solidFill>
                  <a:srgbClr val="CDCDD3"/>
                </a:solidFill>
                <a:latin typeface="Helvetica Neue"/>
                <a:ea typeface="Helvetica Neue"/>
                <a:cs typeface="Helvetica Neue"/>
              </a:defRPr>
            </a:lvl2pPr>
            <a:lvl3pPr>
              <a:buNone/>
              <a:defRPr sz="2025" b="0">
                <a:solidFill>
                  <a:srgbClr val="CDCDD3"/>
                </a:solidFill>
                <a:latin typeface="Helvetica Neue"/>
                <a:ea typeface="Helvetica Neue"/>
                <a:cs typeface="Helvetica Neue"/>
              </a:defRPr>
            </a:lvl3pPr>
            <a:lvl4pPr>
              <a:buNone/>
              <a:defRPr sz="2025" b="0">
                <a:solidFill>
                  <a:srgbClr val="CDCDD3"/>
                </a:solidFill>
                <a:latin typeface="Helvetica Neue"/>
                <a:ea typeface="Helvetica Neue"/>
                <a:cs typeface="Helvetica Neue"/>
              </a:defRPr>
            </a:lvl4pPr>
            <a:lvl5pPr>
              <a:buNone/>
              <a:defRPr sz="2025" b="0">
                <a:solidFill>
                  <a:srgbClr val="CDCDD3"/>
                </a:solidFill>
                <a:latin typeface="Helvetica Neue"/>
                <a:ea typeface="Helvetica Neue"/>
                <a:cs typeface="Helvetica Neue"/>
              </a:defRPr>
            </a:lvl5pPr>
            <a:lvl6pPr>
              <a:buNone/>
              <a:defRPr sz="2025" b="0">
                <a:solidFill>
                  <a:srgbClr val="CDCDD3"/>
                </a:solidFill>
                <a:latin typeface="Helvetica Neue"/>
                <a:ea typeface="Helvetica Neue"/>
                <a:cs typeface="Helvetica Neue"/>
              </a:defRPr>
            </a:lvl6pPr>
            <a:lvl7pPr>
              <a:buNone/>
              <a:defRPr sz="2025" b="0">
                <a:solidFill>
                  <a:srgbClr val="CDCDD3"/>
                </a:solidFill>
                <a:latin typeface="Helvetica Neue"/>
                <a:ea typeface="Helvetica Neue"/>
                <a:cs typeface="Helvetica Neue"/>
              </a:defRPr>
            </a:lvl7pPr>
            <a:lvl8pPr>
              <a:buNone/>
              <a:defRPr sz="2025" b="0">
                <a:solidFill>
                  <a:srgbClr val="CDCDD3"/>
                </a:solidFill>
                <a:latin typeface="Helvetica Neue"/>
                <a:ea typeface="Helvetica Neue"/>
                <a:cs typeface="Helvetica Neue"/>
              </a:defRPr>
            </a:lvl8pPr>
            <a:lvl9pPr>
              <a:buNone/>
              <a:defRPr sz="2025" b="0">
                <a:solidFill>
                  <a:srgbClr val="CDCDD3"/>
                </a:solidFill>
                <a:latin typeface="Helvetica Neue"/>
                <a:ea typeface="Helvetica Neue"/>
                <a:cs typeface="Helvetica Neue"/>
              </a:defRPr>
            </a:lvl9pPr>
          </a:lstStyle>
          <a:p xmlns:a="http://schemas.openxmlformats.org/drawingml/2006/main">
            <a:pPr>
              <a:buNone/>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Фразы «купить автомобиль» и «приобрести машину» близки по смыслу, но не имеют общих word unigrams. Лексические признаки непосредственно отражают присутствие элементов словаря. Их успешность зависит от того, насколько устойчиво нужные различия выражаются словами и локальными сочетаниями в доступном корпусе.</a:t>
            </a:r>
          </a:p>
        </p:txBody>
      </p:sp>
      <p:sp>
        <p:nvSpPr>
          <p:cNvPr id="16" name="theory-6">
            <a:extLst xmlns:a="http://schemas.openxmlformats.org/drawingml/2006/main">
              <a:ext uri="{FF2B5EF4-FFF2-40B4-BE49-F238E27FC236}">
                <a16:creationId xmlns:a16="http://schemas.microsoft.com/office/drawing/2014/main" id="{E96CD92C-C2EB-4E6D-8B74-4972413AE3ED}"/>
              </a:ext>
            </a:extLst>
          </p:cNvPr>
          <p:cNvSpPr>
            <a:spLocks xmlns:a="http://schemas.openxmlformats.org/drawingml/2006/main" noGrp="1"/>
          </p:cNvSpPr>
          <p:nvPr/>
        </p:nvSpPr>
        <p:spPr>
          <a:xfrm xmlns:a="http://schemas.openxmlformats.org/drawingml/2006/main">
            <a:off x="685800" y="4229100"/>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buNone/>
              <a:defRPr sz="1950" b="1">
                <a:solidFill>
                  <a:srgbClr val="BD9FE3"/>
                </a:solidFill>
                <a:latin typeface="Helvetica Neue"/>
                <a:ea typeface="Helvetica Neue"/>
                <a:cs typeface="Helvetica Neue"/>
              </a:defRPr>
            </a:lvl1pPr>
            <a:lvl2pPr>
              <a:buNone/>
              <a:defRPr sz="1950" b="1">
                <a:solidFill>
                  <a:srgbClr val="BD9FE3"/>
                </a:solidFill>
                <a:latin typeface="Helvetica Neue"/>
                <a:ea typeface="Helvetica Neue"/>
                <a:cs typeface="Helvetica Neue"/>
              </a:defRPr>
            </a:lvl2pPr>
            <a:lvl3pPr>
              <a:buNone/>
              <a:defRPr sz="1950" b="1">
                <a:solidFill>
                  <a:srgbClr val="BD9FE3"/>
                </a:solidFill>
                <a:latin typeface="Helvetica Neue"/>
                <a:ea typeface="Helvetica Neue"/>
                <a:cs typeface="Helvetica Neue"/>
              </a:defRPr>
            </a:lvl3pPr>
            <a:lvl4pPr>
              <a:buNone/>
              <a:defRPr sz="1950" b="1">
                <a:solidFill>
                  <a:srgbClr val="BD9FE3"/>
                </a:solidFill>
                <a:latin typeface="Helvetica Neue"/>
                <a:ea typeface="Helvetica Neue"/>
                <a:cs typeface="Helvetica Neue"/>
              </a:defRPr>
            </a:lvl4pPr>
            <a:lvl5pPr>
              <a:buNone/>
              <a:defRPr sz="1950" b="1">
                <a:solidFill>
                  <a:srgbClr val="BD9FE3"/>
                </a:solidFill>
                <a:latin typeface="Helvetica Neue"/>
                <a:ea typeface="Helvetica Neue"/>
                <a:cs typeface="Helvetica Neue"/>
              </a:defRPr>
            </a:lvl5pPr>
            <a:lvl6pPr>
              <a:buNone/>
              <a:defRPr sz="1950" b="1">
                <a:solidFill>
                  <a:srgbClr val="BD9FE3"/>
                </a:solidFill>
                <a:latin typeface="Helvetica Neue"/>
                <a:ea typeface="Helvetica Neue"/>
                <a:cs typeface="Helvetica Neue"/>
              </a:defRPr>
            </a:lvl6pPr>
            <a:lvl7pPr>
              <a:buNone/>
              <a:defRPr sz="1950" b="1">
                <a:solidFill>
                  <a:srgbClr val="BD9FE3"/>
                </a:solidFill>
                <a:latin typeface="Helvetica Neue"/>
                <a:ea typeface="Helvetica Neue"/>
                <a:cs typeface="Helvetica Neue"/>
              </a:defRPr>
            </a:lvl7pPr>
            <a:lvl8pPr>
              <a:buNone/>
              <a:defRPr sz="1950" b="1">
                <a:solidFill>
                  <a:srgbClr val="BD9FE3"/>
                </a:solidFill>
                <a:latin typeface="Helvetica Neue"/>
                <a:ea typeface="Helvetica Neue"/>
                <a:cs typeface="Helvetica Neue"/>
              </a:defRPr>
            </a:lvl8pPr>
            <a:lvl9pPr>
              <a:buNone/>
              <a:defRPr sz="1950" b="1">
                <a:solidFill>
                  <a:srgbClr val="BD9FE3"/>
                </a:solidFill>
                <a:latin typeface="Helvetica Neue"/>
                <a:ea typeface="Helvetica Neue"/>
                <a:cs typeface="Helvetica Neue"/>
              </a:defRPr>
            </a:lvl9pPr>
          </a:lstStyle>
          <a:p xmlns:a="http://schemas.openxmlformats.org/drawingml/2006/main">
            <a:pPr>
              <a:buNone/>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Контекст и перенос</a:t>
            </a:r>
          </a:p>
        </p:txBody>
      </p:sp>
      <p:sp>
        <p:nvSpPr>
          <p:cNvPr id="17" name="theory-7">
            <a:extLst xmlns:a="http://schemas.openxmlformats.org/drawingml/2006/main">
              <a:ext uri="{FF2B5EF4-FFF2-40B4-BE49-F238E27FC236}">
                <a16:creationId xmlns:a16="http://schemas.microsoft.com/office/drawing/2014/main" id="{D14F587D-5D6C-4E0D-9836-996FA64BC635}"/>
              </a:ext>
            </a:extLst>
          </p:cNvPr>
          <p:cNvSpPr>
            <a:spLocks xmlns:a="http://schemas.openxmlformats.org/drawingml/2006/main" noGrp="1"/>
          </p:cNvSpPr>
          <p:nvPr/>
        </p:nvSpPr>
        <p:spPr>
          <a:xfrm xmlns:a="http://schemas.openxmlformats.org/drawingml/2006/main">
            <a:off x="685800" y="4695825"/>
            <a:ext cx="10820400" cy="1743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buNone/>
              <a:defRPr sz="2025" b="0">
                <a:solidFill>
                  <a:srgbClr val="CDCDD3"/>
                </a:solidFill>
                <a:latin typeface="Helvetica Neue"/>
                <a:ea typeface="Helvetica Neue"/>
                <a:cs typeface="Helvetica Neue"/>
              </a:defRPr>
            </a:lvl1pPr>
            <a:lvl2pPr>
              <a:buNone/>
              <a:defRPr sz="2025" b="0">
                <a:solidFill>
                  <a:srgbClr val="CDCDD3"/>
                </a:solidFill>
                <a:latin typeface="Helvetica Neue"/>
                <a:ea typeface="Helvetica Neue"/>
                <a:cs typeface="Helvetica Neue"/>
              </a:defRPr>
            </a:lvl2pPr>
            <a:lvl3pPr>
              <a:buNone/>
              <a:defRPr sz="2025" b="0">
                <a:solidFill>
                  <a:srgbClr val="CDCDD3"/>
                </a:solidFill>
                <a:latin typeface="Helvetica Neue"/>
                <a:ea typeface="Helvetica Neue"/>
                <a:cs typeface="Helvetica Neue"/>
              </a:defRPr>
            </a:lvl3pPr>
            <a:lvl4pPr>
              <a:buNone/>
              <a:defRPr sz="2025" b="0">
                <a:solidFill>
                  <a:srgbClr val="CDCDD3"/>
                </a:solidFill>
                <a:latin typeface="Helvetica Neue"/>
                <a:ea typeface="Helvetica Neue"/>
                <a:cs typeface="Helvetica Neue"/>
              </a:defRPr>
            </a:lvl4pPr>
            <a:lvl5pPr>
              <a:buNone/>
              <a:defRPr sz="2025" b="0">
                <a:solidFill>
                  <a:srgbClr val="CDCDD3"/>
                </a:solidFill>
                <a:latin typeface="Helvetica Neue"/>
                <a:ea typeface="Helvetica Neue"/>
                <a:cs typeface="Helvetica Neue"/>
              </a:defRPr>
            </a:lvl5pPr>
            <a:lvl6pPr>
              <a:buNone/>
              <a:defRPr sz="2025" b="0">
                <a:solidFill>
                  <a:srgbClr val="CDCDD3"/>
                </a:solidFill>
                <a:latin typeface="Helvetica Neue"/>
                <a:ea typeface="Helvetica Neue"/>
                <a:cs typeface="Helvetica Neue"/>
              </a:defRPr>
            </a:lvl6pPr>
            <a:lvl7pPr>
              <a:buNone/>
              <a:defRPr sz="2025" b="0">
                <a:solidFill>
                  <a:srgbClr val="CDCDD3"/>
                </a:solidFill>
                <a:latin typeface="Helvetica Neue"/>
                <a:ea typeface="Helvetica Neue"/>
                <a:cs typeface="Helvetica Neue"/>
              </a:defRPr>
            </a:lvl7pPr>
            <a:lvl8pPr>
              <a:buNone/>
              <a:defRPr sz="2025" b="0">
                <a:solidFill>
                  <a:srgbClr val="CDCDD3"/>
                </a:solidFill>
                <a:latin typeface="Helvetica Neue"/>
                <a:ea typeface="Helvetica Neue"/>
                <a:cs typeface="Helvetica Neue"/>
              </a:defRPr>
            </a:lvl8pPr>
            <a:lvl9pPr>
              <a:buNone/>
              <a:defRPr sz="2025" b="0">
                <a:solidFill>
                  <a:srgbClr val="CDCDD3"/>
                </a:solidFill>
                <a:latin typeface="Helvetica Neue"/>
                <a:ea typeface="Helvetica Neue"/>
                <a:cs typeface="Helvetica Neue"/>
              </a:defRPr>
            </a:lvl9pPr>
          </a:lstStyle>
          <a:p xmlns:a="http://schemas.openxmlformats.org/drawingml/2006/main">
            <a:pPr>
              <a:buNone/>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Одинаковые слова могут входить в разные синтаксические конструкции или использоваться с иронией. N-grams учитывают часть локального порядка, но число возможных сочетаний быстро растёт. При изменении тематики появляется новая лексика. Эти ограничения объясняют интерес к другим представлениям текста, при этом TF-IDF остаётся полезной основой для измеримого сравнения.</a:t>
            </a:r>
          </a:p>
        </p:txBody>
      </p:sp>
    </p:spTree>
    <p:extLst>
      <p:ext uri="{BB962C8B-B14F-4D97-AF65-F5344CB8AC3E}">
        <p14:creationId xmlns:p14="http://schemas.microsoft.com/office/powerpoint/2010/main" val="1713363822"/>
      </p:ext>
    </p:extLst>
  </p:cSld>
</p:sld>
</file>

<file path=ppt/slides/slide5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9" name="exp90-0">
            <a:extLst xmlns:a="http://schemas.openxmlformats.org/drawingml/2006/main">
              <a:ext uri="{FF2B5EF4-FFF2-40B4-BE49-F238E27FC236}">
                <a16:creationId xmlns:a16="http://schemas.microsoft.com/office/drawing/2014/main" id="{840F350E-2ABC-4D03-9BEF-A89883BC3C4A}"/>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90-1">
            <a:extLst xmlns:a="http://schemas.openxmlformats.org/drawingml/2006/main">
              <a:ext uri="{FF2B5EF4-FFF2-40B4-BE49-F238E27FC236}">
                <a16:creationId xmlns:a16="http://schemas.microsoft.com/office/drawing/2014/main" id="{2F483477-9DEA-43EF-9829-FF17F55FA840}"/>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58</a:t>
            </a:r>
          </a:p>
        </p:txBody>
      </p:sp>
      <p:sp>
        <p:nvSpPr>
          <p:cNvPr id="3" name="">
            <a:extLst xmlns:a="http://schemas.openxmlformats.org/drawingml/2006/main">
              <a:ext uri="{FF2B5EF4-FFF2-40B4-BE49-F238E27FC236}">
                <a16:creationId xmlns:a16="http://schemas.microsoft.com/office/drawing/2014/main" id="{81629F83-6815-44CC-ABF3-2018547ACA9F}"/>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0">
            <a:solidFill>
              <a:srgbClr val="28282B"/>
            </a:solidFill>
          </a:ln>
        </p:spPr>
      </p:sp>
      <p:sp>
        <p:nvSpPr>
          <p:cNvPr id="4" name="exp90-3">
            <a:extLst xmlns:a="http://schemas.openxmlformats.org/drawingml/2006/main">
              <a:ext uri="{FF2B5EF4-FFF2-40B4-BE49-F238E27FC236}">
                <a16:creationId xmlns:a16="http://schemas.microsoft.com/office/drawing/2014/main" id="{DCA24B7C-CDE0-4702-B7C6-EA645EE499BA}"/>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Feature engineering: n-grams</a:t>
            </a:r>
          </a:p>
        </p:txBody>
      </p:sp>
      <p:pic>
        <p:nvPicPr>
          <p:cNvPr id="10" name="">
            <a:extLst xmlns:a="http://schemas.openxmlformats.org/drawingml/2006/main">
              <a:ext uri="{FF2B5EF4-FFF2-40B4-BE49-F238E27FC236}">
                <a16:creationId xmlns:a16="http://schemas.microsoft.com/office/drawing/2014/main" id="{79D86F05-71D3-476C-B859-14DFAD359ABB}"/>
              </a:ext>
            </a:extLst>
          </p:cNvPr>
          <p:cNvPicPr>
            <a:picLocks xmlns:a="http://schemas.openxmlformats.org/drawingml/2006/main" noChangeAspect="1"/>
          </p:cNvPicPr>
          <p:nvPr/>
        </p:nvPicPr>
        <p:blipFill>
          <a:blip xmlns:r="http://schemas.openxmlformats.org/officeDocument/2006/relationships" xmlns:a="http://schemas.openxmlformats.org/drawingml/2006/main" r:embed="R24ee97a7372e4f5f"/>
          <a:stretch xmlns:a="http://schemas.openxmlformats.org/drawingml/2006/main"/>
        </p:blipFill>
        <p:spPr>
          <a:xfrm xmlns:a="http://schemas.openxmlformats.org/drawingml/2006/main">
            <a:off x="685800" y="2064381"/>
            <a:ext cx="10820400" cy="2252987"/>
          </a:xfrm>
          <a:prstGeom xmlns:a="http://schemas.openxmlformats.org/drawingml/2006/main" prst="rect">
            <a:avLst/>
          </a:prstGeom>
        </p:spPr>
      </p:pic>
      <p:sp>
        <p:nvSpPr>
          <p:cNvPr id="11" name="ysda-4">
            <a:extLst xmlns:a="http://schemas.openxmlformats.org/drawingml/2006/main">
              <a:ext uri="{FF2B5EF4-FFF2-40B4-BE49-F238E27FC236}">
                <a16:creationId xmlns:a16="http://schemas.microsoft.com/office/drawing/2014/main" id="{3C3EE0A0-C468-43BC-AA03-F27FE37A100D}"/>
              </a:ext>
            </a:extLst>
          </p:cNvPr>
          <p:cNvSpPr>
            <a:spLocks xmlns:a="http://schemas.openxmlformats.org/drawingml/2006/main" noGrp="1"/>
          </p:cNvSpPr>
          <p:nvPr/>
        </p:nvSpPr>
        <p:spPr>
          <a:xfrm xmlns:a="http://schemas.openxmlformats.org/drawingml/2006/main">
            <a:off x="685800" y="4600575"/>
            <a:ext cx="108204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13" b="0">
                <a:solidFill>
                  <a:srgbClr val="CDCDD3"/>
                </a:solidFill>
                <a:latin typeface="Helvetica Neue"/>
                <a:ea typeface="Helvetica Neue"/>
                <a:cs typeface="Helvetica Neue"/>
              </a:defRPr>
            </a:defPPr>
            <a:lvl1pPr>
              <a:defRPr sz="1913" b="0">
                <a:solidFill>
                  <a:srgbClr val="CDCDD3"/>
                </a:solidFill>
                <a:latin typeface="Helvetica Neue"/>
                <a:ea typeface="Helvetica Neue"/>
                <a:cs typeface="Helvetica Neue"/>
              </a:defRPr>
            </a:lvl1pPr>
            <a:lvl2pPr>
              <a:defRPr sz="1913" b="0">
                <a:solidFill>
                  <a:srgbClr val="CDCDD3"/>
                </a:solidFill>
                <a:latin typeface="Helvetica Neue"/>
                <a:ea typeface="Helvetica Neue"/>
                <a:cs typeface="Helvetica Neue"/>
              </a:defRPr>
            </a:lvl2pPr>
            <a:lvl3pPr>
              <a:defRPr sz="1913" b="0">
                <a:solidFill>
                  <a:srgbClr val="CDCDD3"/>
                </a:solidFill>
                <a:latin typeface="Helvetica Neue"/>
                <a:ea typeface="Helvetica Neue"/>
                <a:cs typeface="Helvetica Neue"/>
              </a:defRPr>
            </a:lvl3pPr>
            <a:lvl4pPr>
              <a:defRPr sz="1913" b="0">
                <a:solidFill>
                  <a:srgbClr val="CDCDD3"/>
                </a:solidFill>
                <a:latin typeface="Helvetica Neue"/>
                <a:ea typeface="Helvetica Neue"/>
                <a:cs typeface="Helvetica Neue"/>
              </a:defRPr>
            </a:lvl4pPr>
            <a:lvl5pPr>
              <a:defRPr sz="1913" b="0">
                <a:solidFill>
                  <a:srgbClr val="CDCDD3"/>
                </a:solidFill>
                <a:latin typeface="Helvetica Neue"/>
                <a:ea typeface="Helvetica Neue"/>
                <a:cs typeface="Helvetica Neue"/>
              </a:defRPr>
            </a:lvl5pPr>
            <a:lvl6pPr>
              <a:defRPr sz="1913" b="0">
                <a:solidFill>
                  <a:srgbClr val="CDCDD3"/>
                </a:solidFill>
                <a:latin typeface="Helvetica Neue"/>
                <a:ea typeface="Helvetica Neue"/>
                <a:cs typeface="Helvetica Neue"/>
              </a:defRPr>
            </a:lvl6pPr>
            <a:lvl7pPr>
              <a:defRPr sz="1913" b="0">
                <a:solidFill>
                  <a:srgbClr val="CDCDD3"/>
                </a:solidFill>
                <a:latin typeface="Helvetica Neue"/>
                <a:ea typeface="Helvetica Neue"/>
                <a:cs typeface="Helvetica Neue"/>
              </a:defRPr>
            </a:lvl7pPr>
            <a:lvl8pPr>
              <a:defRPr sz="1913" b="0">
                <a:solidFill>
                  <a:srgbClr val="CDCDD3"/>
                </a:solidFill>
                <a:latin typeface="Helvetica Neue"/>
                <a:ea typeface="Helvetica Neue"/>
                <a:cs typeface="Helvetica Neue"/>
              </a:defRPr>
            </a:lvl8pPr>
            <a:lvl9pPr>
              <a:defRPr sz="1913" b="0">
                <a:solidFill>
                  <a:srgbClr val="CDCDD3"/>
                </a:solidFill>
                <a:latin typeface="Helvetica Neue"/>
                <a:ea typeface="Helvetica Neue"/>
                <a:cs typeface="Helvetica Neue"/>
              </a:defRPr>
            </a:lvl9pPr>
          </a:lstStyle>
          <a:p xmlns:a="http://schemas.openxmlformats.org/drawingml/2006/main">
            <a:pPr>
              <a:defRPr sz="1913" b="0">
                <a:solidFill>
                  <a:srgbClr val="CDCDD3"/>
                </a:solidFill>
                <a:latin typeface="Helvetica Neue"/>
                <a:ea typeface="Helvetica Neue"/>
                <a:cs typeface="Helvetica Neue"/>
              </a:defRPr>
            </a:pPr>
            <a:r>
              <a:rPr sz="1913" b="0">
                <a:solidFill>
                  <a:srgbClr val="CDCDD3"/>
                </a:solidFill>
                <a:latin typeface="Helvetica Neue"/>
                <a:ea typeface="Helvetica Neue"/>
                <a:cs typeface="Helvetica Neue"/>
              </a:rPr>
              <a:t>Фразы на рисунке содержат одинаковые unigram features, но выражают противоположные оценки. Word n-grams позволяют отдельно представить сочетания «rather good» и «not bad», отличив их от «rather bad» и «not good». Это частично сохраняет локальный порядок. Vocabulary растёт, поэтому n-gram range и ограничения document frequency выбирают по dev; добавление новых features не гарантирует улучшения для каждого corpus.</a:t>
            </a:r>
          </a:p>
        </p:txBody>
      </p:sp>
    </p:spTree>
    <p:extLst>
      <p:ext uri="{BB962C8B-B14F-4D97-AF65-F5344CB8AC3E}">
        <p14:creationId xmlns:p14="http://schemas.microsoft.com/office/powerpoint/2010/main" val="371734052"/>
      </p:ext>
    </p:extLst>
  </p:cSld>
</p:sld>
</file>

<file path=ppt/slides/slide5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9" name="exp90-0">
            <a:extLst xmlns:a="http://schemas.openxmlformats.org/drawingml/2006/main">
              <a:ext uri="{FF2B5EF4-FFF2-40B4-BE49-F238E27FC236}">
                <a16:creationId xmlns:a16="http://schemas.microsoft.com/office/drawing/2014/main" id="{24A56B73-A020-4704-AD73-C73C38315EC3}"/>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90-1">
            <a:extLst xmlns:a="http://schemas.openxmlformats.org/drawingml/2006/main">
              <a:ext uri="{FF2B5EF4-FFF2-40B4-BE49-F238E27FC236}">
                <a16:creationId xmlns:a16="http://schemas.microsoft.com/office/drawing/2014/main" id="{841CA9F4-71A5-41EC-8265-6D0BE7361FD8}"/>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59</a:t>
            </a:r>
          </a:p>
        </p:txBody>
      </p:sp>
      <p:sp>
        <p:nvSpPr>
          <p:cNvPr id="3" name="">
            <a:extLst xmlns:a="http://schemas.openxmlformats.org/drawingml/2006/main">
              <a:ext uri="{FF2B5EF4-FFF2-40B4-BE49-F238E27FC236}">
                <a16:creationId xmlns:a16="http://schemas.microsoft.com/office/drawing/2014/main" id="{33F01C85-0A7B-4329-B882-8E0CFBBCC394}"/>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0">
            <a:solidFill>
              <a:srgbClr val="28282B"/>
            </a:solidFill>
          </a:ln>
        </p:spPr>
      </p:sp>
      <p:sp>
        <p:nvSpPr>
          <p:cNvPr id="4" name="exp90-3">
            <a:extLst xmlns:a="http://schemas.openxmlformats.org/drawingml/2006/main">
              <a:ext uri="{FF2B5EF4-FFF2-40B4-BE49-F238E27FC236}">
                <a16:creationId xmlns:a16="http://schemas.microsoft.com/office/drawing/2014/main" id="{397F15FA-8D7E-4163-B397-C5B0847C0AF5}"/>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Generative и discriminative models</a:t>
            </a:r>
          </a:p>
        </p:txBody>
      </p:sp>
      <p:pic>
        <p:nvPicPr>
          <p:cNvPr id="10" name="">
            <a:extLst xmlns:a="http://schemas.openxmlformats.org/drawingml/2006/main">
              <a:ext uri="{FF2B5EF4-FFF2-40B4-BE49-F238E27FC236}">
                <a16:creationId xmlns:a16="http://schemas.microsoft.com/office/drawing/2014/main" id="{4C34EC54-7407-4DAE-8A29-DC4C3A37D12E}"/>
              </a:ext>
            </a:extLst>
          </p:cNvPr>
          <p:cNvPicPr>
            <a:picLocks xmlns:a="http://schemas.openxmlformats.org/drawingml/2006/main" noChangeAspect="1"/>
          </p:cNvPicPr>
          <p:nvPr/>
        </p:nvPicPr>
        <p:blipFill>
          <a:blip xmlns:r="http://schemas.openxmlformats.org/officeDocument/2006/relationships" xmlns:a="http://schemas.openxmlformats.org/drawingml/2006/main" r:embed="R1c3df76612d34922"/>
          <a:stretch xmlns:a="http://schemas.openxmlformats.org/drawingml/2006/main"/>
        </p:blipFill>
        <p:spPr>
          <a:xfrm xmlns:a="http://schemas.openxmlformats.org/drawingml/2006/main">
            <a:off x="982287" y="2000250"/>
            <a:ext cx="10227427" cy="3981450"/>
          </a:xfrm>
          <a:prstGeom xmlns:a="http://schemas.openxmlformats.org/drawingml/2006/main" prst="rect">
            <a:avLst/>
          </a:prstGeom>
        </p:spPr>
      </p:pic>
      <p:sp>
        <p:nvSpPr>
          <p:cNvPr id="11" name="ysda-4">
            <a:extLst xmlns:a="http://schemas.openxmlformats.org/drawingml/2006/main">
              <a:ext uri="{FF2B5EF4-FFF2-40B4-BE49-F238E27FC236}">
                <a16:creationId xmlns:a16="http://schemas.microsoft.com/office/drawing/2014/main" id="{FADF8DB3-7FA6-46EA-BAA0-10B3E2BF06AD}"/>
              </a:ext>
            </a:extLst>
          </p:cNvPr>
          <p:cNvSpPr>
            <a:spLocks xmlns:a="http://schemas.openxmlformats.org/drawingml/2006/main" noGrp="1"/>
          </p:cNvSpPr>
          <p:nvPr/>
        </p:nvSpPr>
        <p:spPr>
          <a:xfrm xmlns:a="http://schemas.openxmlformats.org/drawingml/2006/main">
            <a:off x="685800" y="6124575"/>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CDCDD3"/>
                </a:solidFill>
                <a:latin typeface="Helvetica Neue"/>
                <a:ea typeface="Helvetica Neue"/>
                <a:cs typeface="Helvetica Neue"/>
              </a:defRPr>
            </a:defPPr>
            <a:lvl1pPr>
              <a:defRPr sz="1725" b="0">
                <a:solidFill>
                  <a:srgbClr val="CDCDD3"/>
                </a:solidFill>
                <a:latin typeface="Helvetica Neue"/>
                <a:ea typeface="Helvetica Neue"/>
                <a:cs typeface="Helvetica Neue"/>
              </a:defRPr>
            </a:lvl1pPr>
            <a:lvl2pPr>
              <a:defRPr sz="1725" b="0">
                <a:solidFill>
                  <a:srgbClr val="CDCDD3"/>
                </a:solidFill>
                <a:latin typeface="Helvetica Neue"/>
                <a:ea typeface="Helvetica Neue"/>
                <a:cs typeface="Helvetica Neue"/>
              </a:defRPr>
            </a:lvl2pPr>
            <a:lvl3pPr>
              <a:defRPr sz="1725" b="0">
                <a:solidFill>
                  <a:srgbClr val="CDCDD3"/>
                </a:solidFill>
                <a:latin typeface="Helvetica Neue"/>
                <a:ea typeface="Helvetica Neue"/>
                <a:cs typeface="Helvetica Neue"/>
              </a:defRPr>
            </a:lvl3pPr>
            <a:lvl4pPr>
              <a:defRPr sz="1725" b="0">
                <a:solidFill>
                  <a:srgbClr val="CDCDD3"/>
                </a:solidFill>
                <a:latin typeface="Helvetica Neue"/>
                <a:ea typeface="Helvetica Neue"/>
                <a:cs typeface="Helvetica Neue"/>
              </a:defRPr>
            </a:lvl4pPr>
            <a:lvl5pPr>
              <a:defRPr sz="1725" b="0">
                <a:solidFill>
                  <a:srgbClr val="CDCDD3"/>
                </a:solidFill>
                <a:latin typeface="Helvetica Neue"/>
                <a:ea typeface="Helvetica Neue"/>
                <a:cs typeface="Helvetica Neue"/>
              </a:defRPr>
            </a:lvl5pPr>
            <a:lvl6pPr>
              <a:defRPr sz="1725" b="0">
                <a:solidFill>
                  <a:srgbClr val="CDCDD3"/>
                </a:solidFill>
                <a:latin typeface="Helvetica Neue"/>
                <a:ea typeface="Helvetica Neue"/>
                <a:cs typeface="Helvetica Neue"/>
              </a:defRPr>
            </a:lvl6pPr>
            <a:lvl7pPr>
              <a:defRPr sz="1725" b="0">
                <a:solidFill>
                  <a:srgbClr val="CDCDD3"/>
                </a:solidFill>
                <a:latin typeface="Helvetica Neue"/>
                <a:ea typeface="Helvetica Neue"/>
                <a:cs typeface="Helvetica Neue"/>
              </a:defRPr>
            </a:lvl7pPr>
            <a:lvl8pPr>
              <a:defRPr sz="1725" b="0">
                <a:solidFill>
                  <a:srgbClr val="CDCDD3"/>
                </a:solidFill>
                <a:latin typeface="Helvetica Neue"/>
                <a:ea typeface="Helvetica Neue"/>
                <a:cs typeface="Helvetica Neue"/>
              </a:defRPr>
            </a:lvl8pPr>
            <a:lvl9pPr>
              <a:defRPr sz="1725" b="0">
                <a:solidFill>
                  <a:srgbClr val="CDCDD3"/>
                </a:solidFill>
                <a:latin typeface="Helvetica Neue"/>
                <a:ea typeface="Helvetica Neue"/>
                <a:cs typeface="Helvetica Neue"/>
              </a:defRPr>
            </a:lvl9pPr>
          </a:lstStyle>
          <a:p xmlns:a="http://schemas.openxmlformats.org/drawingml/2006/main">
            <a:pPr>
              <a:defRPr sz="1725" b="0">
                <a:solidFill>
                  <a:srgbClr val="CDCDD3"/>
                </a:solidFill>
                <a:latin typeface="Helvetica Neue"/>
                <a:ea typeface="Helvetica Neue"/>
                <a:cs typeface="Helvetica Neue"/>
              </a:defRPr>
            </a:pPr>
            <a:r>
              <a:rPr sz="1725" b="0">
                <a:solidFill>
                  <a:srgbClr val="CDCDD3"/>
                </a:solidFill>
                <a:latin typeface="Helvetica Neue"/>
                <a:ea typeface="Helvetica Neue"/>
                <a:cs typeface="Helvetica Neue"/>
              </a:rPr>
              <a:t>Generative model описывает p(x, y). Discriminative model оценивает p(y | x) или строит decision boundary.</a:t>
            </a:r>
          </a:p>
        </p:txBody>
      </p:sp>
    </p:spTree>
    <p:extLst>
      <p:ext uri="{BB962C8B-B14F-4D97-AF65-F5344CB8AC3E}">
        <p14:creationId xmlns:p14="http://schemas.microsoft.com/office/powerpoint/2010/main" val="748579006"/>
      </p:ext>
    </p:extLst>
  </p:cSld>
</p:sld>
</file>

<file path=ppt/slides/slide6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9" name="exp90-0">
            <a:extLst xmlns:a="http://schemas.openxmlformats.org/drawingml/2006/main">
              <a:ext uri="{FF2B5EF4-FFF2-40B4-BE49-F238E27FC236}">
                <a16:creationId xmlns:a16="http://schemas.microsoft.com/office/drawing/2014/main" id="{F9DE0AE2-E33E-486E-A94A-1936853BE2E4}"/>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90-1">
            <a:extLst xmlns:a="http://schemas.openxmlformats.org/drawingml/2006/main">
              <a:ext uri="{FF2B5EF4-FFF2-40B4-BE49-F238E27FC236}">
                <a16:creationId xmlns:a16="http://schemas.microsoft.com/office/drawing/2014/main" id="{98E007BF-C813-44A3-983A-22FCDD1068C6}"/>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60</a:t>
            </a:r>
          </a:p>
        </p:txBody>
      </p:sp>
      <p:sp>
        <p:nvSpPr>
          <p:cNvPr id="3" name="">
            <a:extLst xmlns:a="http://schemas.openxmlformats.org/drawingml/2006/main">
              <a:ext uri="{FF2B5EF4-FFF2-40B4-BE49-F238E27FC236}">
                <a16:creationId xmlns:a16="http://schemas.microsoft.com/office/drawing/2014/main" id="{110A83A3-2DCF-404D-9D62-3A9119A5BF0F}"/>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0">
            <a:solidFill>
              <a:srgbClr val="28282B"/>
            </a:solidFill>
          </a:ln>
        </p:spPr>
      </p:sp>
      <p:sp>
        <p:nvSpPr>
          <p:cNvPr id="4" name="exp90-3">
            <a:extLst xmlns:a="http://schemas.openxmlformats.org/drawingml/2006/main">
              <a:ext uri="{FF2B5EF4-FFF2-40B4-BE49-F238E27FC236}">
                <a16:creationId xmlns:a16="http://schemas.microsoft.com/office/drawing/2014/main" id="{96B14FA6-E661-4589-BE37-8D91C39EDE53}"/>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Naive Bayes</a:t>
            </a:r>
          </a:p>
        </p:txBody>
      </p:sp>
      <p:pic>
        <p:nvPicPr>
          <p:cNvPr id="10" name="">
            <a:extLst xmlns:a="http://schemas.openxmlformats.org/drawingml/2006/main">
              <a:ext uri="{FF2B5EF4-FFF2-40B4-BE49-F238E27FC236}">
                <a16:creationId xmlns:a16="http://schemas.microsoft.com/office/drawing/2014/main" id="{5A0B13BF-5CA1-42D8-803E-8DC9533D279F}"/>
              </a:ext>
            </a:extLst>
          </p:cNvPr>
          <p:cNvPicPr>
            <a:picLocks xmlns:a="http://schemas.openxmlformats.org/drawingml/2006/main" noChangeAspect="1"/>
          </p:cNvPicPr>
          <p:nvPr/>
        </p:nvPicPr>
        <p:blipFill>
          <a:blip xmlns:r="http://schemas.openxmlformats.org/officeDocument/2006/relationships" xmlns:a="http://schemas.openxmlformats.org/drawingml/2006/main" r:embed="R0df1d9bdf4524dab"/>
          <a:stretch xmlns:a="http://schemas.openxmlformats.org/drawingml/2006/main"/>
        </p:blipFill>
        <p:spPr>
          <a:xfrm xmlns:a="http://schemas.openxmlformats.org/drawingml/2006/main">
            <a:off x="685800" y="2159995"/>
            <a:ext cx="10820400" cy="2061759"/>
          </a:xfrm>
          <a:prstGeom xmlns:a="http://schemas.openxmlformats.org/drawingml/2006/main" prst="rect">
            <a:avLst/>
          </a:prstGeom>
        </p:spPr>
      </p:pic>
      <p:sp>
        <p:nvSpPr>
          <p:cNvPr id="11" name="ysda-4">
            <a:extLst xmlns:a="http://schemas.openxmlformats.org/drawingml/2006/main">
              <a:ext uri="{FF2B5EF4-FFF2-40B4-BE49-F238E27FC236}">
                <a16:creationId xmlns:a16="http://schemas.microsoft.com/office/drawing/2014/main" id="{4808F1B0-0B1E-446C-B99A-F723E7184562}"/>
              </a:ext>
            </a:extLst>
          </p:cNvPr>
          <p:cNvSpPr>
            <a:spLocks xmlns:a="http://schemas.openxmlformats.org/drawingml/2006/main" noGrp="1"/>
          </p:cNvSpPr>
          <p:nvPr/>
        </p:nvSpPr>
        <p:spPr>
          <a:xfrm xmlns:a="http://schemas.openxmlformats.org/drawingml/2006/main">
            <a:off x="685800" y="4600575"/>
            <a:ext cx="108204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13" b="0">
                <a:solidFill>
                  <a:srgbClr val="CDCDD3"/>
                </a:solidFill>
                <a:latin typeface="Helvetica Neue"/>
                <a:ea typeface="Helvetica Neue"/>
                <a:cs typeface="Helvetica Neue"/>
              </a:defRPr>
            </a:defPPr>
            <a:lvl1pPr>
              <a:defRPr sz="1913" b="0">
                <a:solidFill>
                  <a:srgbClr val="CDCDD3"/>
                </a:solidFill>
                <a:latin typeface="Helvetica Neue"/>
                <a:ea typeface="Helvetica Neue"/>
                <a:cs typeface="Helvetica Neue"/>
              </a:defRPr>
            </a:lvl1pPr>
            <a:lvl2pPr>
              <a:defRPr sz="1913" b="0">
                <a:solidFill>
                  <a:srgbClr val="CDCDD3"/>
                </a:solidFill>
                <a:latin typeface="Helvetica Neue"/>
                <a:ea typeface="Helvetica Neue"/>
                <a:cs typeface="Helvetica Neue"/>
              </a:defRPr>
            </a:lvl2pPr>
            <a:lvl3pPr>
              <a:defRPr sz="1913" b="0">
                <a:solidFill>
                  <a:srgbClr val="CDCDD3"/>
                </a:solidFill>
                <a:latin typeface="Helvetica Neue"/>
                <a:ea typeface="Helvetica Neue"/>
                <a:cs typeface="Helvetica Neue"/>
              </a:defRPr>
            </a:lvl3pPr>
            <a:lvl4pPr>
              <a:defRPr sz="1913" b="0">
                <a:solidFill>
                  <a:srgbClr val="CDCDD3"/>
                </a:solidFill>
                <a:latin typeface="Helvetica Neue"/>
                <a:ea typeface="Helvetica Neue"/>
                <a:cs typeface="Helvetica Neue"/>
              </a:defRPr>
            </a:lvl4pPr>
            <a:lvl5pPr>
              <a:defRPr sz="1913" b="0">
                <a:solidFill>
                  <a:srgbClr val="CDCDD3"/>
                </a:solidFill>
                <a:latin typeface="Helvetica Neue"/>
                <a:ea typeface="Helvetica Neue"/>
                <a:cs typeface="Helvetica Neue"/>
              </a:defRPr>
            </a:lvl5pPr>
            <a:lvl6pPr>
              <a:defRPr sz="1913" b="0">
                <a:solidFill>
                  <a:srgbClr val="CDCDD3"/>
                </a:solidFill>
                <a:latin typeface="Helvetica Neue"/>
                <a:ea typeface="Helvetica Neue"/>
                <a:cs typeface="Helvetica Neue"/>
              </a:defRPr>
            </a:lvl6pPr>
            <a:lvl7pPr>
              <a:defRPr sz="1913" b="0">
                <a:solidFill>
                  <a:srgbClr val="CDCDD3"/>
                </a:solidFill>
                <a:latin typeface="Helvetica Neue"/>
                <a:ea typeface="Helvetica Neue"/>
                <a:cs typeface="Helvetica Neue"/>
              </a:defRPr>
            </a:lvl7pPr>
            <a:lvl8pPr>
              <a:defRPr sz="1913" b="0">
                <a:solidFill>
                  <a:srgbClr val="CDCDD3"/>
                </a:solidFill>
                <a:latin typeface="Helvetica Neue"/>
                <a:ea typeface="Helvetica Neue"/>
                <a:cs typeface="Helvetica Neue"/>
              </a:defRPr>
            </a:lvl8pPr>
            <a:lvl9pPr>
              <a:defRPr sz="1913" b="0">
                <a:solidFill>
                  <a:srgbClr val="CDCDD3"/>
                </a:solidFill>
                <a:latin typeface="Helvetica Neue"/>
                <a:ea typeface="Helvetica Neue"/>
                <a:cs typeface="Helvetica Neue"/>
              </a:defRPr>
            </a:lvl9pPr>
          </a:lstStyle>
          <a:p xmlns:a="http://schemas.openxmlformats.org/drawingml/2006/main">
            <a:pPr>
              <a:defRPr sz="1913" b="0">
                <a:solidFill>
                  <a:srgbClr val="CDCDD3"/>
                </a:solidFill>
                <a:latin typeface="Helvetica Neue"/>
                <a:ea typeface="Helvetica Neue"/>
                <a:cs typeface="Helvetica Neue"/>
              </a:defRPr>
            </a:pPr>
            <a:r>
              <a:rPr sz="1913" b="0">
                <a:solidFill>
                  <a:srgbClr val="CDCDD3"/>
                </a:solidFill>
                <a:latin typeface="Helvetica Neue"/>
                <a:ea typeface="Helvetica Neue"/>
                <a:cs typeface="Helvetica Neue"/>
              </a:rPr>
              <a:t>Naive Bayes выбирает класс, который лучше объясняет наблюдаемые features с учётом prior. После появления текста оценивается posterior. Ключевое допущение — conditional independence features при фиксированном классе. Для Multinomial Naive Bayes используются counts и class-specific частоты. Это простое приближение: слова в языке зависимы, поэтому модель удобна как baseline, но не описывает всю структуру высказывания.</a:t>
            </a:r>
          </a:p>
        </p:txBody>
      </p:sp>
    </p:spTree>
    <p:extLst>
      <p:ext uri="{BB962C8B-B14F-4D97-AF65-F5344CB8AC3E}">
        <p14:creationId xmlns:p14="http://schemas.microsoft.com/office/powerpoint/2010/main" val="1682208859"/>
      </p:ext>
    </p:extLst>
  </p:cSld>
</p:sld>
</file>

<file path=ppt/slides/slide6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8" name="exp90-0">
            <a:extLst xmlns:a="http://schemas.openxmlformats.org/drawingml/2006/main">
              <a:ext uri="{FF2B5EF4-FFF2-40B4-BE49-F238E27FC236}">
                <a16:creationId xmlns:a16="http://schemas.microsoft.com/office/drawing/2014/main" id="{39C0C4F4-CFCD-4E91-8A47-1750CBCF249B}"/>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90-1">
            <a:extLst xmlns:a="http://schemas.openxmlformats.org/drawingml/2006/main">
              <a:ext uri="{FF2B5EF4-FFF2-40B4-BE49-F238E27FC236}">
                <a16:creationId xmlns:a16="http://schemas.microsoft.com/office/drawing/2014/main" id="{FC1FDABC-9EEE-4803-A555-CDD20AF4DCAB}"/>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61</a:t>
            </a:r>
          </a:p>
        </p:txBody>
      </p:sp>
      <p:sp>
        <p:nvSpPr>
          <p:cNvPr id="3" name="">
            <a:extLst xmlns:a="http://schemas.openxmlformats.org/drawingml/2006/main">
              <a:ext uri="{FF2B5EF4-FFF2-40B4-BE49-F238E27FC236}">
                <a16:creationId xmlns:a16="http://schemas.microsoft.com/office/drawing/2014/main" id="{C8DA0457-25A6-4B67-9529-FB3C9141207A}"/>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0">
            <a:solidFill>
              <a:srgbClr val="28282B"/>
            </a:solidFill>
          </a:ln>
        </p:spPr>
      </p:sp>
      <p:sp>
        <p:nvSpPr>
          <p:cNvPr id="4" name="exp90-3">
            <a:extLst xmlns:a="http://schemas.openxmlformats.org/drawingml/2006/main">
              <a:ext uri="{FF2B5EF4-FFF2-40B4-BE49-F238E27FC236}">
                <a16:creationId xmlns:a16="http://schemas.microsoft.com/office/drawing/2014/main" id="{52B8B13F-E528-4C05-A0C5-9D1C12829508}"/>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Naive Bayes: smoothing</a:t>
            </a:r>
          </a:p>
        </p:txBody>
      </p:sp>
      <p:pic>
        <p:nvPicPr>
          <p:cNvPr id="9" name="">
            <a:extLst xmlns:a="http://schemas.openxmlformats.org/drawingml/2006/main">
              <a:ext uri="{FF2B5EF4-FFF2-40B4-BE49-F238E27FC236}">
                <a16:creationId xmlns:a16="http://schemas.microsoft.com/office/drawing/2014/main" id="{5E491D14-41AD-4778-9CDB-61F8EBA30416}"/>
              </a:ext>
            </a:extLst>
          </p:cNvPr>
          <p:cNvPicPr>
            <a:picLocks xmlns:a="http://schemas.openxmlformats.org/drawingml/2006/main" noChangeAspect="1"/>
          </p:cNvPicPr>
          <p:nvPr/>
        </p:nvPicPr>
        <p:blipFill>
          <a:blip xmlns:r="http://schemas.openxmlformats.org/officeDocument/2006/relationships" xmlns:a="http://schemas.openxmlformats.org/drawingml/2006/main" r:embed="R46094e0fb08f4d2e"/>
          <a:stretch xmlns:a="http://schemas.openxmlformats.org/drawingml/2006/main"/>
        </p:blipFill>
        <p:spPr>
          <a:xfrm xmlns:a="http://schemas.openxmlformats.org/drawingml/2006/main">
            <a:off x="685800" y="2044729"/>
            <a:ext cx="10820400" cy="2292293"/>
          </a:xfrm>
          <a:prstGeom xmlns:a="http://schemas.openxmlformats.org/drawingml/2006/main" prst="rect">
            <a:avLst/>
          </a:prstGeom>
        </p:spPr>
      </p:pic>
      <p:sp>
        <p:nvSpPr>
          <p:cNvPr id="10" name="ysda-4">
            <a:extLst xmlns:a="http://schemas.openxmlformats.org/drawingml/2006/main">
              <a:ext uri="{FF2B5EF4-FFF2-40B4-BE49-F238E27FC236}">
                <a16:creationId xmlns:a16="http://schemas.microsoft.com/office/drawing/2014/main" id="{DDE2CA0A-C1A4-4293-8228-FA0C5D7901C3}"/>
              </a:ext>
            </a:extLst>
          </p:cNvPr>
          <p:cNvSpPr>
            <a:spLocks xmlns:a="http://schemas.openxmlformats.org/drawingml/2006/main" noGrp="1"/>
          </p:cNvSpPr>
          <p:nvPr/>
        </p:nvSpPr>
        <p:spPr>
          <a:xfrm xmlns:a="http://schemas.openxmlformats.org/drawingml/2006/main">
            <a:off x="685800" y="4600575"/>
            <a:ext cx="108204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13" b="0">
                <a:solidFill>
                  <a:srgbClr val="CDCDD3"/>
                </a:solidFill>
                <a:latin typeface="Helvetica Neue"/>
                <a:ea typeface="Helvetica Neue"/>
                <a:cs typeface="Helvetica Neue"/>
              </a:defRPr>
            </a:defPPr>
            <a:lvl1pPr>
              <a:defRPr sz="1913" b="0">
                <a:solidFill>
                  <a:srgbClr val="CDCDD3"/>
                </a:solidFill>
                <a:latin typeface="Helvetica Neue"/>
                <a:ea typeface="Helvetica Neue"/>
                <a:cs typeface="Helvetica Neue"/>
              </a:defRPr>
            </a:lvl1pPr>
            <a:lvl2pPr>
              <a:defRPr sz="1913" b="0">
                <a:solidFill>
                  <a:srgbClr val="CDCDD3"/>
                </a:solidFill>
                <a:latin typeface="Helvetica Neue"/>
                <a:ea typeface="Helvetica Neue"/>
                <a:cs typeface="Helvetica Neue"/>
              </a:defRPr>
            </a:lvl2pPr>
            <a:lvl3pPr>
              <a:defRPr sz="1913" b="0">
                <a:solidFill>
                  <a:srgbClr val="CDCDD3"/>
                </a:solidFill>
                <a:latin typeface="Helvetica Neue"/>
                <a:ea typeface="Helvetica Neue"/>
                <a:cs typeface="Helvetica Neue"/>
              </a:defRPr>
            </a:lvl3pPr>
            <a:lvl4pPr>
              <a:defRPr sz="1913" b="0">
                <a:solidFill>
                  <a:srgbClr val="CDCDD3"/>
                </a:solidFill>
                <a:latin typeface="Helvetica Neue"/>
                <a:ea typeface="Helvetica Neue"/>
                <a:cs typeface="Helvetica Neue"/>
              </a:defRPr>
            </a:lvl4pPr>
            <a:lvl5pPr>
              <a:defRPr sz="1913" b="0">
                <a:solidFill>
                  <a:srgbClr val="CDCDD3"/>
                </a:solidFill>
                <a:latin typeface="Helvetica Neue"/>
                <a:ea typeface="Helvetica Neue"/>
                <a:cs typeface="Helvetica Neue"/>
              </a:defRPr>
            </a:lvl5pPr>
            <a:lvl6pPr>
              <a:defRPr sz="1913" b="0">
                <a:solidFill>
                  <a:srgbClr val="CDCDD3"/>
                </a:solidFill>
                <a:latin typeface="Helvetica Neue"/>
                <a:ea typeface="Helvetica Neue"/>
                <a:cs typeface="Helvetica Neue"/>
              </a:defRPr>
            </a:lvl6pPr>
            <a:lvl7pPr>
              <a:defRPr sz="1913" b="0">
                <a:solidFill>
                  <a:srgbClr val="CDCDD3"/>
                </a:solidFill>
                <a:latin typeface="Helvetica Neue"/>
                <a:ea typeface="Helvetica Neue"/>
                <a:cs typeface="Helvetica Neue"/>
              </a:defRPr>
            </a:lvl7pPr>
            <a:lvl8pPr>
              <a:defRPr sz="1913" b="0">
                <a:solidFill>
                  <a:srgbClr val="CDCDD3"/>
                </a:solidFill>
                <a:latin typeface="Helvetica Neue"/>
                <a:ea typeface="Helvetica Neue"/>
                <a:cs typeface="Helvetica Neue"/>
              </a:defRPr>
            </a:lvl8pPr>
            <a:lvl9pPr>
              <a:defRPr sz="1913" b="0">
                <a:solidFill>
                  <a:srgbClr val="CDCDD3"/>
                </a:solidFill>
                <a:latin typeface="Helvetica Neue"/>
                <a:ea typeface="Helvetica Neue"/>
                <a:cs typeface="Helvetica Neue"/>
              </a:defRPr>
            </a:lvl9pPr>
          </a:lstStyle>
          <a:p xmlns:a="http://schemas.openxmlformats.org/drawingml/2006/main">
            <a:pPr>
              <a:defRPr sz="1913" b="0">
                <a:solidFill>
                  <a:srgbClr val="CDCDD3"/>
                </a:solidFill>
                <a:latin typeface="Helvetica Neue"/>
                <a:ea typeface="Helvetica Neue"/>
                <a:cs typeface="Helvetica Neue"/>
              </a:defRPr>
            </a:pPr>
            <a:r>
              <a:rPr sz="1913" b="0">
                <a:solidFill>
                  <a:srgbClr val="CDCDD3"/>
                </a:solidFill>
                <a:latin typeface="Helvetica Neue"/>
                <a:ea typeface="Helvetica Neue"/>
                <a:cs typeface="Helvetica Neue"/>
              </a:rPr>
              <a:t>Если слово из vocabulary ни разу не встречалось в документах одного класса, несглаженная оценка его вероятности равна нулю. В произведении такая оценка обнуляет вклад всего документа. Additive smoothing добавляет небольшую положительную величину к counts до normalization. Это позволяет не считать отсутствие наблюдения доказательством невозможности. В sklearn силу smoothing задаёт alpha; значение выбирают на train/dev.</a:t>
            </a:r>
          </a:p>
        </p:txBody>
      </p:sp>
    </p:spTree>
    <p:extLst>
      <p:ext uri="{BB962C8B-B14F-4D97-AF65-F5344CB8AC3E}">
        <p14:creationId xmlns:p14="http://schemas.microsoft.com/office/powerpoint/2010/main" val="63208448"/>
      </p:ext>
    </p:extLst>
  </p:cSld>
</p:sld>
</file>

<file path=ppt/slides/slide6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5" name="text-0">
            <a:extLst xmlns:a="http://schemas.openxmlformats.org/drawingml/2006/main">
              <a:ext uri="{FF2B5EF4-FFF2-40B4-BE49-F238E27FC236}">
                <a16:creationId xmlns:a16="http://schemas.microsoft.com/office/drawing/2014/main" id="{D3381096-664B-43B0-9B39-DE1CC8EDFE27}"/>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98989F"/>
                </a:solidFill>
                <a:latin typeface="Helvetica Neue"/>
                <a:ea typeface="Helvetica Neue"/>
                <a:cs typeface="Helvetica Neue"/>
              </a:defRPr>
            </a:defPPr>
            <a:lvl1pPr algn="l">
              <a:buNone/>
              <a:defRPr sz="1425" b="0">
                <a:solidFill>
                  <a:srgbClr val="98989F"/>
                </a:solidFill>
                <a:latin typeface="Helvetica Neue"/>
                <a:ea typeface="Helvetica Neue"/>
                <a:cs typeface="Helvetica Neue"/>
              </a:defRPr>
            </a:lvl1pPr>
            <a:lvl2pPr algn="l">
              <a:buNone/>
              <a:defRPr sz="1425" b="0">
                <a:solidFill>
                  <a:srgbClr val="98989F"/>
                </a:solidFill>
                <a:latin typeface="Helvetica Neue"/>
                <a:ea typeface="Helvetica Neue"/>
                <a:cs typeface="Helvetica Neue"/>
              </a:defRPr>
            </a:lvl2pPr>
            <a:lvl3pPr algn="l">
              <a:buNone/>
              <a:defRPr sz="1425" b="0">
                <a:solidFill>
                  <a:srgbClr val="98989F"/>
                </a:solidFill>
                <a:latin typeface="Helvetica Neue"/>
                <a:ea typeface="Helvetica Neue"/>
                <a:cs typeface="Helvetica Neue"/>
              </a:defRPr>
            </a:lvl3pPr>
            <a:lvl4pPr algn="l">
              <a:buNone/>
              <a:defRPr sz="1425" b="0">
                <a:solidFill>
                  <a:srgbClr val="98989F"/>
                </a:solidFill>
                <a:latin typeface="Helvetica Neue"/>
                <a:ea typeface="Helvetica Neue"/>
                <a:cs typeface="Helvetica Neue"/>
              </a:defRPr>
            </a:lvl4pPr>
            <a:lvl5pPr algn="l">
              <a:buNone/>
              <a:defRPr sz="1425" b="0">
                <a:solidFill>
                  <a:srgbClr val="98989F"/>
                </a:solidFill>
                <a:latin typeface="Helvetica Neue"/>
                <a:ea typeface="Helvetica Neue"/>
                <a:cs typeface="Helvetica Neue"/>
              </a:defRPr>
            </a:lvl5pPr>
            <a:lvl6pPr algn="l">
              <a:buNone/>
              <a:defRPr sz="1425" b="0">
                <a:solidFill>
                  <a:srgbClr val="98989F"/>
                </a:solidFill>
                <a:latin typeface="Helvetica Neue"/>
                <a:ea typeface="Helvetica Neue"/>
                <a:cs typeface="Helvetica Neue"/>
              </a:defRPr>
            </a:lvl6pPr>
            <a:lvl7pPr algn="l">
              <a:buNone/>
              <a:defRPr sz="1425" b="0">
                <a:solidFill>
                  <a:srgbClr val="98989F"/>
                </a:solidFill>
                <a:latin typeface="Helvetica Neue"/>
                <a:ea typeface="Helvetica Neue"/>
                <a:cs typeface="Helvetica Neue"/>
              </a:defRPr>
            </a:lvl7pPr>
            <a:lvl8pPr algn="l">
              <a:buNone/>
              <a:defRPr sz="1425" b="0">
                <a:solidFill>
                  <a:srgbClr val="98989F"/>
                </a:solidFill>
                <a:latin typeface="Helvetica Neue"/>
                <a:ea typeface="Helvetica Neue"/>
                <a:cs typeface="Helvetica Neue"/>
              </a:defRPr>
            </a:lvl8pPr>
            <a:lvl9pPr algn="l">
              <a:buNone/>
              <a:defRPr sz="1425" b="0">
                <a:solidFill>
                  <a:srgbClr val="98989F"/>
                </a:solidFill>
                <a:latin typeface="Helvetica Neue"/>
                <a:ea typeface="Helvetica Neue"/>
                <a:cs typeface="Helvetica Neue"/>
              </a:defRPr>
            </a:lvl9pPr>
          </a:lstStyle>
          <a:p xmlns:a="http://schemas.openxmlformats.org/drawingml/2006/main">
            <a:pPr algn="l">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text-1">
            <a:extLst xmlns:a="http://schemas.openxmlformats.org/drawingml/2006/main">
              <a:ext uri="{FF2B5EF4-FFF2-40B4-BE49-F238E27FC236}">
                <a16:creationId xmlns:a16="http://schemas.microsoft.com/office/drawing/2014/main" id="{F1284F8C-870D-47B3-AC7E-A467D94C9E89}"/>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62</a:t>
            </a:r>
          </a:p>
        </p:txBody>
      </p:sp>
      <p:sp>
        <p:nvSpPr>
          <p:cNvPr id="3" name="">
            <a:extLst xmlns:a="http://schemas.openxmlformats.org/drawingml/2006/main">
              <a:ext uri="{FF2B5EF4-FFF2-40B4-BE49-F238E27FC236}">
                <a16:creationId xmlns:a16="http://schemas.microsoft.com/office/drawing/2014/main" id="{81EAF16A-8902-44F9-B3F6-BE4F74BCC4AF}"/>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prstDash val="solid"/>
          </a:ln>
        </p:spPr>
      </p:sp>
      <p:sp>
        <p:nvSpPr>
          <p:cNvPr id="4" name="text-3">
            <a:extLst xmlns:a="http://schemas.openxmlformats.org/drawingml/2006/main">
              <a:ext uri="{FF2B5EF4-FFF2-40B4-BE49-F238E27FC236}">
                <a16:creationId xmlns:a16="http://schemas.microsoft.com/office/drawing/2014/main" id="{351E3B5D-447E-40F2-AF3F-89079B43BBA3}"/>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5F7"/>
                </a:solidFill>
                <a:latin typeface="Helvetica Neue"/>
                <a:ea typeface="Helvetica Neue"/>
                <a:cs typeface="Helvetica Neue"/>
              </a:defRPr>
            </a:defPPr>
            <a:lvl1pPr algn="l">
              <a:buNone/>
              <a:defRPr sz="3450" b="1">
                <a:solidFill>
                  <a:srgbClr val="F5F5F7"/>
                </a:solidFill>
                <a:latin typeface="Helvetica Neue"/>
                <a:ea typeface="Helvetica Neue"/>
                <a:cs typeface="Helvetica Neue"/>
              </a:defRPr>
            </a:lvl1pPr>
            <a:lvl2pPr algn="l">
              <a:buNone/>
              <a:defRPr sz="3450" b="1">
                <a:solidFill>
                  <a:srgbClr val="F5F5F7"/>
                </a:solidFill>
                <a:latin typeface="Helvetica Neue"/>
                <a:ea typeface="Helvetica Neue"/>
                <a:cs typeface="Helvetica Neue"/>
              </a:defRPr>
            </a:lvl2pPr>
            <a:lvl3pPr algn="l">
              <a:buNone/>
              <a:defRPr sz="3450" b="1">
                <a:solidFill>
                  <a:srgbClr val="F5F5F7"/>
                </a:solidFill>
                <a:latin typeface="Helvetica Neue"/>
                <a:ea typeface="Helvetica Neue"/>
                <a:cs typeface="Helvetica Neue"/>
              </a:defRPr>
            </a:lvl3pPr>
            <a:lvl4pPr algn="l">
              <a:buNone/>
              <a:defRPr sz="3450" b="1">
                <a:solidFill>
                  <a:srgbClr val="F5F5F7"/>
                </a:solidFill>
                <a:latin typeface="Helvetica Neue"/>
                <a:ea typeface="Helvetica Neue"/>
                <a:cs typeface="Helvetica Neue"/>
              </a:defRPr>
            </a:lvl4pPr>
            <a:lvl5pPr algn="l">
              <a:buNone/>
              <a:defRPr sz="3450" b="1">
                <a:solidFill>
                  <a:srgbClr val="F5F5F7"/>
                </a:solidFill>
                <a:latin typeface="Helvetica Neue"/>
                <a:ea typeface="Helvetica Neue"/>
                <a:cs typeface="Helvetica Neue"/>
              </a:defRPr>
            </a:lvl5pPr>
            <a:lvl6pPr algn="l">
              <a:buNone/>
              <a:defRPr sz="3450" b="1">
                <a:solidFill>
                  <a:srgbClr val="F5F5F7"/>
                </a:solidFill>
                <a:latin typeface="Helvetica Neue"/>
                <a:ea typeface="Helvetica Neue"/>
                <a:cs typeface="Helvetica Neue"/>
              </a:defRPr>
            </a:lvl6pPr>
            <a:lvl7pPr algn="l">
              <a:buNone/>
              <a:defRPr sz="3450" b="1">
                <a:solidFill>
                  <a:srgbClr val="F5F5F7"/>
                </a:solidFill>
                <a:latin typeface="Helvetica Neue"/>
                <a:ea typeface="Helvetica Neue"/>
                <a:cs typeface="Helvetica Neue"/>
              </a:defRPr>
            </a:lvl7pPr>
            <a:lvl8pPr algn="l">
              <a:buNone/>
              <a:defRPr sz="3450" b="1">
                <a:solidFill>
                  <a:srgbClr val="F5F5F7"/>
                </a:solidFill>
                <a:latin typeface="Helvetica Neue"/>
                <a:ea typeface="Helvetica Neue"/>
                <a:cs typeface="Helvetica Neue"/>
              </a:defRPr>
            </a:lvl8pPr>
            <a:lvl9pPr algn="l">
              <a:buNone/>
              <a:defRPr sz="3450" b="1">
                <a:solidFill>
                  <a:srgbClr val="F5F5F7"/>
                </a:solidFill>
                <a:latin typeface="Helvetica Neue"/>
                <a:ea typeface="Helvetica Neue"/>
                <a:cs typeface="Helvetica Neue"/>
              </a:defRPr>
            </a:lvl9pPr>
          </a:lstStyle>
          <a:p xmlns:a="http://schemas.openxmlformats.org/drawingml/2006/main">
            <a:pPr algn="l">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MaxEnt / Logistic Regression</a:t>
            </a:r>
          </a:p>
        </p:txBody>
      </p:sp>
      <p:pic>
        <p:nvPicPr>
          <p:cNvPr id="16" name="">
            <a:extLst xmlns:a="http://schemas.openxmlformats.org/drawingml/2006/main">
              <a:ext uri="{FF2B5EF4-FFF2-40B4-BE49-F238E27FC236}">
                <a16:creationId xmlns:a16="http://schemas.microsoft.com/office/drawing/2014/main" id="{251EB8A2-A9F6-4AA0-AC91-895F49E1A17C}"/>
              </a:ext>
            </a:extLst>
          </p:cNvPr>
          <p:cNvPicPr>
            <a:picLocks xmlns:a="http://schemas.openxmlformats.org/drawingml/2006/main" noChangeAspect="1"/>
          </p:cNvPicPr>
          <p:nvPr/>
        </p:nvPicPr>
        <p:blipFill>
          <a:blip xmlns:r="http://schemas.openxmlformats.org/officeDocument/2006/relationships" xmlns:a="http://schemas.openxmlformats.org/drawingml/2006/main" r:embed="R1c839d2e66054095"/>
          <a:stretch xmlns:a="http://schemas.openxmlformats.org/drawingml/2006/main"/>
        </p:blipFill>
        <p:spPr>
          <a:xfrm xmlns:a="http://schemas.openxmlformats.org/drawingml/2006/main">
            <a:off x="1096276" y="2000250"/>
            <a:ext cx="9999447" cy="3981450"/>
          </a:xfrm>
          <a:prstGeom xmlns:a="http://schemas.openxmlformats.org/drawingml/2006/main" prst="rect">
            <a:avLst/>
          </a:prstGeom>
        </p:spPr>
      </p:pic>
      <p:sp>
        <p:nvSpPr>
          <p:cNvPr id="17" name="ysda-4">
            <a:extLst xmlns:a="http://schemas.openxmlformats.org/drawingml/2006/main">
              <a:ext uri="{FF2B5EF4-FFF2-40B4-BE49-F238E27FC236}">
                <a16:creationId xmlns:a16="http://schemas.microsoft.com/office/drawing/2014/main" id="{18517C7A-05A7-4846-9F78-56DFDBF2494B}"/>
              </a:ext>
            </a:extLst>
          </p:cNvPr>
          <p:cNvSpPr>
            <a:spLocks xmlns:a="http://schemas.openxmlformats.org/drawingml/2006/main" noGrp="1"/>
          </p:cNvSpPr>
          <p:nvPr/>
        </p:nvSpPr>
        <p:spPr>
          <a:xfrm xmlns:a="http://schemas.openxmlformats.org/drawingml/2006/main">
            <a:off x="685800" y="6124575"/>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CDCDD3"/>
                </a:solidFill>
                <a:latin typeface="Helvetica Neue"/>
                <a:ea typeface="Helvetica Neue"/>
                <a:cs typeface="Helvetica Neue"/>
              </a:defRPr>
            </a:defPPr>
            <a:lvl1pPr>
              <a:defRPr sz="1725" b="0">
                <a:solidFill>
                  <a:srgbClr val="CDCDD3"/>
                </a:solidFill>
                <a:latin typeface="Helvetica Neue"/>
                <a:ea typeface="Helvetica Neue"/>
                <a:cs typeface="Helvetica Neue"/>
              </a:defRPr>
            </a:lvl1pPr>
            <a:lvl2pPr>
              <a:defRPr sz="1725" b="0">
                <a:solidFill>
                  <a:srgbClr val="CDCDD3"/>
                </a:solidFill>
                <a:latin typeface="Helvetica Neue"/>
                <a:ea typeface="Helvetica Neue"/>
                <a:cs typeface="Helvetica Neue"/>
              </a:defRPr>
            </a:lvl2pPr>
            <a:lvl3pPr>
              <a:defRPr sz="1725" b="0">
                <a:solidFill>
                  <a:srgbClr val="CDCDD3"/>
                </a:solidFill>
                <a:latin typeface="Helvetica Neue"/>
                <a:ea typeface="Helvetica Neue"/>
                <a:cs typeface="Helvetica Neue"/>
              </a:defRPr>
            </a:lvl3pPr>
            <a:lvl4pPr>
              <a:defRPr sz="1725" b="0">
                <a:solidFill>
                  <a:srgbClr val="CDCDD3"/>
                </a:solidFill>
                <a:latin typeface="Helvetica Neue"/>
                <a:ea typeface="Helvetica Neue"/>
                <a:cs typeface="Helvetica Neue"/>
              </a:defRPr>
            </a:lvl4pPr>
            <a:lvl5pPr>
              <a:defRPr sz="1725" b="0">
                <a:solidFill>
                  <a:srgbClr val="CDCDD3"/>
                </a:solidFill>
                <a:latin typeface="Helvetica Neue"/>
                <a:ea typeface="Helvetica Neue"/>
                <a:cs typeface="Helvetica Neue"/>
              </a:defRPr>
            </a:lvl5pPr>
            <a:lvl6pPr>
              <a:defRPr sz="1725" b="0">
                <a:solidFill>
                  <a:srgbClr val="CDCDD3"/>
                </a:solidFill>
                <a:latin typeface="Helvetica Neue"/>
                <a:ea typeface="Helvetica Neue"/>
                <a:cs typeface="Helvetica Neue"/>
              </a:defRPr>
            </a:lvl6pPr>
            <a:lvl7pPr>
              <a:defRPr sz="1725" b="0">
                <a:solidFill>
                  <a:srgbClr val="CDCDD3"/>
                </a:solidFill>
                <a:latin typeface="Helvetica Neue"/>
                <a:ea typeface="Helvetica Neue"/>
                <a:cs typeface="Helvetica Neue"/>
              </a:defRPr>
            </a:lvl7pPr>
            <a:lvl8pPr>
              <a:defRPr sz="1725" b="0">
                <a:solidFill>
                  <a:srgbClr val="CDCDD3"/>
                </a:solidFill>
                <a:latin typeface="Helvetica Neue"/>
                <a:ea typeface="Helvetica Neue"/>
                <a:cs typeface="Helvetica Neue"/>
              </a:defRPr>
            </a:lvl8pPr>
            <a:lvl9pPr>
              <a:defRPr sz="1725" b="0">
                <a:solidFill>
                  <a:srgbClr val="CDCDD3"/>
                </a:solidFill>
                <a:latin typeface="Helvetica Neue"/>
                <a:ea typeface="Helvetica Neue"/>
                <a:cs typeface="Helvetica Neue"/>
              </a:defRPr>
            </a:lvl9pPr>
          </a:lstStyle>
          <a:p xmlns:a="http://schemas.openxmlformats.org/drawingml/2006/main">
            <a:pPr>
              <a:defRPr sz="1725" b="0">
                <a:solidFill>
                  <a:srgbClr val="CDCDD3"/>
                </a:solidFill>
                <a:latin typeface="Helvetica Neue"/>
                <a:ea typeface="Helvetica Neue"/>
                <a:cs typeface="Helvetica Neue"/>
              </a:defRPr>
            </a:pPr>
            <a:r>
              <a:rPr sz="1725" b="0">
                <a:solidFill>
                  <a:srgbClr val="CDCDD3"/>
                </a:solidFill>
                <a:latin typeface="Helvetica Neue"/>
                <a:ea typeface="Helvetica Neue"/>
                <a:cs typeface="Helvetica Neue"/>
              </a:rPr>
              <a:t>Features h взвешиваются отдельно для каждого класса. Softmax преобразует scores в class probabilities.</a:t>
            </a:r>
          </a:p>
        </p:txBody>
      </p:sp>
    </p:spTree>
    <p:extLst>
      <p:ext uri="{BB962C8B-B14F-4D97-AF65-F5344CB8AC3E}">
        <p14:creationId xmlns:p14="http://schemas.microsoft.com/office/powerpoint/2010/main" val="1961368698"/>
      </p:ext>
    </p:extLst>
  </p:cSld>
</p:sld>
</file>

<file path=ppt/slides/slide6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9" name="exp90-0">
            <a:extLst xmlns:a="http://schemas.openxmlformats.org/drawingml/2006/main">
              <a:ext uri="{FF2B5EF4-FFF2-40B4-BE49-F238E27FC236}">
                <a16:creationId xmlns:a16="http://schemas.microsoft.com/office/drawing/2014/main" id="{8A5DD433-B483-4969-A9D7-B383CCB8E79F}"/>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90-1">
            <a:extLst xmlns:a="http://schemas.openxmlformats.org/drawingml/2006/main">
              <a:ext uri="{FF2B5EF4-FFF2-40B4-BE49-F238E27FC236}">
                <a16:creationId xmlns:a16="http://schemas.microsoft.com/office/drawing/2014/main" id="{8640D774-6615-4A7C-B13B-7FDC6B3F0CD1}"/>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63</a:t>
            </a:r>
          </a:p>
        </p:txBody>
      </p:sp>
      <p:sp>
        <p:nvSpPr>
          <p:cNvPr id="3" name="">
            <a:extLst xmlns:a="http://schemas.openxmlformats.org/drawingml/2006/main">
              <a:ext uri="{FF2B5EF4-FFF2-40B4-BE49-F238E27FC236}">
                <a16:creationId xmlns:a16="http://schemas.microsoft.com/office/drawing/2014/main" id="{3D99E04E-4238-4336-9294-34AF7A15F12B}"/>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0">
            <a:solidFill>
              <a:srgbClr val="28282B"/>
            </a:solidFill>
          </a:ln>
        </p:spPr>
      </p:sp>
      <p:sp>
        <p:nvSpPr>
          <p:cNvPr id="4" name="exp90-3">
            <a:extLst xmlns:a="http://schemas.openxmlformats.org/drawingml/2006/main">
              <a:ext uri="{FF2B5EF4-FFF2-40B4-BE49-F238E27FC236}">
                <a16:creationId xmlns:a16="http://schemas.microsoft.com/office/drawing/2014/main" id="{56C399BE-C371-47AA-901F-86A90A9FF11C}"/>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Sigmoid и decision threshold</a:t>
            </a:r>
          </a:p>
        </p:txBody>
      </p:sp>
      <p:pic>
        <p:nvPicPr>
          <p:cNvPr id="5" name="">
            <a:extLst xmlns:a="http://schemas.openxmlformats.org/drawingml/2006/main">
              <a:ext uri="{FF2B5EF4-FFF2-40B4-BE49-F238E27FC236}">
                <a16:creationId xmlns:a16="http://schemas.microsoft.com/office/drawing/2014/main" id="{9EE19568-ABD6-4364-8288-C5BC0F86B0E3}"/>
              </a:ext>
            </a:extLst>
          </p:cNvPr>
          <p:cNvPicPr>
            <a:picLocks xmlns:a="http://schemas.openxmlformats.org/drawingml/2006/main" noChangeAspect="1"/>
          </p:cNvPicPr>
          <p:nvPr/>
        </p:nvPicPr>
        <p:blipFill>
          <a:blip xmlns:r="http://schemas.openxmlformats.org/officeDocument/2006/relationships" xmlns:a="http://schemas.openxmlformats.org/drawingml/2006/main" r:embed="R3ac90a5b60694d7c"/>
          <a:srcRect xmlns:a="http://schemas.openxmlformats.org/drawingml/2006/main" l="0" t="0" r="0" b="0"/>
          <a:stretch xmlns:a="http://schemas.openxmlformats.org/drawingml/2006/main">
            <a:fillRect l="0" t="0" r="0" b="0"/>
          </a:stretch>
        </p:blipFill>
        <p:spPr>
          <a:xfrm xmlns:a="http://schemas.openxmlformats.org/drawingml/2006/main">
            <a:off x="1152525" y="2047875"/>
            <a:ext cx="5257800" cy="3943350"/>
          </a:xfrm>
          <a:prstGeom xmlns:a="http://schemas.openxmlformats.org/drawingml/2006/main" prst="rect">
            <a:avLst/>
          </a:prstGeom>
        </p:spPr>
      </p:pic>
      <p:sp>
        <p:nvSpPr>
          <p:cNvPr id="6" name="exp90-4">
            <a:extLst xmlns:a="http://schemas.openxmlformats.org/drawingml/2006/main">
              <a:ext uri="{FF2B5EF4-FFF2-40B4-BE49-F238E27FC236}">
                <a16:creationId xmlns:a16="http://schemas.microsoft.com/office/drawing/2014/main" id="{5F79E606-5BFB-40D6-81EE-84117C68477F}"/>
              </a:ext>
            </a:extLst>
          </p:cNvPr>
          <p:cNvSpPr>
            <a:spLocks xmlns:a="http://schemas.openxmlformats.org/drawingml/2006/main" noGrp="1"/>
          </p:cNvSpPr>
          <p:nvPr/>
        </p:nvSpPr>
        <p:spPr>
          <a:xfrm xmlns:a="http://schemas.openxmlformats.org/drawingml/2006/main">
            <a:off x="7239000" y="2076450"/>
            <a:ext cx="4267200" cy="392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38" b="0">
                <a:solidFill>
                  <a:srgbClr val="CDCDD3"/>
                </a:solidFill>
                <a:latin typeface="Helvetica Neue"/>
                <a:ea typeface="Helvetica Neue"/>
                <a:cs typeface="Helvetica Neue"/>
              </a:defRPr>
            </a:defPPr>
            <a:lvl1pPr>
              <a:buNone/>
              <a:defRPr sz="1838" b="0">
                <a:solidFill>
                  <a:srgbClr val="CDCDD3"/>
                </a:solidFill>
                <a:latin typeface="Helvetica Neue"/>
                <a:ea typeface="Helvetica Neue"/>
                <a:cs typeface="Helvetica Neue"/>
              </a:defRPr>
            </a:lvl1pPr>
            <a:lvl2pPr>
              <a:buNone/>
              <a:defRPr sz="1838" b="0">
                <a:solidFill>
                  <a:srgbClr val="CDCDD3"/>
                </a:solidFill>
                <a:latin typeface="Helvetica Neue"/>
                <a:ea typeface="Helvetica Neue"/>
                <a:cs typeface="Helvetica Neue"/>
              </a:defRPr>
            </a:lvl2pPr>
            <a:lvl3pPr>
              <a:buNone/>
              <a:defRPr sz="1838" b="0">
                <a:solidFill>
                  <a:srgbClr val="CDCDD3"/>
                </a:solidFill>
                <a:latin typeface="Helvetica Neue"/>
                <a:ea typeface="Helvetica Neue"/>
                <a:cs typeface="Helvetica Neue"/>
              </a:defRPr>
            </a:lvl3pPr>
            <a:lvl4pPr>
              <a:buNone/>
              <a:defRPr sz="1838" b="0">
                <a:solidFill>
                  <a:srgbClr val="CDCDD3"/>
                </a:solidFill>
                <a:latin typeface="Helvetica Neue"/>
                <a:ea typeface="Helvetica Neue"/>
                <a:cs typeface="Helvetica Neue"/>
              </a:defRPr>
            </a:lvl4pPr>
            <a:lvl5pPr>
              <a:buNone/>
              <a:defRPr sz="1838" b="0">
                <a:solidFill>
                  <a:srgbClr val="CDCDD3"/>
                </a:solidFill>
                <a:latin typeface="Helvetica Neue"/>
                <a:ea typeface="Helvetica Neue"/>
                <a:cs typeface="Helvetica Neue"/>
              </a:defRPr>
            </a:lvl5pPr>
            <a:lvl6pPr>
              <a:buNone/>
              <a:defRPr sz="1838" b="0">
                <a:solidFill>
                  <a:srgbClr val="CDCDD3"/>
                </a:solidFill>
                <a:latin typeface="Helvetica Neue"/>
                <a:ea typeface="Helvetica Neue"/>
                <a:cs typeface="Helvetica Neue"/>
              </a:defRPr>
            </a:lvl6pPr>
            <a:lvl7pPr>
              <a:buNone/>
              <a:defRPr sz="1838" b="0">
                <a:solidFill>
                  <a:srgbClr val="CDCDD3"/>
                </a:solidFill>
                <a:latin typeface="Helvetica Neue"/>
                <a:ea typeface="Helvetica Neue"/>
                <a:cs typeface="Helvetica Neue"/>
              </a:defRPr>
            </a:lvl7pPr>
            <a:lvl8pPr>
              <a:buNone/>
              <a:defRPr sz="1838" b="0">
                <a:solidFill>
                  <a:srgbClr val="CDCDD3"/>
                </a:solidFill>
                <a:latin typeface="Helvetica Neue"/>
                <a:ea typeface="Helvetica Neue"/>
                <a:cs typeface="Helvetica Neue"/>
              </a:defRPr>
            </a:lvl8pPr>
            <a:lvl9pPr>
              <a:buNone/>
              <a:defRPr sz="1838" b="0">
                <a:solidFill>
                  <a:srgbClr val="CDCDD3"/>
                </a:solidFill>
                <a:latin typeface="Helvetica Neue"/>
                <a:ea typeface="Helvetica Neue"/>
                <a:cs typeface="Helvetica Neue"/>
              </a:defRPr>
            </a:lvl9pPr>
          </a:lstStyle>
          <a:p xmlns:a="http://schemas.openxmlformats.org/drawingml/2006/main">
            <a:pPr>
              <a:buNone/>
              <a:defRPr sz="1838" b="0">
                <a:solidFill>
                  <a:srgbClr val="CDCDD3"/>
                </a:solidFill>
                <a:latin typeface="Helvetica Neue"/>
                <a:ea typeface="Helvetica Neue"/>
                <a:cs typeface="Helvetica Neue"/>
              </a:defRPr>
            </a:pPr>
            <a:r>
              <a:rPr sz="1838" b="0">
                <a:solidFill>
                  <a:srgbClr val="CDCDD3"/>
                </a:solidFill>
                <a:latin typeface="Helvetica Neue"/>
                <a:ea typeface="Helvetica Neue"/>
                <a:cs typeface="Helvetica Neue"/>
              </a:rPr>
              <a:t>Красная кривая преобразует значение линейной оценки в число между нулём и единицей. Порог определяет, когда система выбирает положительный класс. Чёрные точки показывают метки искусственных примеров.</a:t>
            </a:r>
          </a:p>
          <a:p xmlns:a="http://schemas.openxmlformats.org/drawingml/2006/main">
            <a:r>
              <a:t/>
            </a:r>
          </a:p>
          <a:p xmlns:a="http://schemas.openxmlformats.org/drawingml/2006/main">
            <a:pPr>
              <a:buNone/>
              <a:defRPr sz="1838" b="0">
                <a:solidFill>
                  <a:srgbClr val="CDCDD3"/>
                </a:solidFill>
                <a:latin typeface="Helvetica Neue"/>
                <a:ea typeface="Helvetica Neue"/>
                <a:cs typeface="Helvetica Neue"/>
              </a:defRPr>
            </a:pPr>
            <a:r>
              <a:rPr sz="1838" b="0">
                <a:solidFill>
                  <a:srgbClr val="CDCDD3"/>
                </a:solidFill>
                <a:latin typeface="Helvetica Neue"/>
                <a:ea typeface="Helvetica Neue"/>
                <a:cs typeface="Helvetica Neue"/>
              </a:rPr>
              <a:t>График иллюстрирует форму зависимости на одном признаке. В текстовой модели линейная оценка обычно объединяет множество словных или символьных признаков.</a:t>
            </a:r>
          </a:p>
        </p:txBody>
      </p:sp>
      <p:sp>
        <p:nvSpPr>
          <p:cNvPr id="7" name="exp90-5">
            <a:extLst xmlns:a="http://schemas.openxmlformats.org/drawingml/2006/main">
              <a:ext uri="{FF2B5EF4-FFF2-40B4-BE49-F238E27FC236}">
                <a16:creationId xmlns:a16="http://schemas.microsoft.com/office/drawing/2014/main" id="{9B8F2FE7-4FA4-4502-92D3-0C560ECDE65D}"/>
              </a:ext>
            </a:extLst>
          </p:cNvPr>
          <p:cNvSpPr>
            <a:spLocks xmlns:a="http://schemas.openxmlformats.org/drawingml/2006/main" noGrp="1"/>
          </p:cNvSpPr>
          <p:nvPr/>
        </p:nvSpPr>
        <p:spPr>
          <a:xfrm xmlns:a="http://schemas.openxmlformats.org/drawingml/2006/main">
            <a:off x="685800" y="6210300"/>
            <a:ext cx="108204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88" b="0">
                <a:solidFill>
                  <a:srgbClr val="98989F"/>
                </a:solidFill>
                <a:latin typeface="Helvetica Neue"/>
                <a:ea typeface="Helvetica Neue"/>
                <a:cs typeface="Helvetica Neue"/>
              </a:defRPr>
            </a:defPPr>
            <a:lvl1pPr>
              <a:buNone/>
              <a:defRPr sz="1388" b="0">
                <a:solidFill>
                  <a:srgbClr val="98989F"/>
                </a:solidFill>
                <a:latin typeface="Helvetica Neue"/>
                <a:ea typeface="Helvetica Neue"/>
                <a:cs typeface="Helvetica Neue"/>
              </a:defRPr>
            </a:lvl1pPr>
            <a:lvl2pPr>
              <a:buNone/>
              <a:defRPr sz="1388" b="0">
                <a:solidFill>
                  <a:srgbClr val="98989F"/>
                </a:solidFill>
                <a:latin typeface="Helvetica Neue"/>
                <a:ea typeface="Helvetica Neue"/>
                <a:cs typeface="Helvetica Neue"/>
              </a:defRPr>
            </a:lvl2pPr>
            <a:lvl3pPr>
              <a:buNone/>
              <a:defRPr sz="1388" b="0">
                <a:solidFill>
                  <a:srgbClr val="98989F"/>
                </a:solidFill>
                <a:latin typeface="Helvetica Neue"/>
                <a:ea typeface="Helvetica Neue"/>
                <a:cs typeface="Helvetica Neue"/>
              </a:defRPr>
            </a:lvl3pPr>
            <a:lvl4pPr>
              <a:buNone/>
              <a:defRPr sz="1388" b="0">
                <a:solidFill>
                  <a:srgbClr val="98989F"/>
                </a:solidFill>
                <a:latin typeface="Helvetica Neue"/>
                <a:ea typeface="Helvetica Neue"/>
                <a:cs typeface="Helvetica Neue"/>
              </a:defRPr>
            </a:lvl4pPr>
            <a:lvl5pPr>
              <a:buNone/>
              <a:defRPr sz="1388" b="0">
                <a:solidFill>
                  <a:srgbClr val="98989F"/>
                </a:solidFill>
                <a:latin typeface="Helvetica Neue"/>
                <a:ea typeface="Helvetica Neue"/>
                <a:cs typeface="Helvetica Neue"/>
              </a:defRPr>
            </a:lvl5pPr>
            <a:lvl6pPr>
              <a:buNone/>
              <a:defRPr sz="1388" b="0">
                <a:solidFill>
                  <a:srgbClr val="98989F"/>
                </a:solidFill>
                <a:latin typeface="Helvetica Neue"/>
                <a:ea typeface="Helvetica Neue"/>
                <a:cs typeface="Helvetica Neue"/>
              </a:defRPr>
            </a:lvl6pPr>
            <a:lvl7pPr>
              <a:buNone/>
              <a:defRPr sz="1388" b="0">
                <a:solidFill>
                  <a:srgbClr val="98989F"/>
                </a:solidFill>
                <a:latin typeface="Helvetica Neue"/>
                <a:ea typeface="Helvetica Neue"/>
                <a:cs typeface="Helvetica Neue"/>
              </a:defRPr>
            </a:lvl7pPr>
            <a:lvl8pPr>
              <a:buNone/>
              <a:defRPr sz="1388" b="0">
                <a:solidFill>
                  <a:srgbClr val="98989F"/>
                </a:solidFill>
                <a:latin typeface="Helvetica Neue"/>
                <a:ea typeface="Helvetica Neue"/>
                <a:cs typeface="Helvetica Neue"/>
              </a:defRPr>
            </a:lvl8pPr>
            <a:lvl9pPr>
              <a:buNone/>
              <a:defRPr sz="1388" b="0">
                <a:solidFill>
                  <a:srgbClr val="98989F"/>
                </a:solidFill>
                <a:latin typeface="Helvetica Neue"/>
                <a:ea typeface="Helvetica Neue"/>
                <a:cs typeface="Helvetica Neue"/>
              </a:defRPr>
            </a:lvl9pPr>
          </a:lstStyle>
          <a:p xmlns:a="http://schemas.openxmlformats.org/drawingml/2006/main">
            <a:pPr>
              <a:buNone/>
              <a:defRPr sz="1388" b="0">
                <a:solidFill>
                  <a:srgbClr val="98989F"/>
                </a:solidFill>
                <a:latin typeface="Helvetica Neue"/>
                <a:ea typeface="Helvetica Neue"/>
                <a:cs typeface="Helvetica Neue"/>
              </a:defRPr>
            </a:pPr>
            <a:r>
              <a:rPr sz="1388" b="0">
                <a:solidFill>
                  <a:srgbClr val="98989F"/>
                </a:solidFill>
                <a:latin typeface="Helvetica Neue"/>
                <a:ea typeface="Helvetica Neue"/>
                <a:cs typeface="Helvetica Neue"/>
              </a:rPr>
              <a:t>Учебный пример scikit-learn 1.6. Вероятностная оценка модели не является гарантией правильности конкретного ответа.</a:t>
            </a:r>
          </a:p>
        </p:txBody>
      </p:sp>
      <p:sp>
        <p:nvSpPr>
          <p:cNvPr id="8" name="exp90-6">
            <a:extLst xmlns:a="http://schemas.openxmlformats.org/drawingml/2006/main">
              <a:ext uri="{FF2B5EF4-FFF2-40B4-BE49-F238E27FC236}">
                <a16:creationId xmlns:a16="http://schemas.microsoft.com/office/drawing/2014/main" id="{02DBA0EF-E688-4CFA-94FA-CF5D10BC9A16}"/>
              </a:ext>
            </a:extLst>
          </p:cNvPr>
          <p:cNvSpPr>
            <a:spLocks xmlns:a="http://schemas.openxmlformats.org/drawingml/2006/main" noGrp="1"/>
          </p:cNvSpPr>
          <p:nvPr/>
        </p:nvSpPr>
        <p:spPr>
          <a:xfrm xmlns:a="http://schemas.openxmlformats.org/drawingml/2006/main">
            <a:off x="685800" y="6648450"/>
            <a:ext cx="10820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63" b="0">
                <a:solidFill>
                  <a:srgbClr val="98989F"/>
                </a:solidFill>
                <a:latin typeface="Helvetica Neue"/>
                <a:ea typeface="Helvetica Neue"/>
                <a:cs typeface="Helvetica Neue"/>
              </a:defRPr>
            </a:defPPr>
            <a:lvl1pPr>
              <a:buNone/>
              <a:defRPr sz="1163" b="0">
                <a:solidFill>
                  <a:srgbClr val="98989F"/>
                </a:solidFill>
                <a:latin typeface="Helvetica Neue"/>
                <a:ea typeface="Helvetica Neue"/>
                <a:cs typeface="Helvetica Neue"/>
              </a:defRPr>
            </a:lvl1pPr>
            <a:lvl2pPr>
              <a:buNone/>
              <a:defRPr sz="1163" b="0">
                <a:solidFill>
                  <a:srgbClr val="98989F"/>
                </a:solidFill>
                <a:latin typeface="Helvetica Neue"/>
                <a:ea typeface="Helvetica Neue"/>
                <a:cs typeface="Helvetica Neue"/>
              </a:defRPr>
            </a:lvl2pPr>
            <a:lvl3pPr>
              <a:buNone/>
              <a:defRPr sz="1163" b="0">
                <a:solidFill>
                  <a:srgbClr val="98989F"/>
                </a:solidFill>
                <a:latin typeface="Helvetica Neue"/>
                <a:ea typeface="Helvetica Neue"/>
                <a:cs typeface="Helvetica Neue"/>
              </a:defRPr>
            </a:lvl3pPr>
            <a:lvl4pPr>
              <a:buNone/>
              <a:defRPr sz="1163" b="0">
                <a:solidFill>
                  <a:srgbClr val="98989F"/>
                </a:solidFill>
                <a:latin typeface="Helvetica Neue"/>
                <a:ea typeface="Helvetica Neue"/>
                <a:cs typeface="Helvetica Neue"/>
              </a:defRPr>
            </a:lvl4pPr>
            <a:lvl5pPr>
              <a:buNone/>
              <a:defRPr sz="1163" b="0">
                <a:solidFill>
                  <a:srgbClr val="98989F"/>
                </a:solidFill>
                <a:latin typeface="Helvetica Neue"/>
                <a:ea typeface="Helvetica Neue"/>
                <a:cs typeface="Helvetica Neue"/>
              </a:defRPr>
            </a:lvl5pPr>
            <a:lvl6pPr>
              <a:buNone/>
              <a:defRPr sz="1163" b="0">
                <a:solidFill>
                  <a:srgbClr val="98989F"/>
                </a:solidFill>
                <a:latin typeface="Helvetica Neue"/>
                <a:ea typeface="Helvetica Neue"/>
                <a:cs typeface="Helvetica Neue"/>
              </a:defRPr>
            </a:lvl6pPr>
            <a:lvl7pPr>
              <a:buNone/>
              <a:defRPr sz="1163" b="0">
                <a:solidFill>
                  <a:srgbClr val="98989F"/>
                </a:solidFill>
                <a:latin typeface="Helvetica Neue"/>
                <a:ea typeface="Helvetica Neue"/>
                <a:cs typeface="Helvetica Neue"/>
              </a:defRPr>
            </a:lvl7pPr>
            <a:lvl8pPr>
              <a:buNone/>
              <a:defRPr sz="1163" b="0">
                <a:solidFill>
                  <a:srgbClr val="98989F"/>
                </a:solidFill>
                <a:latin typeface="Helvetica Neue"/>
                <a:ea typeface="Helvetica Neue"/>
                <a:cs typeface="Helvetica Neue"/>
              </a:defRPr>
            </a:lvl8pPr>
            <a:lvl9pPr>
              <a:buNone/>
              <a:defRPr sz="1163" b="0">
                <a:solidFill>
                  <a:srgbClr val="98989F"/>
                </a:solidFill>
                <a:latin typeface="Helvetica Neue"/>
                <a:ea typeface="Helvetica Neue"/>
                <a:cs typeface="Helvetica Neue"/>
              </a:defRPr>
            </a:lvl9pPr>
          </a:lstStyle>
          <a:p xmlns:a="http://schemas.openxmlformats.org/drawingml/2006/main">
            <a:pPr>
              <a:buNone/>
              <a:defRPr sz="1163" b="0">
                <a:solidFill>
                  <a:srgbClr val="98989F"/>
                </a:solidFill>
                <a:latin typeface="Helvetica Neue"/>
                <a:ea typeface="Helvetica Neue"/>
                <a:cs typeface="Helvetica Neue"/>
              </a:defRPr>
            </a:pPr>
            <a:r>
              <a:rPr sz="1163" b="0">
                <a:solidFill>
                  <a:srgbClr val="98989F"/>
                </a:solidFill>
                <a:latin typeface="Helvetica Neue"/>
                <a:ea typeface="Helvetica Neue"/>
                <a:cs typeface="Helvetica Neue"/>
                <a:hlinkClick xmlns:r="http://schemas.openxmlformats.org/officeDocument/2006/relationships" r:id="R8a3ea22b6fe3426c"/>
              </a:rPr>
              <a:t>Источник: Документация scikit-learn 1.6, учебный пример</a:t>
            </a:r>
          </a:p>
        </p:txBody>
      </p:sp>
    </p:spTree>
    <p:extLst>
      <p:ext uri="{BB962C8B-B14F-4D97-AF65-F5344CB8AC3E}">
        <p14:creationId xmlns:p14="http://schemas.microsoft.com/office/powerpoint/2010/main" val="1742085512"/>
      </p:ext>
    </p:extLst>
  </p:cSld>
</p:sld>
</file>

<file path=ppt/slides/slide6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8" name="expanded-0">
            <a:extLst xmlns:a="http://schemas.openxmlformats.org/drawingml/2006/main">
              <a:ext uri="{FF2B5EF4-FFF2-40B4-BE49-F238E27FC236}">
                <a16:creationId xmlns:a16="http://schemas.microsoft.com/office/drawing/2014/main" id="{252C38C0-986D-4514-9FE2-A66282693C23}"/>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anded-1">
            <a:extLst xmlns:a="http://schemas.openxmlformats.org/drawingml/2006/main">
              <a:ext uri="{FF2B5EF4-FFF2-40B4-BE49-F238E27FC236}">
                <a16:creationId xmlns:a16="http://schemas.microsoft.com/office/drawing/2014/main" id="{30FC9FFB-050B-4EE3-BC2C-6D969D68ED28}"/>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64</a:t>
            </a:r>
          </a:p>
        </p:txBody>
      </p:sp>
      <p:sp>
        <p:nvSpPr>
          <p:cNvPr id="3" name="">
            <a:extLst xmlns:a="http://schemas.openxmlformats.org/drawingml/2006/main">
              <a:ext uri="{FF2B5EF4-FFF2-40B4-BE49-F238E27FC236}">
                <a16:creationId xmlns:a16="http://schemas.microsoft.com/office/drawing/2014/main" id="{1170645B-08DA-4D3F-9E76-2BDF2B29883D}"/>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ln>
        </p:spPr>
      </p:sp>
      <p:sp>
        <p:nvSpPr>
          <p:cNvPr id="4" name="expanded-3">
            <a:extLst xmlns:a="http://schemas.openxmlformats.org/drawingml/2006/main">
              <a:ext uri="{FF2B5EF4-FFF2-40B4-BE49-F238E27FC236}">
                <a16:creationId xmlns:a16="http://schemas.microsoft.com/office/drawing/2014/main" id="{52C58E11-759F-4E67-A70B-7D388BC75E0C}"/>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Classical classifiers: сравнение</a:t>
            </a:r>
          </a:p>
        </p:txBody>
      </p:sp>
      <p:sp>
        <p:nvSpPr>
          <p:cNvPr id="9" name="ysda-4">
            <a:extLst xmlns:a="http://schemas.openxmlformats.org/drawingml/2006/main">
              <a:ext uri="{FF2B5EF4-FFF2-40B4-BE49-F238E27FC236}">
                <a16:creationId xmlns:a16="http://schemas.microsoft.com/office/drawing/2014/main" id="{B1FB9DDB-EBA4-4666-8A81-C951A0FE3B10}"/>
              </a:ext>
            </a:extLst>
          </p:cNvPr>
          <p:cNvSpPr>
            <a:spLocks xmlns:a="http://schemas.openxmlformats.org/drawingml/2006/main" noGrp="1"/>
          </p:cNvSpPr>
          <p:nvPr/>
        </p:nvSpPr>
        <p:spPr>
          <a:xfrm xmlns:a="http://schemas.openxmlformats.org/drawingml/2006/main">
            <a:off x="685800" y="2009775"/>
            <a:ext cx="10820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F5F5F7"/>
                </a:solidFill>
                <a:latin typeface="Helvetica Neue"/>
                <a:ea typeface="Helvetica Neue"/>
                <a:cs typeface="Helvetica Neue"/>
              </a:defRPr>
            </a:defPPr>
            <a:lvl1pPr>
              <a:defRPr sz="1950" b="0">
                <a:solidFill>
                  <a:srgbClr val="F5F5F7"/>
                </a:solidFill>
                <a:latin typeface="Helvetica Neue"/>
                <a:ea typeface="Helvetica Neue"/>
                <a:cs typeface="Helvetica Neue"/>
              </a:defRPr>
            </a:lvl1pPr>
            <a:lvl2pPr>
              <a:defRPr sz="1950" b="0">
                <a:solidFill>
                  <a:srgbClr val="F5F5F7"/>
                </a:solidFill>
                <a:latin typeface="Helvetica Neue"/>
                <a:ea typeface="Helvetica Neue"/>
                <a:cs typeface="Helvetica Neue"/>
              </a:defRPr>
            </a:lvl2pPr>
            <a:lvl3pPr>
              <a:defRPr sz="1950" b="0">
                <a:solidFill>
                  <a:srgbClr val="F5F5F7"/>
                </a:solidFill>
                <a:latin typeface="Helvetica Neue"/>
                <a:ea typeface="Helvetica Neue"/>
                <a:cs typeface="Helvetica Neue"/>
              </a:defRPr>
            </a:lvl3pPr>
            <a:lvl4pPr>
              <a:defRPr sz="1950" b="0">
                <a:solidFill>
                  <a:srgbClr val="F5F5F7"/>
                </a:solidFill>
                <a:latin typeface="Helvetica Neue"/>
                <a:ea typeface="Helvetica Neue"/>
                <a:cs typeface="Helvetica Neue"/>
              </a:defRPr>
            </a:lvl4pPr>
            <a:lvl5pPr>
              <a:defRPr sz="1950" b="0">
                <a:solidFill>
                  <a:srgbClr val="F5F5F7"/>
                </a:solidFill>
                <a:latin typeface="Helvetica Neue"/>
                <a:ea typeface="Helvetica Neue"/>
                <a:cs typeface="Helvetica Neue"/>
              </a:defRPr>
            </a:lvl5pPr>
            <a:lvl6pPr>
              <a:defRPr sz="1950" b="0">
                <a:solidFill>
                  <a:srgbClr val="F5F5F7"/>
                </a:solidFill>
                <a:latin typeface="Helvetica Neue"/>
                <a:ea typeface="Helvetica Neue"/>
                <a:cs typeface="Helvetica Neue"/>
              </a:defRPr>
            </a:lvl6pPr>
            <a:lvl7pPr>
              <a:defRPr sz="1950" b="0">
                <a:solidFill>
                  <a:srgbClr val="F5F5F7"/>
                </a:solidFill>
                <a:latin typeface="Helvetica Neue"/>
                <a:ea typeface="Helvetica Neue"/>
                <a:cs typeface="Helvetica Neue"/>
              </a:defRPr>
            </a:lvl7pPr>
            <a:lvl8pPr>
              <a:defRPr sz="1950" b="0">
                <a:solidFill>
                  <a:srgbClr val="F5F5F7"/>
                </a:solidFill>
                <a:latin typeface="Helvetica Neue"/>
                <a:ea typeface="Helvetica Neue"/>
                <a:cs typeface="Helvetica Neue"/>
              </a:defRPr>
            </a:lvl8pPr>
            <a:lvl9pPr>
              <a:defRPr sz="1950" b="0">
                <a:solidFill>
                  <a:srgbClr val="F5F5F7"/>
                </a:solidFill>
                <a:latin typeface="Helvetica Neue"/>
                <a:ea typeface="Helvetica Neue"/>
                <a:cs typeface="Helvetica Neue"/>
              </a:defRPr>
            </a:lvl9pPr>
          </a:lstStyle>
          <a:p xmlns:a="http://schemas.openxmlformats.org/drawingml/2006/main">
            <a:pPr>
              <a:defRPr sz="1950" b="0">
                <a:solidFill>
                  <a:srgbClr val="F5F5F7"/>
                </a:solidFill>
                <a:latin typeface="Helvetica Neue"/>
                <a:ea typeface="Helvetica Neue"/>
                <a:cs typeface="Helvetica Neue"/>
              </a:defRPr>
            </a:pPr>
            <a:r>
              <a:rPr sz="1950" b="0">
                <a:solidFill>
                  <a:srgbClr val="F5F5F7"/>
                </a:solidFill>
                <a:latin typeface="Helvetica Neue"/>
                <a:ea typeface="Helvetica Neue"/>
                <a:cs typeface="Helvetica Neue"/>
              </a:rPr>
              <a:t>Classifiers получают одинаковый feature representation, но используют разные предположения и способы обучения.</a:t>
            </a:r>
          </a:p>
        </p:txBody>
      </p:sp>
      <p:graphicFrame>
        <p:nvGraphicFramePr>
          <p:cNvPr id="10" name="">
            <a:extLst xmlns:a="http://schemas.openxmlformats.org/drawingml/2006/main">
              <a:ext uri="{FF2B5EF4-FFF2-40B4-BE49-F238E27FC236}">
                <a16:creationId xmlns:a16="http://schemas.microsoft.com/office/drawing/2014/main" id="{7AE70C83-42F7-45E2-B58E-DD84EE7AF0D2}"/>
              </a:ext>
            </a:extLst>
          </p:cNvPr>
          <p:cNvGraphicFramePr/>
          <p:nvPr/>
        </p:nvGraphicFramePr>
        <p:xfrm>
          <a:off xmlns:a="http://schemas.openxmlformats.org/drawingml/2006/main" x="685800" y="2943225"/>
          <a:ext xmlns:a="http://schemas.openxmlformats.org/drawingml/2006/main" cx="10820400" cy="2324100"/>
        </p:xfrm>
        <a:graphic xmlns:a="http://schemas.openxmlformats.org/drawingml/2006/main">
          <a:graphicData uri="http://schemas.openxmlformats.org/drawingml/2006/table">
            <a:tbl>
              <a:tblPr/>
              <a:tblGrid>
                <a:gridCol w="2571750"/>
                <a:gridCol w="4191000"/>
                <a:gridCol w="4057650"/>
              </a:tblGrid>
              <a:tr h="581025">
                <a:tc>
                  <a:txBody>
                    <a:bodyPr lIns="133350" tIns="76200" rIns="133350" bIns="76200"/>
                    <a:lstStyle/>
                    <a:p>
                      <a:r>
                        <a:rPr sz="1725" b="1">
                          <a:solidFill>
                            <a:srgbClr val="98989F"/>
                          </a:solidFill>
                          <a:latin typeface="Helvetica Neue"/>
                          <a:ea typeface="Helvetica Neue"/>
                          <a:cs typeface="Helvetica Neue"/>
                        </a:rPr>
                        <a:t>Метод</a:t>
                      </a:r>
                    </a:p>
                  </a:txBody>
                  <a:tcPr marL="91440" marR="91440" marT="45720" marB="45720" anchor="ctr">
                    <a:lnL w="9525">
                      <a:solidFill>
                        <a:srgbClr val="28282B"/>
                      </a:solidFill>
                      <a:prstDash val="solid"/>
                    </a:lnL>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c>
                  <a:txBody>
                    <a:bodyPr lIns="133350" tIns="76200" rIns="133350" bIns="76200"/>
                    <a:lstStyle/>
                    <a:p>
                      <a:r>
                        <a:rPr sz="1725" b="1">
                          <a:solidFill>
                            <a:srgbClr val="98989F"/>
                          </a:solidFill>
                          <a:latin typeface="Helvetica Neue"/>
                          <a:ea typeface="Helvetica Neue"/>
                          <a:cs typeface="Helvetica Neue"/>
                        </a:rPr>
                        <a:t>Принцип</a:t>
                      </a:r>
                    </a:p>
                  </a:txBody>
                  <a:tcPr marL="91440" marR="91440" marT="45720" marB="45720" anchor="ctr">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c>
                  <a:txBody>
                    <a:bodyPr lIns="133350" tIns="76200" rIns="133350" bIns="76200"/>
                    <a:lstStyle/>
                    <a:p>
                      <a:r>
                        <a:rPr sz="1725" b="1">
                          <a:solidFill>
                            <a:srgbClr val="98989F"/>
                          </a:solidFill>
                          <a:latin typeface="Helvetica Neue"/>
                          <a:ea typeface="Helvetica Neue"/>
                          <a:cs typeface="Helvetica Neue"/>
                        </a:rPr>
                        <a:t>Практическая роль</a:t>
                      </a:r>
                    </a:p>
                  </a:txBody>
                  <a:tcPr marL="91440" marR="91440" marT="45720" marB="45720" anchor="ctr">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r>
              <a:tr h="581025">
                <a:tc>
                  <a:txBody>
                    <a:bodyPr lIns="133350" tIns="76200" rIns="133350" bIns="76200"/>
                    <a:lstStyle/>
                    <a:p>
                      <a:r>
                        <a:rPr sz="1725" b="0">
                          <a:solidFill>
                            <a:srgbClr val="F5F5F7"/>
                          </a:solidFill>
                          <a:latin typeface="Helvetica Neue"/>
                          <a:ea typeface="Helvetica Neue"/>
                          <a:cs typeface="Helvetica Neue"/>
                        </a:rPr>
                        <a:t>Naive Bayes</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725" b="0">
                          <a:solidFill>
                            <a:srgbClr val="F5F5F7"/>
                          </a:solidFill>
                          <a:latin typeface="Helvetica Neue"/>
                          <a:ea typeface="Helvetica Neue"/>
                          <a:cs typeface="Helvetica Neue"/>
                        </a:rPr>
                        <a:t>Частоты и conditional independence</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725" b="0">
                          <a:solidFill>
                            <a:srgbClr val="F5F5F7"/>
                          </a:solidFill>
                          <a:latin typeface="Helvetica Neue"/>
                          <a:ea typeface="Helvetica Neue"/>
                          <a:cs typeface="Helvetica Neue"/>
                        </a:rPr>
                        <a:t>Быстрый count-based baseline</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r h="581025">
                <a:tc>
                  <a:txBody>
                    <a:bodyPr lIns="133350" tIns="76200" rIns="133350" bIns="76200"/>
                    <a:lstStyle/>
                    <a:p>
                      <a:r>
                        <a:rPr sz="1725" b="0">
                          <a:solidFill>
                            <a:srgbClr val="F5F5F7"/>
                          </a:solidFill>
                          <a:latin typeface="Helvetica Neue"/>
                          <a:ea typeface="Helvetica Neue"/>
                          <a:cs typeface="Helvetica Neue"/>
                        </a:rPr>
                        <a:t>Logistic Regression</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725" b="0">
                          <a:solidFill>
                            <a:srgbClr val="F5F5F7"/>
                          </a:solidFill>
                          <a:latin typeface="Helvetica Neue"/>
                          <a:ea typeface="Helvetica Neue"/>
                          <a:cs typeface="Helvetica Neue"/>
                        </a:rPr>
                        <a:t>Линейные scores и class probabilities</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725" b="0">
                          <a:solidFill>
                            <a:srgbClr val="F5F5F7"/>
                          </a:solidFill>
                          <a:latin typeface="Helvetica Neue"/>
                          <a:ea typeface="Helvetica Neue"/>
                          <a:cs typeface="Helvetica Neue"/>
                        </a:rPr>
                        <a:t>TF-IDF baseline на семинаре</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r h="581025">
                <a:tc>
                  <a:txBody>
                    <a:bodyPr lIns="133350" tIns="76200" rIns="133350" bIns="76200"/>
                    <a:lstStyle/>
                    <a:p>
                      <a:r>
                        <a:rPr sz="1725" b="0">
                          <a:solidFill>
                            <a:srgbClr val="F5F5F7"/>
                          </a:solidFill>
                          <a:latin typeface="Helvetica Neue"/>
                          <a:ea typeface="Helvetica Neue"/>
                          <a:cs typeface="Helvetica Neue"/>
                        </a:rPr>
                        <a:t>Linear SVM</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725" b="0">
                          <a:solidFill>
                            <a:srgbClr val="F5F5F7"/>
                          </a:solidFill>
                          <a:latin typeface="Helvetica Neue"/>
                          <a:ea typeface="Helvetica Neue"/>
                          <a:cs typeface="Helvetica Neue"/>
                        </a:rPr>
                        <a:t>Decision boundary с margin</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725" b="0">
                          <a:solidFill>
                            <a:srgbClr val="F5F5F7"/>
                          </a:solidFill>
                          <a:latin typeface="Helvetica Neue"/>
                          <a:ea typeface="Helvetica Neue"/>
                          <a:cs typeface="Helvetica Neue"/>
                        </a:rPr>
                        <a:t>Альтернатива для sparse features</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bl>
          </a:graphicData>
        </a:graphic>
      </p:graphicFrame>
      <p:sp>
        <p:nvSpPr>
          <p:cNvPr id="11" name="ysda-5">
            <a:extLst xmlns:a="http://schemas.openxmlformats.org/drawingml/2006/main">
              <a:ext uri="{FF2B5EF4-FFF2-40B4-BE49-F238E27FC236}">
                <a16:creationId xmlns:a16="http://schemas.microsoft.com/office/drawing/2014/main" id="{03BF2E34-3608-4578-8379-FC9CE597A007}"/>
              </a:ext>
            </a:extLst>
          </p:cNvPr>
          <p:cNvSpPr>
            <a:spLocks xmlns:a="http://schemas.openxmlformats.org/drawingml/2006/main" noGrp="1"/>
          </p:cNvSpPr>
          <p:nvPr/>
        </p:nvSpPr>
        <p:spPr>
          <a:xfrm xmlns:a="http://schemas.openxmlformats.org/drawingml/2006/main">
            <a:off x="685800" y="5705475"/>
            <a:ext cx="108204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88" b="0">
                <a:solidFill>
                  <a:srgbClr val="CDCDD3"/>
                </a:solidFill>
                <a:latin typeface="Helvetica Neue"/>
                <a:ea typeface="Helvetica Neue"/>
                <a:cs typeface="Helvetica Neue"/>
              </a:defRPr>
            </a:defPPr>
            <a:lvl1pPr>
              <a:defRPr sz="1688" b="0">
                <a:solidFill>
                  <a:srgbClr val="CDCDD3"/>
                </a:solidFill>
                <a:latin typeface="Helvetica Neue"/>
                <a:ea typeface="Helvetica Neue"/>
                <a:cs typeface="Helvetica Neue"/>
              </a:defRPr>
            </a:lvl1pPr>
            <a:lvl2pPr>
              <a:defRPr sz="1688" b="0">
                <a:solidFill>
                  <a:srgbClr val="CDCDD3"/>
                </a:solidFill>
                <a:latin typeface="Helvetica Neue"/>
                <a:ea typeface="Helvetica Neue"/>
                <a:cs typeface="Helvetica Neue"/>
              </a:defRPr>
            </a:lvl2pPr>
            <a:lvl3pPr>
              <a:defRPr sz="1688" b="0">
                <a:solidFill>
                  <a:srgbClr val="CDCDD3"/>
                </a:solidFill>
                <a:latin typeface="Helvetica Neue"/>
                <a:ea typeface="Helvetica Neue"/>
                <a:cs typeface="Helvetica Neue"/>
              </a:defRPr>
            </a:lvl3pPr>
            <a:lvl4pPr>
              <a:defRPr sz="1688" b="0">
                <a:solidFill>
                  <a:srgbClr val="CDCDD3"/>
                </a:solidFill>
                <a:latin typeface="Helvetica Neue"/>
                <a:ea typeface="Helvetica Neue"/>
                <a:cs typeface="Helvetica Neue"/>
              </a:defRPr>
            </a:lvl4pPr>
            <a:lvl5pPr>
              <a:defRPr sz="1688" b="0">
                <a:solidFill>
                  <a:srgbClr val="CDCDD3"/>
                </a:solidFill>
                <a:latin typeface="Helvetica Neue"/>
                <a:ea typeface="Helvetica Neue"/>
                <a:cs typeface="Helvetica Neue"/>
              </a:defRPr>
            </a:lvl5pPr>
            <a:lvl6pPr>
              <a:defRPr sz="1688" b="0">
                <a:solidFill>
                  <a:srgbClr val="CDCDD3"/>
                </a:solidFill>
                <a:latin typeface="Helvetica Neue"/>
                <a:ea typeface="Helvetica Neue"/>
                <a:cs typeface="Helvetica Neue"/>
              </a:defRPr>
            </a:lvl6pPr>
            <a:lvl7pPr>
              <a:defRPr sz="1688" b="0">
                <a:solidFill>
                  <a:srgbClr val="CDCDD3"/>
                </a:solidFill>
                <a:latin typeface="Helvetica Neue"/>
                <a:ea typeface="Helvetica Neue"/>
                <a:cs typeface="Helvetica Neue"/>
              </a:defRPr>
            </a:lvl7pPr>
            <a:lvl8pPr>
              <a:defRPr sz="1688" b="0">
                <a:solidFill>
                  <a:srgbClr val="CDCDD3"/>
                </a:solidFill>
                <a:latin typeface="Helvetica Neue"/>
                <a:ea typeface="Helvetica Neue"/>
                <a:cs typeface="Helvetica Neue"/>
              </a:defRPr>
            </a:lvl8pPr>
            <a:lvl9pPr>
              <a:defRPr sz="1688" b="0">
                <a:solidFill>
                  <a:srgbClr val="CDCDD3"/>
                </a:solidFill>
                <a:latin typeface="Helvetica Neue"/>
                <a:ea typeface="Helvetica Neue"/>
                <a:cs typeface="Helvetica Neue"/>
              </a:defRPr>
            </a:lvl9pPr>
          </a:lstStyle>
          <a:p xmlns:a="http://schemas.openxmlformats.org/drawingml/2006/main">
            <a:pPr>
              <a:defRPr sz="1688" b="0">
                <a:solidFill>
                  <a:srgbClr val="CDCDD3"/>
                </a:solidFill>
                <a:latin typeface="Helvetica Neue"/>
                <a:ea typeface="Helvetica Neue"/>
                <a:cs typeface="Helvetica Neue"/>
              </a:defRPr>
            </a:pPr>
            <a:r>
              <a:rPr sz="1688" b="0">
                <a:solidFill>
                  <a:srgbClr val="CDCDD3"/>
                </a:solidFill>
                <a:latin typeface="Helvetica Neue"/>
                <a:ea typeface="Helvetica Neue"/>
                <a:cs typeface="Helvetica Neue"/>
              </a:rPr>
              <a:t>Linear SVM используют как альтернативу другим линейным classifiers для sparse features. Сравнение моделей проводят на одном split и с одинаковыми metrics.</a:t>
            </a:r>
          </a:p>
        </p:txBody>
      </p:sp>
    </p:spTree>
    <p:extLst>
      <p:ext uri="{BB962C8B-B14F-4D97-AF65-F5344CB8AC3E}">
        <p14:creationId xmlns:p14="http://schemas.microsoft.com/office/powerpoint/2010/main" val="1808281916"/>
      </p:ext>
    </p:extLst>
  </p:cSld>
</p:sld>
</file>

<file path=ppt/slides/slide6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9" name="text-0">
            <a:extLst xmlns:a="http://schemas.openxmlformats.org/drawingml/2006/main">
              <a:ext uri="{FF2B5EF4-FFF2-40B4-BE49-F238E27FC236}">
                <a16:creationId xmlns:a16="http://schemas.microsoft.com/office/drawing/2014/main" id="{D5C28512-76A8-469C-A038-6FA70CD579FB}"/>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98989F"/>
                </a:solidFill>
                <a:latin typeface="Helvetica Neue"/>
                <a:ea typeface="Helvetica Neue"/>
                <a:cs typeface="Helvetica Neue"/>
              </a:defRPr>
            </a:defPPr>
            <a:lvl1pPr algn="l">
              <a:buNone/>
              <a:defRPr sz="1425" b="0">
                <a:solidFill>
                  <a:srgbClr val="98989F"/>
                </a:solidFill>
                <a:latin typeface="Helvetica Neue"/>
                <a:ea typeface="Helvetica Neue"/>
                <a:cs typeface="Helvetica Neue"/>
              </a:defRPr>
            </a:lvl1pPr>
            <a:lvl2pPr algn="l">
              <a:buNone/>
              <a:defRPr sz="1425" b="0">
                <a:solidFill>
                  <a:srgbClr val="98989F"/>
                </a:solidFill>
                <a:latin typeface="Helvetica Neue"/>
                <a:ea typeface="Helvetica Neue"/>
                <a:cs typeface="Helvetica Neue"/>
              </a:defRPr>
            </a:lvl2pPr>
            <a:lvl3pPr algn="l">
              <a:buNone/>
              <a:defRPr sz="1425" b="0">
                <a:solidFill>
                  <a:srgbClr val="98989F"/>
                </a:solidFill>
                <a:latin typeface="Helvetica Neue"/>
                <a:ea typeface="Helvetica Neue"/>
                <a:cs typeface="Helvetica Neue"/>
              </a:defRPr>
            </a:lvl3pPr>
            <a:lvl4pPr algn="l">
              <a:buNone/>
              <a:defRPr sz="1425" b="0">
                <a:solidFill>
                  <a:srgbClr val="98989F"/>
                </a:solidFill>
                <a:latin typeface="Helvetica Neue"/>
                <a:ea typeface="Helvetica Neue"/>
                <a:cs typeface="Helvetica Neue"/>
              </a:defRPr>
            </a:lvl4pPr>
            <a:lvl5pPr algn="l">
              <a:buNone/>
              <a:defRPr sz="1425" b="0">
                <a:solidFill>
                  <a:srgbClr val="98989F"/>
                </a:solidFill>
                <a:latin typeface="Helvetica Neue"/>
                <a:ea typeface="Helvetica Neue"/>
                <a:cs typeface="Helvetica Neue"/>
              </a:defRPr>
            </a:lvl5pPr>
            <a:lvl6pPr algn="l">
              <a:buNone/>
              <a:defRPr sz="1425" b="0">
                <a:solidFill>
                  <a:srgbClr val="98989F"/>
                </a:solidFill>
                <a:latin typeface="Helvetica Neue"/>
                <a:ea typeface="Helvetica Neue"/>
                <a:cs typeface="Helvetica Neue"/>
              </a:defRPr>
            </a:lvl6pPr>
            <a:lvl7pPr algn="l">
              <a:buNone/>
              <a:defRPr sz="1425" b="0">
                <a:solidFill>
                  <a:srgbClr val="98989F"/>
                </a:solidFill>
                <a:latin typeface="Helvetica Neue"/>
                <a:ea typeface="Helvetica Neue"/>
                <a:cs typeface="Helvetica Neue"/>
              </a:defRPr>
            </a:lvl7pPr>
            <a:lvl8pPr algn="l">
              <a:buNone/>
              <a:defRPr sz="1425" b="0">
                <a:solidFill>
                  <a:srgbClr val="98989F"/>
                </a:solidFill>
                <a:latin typeface="Helvetica Neue"/>
                <a:ea typeface="Helvetica Neue"/>
                <a:cs typeface="Helvetica Neue"/>
              </a:defRPr>
            </a:lvl8pPr>
            <a:lvl9pPr algn="l">
              <a:buNone/>
              <a:defRPr sz="1425" b="0">
                <a:solidFill>
                  <a:srgbClr val="98989F"/>
                </a:solidFill>
                <a:latin typeface="Helvetica Neue"/>
                <a:ea typeface="Helvetica Neue"/>
                <a:cs typeface="Helvetica Neue"/>
              </a:defRPr>
            </a:lvl9pPr>
          </a:lstStyle>
          <a:p xmlns:a="http://schemas.openxmlformats.org/drawingml/2006/main">
            <a:pPr algn="l">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text-1">
            <a:extLst xmlns:a="http://schemas.openxmlformats.org/drawingml/2006/main">
              <a:ext uri="{FF2B5EF4-FFF2-40B4-BE49-F238E27FC236}">
                <a16:creationId xmlns:a16="http://schemas.microsoft.com/office/drawing/2014/main" id="{D00E6AF2-9424-42B2-9579-BBD4861D8EFB}"/>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65</a:t>
            </a:r>
          </a:p>
        </p:txBody>
      </p:sp>
      <p:sp>
        <p:nvSpPr>
          <p:cNvPr id="3" name="">
            <a:extLst xmlns:a="http://schemas.openxmlformats.org/drawingml/2006/main">
              <a:ext uri="{FF2B5EF4-FFF2-40B4-BE49-F238E27FC236}">
                <a16:creationId xmlns:a16="http://schemas.microsoft.com/office/drawing/2014/main" id="{AFF7E7A9-8DCC-4D81-9BA1-F73EF619DA90}"/>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prstDash val="solid"/>
          </a:ln>
        </p:spPr>
      </p:sp>
      <p:sp>
        <p:nvSpPr>
          <p:cNvPr id="4" name="text-3">
            <a:extLst xmlns:a="http://schemas.openxmlformats.org/drawingml/2006/main">
              <a:ext uri="{FF2B5EF4-FFF2-40B4-BE49-F238E27FC236}">
                <a16:creationId xmlns:a16="http://schemas.microsoft.com/office/drawing/2014/main" id="{E186CF05-18A9-43FE-8B49-6AFB70E99726}"/>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5F7"/>
                </a:solidFill>
                <a:latin typeface="Helvetica Neue"/>
                <a:ea typeface="Helvetica Neue"/>
                <a:cs typeface="Helvetica Neue"/>
              </a:defRPr>
            </a:defPPr>
            <a:lvl1pPr algn="l">
              <a:buNone/>
              <a:defRPr sz="3450" b="1">
                <a:solidFill>
                  <a:srgbClr val="F5F5F7"/>
                </a:solidFill>
                <a:latin typeface="Helvetica Neue"/>
                <a:ea typeface="Helvetica Neue"/>
                <a:cs typeface="Helvetica Neue"/>
              </a:defRPr>
            </a:lvl1pPr>
            <a:lvl2pPr algn="l">
              <a:buNone/>
              <a:defRPr sz="3450" b="1">
                <a:solidFill>
                  <a:srgbClr val="F5F5F7"/>
                </a:solidFill>
                <a:latin typeface="Helvetica Neue"/>
                <a:ea typeface="Helvetica Neue"/>
                <a:cs typeface="Helvetica Neue"/>
              </a:defRPr>
            </a:lvl2pPr>
            <a:lvl3pPr algn="l">
              <a:buNone/>
              <a:defRPr sz="3450" b="1">
                <a:solidFill>
                  <a:srgbClr val="F5F5F7"/>
                </a:solidFill>
                <a:latin typeface="Helvetica Neue"/>
                <a:ea typeface="Helvetica Neue"/>
                <a:cs typeface="Helvetica Neue"/>
              </a:defRPr>
            </a:lvl3pPr>
            <a:lvl4pPr algn="l">
              <a:buNone/>
              <a:defRPr sz="3450" b="1">
                <a:solidFill>
                  <a:srgbClr val="F5F5F7"/>
                </a:solidFill>
                <a:latin typeface="Helvetica Neue"/>
                <a:ea typeface="Helvetica Neue"/>
                <a:cs typeface="Helvetica Neue"/>
              </a:defRPr>
            </a:lvl4pPr>
            <a:lvl5pPr algn="l">
              <a:buNone/>
              <a:defRPr sz="3450" b="1">
                <a:solidFill>
                  <a:srgbClr val="F5F5F7"/>
                </a:solidFill>
                <a:latin typeface="Helvetica Neue"/>
                <a:ea typeface="Helvetica Neue"/>
                <a:cs typeface="Helvetica Neue"/>
              </a:defRPr>
            </a:lvl5pPr>
            <a:lvl6pPr algn="l">
              <a:buNone/>
              <a:defRPr sz="3450" b="1">
                <a:solidFill>
                  <a:srgbClr val="F5F5F7"/>
                </a:solidFill>
                <a:latin typeface="Helvetica Neue"/>
                <a:ea typeface="Helvetica Neue"/>
                <a:cs typeface="Helvetica Neue"/>
              </a:defRPr>
            </a:lvl6pPr>
            <a:lvl7pPr algn="l">
              <a:buNone/>
              <a:defRPr sz="3450" b="1">
                <a:solidFill>
                  <a:srgbClr val="F5F5F7"/>
                </a:solidFill>
                <a:latin typeface="Helvetica Neue"/>
                <a:ea typeface="Helvetica Neue"/>
                <a:cs typeface="Helvetica Neue"/>
              </a:defRPr>
            </a:lvl7pPr>
            <a:lvl8pPr algn="l">
              <a:buNone/>
              <a:defRPr sz="3450" b="1">
                <a:solidFill>
                  <a:srgbClr val="F5F5F7"/>
                </a:solidFill>
                <a:latin typeface="Helvetica Neue"/>
                <a:ea typeface="Helvetica Neue"/>
                <a:cs typeface="Helvetica Neue"/>
              </a:defRPr>
            </a:lvl8pPr>
            <a:lvl9pPr algn="l">
              <a:buNone/>
              <a:defRPr sz="3450" b="1">
                <a:solidFill>
                  <a:srgbClr val="F5F5F7"/>
                </a:solidFill>
                <a:latin typeface="Helvetica Neue"/>
                <a:ea typeface="Helvetica Neue"/>
                <a:cs typeface="Helvetica Neue"/>
              </a:defRPr>
            </a:lvl9pPr>
          </a:lstStyle>
          <a:p xmlns:a="http://schemas.openxmlformats.org/drawingml/2006/main">
            <a:pPr algn="l">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Text classification pipeline</a:t>
            </a:r>
          </a:p>
        </p:txBody>
      </p:sp>
      <p:sp>
        <p:nvSpPr>
          <p:cNvPr id="30" name="theory-4">
            <a:extLst xmlns:a="http://schemas.openxmlformats.org/drawingml/2006/main">
              <a:ext uri="{FF2B5EF4-FFF2-40B4-BE49-F238E27FC236}">
                <a16:creationId xmlns:a16="http://schemas.microsoft.com/office/drawing/2014/main" id="{A6A3B32C-E9CE-467D-8946-29C08B53FD3E}"/>
              </a:ext>
            </a:extLst>
          </p:cNvPr>
          <p:cNvSpPr>
            <a:spLocks xmlns:a="http://schemas.openxmlformats.org/drawingml/2006/main" noGrp="1"/>
          </p:cNvSpPr>
          <p:nvPr/>
        </p:nvSpPr>
        <p:spPr>
          <a:xfrm xmlns:a="http://schemas.openxmlformats.org/drawingml/2006/main">
            <a:off x="685800" y="20478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buNone/>
              <a:defRPr sz="1950" b="1">
                <a:solidFill>
                  <a:srgbClr val="BD9FE3"/>
                </a:solidFill>
                <a:latin typeface="Helvetica Neue"/>
                <a:ea typeface="Helvetica Neue"/>
                <a:cs typeface="Helvetica Neue"/>
              </a:defRPr>
            </a:lvl1pPr>
            <a:lvl2pPr>
              <a:buNone/>
              <a:defRPr sz="1950" b="1">
                <a:solidFill>
                  <a:srgbClr val="BD9FE3"/>
                </a:solidFill>
                <a:latin typeface="Helvetica Neue"/>
                <a:ea typeface="Helvetica Neue"/>
                <a:cs typeface="Helvetica Neue"/>
              </a:defRPr>
            </a:lvl2pPr>
            <a:lvl3pPr>
              <a:buNone/>
              <a:defRPr sz="1950" b="1">
                <a:solidFill>
                  <a:srgbClr val="BD9FE3"/>
                </a:solidFill>
                <a:latin typeface="Helvetica Neue"/>
                <a:ea typeface="Helvetica Neue"/>
                <a:cs typeface="Helvetica Neue"/>
              </a:defRPr>
            </a:lvl3pPr>
            <a:lvl4pPr>
              <a:buNone/>
              <a:defRPr sz="1950" b="1">
                <a:solidFill>
                  <a:srgbClr val="BD9FE3"/>
                </a:solidFill>
                <a:latin typeface="Helvetica Neue"/>
                <a:ea typeface="Helvetica Neue"/>
                <a:cs typeface="Helvetica Neue"/>
              </a:defRPr>
            </a:lvl4pPr>
            <a:lvl5pPr>
              <a:buNone/>
              <a:defRPr sz="1950" b="1">
                <a:solidFill>
                  <a:srgbClr val="BD9FE3"/>
                </a:solidFill>
                <a:latin typeface="Helvetica Neue"/>
                <a:ea typeface="Helvetica Neue"/>
                <a:cs typeface="Helvetica Neue"/>
              </a:defRPr>
            </a:lvl5pPr>
            <a:lvl6pPr>
              <a:buNone/>
              <a:defRPr sz="1950" b="1">
                <a:solidFill>
                  <a:srgbClr val="BD9FE3"/>
                </a:solidFill>
                <a:latin typeface="Helvetica Neue"/>
                <a:ea typeface="Helvetica Neue"/>
                <a:cs typeface="Helvetica Neue"/>
              </a:defRPr>
            </a:lvl6pPr>
            <a:lvl7pPr>
              <a:buNone/>
              <a:defRPr sz="1950" b="1">
                <a:solidFill>
                  <a:srgbClr val="BD9FE3"/>
                </a:solidFill>
                <a:latin typeface="Helvetica Neue"/>
                <a:ea typeface="Helvetica Neue"/>
                <a:cs typeface="Helvetica Neue"/>
              </a:defRPr>
            </a:lvl7pPr>
            <a:lvl8pPr>
              <a:buNone/>
              <a:defRPr sz="1950" b="1">
                <a:solidFill>
                  <a:srgbClr val="BD9FE3"/>
                </a:solidFill>
                <a:latin typeface="Helvetica Neue"/>
                <a:ea typeface="Helvetica Neue"/>
                <a:cs typeface="Helvetica Neue"/>
              </a:defRPr>
            </a:lvl8pPr>
            <a:lvl9pPr>
              <a:buNone/>
              <a:defRPr sz="1950" b="1">
                <a:solidFill>
                  <a:srgbClr val="BD9FE3"/>
                </a:solidFill>
                <a:latin typeface="Helvetica Neue"/>
                <a:ea typeface="Helvetica Neue"/>
                <a:cs typeface="Helvetica Neue"/>
              </a:defRPr>
            </a:lvl9pPr>
          </a:lstStyle>
          <a:p xmlns:a="http://schemas.openxmlformats.org/drawingml/2006/main">
            <a:pPr>
              <a:buNone/>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Формирование решения</a:t>
            </a:r>
          </a:p>
        </p:txBody>
      </p:sp>
      <p:sp>
        <p:nvSpPr>
          <p:cNvPr id="31" name="theory-5">
            <a:extLst xmlns:a="http://schemas.openxmlformats.org/drawingml/2006/main">
              <a:ext uri="{FF2B5EF4-FFF2-40B4-BE49-F238E27FC236}">
                <a16:creationId xmlns:a16="http://schemas.microsoft.com/office/drawing/2014/main" id="{DD64299D-D16D-456E-B987-7F8CF8BD7E81}"/>
              </a:ext>
            </a:extLst>
          </p:cNvPr>
          <p:cNvSpPr>
            <a:spLocks xmlns:a="http://schemas.openxmlformats.org/drawingml/2006/main" noGrp="1"/>
          </p:cNvSpPr>
          <p:nvPr/>
        </p:nvSpPr>
        <p:spPr>
          <a:xfrm xmlns:a="http://schemas.openxmlformats.org/drawingml/2006/main">
            <a:off x="685800" y="2514600"/>
            <a:ext cx="108204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buNone/>
              <a:defRPr sz="2025" b="0">
                <a:solidFill>
                  <a:srgbClr val="CDCDD3"/>
                </a:solidFill>
                <a:latin typeface="Helvetica Neue"/>
                <a:ea typeface="Helvetica Neue"/>
                <a:cs typeface="Helvetica Neue"/>
              </a:defRPr>
            </a:lvl1pPr>
            <a:lvl2pPr>
              <a:buNone/>
              <a:defRPr sz="2025" b="0">
                <a:solidFill>
                  <a:srgbClr val="CDCDD3"/>
                </a:solidFill>
                <a:latin typeface="Helvetica Neue"/>
                <a:ea typeface="Helvetica Neue"/>
                <a:cs typeface="Helvetica Neue"/>
              </a:defRPr>
            </a:lvl2pPr>
            <a:lvl3pPr>
              <a:buNone/>
              <a:defRPr sz="2025" b="0">
                <a:solidFill>
                  <a:srgbClr val="CDCDD3"/>
                </a:solidFill>
                <a:latin typeface="Helvetica Neue"/>
                <a:ea typeface="Helvetica Neue"/>
                <a:cs typeface="Helvetica Neue"/>
              </a:defRPr>
            </a:lvl3pPr>
            <a:lvl4pPr>
              <a:buNone/>
              <a:defRPr sz="2025" b="0">
                <a:solidFill>
                  <a:srgbClr val="CDCDD3"/>
                </a:solidFill>
                <a:latin typeface="Helvetica Neue"/>
                <a:ea typeface="Helvetica Neue"/>
                <a:cs typeface="Helvetica Neue"/>
              </a:defRPr>
            </a:lvl4pPr>
            <a:lvl5pPr>
              <a:buNone/>
              <a:defRPr sz="2025" b="0">
                <a:solidFill>
                  <a:srgbClr val="CDCDD3"/>
                </a:solidFill>
                <a:latin typeface="Helvetica Neue"/>
                <a:ea typeface="Helvetica Neue"/>
                <a:cs typeface="Helvetica Neue"/>
              </a:defRPr>
            </a:lvl5pPr>
            <a:lvl6pPr>
              <a:buNone/>
              <a:defRPr sz="2025" b="0">
                <a:solidFill>
                  <a:srgbClr val="CDCDD3"/>
                </a:solidFill>
                <a:latin typeface="Helvetica Neue"/>
                <a:ea typeface="Helvetica Neue"/>
                <a:cs typeface="Helvetica Neue"/>
              </a:defRPr>
            </a:lvl6pPr>
            <a:lvl7pPr>
              <a:buNone/>
              <a:defRPr sz="2025" b="0">
                <a:solidFill>
                  <a:srgbClr val="CDCDD3"/>
                </a:solidFill>
                <a:latin typeface="Helvetica Neue"/>
                <a:ea typeface="Helvetica Neue"/>
                <a:cs typeface="Helvetica Neue"/>
              </a:defRPr>
            </a:lvl7pPr>
            <a:lvl8pPr>
              <a:buNone/>
              <a:defRPr sz="2025" b="0">
                <a:solidFill>
                  <a:srgbClr val="CDCDD3"/>
                </a:solidFill>
                <a:latin typeface="Helvetica Neue"/>
                <a:ea typeface="Helvetica Neue"/>
                <a:cs typeface="Helvetica Neue"/>
              </a:defRPr>
            </a:lvl8pPr>
            <a:lvl9pPr>
              <a:buNone/>
              <a:defRPr sz="2025" b="0">
                <a:solidFill>
                  <a:srgbClr val="CDCDD3"/>
                </a:solidFill>
                <a:latin typeface="Helvetica Neue"/>
                <a:ea typeface="Helvetica Neue"/>
                <a:cs typeface="Helvetica Neue"/>
              </a:defRPr>
            </a:lvl9pPr>
          </a:lstStyle>
          <a:p xmlns:a="http://schemas.openxmlformats.org/drawingml/2006/main">
            <a:pPr>
              <a:buNone/>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Для базовой системы сначала определяют метки и разделяют исходные документы. По тренировочным текстам формируют словарь, оценивают IDF и получают матрицу признаков. Затем классификатор связывает эти признаки с известными метками. Сохранённое решение включает не только веса классификатора, но и правила преобразования текста, словарь и статистики.</a:t>
            </a:r>
          </a:p>
        </p:txBody>
      </p:sp>
      <p:sp>
        <p:nvSpPr>
          <p:cNvPr id="32" name="theory-6">
            <a:extLst xmlns:a="http://schemas.openxmlformats.org/drawingml/2006/main">
              <a:ext uri="{FF2B5EF4-FFF2-40B4-BE49-F238E27FC236}">
                <a16:creationId xmlns:a16="http://schemas.microsoft.com/office/drawing/2014/main" id="{A2EE092A-37D0-4600-98B3-EF3F29ACAA3E}"/>
              </a:ext>
            </a:extLst>
          </p:cNvPr>
          <p:cNvSpPr>
            <a:spLocks xmlns:a="http://schemas.openxmlformats.org/drawingml/2006/main" noGrp="1"/>
          </p:cNvSpPr>
          <p:nvPr/>
        </p:nvSpPr>
        <p:spPr>
          <a:xfrm xmlns:a="http://schemas.openxmlformats.org/drawingml/2006/main">
            <a:off x="685800" y="4229100"/>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buNone/>
              <a:defRPr sz="1950" b="1">
                <a:solidFill>
                  <a:srgbClr val="BD9FE3"/>
                </a:solidFill>
                <a:latin typeface="Helvetica Neue"/>
                <a:ea typeface="Helvetica Neue"/>
                <a:cs typeface="Helvetica Neue"/>
              </a:defRPr>
            </a:lvl1pPr>
            <a:lvl2pPr>
              <a:buNone/>
              <a:defRPr sz="1950" b="1">
                <a:solidFill>
                  <a:srgbClr val="BD9FE3"/>
                </a:solidFill>
                <a:latin typeface="Helvetica Neue"/>
                <a:ea typeface="Helvetica Neue"/>
                <a:cs typeface="Helvetica Neue"/>
              </a:defRPr>
            </a:lvl2pPr>
            <a:lvl3pPr>
              <a:buNone/>
              <a:defRPr sz="1950" b="1">
                <a:solidFill>
                  <a:srgbClr val="BD9FE3"/>
                </a:solidFill>
                <a:latin typeface="Helvetica Neue"/>
                <a:ea typeface="Helvetica Neue"/>
                <a:cs typeface="Helvetica Neue"/>
              </a:defRPr>
            </a:lvl3pPr>
            <a:lvl4pPr>
              <a:buNone/>
              <a:defRPr sz="1950" b="1">
                <a:solidFill>
                  <a:srgbClr val="BD9FE3"/>
                </a:solidFill>
                <a:latin typeface="Helvetica Neue"/>
                <a:ea typeface="Helvetica Neue"/>
                <a:cs typeface="Helvetica Neue"/>
              </a:defRPr>
            </a:lvl4pPr>
            <a:lvl5pPr>
              <a:buNone/>
              <a:defRPr sz="1950" b="1">
                <a:solidFill>
                  <a:srgbClr val="BD9FE3"/>
                </a:solidFill>
                <a:latin typeface="Helvetica Neue"/>
                <a:ea typeface="Helvetica Neue"/>
                <a:cs typeface="Helvetica Neue"/>
              </a:defRPr>
            </a:lvl5pPr>
            <a:lvl6pPr>
              <a:buNone/>
              <a:defRPr sz="1950" b="1">
                <a:solidFill>
                  <a:srgbClr val="BD9FE3"/>
                </a:solidFill>
                <a:latin typeface="Helvetica Neue"/>
                <a:ea typeface="Helvetica Neue"/>
                <a:cs typeface="Helvetica Neue"/>
              </a:defRPr>
            </a:lvl6pPr>
            <a:lvl7pPr>
              <a:buNone/>
              <a:defRPr sz="1950" b="1">
                <a:solidFill>
                  <a:srgbClr val="BD9FE3"/>
                </a:solidFill>
                <a:latin typeface="Helvetica Neue"/>
                <a:ea typeface="Helvetica Neue"/>
                <a:cs typeface="Helvetica Neue"/>
              </a:defRPr>
            </a:lvl7pPr>
            <a:lvl8pPr>
              <a:buNone/>
              <a:defRPr sz="1950" b="1">
                <a:solidFill>
                  <a:srgbClr val="BD9FE3"/>
                </a:solidFill>
                <a:latin typeface="Helvetica Neue"/>
                <a:ea typeface="Helvetica Neue"/>
                <a:cs typeface="Helvetica Neue"/>
              </a:defRPr>
            </a:lvl8pPr>
            <a:lvl9pPr>
              <a:buNone/>
              <a:defRPr sz="1950" b="1">
                <a:solidFill>
                  <a:srgbClr val="BD9FE3"/>
                </a:solidFill>
                <a:latin typeface="Helvetica Neue"/>
                <a:ea typeface="Helvetica Neue"/>
                <a:cs typeface="Helvetica Neue"/>
              </a:defRPr>
            </a:lvl9pPr>
          </a:lstStyle>
          <a:p xmlns:a="http://schemas.openxmlformats.org/drawingml/2006/main">
            <a:pPr>
              <a:buNone/>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Получение предсказания</a:t>
            </a:r>
          </a:p>
        </p:txBody>
      </p:sp>
      <p:sp>
        <p:nvSpPr>
          <p:cNvPr id="33" name="theory-7">
            <a:extLst xmlns:a="http://schemas.openxmlformats.org/drawingml/2006/main">
              <a:ext uri="{FF2B5EF4-FFF2-40B4-BE49-F238E27FC236}">
                <a16:creationId xmlns:a16="http://schemas.microsoft.com/office/drawing/2014/main" id="{FAD69D01-B35A-4916-9840-596C15C88F0D}"/>
              </a:ext>
            </a:extLst>
          </p:cNvPr>
          <p:cNvSpPr>
            <a:spLocks xmlns:a="http://schemas.openxmlformats.org/drawingml/2006/main" noGrp="1"/>
          </p:cNvSpPr>
          <p:nvPr/>
        </p:nvSpPr>
        <p:spPr>
          <a:xfrm xmlns:a="http://schemas.openxmlformats.org/drawingml/2006/main">
            <a:off x="685800" y="4695825"/>
            <a:ext cx="10820400" cy="1743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buNone/>
              <a:defRPr sz="2025" b="0">
                <a:solidFill>
                  <a:srgbClr val="CDCDD3"/>
                </a:solidFill>
                <a:latin typeface="Helvetica Neue"/>
                <a:ea typeface="Helvetica Neue"/>
                <a:cs typeface="Helvetica Neue"/>
              </a:defRPr>
            </a:lvl1pPr>
            <a:lvl2pPr>
              <a:buNone/>
              <a:defRPr sz="2025" b="0">
                <a:solidFill>
                  <a:srgbClr val="CDCDD3"/>
                </a:solidFill>
                <a:latin typeface="Helvetica Neue"/>
                <a:ea typeface="Helvetica Neue"/>
                <a:cs typeface="Helvetica Neue"/>
              </a:defRPr>
            </a:lvl2pPr>
            <a:lvl3pPr>
              <a:buNone/>
              <a:defRPr sz="2025" b="0">
                <a:solidFill>
                  <a:srgbClr val="CDCDD3"/>
                </a:solidFill>
                <a:latin typeface="Helvetica Neue"/>
                <a:ea typeface="Helvetica Neue"/>
                <a:cs typeface="Helvetica Neue"/>
              </a:defRPr>
            </a:lvl3pPr>
            <a:lvl4pPr>
              <a:buNone/>
              <a:defRPr sz="2025" b="0">
                <a:solidFill>
                  <a:srgbClr val="CDCDD3"/>
                </a:solidFill>
                <a:latin typeface="Helvetica Neue"/>
                <a:ea typeface="Helvetica Neue"/>
                <a:cs typeface="Helvetica Neue"/>
              </a:defRPr>
            </a:lvl4pPr>
            <a:lvl5pPr>
              <a:buNone/>
              <a:defRPr sz="2025" b="0">
                <a:solidFill>
                  <a:srgbClr val="CDCDD3"/>
                </a:solidFill>
                <a:latin typeface="Helvetica Neue"/>
                <a:ea typeface="Helvetica Neue"/>
                <a:cs typeface="Helvetica Neue"/>
              </a:defRPr>
            </a:lvl5pPr>
            <a:lvl6pPr>
              <a:buNone/>
              <a:defRPr sz="2025" b="0">
                <a:solidFill>
                  <a:srgbClr val="CDCDD3"/>
                </a:solidFill>
                <a:latin typeface="Helvetica Neue"/>
                <a:ea typeface="Helvetica Neue"/>
                <a:cs typeface="Helvetica Neue"/>
              </a:defRPr>
            </a:lvl6pPr>
            <a:lvl7pPr>
              <a:buNone/>
              <a:defRPr sz="2025" b="0">
                <a:solidFill>
                  <a:srgbClr val="CDCDD3"/>
                </a:solidFill>
                <a:latin typeface="Helvetica Neue"/>
                <a:ea typeface="Helvetica Neue"/>
                <a:cs typeface="Helvetica Neue"/>
              </a:defRPr>
            </a:lvl7pPr>
            <a:lvl8pPr>
              <a:buNone/>
              <a:defRPr sz="2025" b="0">
                <a:solidFill>
                  <a:srgbClr val="CDCDD3"/>
                </a:solidFill>
                <a:latin typeface="Helvetica Neue"/>
                <a:ea typeface="Helvetica Neue"/>
                <a:cs typeface="Helvetica Neue"/>
              </a:defRPr>
            </a:lvl8pPr>
            <a:lvl9pPr>
              <a:buNone/>
              <a:defRPr sz="2025" b="0">
                <a:solidFill>
                  <a:srgbClr val="CDCDD3"/>
                </a:solidFill>
                <a:latin typeface="Helvetica Neue"/>
                <a:ea typeface="Helvetica Neue"/>
                <a:cs typeface="Helvetica Neue"/>
              </a:defRPr>
            </a:lvl9pPr>
          </a:lstStyle>
          <a:p xmlns:a="http://schemas.openxmlformats.org/drawingml/2006/main">
            <a:pPr>
              <a:buNone/>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Новый документ обрабатывают тем же способом и представляют в исходном пространстве признаков. Классификатор вычисляет оценки классов, после чего применяется правило выбора ответа. Изменение словаря или нормализации без согласования с обученной моделью нарушает этот процесс. Ошибки разбирают по этапам, отделяя проблемы данных, признаков и самого алгоритма.</a:t>
            </a:r>
          </a:p>
        </p:txBody>
      </p:sp>
    </p:spTree>
    <p:extLst>
      <p:ext uri="{BB962C8B-B14F-4D97-AF65-F5344CB8AC3E}">
        <p14:creationId xmlns:p14="http://schemas.microsoft.com/office/powerpoint/2010/main" val="1731132147"/>
      </p:ext>
    </p:extLst>
  </p:cSld>
</p:sld>
</file>

<file path=ppt/slides/slide6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9" name="exp90-0">
            <a:extLst xmlns:a="http://schemas.openxmlformats.org/drawingml/2006/main">
              <a:ext uri="{FF2B5EF4-FFF2-40B4-BE49-F238E27FC236}">
                <a16:creationId xmlns:a16="http://schemas.microsoft.com/office/drawing/2014/main" id="{141D46CE-917D-47FC-838A-3A2BC3F23D42}"/>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90-1">
            <a:extLst xmlns:a="http://schemas.openxmlformats.org/drawingml/2006/main">
              <a:ext uri="{FF2B5EF4-FFF2-40B4-BE49-F238E27FC236}">
                <a16:creationId xmlns:a16="http://schemas.microsoft.com/office/drawing/2014/main" id="{FE473D4B-7EB6-4642-AA1B-FFFFCFCACB85}"/>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66</a:t>
            </a:r>
          </a:p>
        </p:txBody>
      </p:sp>
      <p:sp>
        <p:nvSpPr>
          <p:cNvPr id="3" name="">
            <a:extLst xmlns:a="http://schemas.openxmlformats.org/drawingml/2006/main">
              <a:ext uri="{FF2B5EF4-FFF2-40B4-BE49-F238E27FC236}">
                <a16:creationId xmlns:a16="http://schemas.microsoft.com/office/drawing/2014/main" id="{323528C6-E77A-4082-8D5C-C99D60CF794B}"/>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0">
            <a:solidFill>
              <a:srgbClr val="28282B"/>
            </a:solidFill>
          </a:ln>
        </p:spPr>
      </p:sp>
      <p:sp>
        <p:nvSpPr>
          <p:cNvPr id="4" name="exp90-3">
            <a:extLst xmlns:a="http://schemas.openxmlformats.org/drawingml/2006/main">
              <a:ext uri="{FF2B5EF4-FFF2-40B4-BE49-F238E27FC236}">
                <a16:creationId xmlns:a16="http://schemas.microsoft.com/office/drawing/2014/main" id="{EC78492C-1A88-4E5C-BC77-98EE50E11113}"/>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Cross-validation и model selection</a:t>
            </a:r>
          </a:p>
        </p:txBody>
      </p:sp>
      <p:pic>
        <p:nvPicPr>
          <p:cNvPr id="5" name="">
            <a:extLst xmlns:a="http://schemas.openxmlformats.org/drawingml/2006/main">
              <a:ext uri="{FF2B5EF4-FFF2-40B4-BE49-F238E27FC236}">
                <a16:creationId xmlns:a16="http://schemas.microsoft.com/office/drawing/2014/main" id="{B8B4B9A2-D935-4EF3-BB36-D41AEC93D40E}"/>
              </a:ext>
            </a:extLst>
          </p:cNvPr>
          <p:cNvPicPr>
            <a:picLocks xmlns:a="http://schemas.openxmlformats.org/drawingml/2006/main" noChangeAspect="1"/>
          </p:cNvPicPr>
          <p:nvPr/>
        </p:nvPicPr>
        <p:blipFill>
          <a:blip xmlns:r="http://schemas.openxmlformats.org/officeDocument/2006/relationships" xmlns:a="http://schemas.openxmlformats.org/drawingml/2006/main" r:embed="Rb4a510a23c134075"/>
          <a:srcRect xmlns:a="http://schemas.openxmlformats.org/drawingml/2006/main" l="0" t="0" r="0" b="0"/>
          <a:stretch xmlns:a="http://schemas.openxmlformats.org/drawingml/2006/main">
            <a:fillRect l="0" t="0" r="0" b="0"/>
          </a:stretch>
        </p:blipFill>
        <p:spPr>
          <a:xfrm xmlns:a="http://schemas.openxmlformats.org/drawingml/2006/main">
            <a:off x="841284" y="2047875"/>
            <a:ext cx="5880282" cy="3943350"/>
          </a:xfrm>
          <a:prstGeom xmlns:a="http://schemas.openxmlformats.org/drawingml/2006/main" prst="rect">
            <a:avLst/>
          </a:prstGeom>
        </p:spPr>
      </p:pic>
      <p:sp>
        <p:nvSpPr>
          <p:cNvPr id="6" name="exp90-4">
            <a:extLst xmlns:a="http://schemas.openxmlformats.org/drawingml/2006/main">
              <a:ext uri="{FF2B5EF4-FFF2-40B4-BE49-F238E27FC236}">
                <a16:creationId xmlns:a16="http://schemas.microsoft.com/office/drawing/2014/main" id="{21973A51-7D2B-4045-8A15-7BF64D54794D}"/>
              </a:ext>
            </a:extLst>
          </p:cNvPr>
          <p:cNvSpPr>
            <a:spLocks xmlns:a="http://schemas.openxmlformats.org/drawingml/2006/main" noGrp="1"/>
          </p:cNvSpPr>
          <p:nvPr/>
        </p:nvSpPr>
        <p:spPr>
          <a:xfrm xmlns:a="http://schemas.openxmlformats.org/drawingml/2006/main">
            <a:off x="7239000" y="2076450"/>
            <a:ext cx="4267200" cy="392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38" b="0">
                <a:solidFill>
                  <a:srgbClr val="CDCDD3"/>
                </a:solidFill>
                <a:latin typeface="Helvetica Neue"/>
                <a:ea typeface="Helvetica Neue"/>
                <a:cs typeface="Helvetica Neue"/>
              </a:defRPr>
            </a:defPPr>
            <a:lvl1pPr>
              <a:buNone/>
              <a:defRPr sz="1838" b="0">
                <a:solidFill>
                  <a:srgbClr val="CDCDD3"/>
                </a:solidFill>
                <a:latin typeface="Helvetica Neue"/>
                <a:ea typeface="Helvetica Neue"/>
                <a:cs typeface="Helvetica Neue"/>
              </a:defRPr>
            </a:lvl1pPr>
            <a:lvl2pPr>
              <a:buNone/>
              <a:defRPr sz="1838" b="0">
                <a:solidFill>
                  <a:srgbClr val="CDCDD3"/>
                </a:solidFill>
                <a:latin typeface="Helvetica Neue"/>
                <a:ea typeface="Helvetica Neue"/>
                <a:cs typeface="Helvetica Neue"/>
              </a:defRPr>
            </a:lvl2pPr>
            <a:lvl3pPr>
              <a:buNone/>
              <a:defRPr sz="1838" b="0">
                <a:solidFill>
                  <a:srgbClr val="CDCDD3"/>
                </a:solidFill>
                <a:latin typeface="Helvetica Neue"/>
                <a:ea typeface="Helvetica Neue"/>
                <a:cs typeface="Helvetica Neue"/>
              </a:defRPr>
            </a:lvl3pPr>
            <a:lvl4pPr>
              <a:buNone/>
              <a:defRPr sz="1838" b="0">
                <a:solidFill>
                  <a:srgbClr val="CDCDD3"/>
                </a:solidFill>
                <a:latin typeface="Helvetica Neue"/>
                <a:ea typeface="Helvetica Neue"/>
                <a:cs typeface="Helvetica Neue"/>
              </a:defRPr>
            </a:lvl4pPr>
            <a:lvl5pPr>
              <a:buNone/>
              <a:defRPr sz="1838" b="0">
                <a:solidFill>
                  <a:srgbClr val="CDCDD3"/>
                </a:solidFill>
                <a:latin typeface="Helvetica Neue"/>
                <a:ea typeface="Helvetica Neue"/>
                <a:cs typeface="Helvetica Neue"/>
              </a:defRPr>
            </a:lvl5pPr>
            <a:lvl6pPr>
              <a:buNone/>
              <a:defRPr sz="1838" b="0">
                <a:solidFill>
                  <a:srgbClr val="CDCDD3"/>
                </a:solidFill>
                <a:latin typeface="Helvetica Neue"/>
                <a:ea typeface="Helvetica Neue"/>
                <a:cs typeface="Helvetica Neue"/>
              </a:defRPr>
            </a:lvl6pPr>
            <a:lvl7pPr>
              <a:buNone/>
              <a:defRPr sz="1838" b="0">
                <a:solidFill>
                  <a:srgbClr val="CDCDD3"/>
                </a:solidFill>
                <a:latin typeface="Helvetica Neue"/>
                <a:ea typeface="Helvetica Neue"/>
                <a:cs typeface="Helvetica Neue"/>
              </a:defRPr>
            </a:lvl7pPr>
            <a:lvl8pPr>
              <a:buNone/>
              <a:defRPr sz="1838" b="0">
                <a:solidFill>
                  <a:srgbClr val="CDCDD3"/>
                </a:solidFill>
                <a:latin typeface="Helvetica Neue"/>
                <a:ea typeface="Helvetica Neue"/>
                <a:cs typeface="Helvetica Neue"/>
              </a:defRPr>
            </a:lvl8pPr>
            <a:lvl9pPr>
              <a:buNone/>
              <a:defRPr sz="1838" b="0">
                <a:solidFill>
                  <a:srgbClr val="CDCDD3"/>
                </a:solidFill>
                <a:latin typeface="Helvetica Neue"/>
                <a:ea typeface="Helvetica Neue"/>
                <a:cs typeface="Helvetica Neue"/>
              </a:defRPr>
            </a:lvl9pPr>
          </a:lstStyle>
          <a:p xmlns:a="http://schemas.openxmlformats.org/drawingml/2006/main">
            <a:pPr>
              <a:buNone/>
              <a:defRPr sz="1838" b="0">
                <a:solidFill>
                  <a:srgbClr val="CDCDD3"/>
                </a:solidFill>
                <a:latin typeface="Helvetica Neue"/>
                <a:ea typeface="Helvetica Neue"/>
                <a:cs typeface="Helvetica Neue"/>
              </a:defRPr>
            </a:pPr>
            <a:r>
              <a:rPr sz="1838" b="0">
                <a:solidFill>
                  <a:srgbClr val="CDCDD3"/>
                </a:solidFill>
                <a:latin typeface="Helvetica Neue"/>
                <a:ea typeface="Helvetica Neue"/>
                <a:cs typeface="Helvetica Neue"/>
              </a:rPr>
              <a:t>Сначала из исходного набора выделяют итоговый тест. На оставшихся данных сравнивают настройки с помощью cross-validation. Затем выбранную конфигурацию обучают на тренировочных данных и оценивают на сохранённом тесте.</a:t>
            </a:r>
          </a:p>
          <a:p xmlns:a="http://schemas.openxmlformats.org/drawingml/2006/main">
            <a:r>
              <a:t/>
            </a:r>
          </a:p>
          <a:p xmlns:a="http://schemas.openxmlformats.org/drawingml/2006/main">
            <a:pPr>
              <a:buNone/>
              <a:defRPr sz="1838" b="0">
                <a:solidFill>
                  <a:srgbClr val="CDCDD3"/>
                </a:solidFill>
                <a:latin typeface="Helvetica Neue"/>
                <a:ea typeface="Helvetica Neue"/>
                <a:cs typeface="Helvetica Neue"/>
              </a:defRPr>
            </a:pPr>
            <a:r>
              <a:rPr sz="1838" b="0">
                <a:solidFill>
                  <a:srgbClr val="CDCDD3"/>
                </a:solidFill>
                <a:latin typeface="Helvetica Neue"/>
                <a:ea typeface="Helvetica Neue"/>
                <a:cs typeface="Helvetica Neue"/>
              </a:rPr>
              <a:t>Тест не должен управлять выбором настроек. Иначе измеренное качество отражает в том числе подстройку к этой выборке.</a:t>
            </a:r>
          </a:p>
        </p:txBody>
      </p:sp>
      <p:sp>
        <p:nvSpPr>
          <p:cNvPr id="7" name="exp90-5">
            <a:extLst xmlns:a="http://schemas.openxmlformats.org/drawingml/2006/main">
              <a:ext uri="{FF2B5EF4-FFF2-40B4-BE49-F238E27FC236}">
                <a16:creationId xmlns:a16="http://schemas.microsoft.com/office/drawing/2014/main" id="{0975197C-70D8-4883-B17A-987ACAD83FBF}"/>
              </a:ext>
            </a:extLst>
          </p:cNvPr>
          <p:cNvSpPr>
            <a:spLocks xmlns:a="http://schemas.openxmlformats.org/drawingml/2006/main" noGrp="1"/>
          </p:cNvSpPr>
          <p:nvPr/>
        </p:nvSpPr>
        <p:spPr>
          <a:xfrm xmlns:a="http://schemas.openxmlformats.org/drawingml/2006/main">
            <a:off x="685800" y="6210300"/>
            <a:ext cx="108204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88" b="0">
                <a:solidFill>
                  <a:srgbClr val="98989F"/>
                </a:solidFill>
                <a:latin typeface="Helvetica Neue"/>
                <a:ea typeface="Helvetica Neue"/>
                <a:cs typeface="Helvetica Neue"/>
              </a:defRPr>
            </a:defPPr>
            <a:lvl1pPr>
              <a:buNone/>
              <a:defRPr sz="1388" b="0">
                <a:solidFill>
                  <a:srgbClr val="98989F"/>
                </a:solidFill>
                <a:latin typeface="Helvetica Neue"/>
                <a:ea typeface="Helvetica Neue"/>
                <a:cs typeface="Helvetica Neue"/>
              </a:defRPr>
            </a:lvl1pPr>
            <a:lvl2pPr>
              <a:buNone/>
              <a:defRPr sz="1388" b="0">
                <a:solidFill>
                  <a:srgbClr val="98989F"/>
                </a:solidFill>
                <a:latin typeface="Helvetica Neue"/>
                <a:ea typeface="Helvetica Neue"/>
                <a:cs typeface="Helvetica Neue"/>
              </a:defRPr>
            </a:lvl2pPr>
            <a:lvl3pPr>
              <a:buNone/>
              <a:defRPr sz="1388" b="0">
                <a:solidFill>
                  <a:srgbClr val="98989F"/>
                </a:solidFill>
                <a:latin typeface="Helvetica Neue"/>
                <a:ea typeface="Helvetica Neue"/>
                <a:cs typeface="Helvetica Neue"/>
              </a:defRPr>
            </a:lvl3pPr>
            <a:lvl4pPr>
              <a:buNone/>
              <a:defRPr sz="1388" b="0">
                <a:solidFill>
                  <a:srgbClr val="98989F"/>
                </a:solidFill>
                <a:latin typeface="Helvetica Neue"/>
                <a:ea typeface="Helvetica Neue"/>
                <a:cs typeface="Helvetica Neue"/>
              </a:defRPr>
            </a:lvl4pPr>
            <a:lvl5pPr>
              <a:buNone/>
              <a:defRPr sz="1388" b="0">
                <a:solidFill>
                  <a:srgbClr val="98989F"/>
                </a:solidFill>
                <a:latin typeface="Helvetica Neue"/>
                <a:ea typeface="Helvetica Neue"/>
                <a:cs typeface="Helvetica Neue"/>
              </a:defRPr>
            </a:lvl5pPr>
            <a:lvl6pPr>
              <a:buNone/>
              <a:defRPr sz="1388" b="0">
                <a:solidFill>
                  <a:srgbClr val="98989F"/>
                </a:solidFill>
                <a:latin typeface="Helvetica Neue"/>
                <a:ea typeface="Helvetica Neue"/>
                <a:cs typeface="Helvetica Neue"/>
              </a:defRPr>
            </a:lvl6pPr>
            <a:lvl7pPr>
              <a:buNone/>
              <a:defRPr sz="1388" b="0">
                <a:solidFill>
                  <a:srgbClr val="98989F"/>
                </a:solidFill>
                <a:latin typeface="Helvetica Neue"/>
                <a:ea typeface="Helvetica Neue"/>
                <a:cs typeface="Helvetica Neue"/>
              </a:defRPr>
            </a:lvl7pPr>
            <a:lvl8pPr>
              <a:buNone/>
              <a:defRPr sz="1388" b="0">
                <a:solidFill>
                  <a:srgbClr val="98989F"/>
                </a:solidFill>
                <a:latin typeface="Helvetica Neue"/>
                <a:ea typeface="Helvetica Neue"/>
                <a:cs typeface="Helvetica Neue"/>
              </a:defRPr>
            </a:lvl8pPr>
            <a:lvl9pPr>
              <a:buNone/>
              <a:defRPr sz="1388" b="0">
                <a:solidFill>
                  <a:srgbClr val="98989F"/>
                </a:solidFill>
                <a:latin typeface="Helvetica Neue"/>
                <a:ea typeface="Helvetica Neue"/>
                <a:cs typeface="Helvetica Neue"/>
              </a:defRPr>
            </a:lvl9pPr>
          </a:lstStyle>
          <a:p xmlns:a="http://schemas.openxmlformats.org/drawingml/2006/main">
            <a:pPr>
              <a:buNone/>
              <a:defRPr sz="1388" b="0">
                <a:solidFill>
                  <a:srgbClr val="98989F"/>
                </a:solidFill>
                <a:latin typeface="Helvetica Neue"/>
                <a:ea typeface="Helvetica Neue"/>
                <a:cs typeface="Helvetica Neue"/>
              </a:defRPr>
            </a:pPr>
            <a:r>
              <a:rPr sz="1388" b="0">
                <a:solidFill>
                  <a:srgbClr val="98989F"/>
                </a:solidFill>
                <a:latin typeface="Helvetica Neue"/>
                <a:ea typeface="Helvetica Neue"/>
                <a:cs typeface="Helvetica Neue"/>
              </a:rPr>
              <a:t>Схема из документации scikit-learn. Обучаемую векторизацию включают внутрь каждого разбиения cross-validation.</a:t>
            </a:r>
          </a:p>
        </p:txBody>
      </p:sp>
      <p:sp>
        <p:nvSpPr>
          <p:cNvPr id="8" name="exp90-6">
            <a:extLst xmlns:a="http://schemas.openxmlformats.org/drawingml/2006/main">
              <a:ext uri="{FF2B5EF4-FFF2-40B4-BE49-F238E27FC236}">
                <a16:creationId xmlns:a16="http://schemas.microsoft.com/office/drawing/2014/main" id="{2CDD080F-C442-45CC-89E3-59FDA6C60EC9}"/>
              </a:ext>
            </a:extLst>
          </p:cNvPr>
          <p:cNvSpPr>
            <a:spLocks xmlns:a="http://schemas.openxmlformats.org/drawingml/2006/main" noGrp="1"/>
          </p:cNvSpPr>
          <p:nvPr/>
        </p:nvSpPr>
        <p:spPr>
          <a:xfrm xmlns:a="http://schemas.openxmlformats.org/drawingml/2006/main">
            <a:off x="685800" y="6648450"/>
            <a:ext cx="10820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63" b="0">
                <a:solidFill>
                  <a:srgbClr val="98989F"/>
                </a:solidFill>
                <a:latin typeface="Helvetica Neue"/>
                <a:ea typeface="Helvetica Neue"/>
                <a:cs typeface="Helvetica Neue"/>
              </a:defRPr>
            </a:defPPr>
            <a:lvl1pPr>
              <a:buNone/>
              <a:defRPr sz="1163" b="0">
                <a:solidFill>
                  <a:srgbClr val="98989F"/>
                </a:solidFill>
                <a:latin typeface="Helvetica Neue"/>
                <a:ea typeface="Helvetica Neue"/>
                <a:cs typeface="Helvetica Neue"/>
              </a:defRPr>
            </a:lvl1pPr>
            <a:lvl2pPr>
              <a:buNone/>
              <a:defRPr sz="1163" b="0">
                <a:solidFill>
                  <a:srgbClr val="98989F"/>
                </a:solidFill>
                <a:latin typeface="Helvetica Neue"/>
                <a:ea typeface="Helvetica Neue"/>
                <a:cs typeface="Helvetica Neue"/>
              </a:defRPr>
            </a:lvl2pPr>
            <a:lvl3pPr>
              <a:buNone/>
              <a:defRPr sz="1163" b="0">
                <a:solidFill>
                  <a:srgbClr val="98989F"/>
                </a:solidFill>
                <a:latin typeface="Helvetica Neue"/>
                <a:ea typeface="Helvetica Neue"/>
                <a:cs typeface="Helvetica Neue"/>
              </a:defRPr>
            </a:lvl3pPr>
            <a:lvl4pPr>
              <a:buNone/>
              <a:defRPr sz="1163" b="0">
                <a:solidFill>
                  <a:srgbClr val="98989F"/>
                </a:solidFill>
                <a:latin typeface="Helvetica Neue"/>
                <a:ea typeface="Helvetica Neue"/>
                <a:cs typeface="Helvetica Neue"/>
              </a:defRPr>
            </a:lvl4pPr>
            <a:lvl5pPr>
              <a:buNone/>
              <a:defRPr sz="1163" b="0">
                <a:solidFill>
                  <a:srgbClr val="98989F"/>
                </a:solidFill>
                <a:latin typeface="Helvetica Neue"/>
                <a:ea typeface="Helvetica Neue"/>
                <a:cs typeface="Helvetica Neue"/>
              </a:defRPr>
            </a:lvl5pPr>
            <a:lvl6pPr>
              <a:buNone/>
              <a:defRPr sz="1163" b="0">
                <a:solidFill>
                  <a:srgbClr val="98989F"/>
                </a:solidFill>
                <a:latin typeface="Helvetica Neue"/>
                <a:ea typeface="Helvetica Neue"/>
                <a:cs typeface="Helvetica Neue"/>
              </a:defRPr>
            </a:lvl6pPr>
            <a:lvl7pPr>
              <a:buNone/>
              <a:defRPr sz="1163" b="0">
                <a:solidFill>
                  <a:srgbClr val="98989F"/>
                </a:solidFill>
                <a:latin typeface="Helvetica Neue"/>
                <a:ea typeface="Helvetica Neue"/>
                <a:cs typeface="Helvetica Neue"/>
              </a:defRPr>
            </a:lvl7pPr>
            <a:lvl8pPr>
              <a:buNone/>
              <a:defRPr sz="1163" b="0">
                <a:solidFill>
                  <a:srgbClr val="98989F"/>
                </a:solidFill>
                <a:latin typeface="Helvetica Neue"/>
                <a:ea typeface="Helvetica Neue"/>
                <a:cs typeface="Helvetica Neue"/>
              </a:defRPr>
            </a:lvl8pPr>
            <a:lvl9pPr>
              <a:buNone/>
              <a:defRPr sz="1163" b="0">
                <a:solidFill>
                  <a:srgbClr val="98989F"/>
                </a:solidFill>
                <a:latin typeface="Helvetica Neue"/>
                <a:ea typeface="Helvetica Neue"/>
                <a:cs typeface="Helvetica Neue"/>
              </a:defRPr>
            </a:lvl9pPr>
          </a:lstStyle>
          <a:p xmlns:a="http://schemas.openxmlformats.org/drawingml/2006/main">
            <a:pPr>
              <a:buNone/>
              <a:defRPr sz="1163" b="0">
                <a:solidFill>
                  <a:srgbClr val="98989F"/>
                </a:solidFill>
                <a:latin typeface="Helvetica Neue"/>
                <a:ea typeface="Helvetica Neue"/>
                <a:cs typeface="Helvetica Neue"/>
              </a:defRPr>
            </a:pPr>
            <a:r>
              <a:rPr sz="1163" b="0">
                <a:solidFill>
                  <a:srgbClr val="98989F"/>
                </a:solidFill>
                <a:latin typeface="Helvetica Neue"/>
                <a:ea typeface="Helvetica Neue"/>
                <a:cs typeface="Helvetica Neue"/>
                <a:hlinkClick xmlns:r="http://schemas.openxmlformats.org/officeDocument/2006/relationships" r:id="R721a4d38415f4315"/>
              </a:rPr>
              <a:t>Источник: Документация scikit-learn</a:t>
            </a:r>
          </a:p>
        </p:txBody>
      </p:sp>
    </p:spTree>
    <p:extLst>
      <p:ext uri="{BB962C8B-B14F-4D97-AF65-F5344CB8AC3E}">
        <p14:creationId xmlns:p14="http://schemas.microsoft.com/office/powerpoint/2010/main" val="1614551391"/>
      </p:ext>
    </p:extLst>
  </p:cSld>
</p:sld>
</file>

<file path=ppt/slides/slide6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1" name="expanded-0">
            <a:extLst xmlns:a="http://schemas.openxmlformats.org/drawingml/2006/main">
              <a:ext uri="{FF2B5EF4-FFF2-40B4-BE49-F238E27FC236}">
                <a16:creationId xmlns:a16="http://schemas.microsoft.com/office/drawing/2014/main" id="{C72A2E12-FB26-4EAA-8270-7D7495C14703}"/>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anded-1">
            <a:extLst xmlns:a="http://schemas.openxmlformats.org/drawingml/2006/main">
              <a:ext uri="{FF2B5EF4-FFF2-40B4-BE49-F238E27FC236}">
                <a16:creationId xmlns:a16="http://schemas.microsoft.com/office/drawing/2014/main" id="{C436E958-3263-43D7-92D6-8EF99E79BFB7}"/>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67</a:t>
            </a:r>
          </a:p>
        </p:txBody>
      </p:sp>
      <p:sp>
        <p:nvSpPr>
          <p:cNvPr id="3" name="">
            <a:extLst xmlns:a="http://schemas.openxmlformats.org/drawingml/2006/main">
              <a:ext uri="{FF2B5EF4-FFF2-40B4-BE49-F238E27FC236}">
                <a16:creationId xmlns:a16="http://schemas.microsoft.com/office/drawing/2014/main" id="{08830293-C524-47F4-A6E8-8C858072DE50}"/>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ln>
        </p:spPr>
      </p:sp>
      <p:sp>
        <p:nvSpPr>
          <p:cNvPr id="4" name="expanded-3">
            <a:extLst xmlns:a="http://schemas.openxmlformats.org/drawingml/2006/main">
              <a:ext uri="{FF2B5EF4-FFF2-40B4-BE49-F238E27FC236}">
                <a16:creationId xmlns:a16="http://schemas.microsoft.com/office/drawing/2014/main" id="{01F232F8-B556-4ADD-9211-E674DF9EE3EA}"/>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Data leakage</a:t>
            </a:r>
          </a:p>
        </p:txBody>
      </p:sp>
      <p:sp>
        <p:nvSpPr>
          <p:cNvPr id="12" name="theory-4">
            <a:extLst xmlns:a="http://schemas.openxmlformats.org/drawingml/2006/main">
              <a:ext uri="{FF2B5EF4-FFF2-40B4-BE49-F238E27FC236}">
                <a16:creationId xmlns:a16="http://schemas.microsoft.com/office/drawing/2014/main" id="{EF82F303-8ABE-4DF6-8E38-3B0E9433832D}"/>
              </a:ext>
            </a:extLst>
          </p:cNvPr>
          <p:cNvSpPr>
            <a:spLocks xmlns:a="http://schemas.openxmlformats.org/drawingml/2006/main" noGrp="1"/>
          </p:cNvSpPr>
          <p:nvPr/>
        </p:nvSpPr>
        <p:spPr>
          <a:xfrm xmlns:a="http://schemas.openxmlformats.org/drawingml/2006/main">
            <a:off x="685800" y="20478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buNone/>
              <a:defRPr sz="1950" b="1">
                <a:solidFill>
                  <a:srgbClr val="BD9FE3"/>
                </a:solidFill>
                <a:latin typeface="Helvetica Neue"/>
                <a:ea typeface="Helvetica Neue"/>
                <a:cs typeface="Helvetica Neue"/>
              </a:defRPr>
            </a:lvl1pPr>
            <a:lvl2pPr>
              <a:buNone/>
              <a:defRPr sz="1950" b="1">
                <a:solidFill>
                  <a:srgbClr val="BD9FE3"/>
                </a:solidFill>
                <a:latin typeface="Helvetica Neue"/>
                <a:ea typeface="Helvetica Neue"/>
                <a:cs typeface="Helvetica Neue"/>
              </a:defRPr>
            </a:lvl2pPr>
            <a:lvl3pPr>
              <a:buNone/>
              <a:defRPr sz="1950" b="1">
                <a:solidFill>
                  <a:srgbClr val="BD9FE3"/>
                </a:solidFill>
                <a:latin typeface="Helvetica Neue"/>
                <a:ea typeface="Helvetica Neue"/>
                <a:cs typeface="Helvetica Neue"/>
              </a:defRPr>
            </a:lvl3pPr>
            <a:lvl4pPr>
              <a:buNone/>
              <a:defRPr sz="1950" b="1">
                <a:solidFill>
                  <a:srgbClr val="BD9FE3"/>
                </a:solidFill>
                <a:latin typeface="Helvetica Neue"/>
                <a:ea typeface="Helvetica Neue"/>
                <a:cs typeface="Helvetica Neue"/>
              </a:defRPr>
            </a:lvl4pPr>
            <a:lvl5pPr>
              <a:buNone/>
              <a:defRPr sz="1950" b="1">
                <a:solidFill>
                  <a:srgbClr val="BD9FE3"/>
                </a:solidFill>
                <a:latin typeface="Helvetica Neue"/>
                <a:ea typeface="Helvetica Neue"/>
                <a:cs typeface="Helvetica Neue"/>
              </a:defRPr>
            </a:lvl5pPr>
            <a:lvl6pPr>
              <a:buNone/>
              <a:defRPr sz="1950" b="1">
                <a:solidFill>
                  <a:srgbClr val="BD9FE3"/>
                </a:solidFill>
                <a:latin typeface="Helvetica Neue"/>
                <a:ea typeface="Helvetica Neue"/>
                <a:cs typeface="Helvetica Neue"/>
              </a:defRPr>
            </a:lvl6pPr>
            <a:lvl7pPr>
              <a:buNone/>
              <a:defRPr sz="1950" b="1">
                <a:solidFill>
                  <a:srgbClr val="BD9FE3"/>
                </a:solidFill>
                <a:latin typeface="Helvetica Neue"/>
                <a:ea typeface="Helvetica Neue"/>
                <a:cs typeface="Helvetica Neue"/>
              </a:defRPr>
            </a:lvl7pPr>
            <a:lvl8pPr>
              <a:buNone/>
              <a:defRPr sz="1950" b="1">
                <a:solidFill>
                  <a:srgbClr val="BD9FE3"/>
                </a:solidFill>
                <a:latin typeface="Helvetica Neue"/>
                <a:ea typeface="Helvetica Neue"/>
                <a:cs typeface="Helvetica Neue"/>
              </a:defRPr>
            </a:lvl8pPr>
            <a:lvl9pPr>
              <a:buNone/>
              <a:defRPr sz="1950" b="1">
                <a:solidFill>
                  <a:srgbClr val="BD9FE3"/>
                </a:solidFill>
                <a:latin typeface="Helvetica Neue"/>
                <a:ea typeface="Helvetica Neue"/>
                <a:cs typeface="Helvetica Neue"/>
              </a:defRPr>
            </a:lvl9pPr>
          </a:lstStyle>
          <a:p xmlns:a="http://schemas.openxmlformats.org/drawingml/2006/main">
            <a:pPr>
              <a:buNone/>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Связь этапов</a:t>
            </a:r>
          </a:p>
        </p:txBody>
      </p:sp>
      <p:sp>
        <p:nvSpPr>
          <p:cNvPr id="13" name="theory-5">
            <a:extLst xmlns:a="http://schemas.openxmlformats.org/drawingml/2006/main">
              <a:ext uri="{FF2B5EF4-FFF2-40B4-BE49-F238E27FC236}">
                <a16:creationId xmlns:a16="http://schemas.microsoft.com/office/drawing/2014/main" id="{4A3DCC73-A0B5-48CA-896C-51ABE07DAA25}"/>
              </a:ext>
            </a:extLst>
          </p:cNvPr>
          <p:cNvSpPr>
            <a:spLocks xmlns:a="http://schemas.openxmlformats.org/drawingml/2006/main" noGrp="1"/>
          </p:cNvSpPr>
          <p:nvPr/>
        </p:nvSpPr>
        <p:spPr>
          <a:xfrm xmlns:a="http://schemas.openxmlformats.org/drawingml/2006/main">
            <a:off x="685800" y="2514600"/>
            <a:ext cx="108204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buNone/>
              <a:defRPr sz="2025" b="0">
                <a:solidFill>
                  <a:srgbClr val="CDCDD3"/>
                </a:solidFill>
                <a:latin typeface="Helvetica Neue"/>
                <a:ea typeface="Helvetica Neue"/>
                <a:cs typeface="Helvetica Neue"/>
              </a:defRPr>
            </a:lvl1pPr>
            <a:lvl2pPr>
              <a:buNone/>
              <a:defRPr sz="2025" b="0">
                <a:solidFill>
                  <a:srgbClr val="CDCDD3"/>
                </a:solidFill>
                <a:latin typeface="Helvetica Neue"/>
                <a:ea typeface="Helvetica Neue"/>
                <a:cs typeface="Helvetica Neue"/>
              </a:defRPr>
            </a:lvl2pPr>
            <a:lvl3pPr>
              <a:buNone/>
              <a:defRPr sz="2025" b="0">
                <a:solidFill>
                  <a:srgbClr val="CDCDD3"/>
                </a:solidFill>
                <a:latin typeface="Helvetica Neue"/>
                <a:ea typeface="Helvetica Neue"/>
                <a:cs typeface="Helvetica Neue"/>
              </a:defRPr>
            </a:lvl3pPr>
            <a:lvl4pPr>
              <a:buNone/>
              <a:defRPr sz="2025" b="0">
                <a:solidFill>
                  <a:srgbClr val="CDCDD3"/>
                </a:solidFill>
                <a:latin typeface="Helvetica Neue"/>
                <a:ea typeface="Helvetica Neue"/>
                <a:cs typeface="Helvetica Neue"/>
              </a:defRPr>
            </a:lvl4pPr>
            <a:lvl5pPr>
              <a:buNone/>
              <a:defRPr sz="2025" b="0">
                <a:solidFill>
                  <a:srgbClr val="CDCDD3"/>
                </a:solidFill>
                <a:latin typeface="Helvetica Neue"/>
                <a:ea typeface="Helvetica Neue"/>
                <a:cs typeface="Helvetica Neue"/>
              </a:defRPr>
            </a:lvl5pPr>
            <a:lvl6pPr>
              <a:buNone/>
              <a:defRPr sz="2025" b="0">
                <a:solidFill>
                  <a:srgbClr val="CDCDD3"/>
                </a:solidFill>
                <a:latin typeface="Helvetica Neue"/>
                <a:ea typeface="Helvetica Neue"/>
                <a:cs typeface="Helvetica Neue"/>
              </a:defRPr>
            </a:lvl6pPr>
            <a:lvl7pPr>
              <a:buNone/>
              <a:defRPr sz="2025" b="0">
                <a:solidFill>
                  <a:srgbClr val="CDCDD3"/>
                </a:solidFill>
                <a:latin typeface="Helvetica Neue"/>
                <a:ea typeface="Helvetica Neue"/>
                <a:cs typeface="Helvetica Neue"/>
              </a:defRPr>
            </a:lvl7pPr>
            <a:lvl8pPr>
              <a:buNone/>
              <a:defRPr sz="2025" b="0">
                <a:solidFill>
                  <a:srgbClr val="CDCDD3"/>
                </a:solidFill>
                <a:latin typeface="Helvetica Neue"/>
                <a:ea typeface="Helvetica Neue"/>
                <a:cs typeface="Helvetica Neue"/>
              </a:defRPr>
            </a:lvl8pPr>
            <a:lvl9pPr>
              <a:buNone/>
              <a:defRPr sz="2025" b="0">
                <a:solidFill>
                  <a:srgbClr val="CDCDD3"/>
                </a:solidFill>
                <a:latin typeface="Helvetica Neue"/>
                <a:ea typeface="Helvetica Neue"/>
                <a:cs typeface="Helvetica Neue"/>
              </a:defRPr>
            </a:lvl9pPr>
          </a:lstStyle>
          <a:p xmlns:a="http://schemas.openxmlformats.org/drawingml/2006/main">
            <a:pPr>
              <a:buNone/>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Конвейер объединяет подготовку признаков и конечную модель в согласованную последовательность. Сначала выделяют тренировочные и проверочные объекты. Затем статистики преобразований и параметры классификатора оценивают только по тренировочной части. Новые тексты проходят те же преобразования с уже сохранёнными настройками и получают предсказания модели.</a:t>
            </a:r>
          </a:p>
        </p:txBody>
      </p:sp>
      <p:sp>
        <p:nvSpPr>
          <p:cNvPr id="14" name="theory-6">
            <a:extLst xmlns:a="http://schemas.openxmlformats.org/drawingml/2006/main">
              <a:ext uri="{FF2B5EF4-FFF2-40B4-BE49-F238E27FC236}">
                <a16:creationId xmlns:a16="http://schemas.microsoft.com/office/drawing/2014/main" id="{50D397F3-1116-42B6-A9B9-66889E57AB4F}"/>
              </a:ext>
            </a:extLst>
          </p:cNvPr>
          <p:cNvSpPr>
            <a:spLocks xmlns:a="http://schemas.openxmlformats.org/drawingml/2006/main" noGrp="1"/>
          </p:cNvSpPr>
          <p:nvPr/>
        </p:nvSpPr>
        <p:spPr>
          <a:xfrm xmlns:a="http://schemas.openxmlformats.org/drawingml/2006/main">
            <a:off x="685800" y="4229100"/>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buNone/>
              <a:defRPr sz="1950" b="1">
                <a:solidFill>
                  <a:srgbClr val="BD9FE3"/>
                </a:solidFill>
                <a:latin typeface="Helvetica Neue"/>
                <a:ea typeface="Helvetica Neue"/>
                <a:cs typeface="Helvetica Neue"/>
              </a:defRPr>
            </a:lvl1pPr>
            <a:lvl2pPr>
              <a:buNone/>
              <a:defRPr sz="1950" b="1">
                <a:solidFill>
                  <a:srgbClr val="BD9FE3"/>
                </a:solidFill>
                <a:latin typeface="Helvetica Neue"/>
                <a:ea typeface="Helvetica Neue"/>
                <a:cs typeface="Helvetica Neue"/>
              </a:defRPr>
            </a:lvl2pPr>
            <a:lvl3pPr>
              <a:buNone/>
              <a:defRPr sz="1950" b="1">
                <a:solidFill>
                  <a:srgbClr val="BD9FE3"/>
                </a:solidFill>
                <a:latin typeface="Helvetica Neue"/>
                <a:ea typeface="Helvetica Neue"/>
                <a:cs typeface="Helvetica Neue"/>
              </a:defRPr>
            </a:lvl3pPr>
            <a:lvl4pPr>
              <a:buNone/>
              <a:defRPr sz="1950" b="1">
                <a:solidFill>
                  <a:srgbClr val="BD9FE3"/>
                </a:solidFill>
                <a:latin typeface="Helvetica Neue"/>
                <a:ea typeface="Helvetica Neue"/>
                <a:cs typeface="Helvetica Neue"/>
              </a:defRPr>
            </a:lvl4pPr>
            <a:lvl5pPr>
              <a:buNone/>
              <a:defRPr sz="1950" b="1">
                <a:solidFill>
                  <a:srgbClr val="BD9FE3"/>
                </a:solidFill>
                <a:latin typeface="Helvetica Neue"/>
                <a:ea typeface="Helvetica Neue"/>
                <a:cs typeface="Helvetica Neue"/>
              </a:defRPr>
            </a:lvl5pPr>
            <a:lvl6pPr>
              <a:buNone/>
              <a:defRPr sz="1950" b="1">
                <a:solidFill>
                  <a:srgbClr val="BD9FE3"/>
                </a:solidFill>
                <a:latin typeface="Helvetica Neue"/>
                <a:ea typeface="Helvetica Neue"/>
                <a:cs typeface="Helvetica Neue"/>
              </a:defRPr>
            </a:lvl6pPr>
            <a:lvl7pPr>
              <a:buNone/>
              <a:defRPr sz="1950" b="1">
                <a:solidFill>
                  <a:srgbClr val="BD9FE3"/>
                </a:solidFill>
                <a:latin typeface="Helvetica Neue"/>
                <a:ea typeface="Helvetica Neue"/>
                <a:cs typeface="Helvetica Neue"/>
              </a:defRPr>
            </a:lvl7pPr>
            <a:lvl8pPr>
              <a:buNone/>
              <a:defRPr sz="1950" b="1">
                <a:solidFill>
                  <a:srgbClr val="BD9FE3"/>
                </a:solidFill>
                <a:latin typeface="Helvetica Neue"/>
                <a:ea typeface="Helvetica Neue"/>
                <a:cs typeface="Helvetica Neue"/>
              </a:defRPr>
            </a:lvl8pPr>
            <a:lvl9pPr>
              <a:buNone/>
              <a:defRPr sz="1950" b="1">
                <a:solidFill>
                  <a:srgbClr val="BD9FE3"/>
                </a:solidFill>
                <a:latin typeface="Helvetica Neue"/>
                <a:ea typeface="Helvetica Neue"/>
                <a:cs typeface="Helvetica Neue"/>
              </a:defRPr>
            </a:lvl9pPr>
          </a:lstStyle>
          <a:p xmlns:a="http://schemas.openxmlformats.org/drawingml/2006/main">
            <a:pPr>
              <a:buNone/>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Границы защиты</a:t>
            </a:r>
          </a:p>
        </p:txBody>
      </p:sp>
      <p:sp>
        <p:nvSpPr>
          <p:cNvPr id="15" name="theory-7">
            <a:extLst xmlns:a="http://schemas.openxmlformats.org/drawingml/2006/main">
              <a:ext uri="{FF2B5EF4-FFF2-40B4-BE49-F238E27FC236}">
                <a16:creationId xmlns:a16="http://schemas.microsoft.com/office/drawing/2014/main" id="{B0888CDD-EE8F-4DC4-AB92-A101A5582C6E}"/>
              </a:ext>
            </a:extLst>
          </p:cNvPr>
          <p:cNvSpPr>
            <a:spLocks xmlns:a="http://schemas.openxmlformats.org/drawingml/2006/main" noGrp="1"/>
          </p:cNvSpPr>
          <p:nvPr/>
        </p:nvSpPr>
        <p:spPr>
          <a:xfrm xmlns:a="http://schemas.openxmlformats.org/drawingml/2006/main">
            <a:off x="685800" y="4695825"/>
            <a:ext cx="10820400" cy="1743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buNone/>
              <a:defRPr sz="2025" b="0">
                <a:solidFill>
                  <a:srgbClr val="CDCDD3"/>
                </a:solidFill>
                <a:latin typeface="Helvetica Neue"/>
                <a:ea typeface="Helvetica Neue"/>
                <a:cs typeface="Helvetica Neue"/>
              </a:defRPr>
            </a:lvl1pPr>
            <a:lvl2pPr>
              <a:buNone/>
              <a:defRPr sz="2025" b="0">
                <a:solidFill>
                  <a:srgbClr val="CDCDD3"/>
                </a:solidFill>
                <a:latin typeface="Helvetica Neue"/>
                <a:ea typeface="Helvetica Neue"/>
                <a:cs typeface="Helvetica Neue"/>
              </a:defRPr>
            </a:lvl2pPr>
            <a:lvl3pPr>
              <a:buNone/>
              <a:defRPr sz="2025" b="0">
                <a:solidFill>
                  <a:srgbClr val="CDCDD3"/>
                </a:solidFill>
                <a:latin typeface="Helvetica Neue"/>
                <a:ea typeface="Helvetica Neue"/>
                <a:cs typeface="Helvetica Neue"/>
              </a:defRPr>
            </a:lvl3pPr>
            <a:lvl4pPr>
              <a:buNone/>
              <a:defRPr sz="2025" b="0">
                <a:solidFill>
                  <a:srgbClr val="CDCDD3"/>
                </a:solidFill>
                <a:latin typeface="Helvetica Neue"/>
                <a:ea typeface="Helvetica Neue"/>
                <a:cs typeface="Helvetica Neue"/>
              </a:defRPr>
            </a:lvl4pPr>
            <a:lvl5pPr>
              <a:buNone/>
              <a:defRPr sz="2025" b="0">
                <a:solidFill>
                  <a:srgbClr val="CDCDD3"/>
                </a:solidFill>
                <a:latin typeface="Helvetica Neue"/>
                <a:ea typeface="Helvetica Neue"/>
                <a:cs typeface="Helvetica Neue"/>
              </a:defRPr>
            </a:lvl5pPr>
            <a:lvl6pPr>
              <a:buNone/>
              <a:defRPr sz="2025" b="0">
                <a:solidFill>
                  <a:srgbClr val="CDCDD3"/>
                </a:solidFill>
                <a:latin typeface="Helvetica Neue"/>
                <a:ea typeface="Helvetica Neue"/>
                <a:cs typeface="Helvetica Neue"/>
              </a:defRPr>
            </a:lvl6pPr>
            <a:lvl7pPr>
              <a:buNone/>
              <a:defRPr sz="2025" b="0">
                <a:solidFill>
                  <a:srgbClr val="CDCDD3"/>
                </a:solidFill>
                <a:latin typeface="Helvetica Neue"/>
                <a:ea typeface="Helvetica Neue"/>
                <a:cs typeface="Helvetica Neue"/>
              </a:defRPr>
            </a:lvl7pPr>
            <a:lvl8pPr>
              <a:buNone/>
              <a:defRPr sz="2025" b="0">
                <a:solidFill>
                  <a:srgbClr val="CDCDD3"/>
                </a:solidFill>
                <a:latin typeface="Helvetica Neue"/>
                <a:ea typeface="Helvetica Neue"/>
                <a:cs typeface="Helvetica Neue"/>
              </a:defRPr>
            </a:lvl8pPr>
            <a:lvl9pPr>
              <a:buNone/>
              <a:defRPr sz="2025" b="0">
                <a:solidFill>
                  <a:srgbClr val="CDCDD3"/>
                </a:solidFill>
                <a:latin typeface="Helvetica Neue"/>
                <a:ea typeface="Helvetica Neue"/>
                <a:cs typeface="Helvetica Neue"/>
              </a:defRPr>
            </a:lvl9pPr>
          </a:lstStyle>
          <a:p xmlns:a="http://schemas.openxmlformats.org/drawingml/2006/main">
            <a:pPr>
              <a:buNone/>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При cross-validation все обучаемые преобразования должны заново оцениваться внутри каждой тренировочной части. Это предотвращает использование статистики проверочных объектов. Однако сам конвейер не устраняет дубликаты, связи между авторами или ошибки временного разбиения. Эти источники утечки требуют отдельного контроля на уровне подготовки данных.</a:t>
            </a:r>
          </a:p>
        </p:txBody>
      </p:sp>
    </p:spTree>
    <p:extLst>
      <p:ext uri="{BB962C8B-B14F-4D97-AF65-F5344CB8AC3E}">
        <p14:creationId xmlns:p14="http://schemas.microsoft.com/office/powerpoint/2010/main" val="1698691229"/>
      </p:ext>
    </p:extLst>
  </p:cSld>
</p:sld>
</file>

<file path=ppt/slides/slide6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9" name="expanded-0">
            <a:extLst xmlns:a="http://schemas.openxmlformats.org/drawingml/2006/main">
              <a:ext uri="{FF2B5EF4-FFF2-40B4-BE49-F238E27FC236}">
                <a16:creationId xmlns:a16="http://schemas.microsoft.com/office/drawing/2014/main" id="{EF634DF4-03E8-4414-A155-31A3DA305285}"/>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anded-1">
            <a:extLst xmlns:a="http://schemas.openxmlformats.org/drawingml/2006/main">
              <a:ext uri="{FF2B5EF4-FFF2-40B4-BE49-F238E27FC236}">
                <a16:creationId xmlns:a16="http://schemas.microsoft.com/office/drawing/2014/main" id="{9CD72398-EB71-474D-B39B-A9122BEF94C6}"/>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68</a:t>
            </a:r>
          </a:p>
        </p:txBody>
      </p:sp>
      <p:sp>
        <p:nvSpPr>
          <p:cNvPr id="3" name="">
            <a:extLst xmlns:a="http://schemas.openxmlformats.org/drawingml/2006/main">
              <a:ext uri="{FF2B5EF4-FFF2-40B4-BE49-F238E27FC236}">
                <a16:creationId xmlns:a16="http://schemas.microsoft.com/office/drawing/2014/main" id="{31C0AE2E-6CED-4CC4-A81F-44B963B75BA4}"/>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ln>
        </p:spPr>
      </p:sp>
      <p:sp>
        <p:nvSpPr>
          <p:cNvPr id="4" name="expanded-3">
            <a:extLst xmlns:a="http://schemas.openxmlformats.org/drawingml/2006/main">
              <a:ext uri="{FF2B5EF4-FFF2-40B4-BE49-F238E27FC236}">
                <a16:creationId xmlns:a16="http://schemas.microsoft.com/office/drawing/2014/main" id="{35DA2224-9AEC-4108-A9F7-6D86535EC075}"/>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Confusion matrix и evaluation</a:t>
            </a:r>
          </a:p>
        </p:txBody>
      </p:sp>
      <p:pic>
        <p:nvPicPr>
          <p:cNvPr id="30" name="">
            <a:extLst xmlns:a="http://schemas.openxmlformats.org/drawingml/2006/main">
              <a:ext uri="{FF2B5EF4-FFF2-40B4-BE49-F238E27FC236}">
                <a16:creationId xmlns:a16="http://schemas.microsoft.com/office/drawing/2014/main" id="{E4F69FE7-1605-4EF1-AEA5-D8AED2DAC561}"/>
              </a:ext>
            </a:extLst>
          </p:cNvPr>
          <p:cNvPicPr>
            <a:picLocks xmlns:a="http://schemas.openxmlformats.org/drawingml/2006/main" noChangeAspect="1"/>
          </p:cNvPicPr>
          <p:nvPr/>
        </p:nvPicPr>
        <p:blipFill>
          <a:blip xmlns:r="http://schemas.openxmlformats.org/officeDocument/2006/relationships" xmlns:a="http://schemas.openxmlformats.org/drawingml/2006/main" r:embed="R0ddc9dea6d694608"/>
          <a:srcRect xmlns:a="http://schemas.openxmlformats.org/drawingml/2006/main" l="0" t="0" r="0" b="0"/>
          <a:stretch xmlns:a="http://schemas.openxmlformats.org/drawingml/2006/main">
            <a:fillRect l="0" t="0" r="0" b="0"/>
          </a:stretch>
        </p:blipFill>
        <p:spPr>
          <a:xfrm xmlns:a="http://schemas.openxmlformats.org/drawingml/2006/main">
            <a:off x="685800" y="2490788"/>
            <a:ext cx="5905500" cy="2952750"/>
          </a:xfrm>
          <a:prstGeom xmlns:a="http://schemas.openxmlformats.org/drawingml/2006/main" prst="rect">
            <a:avLst/>
          </a:prstGeom>
        </p:spPr>
      </p:pic>
      <p:sp>
        <p:nvSpPr>
          <p:cNvPr id="31" name="theory-4">
            <a:extLst xmlns:a="http://schemas.openxmlformats.org/drawingml/2006/main">
              <a:ext uri="{FF2B5EF4-FFF2-40B4-BE49-F238E27FC236}">
                <a16:creationId xmlns:a16="http://schemas.microsoft.com/office/drawing/2014/main" id="{FCB09639-393C-40AD-9071-276F341CED3B}"/>
              </a:ext>
            </a:extLst>
          </p:cNvPr>
          <p:cNvSpPr>
            <a:spLocks xmlns:a="http://schemas.openxmlformats.org/drawingml/2006/main" noGrp="1"/>
          </p:cNvSpPr>
          <p:nvPr/>
        </p:nvSpPr>
        <p:spPr>
          <a:xfrm xmlns:a="http://schemas.openxmlformats.org/drawingml/2006/main">
            <a:off x="6934200" y="2076450"/>
            <a:ext cx="4572000" cy="406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38" b="0">
                <a:solidFill>
                  <a:srgbClr val="CDCDD3"/>
                </a:solidFill>
                <a:latin typeface="Helvetica Neue"/>
                <a:ea typeface="Helvetica Neue"/>
                <a:cs typeface="Helvetica Neue"/>
              </a:defRPr>
            </a:defPPr>
            <a:lvl1pPr>
              <a:buNone/>
              <a:defRPr sz="1838" b="0">
                <a:solidFill>
                  <a:srgbClr val="CDCDD3"/>
                </a:solidFill>
                <a:latin typeface="Helvetica Neue"/>
                <a:ea typeface="Helvetica Neue"/>
                <a:cs typeface="Helvetica Neue"/>
              </a:defRPr>
            </a:lvl1pPr>
            <a:lvl2pPr>
              <a:buNone/>
              <a:defRPr sz="1838" b="0">
                <a:solidFill>
                  <a:srgbClr val="CDCDD3"/>
                </a:solidFill>
                <a:latin typeface="Helvetica Neue"/>
                <a:ea typeface="Helvetica Neue"/>
                <a:cs typeface="Helvetica Neue"/>
              </a:defRPr>
            </a:lvl2pPr>
            <a:lvl3pPr>
              <a:buNone/>
              <a:defRPr sz="1838" b="0">
                <a:solidFill>
                  <a:srgbClr val="CDCDD3"/>
                </a:solidFill>
                <a:latin typeface="Helvetica Neue"/>
                <a:ea typeface="Helvetica Neue"/>
                <a:cs typeface="Helvetica Neue"/>
              </a:defRPr>
            </a:lvl3pPr>
            <a:lvl4pPr>
              <a:buNone/>
              <a:defRPr sz="1838" b="0">
                <a:solidFill>
                  <a:srgbClr val="CDCDD3"/>
                </a:solidFill>
                <a:latin typeface="Helvetica Neue"/>
                <a:ea typeface="Helvetica Neue"/>
                <a:cs typeface="Helvetica Neue"/>
              </a:defRPr>
            </a:lvl4pPr>
            <a:lvl5pPr>
              <a:buNone/>
              <a:defRPr sz="1838" b="0">
                <a:solidFill>
                  <a:srgbClr val="CDCDD3"/>
                </a:solidFill>
                <a:latin typeface="Helvetica Neue"/>
                <a:ea typeface="Helvetica Neue"/>
                <a:cs typeface="Helvetica Neue"/>
              </a:defRPr>
            </a:lvl5pPr>
            <a:lvl6pPr>
              <a:buNone/>
              <a:defRPr sz="1838" b="0">
                <a:solidFill>
                  <a:srgbClr val="CDCDD3"/>
                </a:solidFill>
                <a:latin typeface="Helvetica Neue"/>
                <a:ea typeface="Helvetica Neue"/>
                <a:cs typeface="Helvetica Neue"/>
              </a:defRPr>
            </a:lvl6pPr>
            <a:lvl7pPr>
              <a:buNone/>
              <a:defRPr sz="1838" b="0">
                <a:solidFill>
                  <a:srgbClr val="CDCDD3"/>
                </a:solidFill>
                <a:latin typeface="Helvetica Neue"/>
                <a:ea typeface="Helvetica Neue"/>
                <a:cs typeface="Helvetica Neue"/>
              </a:defRPr>
            </a:lvl7pPr>
            <a:lvl8pPr>
              <a:buNone/>
              <a:defRPr sz="1838" b="0">
                <a:solidFill>
                  <a:srgbClr val="CDCDD3"/>
                </a:solidFill>
                <a:latin typeface="Helvetica Neue"/>
                <a:ea typeface="Helvetica Neue"/>
                <a:cs typeface="Helvetica Neue"/>
              </a:defRPr>
            </a:lvl8pPr>
            <a:lvl9pPr>
              <a:buNone/>
              <a:defRPr sz="1838" b="0">
                <a:solidFill>
                  <a:srgbClr val="CDCDD3"/>
                </a:solidFill>
                <a:latin typeface="Helvetica Neue"/>
                <a:ea typeface="Helvetica Neue"/>
                <a:cs typeface="Helvetica Neue"/>
              </a:defRPr>
            </a:lvl9pPr>
          </a:lstStyle>
          <a:p xmlns:a="http://schemas.openxmlformats.org/drawingml/2006/main">
            <a:pPr>
              <a:buNone/>
              <a:defRPr sz="1838" b="0">
                <a:solidFill>
                  <a:srgbClr val="CDCDD3"/>
                </a:solidFill>
                <a:latin typeface="Helvetica Neue"/>
                <a:ea typeface="Helvetica Neue"/>
                <a:cs typeface="Helvetica Neue"/>
              </a:defRPr>
            </a:pPr>
            <a:r>
              <a:rPr sz="1838" b="0">
                <a:solidFill>
                  <a:srgbClr val="CDCDD3"/>
                </a:solidFill>
                <a:latin typeface="Helvetica Neue"/>
                <a:ea typeface="Helvetica Neue"/>
                <a:cs typeface="Helvetica Neue"/>
              </a:rPr>
              <a:t>Строки матрицы соответствуют истинным классам, столбцы соответствуют предсказаниям. Диагональ содержит правильные ответы, остальные ячейки показывают ошибки.</a:t>
            </a:r>
          </a:p>
          <a:p xmlns:a="http://schemas.openxmlformats.org/drawingml/2006/main">
            <a:r>
              <a:t/>
            </a:r>
          </a:p>
          <a:p xmlns:a="http://schemas.openxmlformats.org/drawingml/2006/main">
            <a:pPr>
              <a:buNone/>
              <a:defRPr sz="1838" b="0">
                <a:solidFill>
                  <a:srgbClr val="CDCDD3"/>
                </a:solidFill>
                <a:latin typeface="Helvetica Neue"/>
                <a:ea typeface="Helvetica Neue"/>
                <a:cs typeface="Helvetica Neue"/>
              </a:defRPr>
            </a:pPr>
            <a:r>
              <a:rPr sz="1838" b="0">
                <a:solidFill>
                  <a:srgbClr val="CDCDD3"/>
                </a:solidFill>
                <a:latin typeface="Helvetica Neue"/>
                <a:ea typeface="Helvetica Neue"/>
                <a:cs typeface="Helvetica Neue"/>
              </a:rPr>
              <a:t>Accuracy показывает долю верных меток. Precision измеряет точность ответов класса, recall описывает полноту его обнаружения. F1 является гармоническим средним precision и recall. Macro-F1 усредняет F1 классов с равными весами.</a:t>
            </a:r>
          </a:p>
        </p:txBody>
      </p:sp>
      <p:sp>
        <p:nvSpPr>
          <p:cNvPr id="32" name="theory-5">
            <a:extLst xmlns:a="http://schemas.openxmlformats.org/drawingml/2006/main">
              <a:ext uri="{FF2B5EF4-FFF2-40B4-BE49-F238E27FC236}">
                <a16:creationId xmlns:a16="http://schemas.microsoft.com/office/drawing/2014/main" id="{D7284FF5-8786-426F-885B-BB755730D5A0}"/>
              </a:ext>
            </a:extLst>
          </p:cNvPr>
          <p:cNvSpPr>
            <a:spLocks xmlns:a="http://schemas.openxmlformats.org/drawingml/2006/main" noGrp="1"/>
          </p:cNvSpPr>
          <p:nvPr/>
        </p:nvSpPr>
        <p:spPr>
          <a:xfrm xmlns:a="http://schemas.openxmlformats.org/drawingml/2006/main">
            <a:off x="685800" y="6076950"/>
            <a:ext cx="10820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63" b="0">
                <a:solidFill>
                  <a:srgbClr val="98989F"/>
                </a:solidFill>
                <a:latin typeface="Helvetica Neue"/>
                <a:ea typeface="Helvetica Neue"/>
                <a:cs typeface="Helvetica Neue"/>
              </a:defRPr>
            </a:defPPr>
            <a:lvl1pPr>
              <a:buNone/>
              <a:defRPr sz="1463" b="0">
                <a:solidFill>
                  <a:srgbClr val="98989F"/>
                </a:solidFill>
                <a:latin typeface="Helvetica Neue"/>
                <a:ea typeface="Helvetica Neue"/>
                <a:cs typeface="Helvetica Neue"/>
              </a:defRPr>
            </a:lvl1pPr>
            <a:lvl2pPr>
              <a:buNone/>
              <a:defRPr sz="1463" b="0">
                <a:solidFill>
                  <a:srgbClr val="98989F"/>
                </a:solidFill>
                <a:latin typeface="Helvetica Neue"/>
                <a:ea typeface="Helvetica Neue"/>
                <a:cs typeface="Helvetica Neue"/>
              </a:defRPr>
            </a:lvl2pPr>
            <a:lvl3pPr>
              <a:buNone/>
              <a:defRPr sz="1463" b="0">
                <a:solidFill>
                  <a:srgbClr val="98989F"/>
                </a:solidFill>
                <a:latin typeface="Helvetica Neue"/>
                <a:ea typeface="Helvetica Neue"/>
                <a:cs typeface="Helvetica Neue"/>
              </a:defRPr>
            </a:lvl3pPr>
            <a:lvl4pPr>
              <a:buNone/>
              <a:defRPr sz="1463" b="0">
                <a:solidFill>
                  <a:srgbClr val="98989F"/>
                </a:solidFill>
                <a:latin typeface="Helvetica Neue"/>
                <a:ea typeface="Helvetica Neue"/>
                <a:cs typeface="Helvetica Neue"/>
              </a:defRPr>
            </a:lvl4pPr>
            <a:lvl5pPr>
              <a:buNone/>
              <a:defRPr sz="1463" b="0">
                <a:solidFill>
                  <a:srgbClr val="98989F"/>
                </a:solidFill>
                <a:latin typeface="Helvetica Neue"/>
                <a:ea typeface="Helvetica Neue"/>
                <a:cs typeface="Helvetica Neue"/>
              </a:defRPr>
            </a:lvl5pPr>
            <a:lvl6pPr>
              <a:buNone/>
              <a:defRPr sz="1463" b="0">
                <a:solidFill>
                  <a:srgbClr val="98989F"/>
                </a:solidFill>
                <a:latin typeface="Helvetica Neue"/>
                <a:ea typeface="Helvetica Neue"/>
                <a:cs typeface="Helvetica Neue"/>
              </a:defRPr>
            </a:lvl6pPr>
            <a:lvl7pPr>
              <a:buNone/>
              <a:defRPr sz="1463" b="0">
                <a:solidFill>
                  <a:srgbClr val="98989F"/>
                </a:solidFill>
                <a:latin typeface="Helvetica Neue"/>
                <a:ea typeface="Helvetica Neue"/>
                <a:cs typeface="Helvetica Neue"/>
              </a:defRPr>
            </a:lvl7pPr>
            <a:lvl8pPr>
              <a:buNone/>
              <a:defRPr sz="1463" b="0">
                <a:solidFill>
                  <a:srgbClr val="98989F"/>
                </a:solidFill>
                <a:latin typeface="Helvetica Neue"/>
                <a:ea typeface="Helvetica Neue"/>
                <a:cs typeface="Helvetica Neue"/>
              </a:defRPr>
            </a:lvl8pPr>
            <a:lvl9pPr>
              <a:buNone/>
              <a:defRPr sz="1463" b="0">
                <a:solidFill>
                  <a:srgbClr val="98989F"/>
                </a:solidFill>
                <a:latin typeface="Helvetica Neue"/>
                <a:ea typeface="Helvetica Neue"/>
                <a:cs typeface="Helvetica Neue"/>
              </a:defRPr>
            </a:lvl9pPr>
          </a:lstStyle>
          <a:p xmlns:a="http://schemas.openxmlformats.org/drawingml/2006/main">
            <a:pPr>
              <a:buNone/>
              <a:defRPr sz="1463" b="0">
                <a:solidFill>
                  <a:srgbClr val="98989F"/>
                </a:solidFill>
                <a:latin typeface="Helvetica Neue"/>
                <a:ea typeface="Helvetica Neue"/>
                <a:cs typeface="Helvetica Neue"/>
              </a:defRPr>
            </a:pPr>
            <a:r>
              <a:rPr sz="1463" b="0">
                <a:solidFill>
                  <a:srgbClr val="98989F"/>
                </a:solidFill>
                <a:latin typeface="Helvetica Neue"/>
                <a:ea typeface="Helvetica Neue"/>
                <a:cs typeface="Helvetica Neue"/>
              </a:rPr>
              <a:t>RidgeClassifier, 20 Newsgroups. Результат примера авторов документации, не нашего эксперимента.</a:t>
            </a:r>
          </a:p>
        </p:txBody>
      </p:sp>
      <p:sp>
        <p:nvSpPr>
          <p:cNvPr id="33" name="theory-6">
            <a:extLst xmlns:a="http://schemas.openxmlformats.org/drawingml/2006/main">
              <a:ext uri="{FF2B5EF4-FFF2-40B4-BE49-F238E27FC236}">
                <a16:creationId xmlns:a16="http://schemas.microsoft.com/office/drawing/2014/main" id="{0C61782F-D3B3-4469-A474-CFF2C0C1209C}"/>
              </a:ext>
            </a:extLst>
          </p:cNvPr>
          <p:cNvSpPr>
            <a:spLocks xmlns:a="http://schemas.openxmlformats.org/drawingml/2006/main" noGrp="1"/>
          </p:cNvSpPr>
          <p:nvPr/>
        </p:nvSpPr>
        <p:spPr>
          <a:xfrm xmlns:a="http://schemas.openxmlformats.org/drawingml/2006/main">
            <a:off x="685800" y="6572250"/>
            <a:ext cx="108204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38" b="0">
                <a:solidFill>
                  <a:srgbClr val="98989F"/>
                </a:solidFill>
                <a:latin typeface="Helvetica Neue"/>
                <a:ea typeface="Helvetica Neue"/>
                <a:cs typeface="Helvetica Neue"/>
              </a:defRPr>
            </a:defPPr>
            <a:lvl1pPr>
              <a:buNone/>
              <a:defRPr sz="1238" b="0">
                <a:solidFill>
                  <a:srgbClr val="98989F"/>
                </a:solidFill>
                <a:latin typeface="Helvetica Neue"/>
                <a:ea typeface="Helvetica Neue"/>
                <a:cs typeface="Helvetica Neue"/>
              </a:defRPr>
            </a:lvl1pPr>
            <a:lvl2pPr>
              <a:buNone/>
              <a:defRPr sz="1238" b="0">
                <a:solidFill>
                  <a:srgbClr val="98989F"/>
                </a:solidFill>
                <a:latin typeface="Helvetica Neue"/>
                <a:ea typeface="Helvetica Neue"/>
                <a:cs typeface="Helvetica Neue"/>
              </a:defRPr>
            </a:lvl2pPr>
            <a:lvl3pPr>
              <a:buNone/>
              <a:defRPr sz="1238" b="0">
                <a:solidFill>
                  <a:srgbClr val="98989F"/>
                </a:solidFill>
                <a:latin typeface="Helvetica Neue"/>
                <a:ea typeface="Helvetica Neue"/>
                <a:cs typeface="Helvetica Neue"/>
              </a:defRPr>
            </a:lvl3pPr>
            <a:lvl4pPr>
              <a:buNone/>
              <a:defRPr sz="1238" b="0">
                <a:solidFill>
                  <a:srgbClr val="98989F"/>
                </a:solidFill>
                <a:latin typeface="Helvetica Neue"/>
                <a:ea typeface="Helvetica Neue"/>
                <a:cs typeface="Helvetica Neue"/>
              </a:defRPr>
            </a:lvl4pPr>
            <a:lvl5pPr>
              <a:buNone/>
              <a:defRPr sz="1238" b="0">
                <a:solidFill>
                  <a:srgbClr val="98989F"/>
                </a:solidFill>
                <a:latin typeface="Helvetica Neue"/>
                <a:ea typeface="Helvetica Neue"/>
                <a:cs typeface="Helvetica Neue"/>
              </a:defRPr>
            </a:lvl5pPr>
            <a:lvl6pPr>
              <a:buNone/>
              <a:defRPr sz="1238" b="0">
                <a:solidFill>
                  <a:srgbClr val="98989F"/>
                </a:solidFill>
                <a:latin typeface="Helvetica Neue"/>
                <a:ea typeface="Helvetica Neue"/>
                <a:cs typeface="Helvetica Neue"/>
              </a:defRPr>
            </a:lvl6pPr>
            <a:lvl7pPr>
              <a:buNone/>
              <a:defRPr sz="1238" b="0">
                <a:solidFill>
                  <a:srgbClr val="98989F"/>
                </a:solidFill>
                <a:latin typeface="Helvetica Neue"/>
                <a:ea typeface="Helvetica Neue"/>
                <a:cs typeface="Helvetica Neue"/>
              </a:defRPr>
            </a:lvl7pPr>
            <a:lvl8pPr>
              <a:buNone/>
              <a:defRPr sz="1238" b="0">
                <a:solidFill>
                  <a:srgbClr val="98989F"/>
                </a:solidFill>
                <a:latin typeface="Helvetica Neue"/>
                <a:ea typeface="Helvetica Neue"/>
                <a:cs typeface="Helvetica Neue"/>
              </a:defRPr>
            </a:lvl8pPr>
            <a:lvl9pPr>
              <a:buNone/>
              <a:defRPr sz="1238" b="0">
                <a:solidFill>
                  <a:srgbClr val="98989F"/>
                </a:solidFill>
                <a:latin typeface="Helvetica Neue"/>
                <a:ea typeface="Helvetica Neue"/>
                <a:cs typeface="Helvetica Neue"/>
              </a:defRPr>
            </a:lvl9pPr>
          </a:lstStyle>
          <a:p xmlns:a="http://schemas.openxmlformats.org/drawingml/2006/main">
            <a:pPr>
              <a:buNone/>
              <a:defRPr sz="1238" b="0">
                <a:solidFill>
                  <a:srgbClr val="98989F"/>
                </a:solidFill>
                <a:latin typeface="Helvetica Neue"/>
                <a:ea typeface="Helvetica Neue"/>
                <a:cs typeface="Helvetica Neue"/>
              </a:defRPr>
            </a:pPr>
            <a:r>
              <a:rPr sz="1238" b="0">
                <a:solidFill>
                  <a:srgbClr val="98989F"/>
                </a:solidFill>
                <a:latin typeface="Helvetica Neue"/>
                <a:ea typeface="Helvetica Neue"/>
                <a:cs typeface="Helvetica Neue"/>
                <a:hlinkClick xmlns:r="http://schemas.openxmlformats.org/officeDocument/2006/relationships" r:id="Rfe14ca0fa16f4997"/>
              </a:rPr>
              <a:t>Источник: Пример из документации scikit-learn</a:t>
            </a:r>
          </a:p>
        </p:txBody>
      </p:sp>
    </p:spTree>
    <p:extLst>
      <p:ext uri="{BB962C8B-B14F-4D97-AF65-F5344CB8AC3E}">
        <p14:creationId xmlns:p14="http://schemas.microsoft.com/office/powerpoint/2010/main" val="2022892171"/>
      </p:ext>
    </p:extLst>
  </p:cSld>
</p:sld>
</file>

<file path=ppt/slides/slide6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9" name="exp90-0">
            <a:extLst xmlns:a="http://schemas.openxmlformats.org/drawingml/2006/main">
              <a:ext uri="{FF2B5EF4-FFF2-40B4-BE49-F238E27FC236}">
                <a16:creationId xmlns:a16="http://schemas.microsoft.com/office/drawing/2014/main" id="{B8A9AECE-9806-4B00-9D5F-584DEDFA22D7}"/>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90-1">
            <a:extLst xmlns:a="http://schemas.openxmlformats.org/drawingml/2006/main">
              <a:ext uri="{FF2B5EF4-FFF2-40B4-BE49-F238E27FC236}">
                <a16:creationId xmlns:a16="http://schemas.microsoft.com/office/drawing/2014/main" id="{B2FB0F96-4947-4F5E-A39B-E61417926E75}"/>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69</a:t>
            </a:r>
          </a:p>
        </p:txBody>
      </p:sp>
      <p:sp>
        <p:nvSpPr>
          <p:cNvPr id="3" name="">
            <a:extLst xmlns:a="http://schemas.openxmlformats.org/drawingml/2006/main">
              <a:ext uri="{FF2B5EF4-FFF2-40B4-BE49-F238E27FC236}">
                <a16:creationId xmlns:a16="http://schemas.microsoft.com/office/drawing/2014/main" id="{AEE2E530-97EF-466F-BD21-41D4F895D683}"/>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0">
            <a:solidFill>
              <a:srgbClr val="28282B"/>
            </a:solidFill>
          </a:ln>
        </p:spPr>
      </p:sp>
      <p:sp>
        <p:nvSpPr>
          <p:cNvPr id="4" name="exp90-3">
            <a:extLst xmlns:a="http://schemas.openxmlformats.org/drawingml/2006/main">
              <a:ext uri="{FF2B5EF4-FFF2-40B4-BE49-F238E27FC236}">
                <a16:creationId xmlns:a16="http://schemas.microsoft.com/office/drawing/2014/main" id="{6DF1239B-F545-46B4-82A0-8C18EE6D84E3}"/>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Precision и recall</a:t>
            </a:r>
          </a:p>
        </p:txBody>
      </p:sp>
      <p:pic>
        <p:nvPicPr>
          <p:cNvPr id="5" name="">
            <a:extLst xmlns:a="http://schemas.openxmlformats.org/drawingml/2006/main">
              <a:ext uri="{FF2B5EF4-FFF2-40B4-BE49-F238E27FC236}">
                <a16:creationId xmlns:a16="http://schemas.microsoft.com/office/drawing/2014/main" id="{4D3AD8DD-D282-4A0C-8301-1C62E7B1A100}"/>
              </a:ext>
            </a:extLst>
          </p:cNvPr>
          <p:cNvPicPr>
            <a:picLocks xmlns:a="http://schemas.openxmlformats.org/drawingml/2006/main" noChangeAspect="1"/>
          </p:cNvPicPr>
          <p:nvPr/>
        </p:nvPicPr>
        <p:blipFill>
          <a:blip xmlns:r="http://schemas.openxmlformats.org/officeDocument/2006/relationships" xmlns:a="http://schemas.openxmlformats.org/drawingml/2006/main" r:embed="R39ef9721b3ed4e5b"/>
          <a:srcRect xmlns:a="http://schemas.openxmlformats.org/drawingml/2006/main" l="0" t="0" r="0" b="0"/>
          <a:stretch xmlns:a="http://schemas.openxmlformats.org/drawingml/2006/main">
            <a:fillRect l="0" t="0" r="0" b="0"/>
          </a:stretch>
        </p:blipFill>
        <p:spPr>
          <a:xfrm xmlns:a="http://schemas.openxmlformats.org/drawingml/2006/main">
            <a:off x="685800" y="2341520"/>
            <a:ext cx="6191250" cy="3356060"/>
          </a:xfrm>
          <a:prstGeom xmlns:a="http://schemas.openxmlformats.org/drawingml/2006/main" prst="rect">
            <a:avLst/>
          </a:prstGeom>
        </p:spPr>
      </p:pic>
      <p:sp>
        <p:nvSpPr>
          <p:cNvPr id="6" name="exp90-4">
            <a:extLst xmlns:a="http://schemas.openxmlformats.org/drawingml/2006/main">
              <a:ext uri="{FF2B5EF4-FFF2-40B4-BE49-F238E27FC236}">
                <a16:creationId xmlns:a16="http://schemas.microsoft.com/office/drawing/2014/main" id="{870809B5-341E-4C04-832B-605B3F22808A}"/>
              </a:ext>
            </a:extLst>
          </p:cNvPr>
          <p:cNvSpPr>
            <a:spLocks xmlns:a="http://schemas.openxmlformats.org/drawingml/2006/main" noGrp="1"/>
          </p:cNvSpPr>
          <p:nvPr/>
        </p:nvSpPr>
        <p:spPr>
          <a:xfrm xmlns:a="http://schemas.openxmlformats.org/drawingml/2006/main">
            <a:off x="7239000" y="2076450"/>
            <a:ext cx="4267200" cy="392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38" b="0">
                <a:solidFill>
                  <a:srgbClr val="CDCDD3"/>
                </a:solidFill>
                <a:latin typeface="Helvetica Neue"/>
                <a:ea typeface="Helvetica Neue"/>
                <a:cs typeface="Helvetica Neue"/>
              </a:defRPr>
            </a:defPPr>
            <a:lvl1pPr>
              <a:buNone/>
              <a:defRPr sz="1838" b="0">
                <a:solidFill>
                  <a:srgbClr val="CDCDD3"/>
                </a:solidFill>
                <a:latin typeface="Helvetica Neue"/>
                <a:ea typeface="Helvetica Neue"/>
                <a:cs typeface="Helvetica Neue"/>
              </a:defRPr>
            </a:lvl1pPr>
            <a:lvl2pPr>
              <a:buNone/>
              <a:defRPr sz="1838" b="0">
                <a:solidFill>
                  <a:srgbClr val="CDCDD3"/>
                </a:solidFill>
                <a:latin typeface="Helvetica Neue"/>
                <a:ea typeface="Helvetica Neue"/>
                <a:cs typeface="Helvetica Neue"/>
              </a:defRPr>
            </a:lvl2pPr>
            <a:lvl3pPr>
              <a:buNone/>
              <a:defRPr sz="1838" b="0">
                <a:solidFill>
                  <a:srgbClr val="CDCDD3"/>
                </a:solidFill>
                <a:latin typeface="Helvetica Neue"/>
                <a:ea typeface="Helvetica Neue"/>
                <a:cs typeface="Helvetica Neue"/>
              </a:defRPr>
            </a:lvl3pPr>
            <a:lvl4pPr>
              <a:buNone/>
              <a:defRPr sz="1838" b="0">
                <a:solidFill>
                  <a:srgbClr val="CDCDD3"/>
                </a:solidFill>
                <a:latin typeface="Helvetica Neue"/>
                <a:ea typeface="Helvetica Neue"/>
                <a:cs typeface="Helvetica Neue"/>
              </a:defRPr>
            </a:lvl4pPr>
            <a:lvl5pPr>
              <a:buNone/>
              <a:defRPr sz="1838" b="0">
                <a:solidFill>
                  <a:srgbClr val="CDCDD3"/>
                </a:solidFill>
                <a:latin typeface="Helvetica Neue"/>
                <a:ea typeface="Helvetica Neue"/>
                <a:cs typeface="Helvetica Neue"/>
              </a:defRPr>
            </a:lvl5pPr>
            <a:lvl6pPr>
              <a:buNone/>
              <a:defRPr sz="1838" b="0">
                <a:solidFill>
                  <a:srgbClr val="CDCDD3"/>
                </a:solidFill>
                <a:latin typeface="Helvetica Neue"/>
                <a:ea typeface="Helvetica Neue"/>
                <a:cs typeface="Helvetica Neue"/>
              </a:defRPr>
            </a:lvl6pPr>
            <a:lvl7pPr>
              <a:buNone/>
              <a:defRPr sz="1838" b="0">
                <a:solidFill>
                  <a:srgbClr val="CDCDD3"/>
                </a:solidFill>
                <a:latin typeface="Helvetica Neue"/>
                <a:ea typeface="Helvetica Neue"/>
                <a:cs typeface="Helvetica Neue"/>
              </a:defRPr>
            </a:lvl7pPr>
            <a:lvl8pPr>
              <a:buNone/>
              <a:defRPr sz="1838" b="0">
                <a:solidFill>
                  <a:srgbClr val="CDCDD3"/>
                </a:solidFill>
                <a:latin typeface="Helvetica Neue"/>
                <a:ea typeface="Helvetica Neue"/>
                <a:cs typeface="Helvetica Neue"/>
              </a:defRPr>
            </a:lvl8pPr>
            <a:lvl9pPr>
              <a:buNone/>
              <a:defRPr sz="1838" b="0">
                <a:solidFill>
                  <a:srgbClr val="CDCDD3"/>
                </a:solidFill>
                <a:latin typeface="Helvetica Neue"/>
                <a:ea typeface="Helvetica Neue"/>
                <a:cs typeface="Helvetica Neue"/>
              </a:defRPr>
            </a:lvl9pPr>
          </a:lstStyle>
          <a:p xmlns:a="http://schemas.openxmlformats.org/drawingml/2006/main">
            <a:pPr>
              <a:buNone/>
              <a:defRPr sz="1838" b="0">
                <a:solidFill>
                  <a:srgbClr val="CDCDD3"/>
                </a:solidFill>
                <a:latin typeface="Helvetica Neue"/>
                <a:ea typeface="Helvetica Neue"/>
                <a:cs typeface="Helvetica Neue"/>
              </a:defRPr>
            </a:pPr>
            <a:r>
              <a:rPr sz="1838" b="0">
                <a:solidFill>
                  <a:srgbClr val="CDCDD3"/>
                </a:solidFill>
                <a:latin typeface="Helvetica Neue"/>
                <a:ea typeface="Helvetica Neue"/>
                <a:cs typeface="Helvetica Neue"/>
              </a:rPr>
              <a:t>True positive соответствует найденному объекту нужного класса. False positive является лишним срабатыванием, а false negative является пропуском нужного объекта. True negative соответствует правильному отклонению.</a:t>
            </a:r>
          </a:p>
          <a:p xmlns:a="http://schemas.openxmlformats.org/drawingml/2006/main">
            <a:r>
              <a:t/>
            </a:r>
          </a:p>
          <a:p xmlns:a="http://schemas.openxmlformats.org/drawingml/2006/main">
            <a:pPr>
              <a:buNone/>
              <a:defRPr sz="1838" b="0">
                <a:solidFill>
                  <a:srgbClr val="CDCDD3"/>
                </a:solidFill>
                <a:latin typeface="Helvetica Neue"/>
                <a:ea typeface="Helvetica Neue"/>
                <a:cs typeface="Helvetica Neue"/>
              </a:defRPr>
            </a:pPr>
            <a:r>
              <a:rPr sz="1838" b="0">
                <a:solidFill>
                  <a:srgbClr val="CDCDD3"/>
                </a:solidFill>
                <a:latin typeface="Helvetica Neue"/>
                <a:ea typeface="Helvetica Neue"/>
                <a:cs typeface="Helvetica Neue"/>
              </a:rPr>
              <a:t>Precision оценивает долю верных среди выбранных объектов. Recall оценивает, какую долю всех нужных объектов система нашла.</a:t>
            </a:r>
          </a:p>
        </p:txBody>
      </p:sp>
      <p:sp>
        <p:nvSpPr>
          <p:cNvPr id="7" name="exp90-5">
            <a:extLst xmlns:a="http://schemas.openxmlformats.org/drawingml/2006/main">
              <a:ext uri="{FF2B5EF4-FFF2-40B4-BE49-F238E27FC236}">
                <a16:creationId xmlns:a16="http://schemas.microsoft.com/office/drawing/2014/main" id="{AEA99D49-2A92-455D-8175-F1DE178191ED}"/>
              </a:ext>
            </a:extLst>
          </p:cNvPr>
          <p:cNvSpPr>
            <a:spLocks xmlns:a="http://schemas.openxmlformats.org/drawingml/2006/main" noGrp="1"/>
          </p:cNvSpPr>
          <p:nvPr/>
        </p:nvSpPr>
        <p:spPr>
          <a:xfrm xmlns:a="http://schemas.openxmlformats.org/drawingml/2006/main">
            <a:off x="685800" y="6210300"/>
            <a:ext cx="108204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88" b="0">
                <a:solidFill>
                  <a:srgbClr val="98989F"/>
                </a:solidFill>
                <a:latin typeface="Helvetica Neue"/>
                <a:ea typeface="Helvetica Neue"/>
                <a:cs typeface="Helvetica Neue"/>
              </a:defRPr>
            </a:defPPr>
            <a:lvl1pPr>
              <a:buNone/>
              <a:defRPr sz="1388" b="0">
                <a:solidFill>
                  <a:srgbClr val="98989F"/>
                </a:solidFill>
                <a:latin typeface="Helvetica Neue"/>
                <a:ea typeface="Helvetica Neue"/>
                <a:cs typeface="Helvetica Neue"/>
              </a:defRPr>
            </a:lvl1pPr>
            <a:lvl2pPr>
              <a:buNone/>
              <a:defRPr sz="1388" b="0">
                <a:solidFill>
                  <a:srgbClr val="98989F"/>
                </a:solidFill>
                <a:latin typeface="Helvetica Neue"/>
                <a:ea typeface="Helvetica Neue"/>
                <a:cs typeface="Helvetica Neue"/>
              </a:defRPr>
            </a:lvl2pPr>
            <a:lvl3pPr>
              <a:buNone/>
              <a:defRPr sz="1388" b="0">
                <a:solidFill>
                  <a:srgbClr val="98989F"/>
                </a:solidFill>
                <a:latin typeface="Helvetica Neue"/>
                <a:ea typeface="Helvetica Neue"/>
                <a:cs typeface="Helvetica Neue"/>
              </a:defRPr>
            </a:lvl3pPr>
            <a:lvl4pPr>
              <a:buNone/>
              <a:defRPr sz="1388" b="0">
                <a:solidFill>
                  <a:srgbClr val="98989F"/>
                </a:solidFill>
                <a:latin typeface="Helvetica Neue"/>
                <a:ea typeface="Helvetica Neue"/>
                <a:cs typeface="Helvetica Neue"/>
              </a:defRPr>
            </a:lvl4pPr>
            <a:lvl5pPr>
              <a:buNone/>
              <a:defRPr sz="1388" b="0">
                <a:solidFill>
                  <a:srgbClr val="98989F"/>
                </a:solidFill>
                <a:latin typeface="Helvetica Neue"/>
                <a:ea typeface="Helvetica Neue"/>
                <a:cs typeface="Helvetica Neue"/>
              </a:defRPr>
            </a:lvl5pPr>
            <a:lvl6pPr>
              <a:buNone/>
              <a:defRPr sz="1388" b="0">
                <a:solidFill>
                  <a:srgbClr val="98989F"/>
                </a:solidFill>
                <a:latin typeface="Helvetica Neue"/>
                <a:ea typeface="Helvetica Neue"/>
                <a:cs typeface="Helvetica Neue"/>
              </a:defRPr>
            </a:lvl6pPr>
            <a:lvl7pPr>
              <a:buNone/>
              <a:defRPr sz="1388" b="0">
                <a:solidFill>
                  <a:srgbClr val="98989F"/>
                </a:solidFill>
                <a:latin typeface="Helvetica Neue"/>
                <a:ea typeface="Helvetica Neue"/>
                <a:cs typeface="Helvetica Neue"/>
              </a:defRPr>
            </a:lvl7pPr>
            <a:lvl8pPr>
              <a:buNone/>
              <a:defRPr sz="1388" b="0">
                <a:solidFill>
                  <a:srgbClr val="98989F"/>
                </a:solidFill>
                <a:latin typeface="Helvetica Neue"/>
                <a:ea typeface="Helvetica Neue"/>
                <a:cs typeface="Helvetica Neue"/>
              </a:defRPr>
            </a:lvl8pPr>
            <a:lvl9pPr>
              <a:buNone/>
              <a:defRPr sz="1388" b="0">
                <a:solidFill>
                  <a:srgbClr val="98989F"/>
                </a:solidFill>
                <a:latin typeface="Helvetica Neue"/>
                <a:ea typeface="Helvetica Neue"/>
                <a:cs typeface="Helvetica Neue"/>
              </a:defRPr>
            </a:lvl9pPr>
          </a:lstStyle>
          <a:p xmlns:a="http://schemas.openxmlformats.org/drawingml/2006/main">
            <a:pPr>
              <a:buNone/>
              <a:defRPr sz="1388" b="0">
                <a:solidFill>
                  <a:srgbClr val="98989F"/>
                </a:solidFill>
                <a:latin typeface="Helvetica Neue"/>
                <a:ea typeface="Helvetica Neue"/>
                <a:cs typeface="Helvetica Neue"/>
              </a:defRPr>
            </a:pPr>
            <a:r>
              <a:rPr sz="1388" b="0">
                <a:solidFill>
                  <a:srgbClr val="98989F"/>
                </a:solidFill>
                <a:latin typeface="Helvetica Neue"/>
                <a:ea typeface="Helvetica Neue"/>
                <a:cs typeface="Helvetica Neue"/>
              </a:rPr>
              <a:t>Иллюстрация NLTK Book для поиска. Та же схема применяется к бинарной классификации при заданном положительном классе.</a:t>
            </a:r>
          </a:p>
        </p:txBody>
      </p:sp>
      <p:sp>
        <p:nvSpPr>
          <p:cNvPr id="8" name="exp90-6">
            <a:extLst xmlns:a="http://schemas.openxmlformats.org/drawingml/2006/main">
              <a:ext uri="{FF2B5EF4-FFF2-40B4-BE49-F238E27FC236}">
                <a16:creationId xmlns:a16="http://schemas.microsoft.com/office/drawing/2014/main" id="{25D1039B-84B2-45E9-A42A-EB888365B621}"/>
              </a:ext>
            </a:extLst>
          </p:cNvPr>
          <p:cNvSpPr>
            <a:spLocks xmlns:a="http://schemas.openxmlformats.org/drawingml/2006/main" noGrp="1"/>
          </p:cNvSpPr>
          <p:nvPr/>
        </p:nvSpPr>
        <p:spPr>
          <a:xfrm xmlns:a="http://schemas.openxmlformats.org/drawingml/2006/main">
            <a:off x="685800" y="6648450"/>
            <a:ext cx="10820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63" b="0">
                <a:solidFill>
                  <a:srgbClr val="98989F"/>
                </a:solidFill>
                <a:latin typeface="Helvetica Neue"/>
                <a:ea typeface="Helvetica Neue"/>
                <a:cs typeface="Helvetica Neue"/>
              </a:defRPr>
            </a:defPPr>
            <a:lvl1pPr>
              <a:buNone/>
              <a:defRPr sz="1163" b="0">
                <a:solidFill>
                  <a:srgbClr val="98989F"/>
                </a:solidFill>
                <a:latin typeface="Helvetica Neue"/>
                <a:ea typeface="Helvetica Neue"/>
                <a:cs typeface="Helvetica Neue"/>
              </a:defRPr>
            </a:lvl1pPr>
            <a:lvl2pPr>
              <a:buNone/>
              <a:defRPr sz="1163" b="0">
                <a:solidFill>
                  <a:srgbClr val="98989F"/>
                </a:solidFill>
                <a:latin typeface="Helvetica Neue"/>
                <a:ea typeface="Helvetica Neue"/>
                <a:cs typeface="Helvetica Neue"/>
              </a:defRPr>
            </a:lvl2pPr>
            <a:lvl3pPr>
              <a:buNone/>
              <a:defRPr sz="1163" b="0">
                <a:solidFill>
                  <a:srgbClr val="98989F"/>
                </a:solidFill>
                <a:latin typeface="Helvetica Neue"/>
                <a:ea typeface="Helvetica Neue"/>
                <a:cs typeface="Helvetica Neue"/>
              </a:defRPr>
            </a:lvl3pPr>
            <a:lvl4pPr>
              <a:buNone/>
              <a:defRPr sz="1163" b="0">
                <a:solidFill>
                  <a:srgbClr val="98989F"/>
                </a:solidFill>
                <a:latin typeface="Helvetica Neue"/>
                <a:ea typeface="Helvetica Neue"/>
                <a:cs typeface="Helvetica Neue"/>
              </a:defRPr>
            </a:lvl4pPr>
            <a:lvl5pPr>
              <a:buNone/>
              <a:defRPr sz="1163" b="0">
                <a:solidFill>
                  <a:srgbClr val="98989F"/>
                </a:solidFill>
                <a:latin typeface="Helvetica Neue"/>
                <a:ea typeface="Helvetica Neue"/>
                <a:cs typeface="Helvetica Neue"/>
              </a:defRPr>
            </a:lvl5pPr>
            <a:lvl6pPr>
              <a:buNone/>
              <a:defRPr sz="1163" b="0">
                <a:solidFill>
                  <a:srgbClr val="98989F"/>
                </a:solidFill>
                <a:latin typeface="Helvetica Neue"/>
                <a:ea typeface="Helvetica Neue"/>
                <a:cs typeface="Helvetica Neue"/>
              </a:defRPr>
            </a:lvl6pPr>
            <a:lvl7pPr>
              <a:buNone/>
              <a:defRPr sz="1163" b="0">
                <a:solidFill>
                  <a:srgbClr val="98989F"/>
                </a:solidFill>
                <a:latin typeface="Helvetica Neue"/>
                <a:ea typeface="Helvetica Neue"/>
                <a:cs typeface="Helvetica Neue"/>
              </a:defRPr>
            </a:lvl7pPr>
            <a:lvl8pPr>
              <a:buNone/>
              <a:defRPr sz="1163" b="0">
                <a:solidFill>
                  <a:srgbClr val="98989F"/>
                </a:solidFill>
                <a:latin typeface="Helvetica Neue"/>
                <a:ea typeface="Helvetica Neue"/>
                <a:cs typeface="Helvetica Neue"/>
              </a:defRPr>
            </a:lvl8pPr>
            <a:lvl9pPr>
              <a:buNone/>
              <a:defRPr sz="1163" b="0">
                <a:solidFill>
                  <a:srgbClr val="98989F"/>
                </a:solidFill>
                <a:latin typeface="Helvetica Neue"/>
                <a:ea typeface="Helvetica Neue"/>
                <a:cs typeface="Helvetica Neue"/>
              </a:defRPr>
            </a:lvl9pPr>
          </a:lstStyle>
          <a:p xmlns:a="http://schemas.openxmlformats.org/drawingml/2006/main">
            <a:pPr>
              <a:buNone/>
              <a:defRPr sz="1163" b="0">
                <a:solidFill>
                  <a:srgbClr val="98989F"/>
                </a:solidFill>
                <a:latin typeface="Helvetica Neue"/>
                <a:ea typeface="Helvetica Neue"/>
                <a:cs typeface="Helvetica Neue"/>
              </a:defRPr>
            </a:pPr>
            <a:r>
              <a:rPr sz="1163" b="0">
                <a:solidFill>
                  <a:srgbClr val="98989F"/>
                </a:solidFill>
                <a:latin typeface="Helvetica Neue"/>
                <a:ea typeface="Helvetica Neue"/>
                <a:cs typeface="Helvetica Neue"/>
                <a:hlinkClick xmlns:r="http://schemas.openxmlformats.org/officeDocument/2006/relationships" r:id="Re27294c8a92d4902"/>
              </a:rPr>
              <a:t>Источник: NLTK Book, гл. 6</a:t>
            </a:r>
          </a:p>
        </p:txBody>
      </p:sp>
    </p:spTree>
    <p:extLst>
      <p:ext uri="{BB962C8B-B14F-4D97-AF65-F5344CB8AC3E}">
        <p14:creationId xmlns:p14="http://schemas.microsoft.com/office/powerpoint/2010/main" val="2019350078"/>
      </p:ext>
    </p:extLst>
  </p:cSld>
</p:sld>
</file>

<file path=ppt/slides/slide7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8" name="exp90-0">
            <a:extLst xmlns:a="http://schemas.openxmlformats.org/drawingml/2006/main">
              <a:ext uri="{FF2B5EF4-FFF2-40B4-BE49-F238E27FC236}">
                <a16:creationId xmlns:a16="http://schemas.microsoft.com/office/drawing/2014/main" id="{DB8791D7-D24F-4EB3-9805-922301F9D2FE}"/>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90-1">
            <a:extLst xmlns:a="http://schemas.openxmlformats.org/drawingml/2006/main">
              <a:ext uri="{FF2B5EF4-FFF2-40B4-BE49-F238E27FC236}">
                <a16:creationId xmlns:a16="http://schemas.microsoft.com/office/drawing/2014/main" id="{F47555ED-052D-4203-A286-D0ED46F7E3D1}"/>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70</a:t>
            </a:r>
          </a:p>
        </p:txBody>
      </p:sp>
      <p:sp>
        <p:nvSpPr>
          <p:cNvPr id="3" name="">
            <a:extLst xmlns:a="http://schemas.openxmlformats.org/drawingml/2006/main">
              <a:ext uri="{FF2B5EF4-FFF2-40B4-BE49-F238E27FC236}">
                <a16:creationId xmlns:a16="http://schemas.microsoft.com/office/drawing/2014/main" id="{AA9E06C9-7544-4DCA-B3D7-31950ABF6476}"/>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0">
            <a:solidFill>
              <a:srgbClr val="28282B"/>
            </a:solidFill>
          </a:ln>
        </p:spPr>
      </p:sp>
      <p:sp>
        <p:nvSpPr>
          <p:cNvPr id="4" name="exp90-3">
            <a:extLst xmlns:a="http://schemas.openxmlformats.org/drawingml/2006/main">
              <a:ext uri="{FF2B5EF4-FFF2-40B4-BE49-F238E27FC236}">
                <a16:creationId xmlns:a16="http://schemas.microsoft.com/office/drawing/2014/main" id="{BEA6A711-2E97-4E99-A8F4-66C1F19CE9C8}"/>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Class imbalance и macro-F1</a:t>
            </a:r>
          </a:p>
        </p:txBody>
      </p:sp>
      <p:sp>
        <p:nvSpPr>
          <p:cNvPr id="5" name="exp90-4">
            <a:extLst xmlns:a="http://schemas.openxmlformats.org/drawingml/2006/main">
              <a:ext uri="{FF2B5EF4-FFF2-40B4-BE49-F238E27FC236}">
                <a16:creationId xmlns:a16="http://schemas.microsoft.com/office/drawing/2014/main" id="{6ACDB1AD-2344-48FB-ADED-2CF94D5CB86E}"/>
              </a:ext>
            </a:extLst>
          </p:cNvPr>
          <p:cNvSpPr>
            <a:spLocks xmlns:a="http://schemas.openxmlformats.org/drawingml/2006/main" noGrp="1"/>
          </p:cNvSpPr>
          <p:nvPr/>
        </p:nvSpPr>
        <p:spPr>
          <a:xfrm xmlns:a="http://schemas.openxmlformats.org/drawingml/2006/main">
            <a:off x="685800" y="20097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88" b="0">
                <a:solidFill>
                  <a:srgbClr val="F5F5F7"/>
                </a:solidFill>
                <a:latin typeface="Helvetica Neue"/>
                <a:ea typeface="Helvetica Neue"/>
                <a:cs typeface="Helvetica Neue"/>
              </a:defRPr>
            </a:defPPr>
            <a:lvl1pPr>
              <a:buNone/>
              <a:defRPr sz="1988" b="0">
                <a:solidFill>
                  <a:srgbClr val="F5F5F7"/>
                </a:solidFill>
                <a:latin typeface="Helvetica Neue"/>
                <a:ea typeface="Helvetica Neue"/>
                <a:cs typeface="Helvetica Neue"/>
              </a:defRPr>
            </a:lvl1pPr>
            <a:lvl2pPr>
              <a:buNone/>
              <a:defRPr sz="1988" b="0">
                <a:solidFill>
                  <a:srgbClr val="F5F5F7"/>
                </a:solidFill>
                <a:latin typeface="Helvetica Neue"/>
                <a:ea typeface="Helvetica Neue"/>
                <a:cs typeface="Helvetica Neue"/>
              </a:defRPr>
            </a:lvl2pPr>
            <a:lvl3pPr>
              <a:buNone/>
              <a:defRPr sz="1988" b="0">
                <a:solidFill>
                  <a:srgbClr val="F5F5F7"/>
                </a:solidFill>
                <a:latin typeface="Helvetica Neue"/>
                <a:ea typeface="Helvetica Neue"/>
                <a:cs typeface="Helvetica Neue"/>
              </a:defRPr>
            </a:lvl3pPr>
            <a:lvl4pPr>
              <a:buNone/>
              <a:defRPr sz="1988" b="0">
                <a:solidFill>
                  <a:srgbClr val="F5F5F7"/>
                </a:solidFill>
                <a:latin typeface="Helvetica Neue"/>
                <a:ea typeface="Helvetica Neue"/>
                <a:cs typeface="Helvetica Neue"/>
              </a:defRPr>
            </a:lvl4pPr>
            <a:lvl5pPr>
              <a:buNone/>
              <a:defRPr sz="1988" b="0">
                <a:solidFill>
                  <a:srgbClr val="F5F5F7"/>
                </a:solidFill>
                <a:latin typeface="Helvetica Neue"/>
                <a:ea typeface="Helvetica Neue"/>
                <a:cs typeface="Helvetica Neue"/>
              </a:defRPr>
            </a:lvl5pPr>
            <a:lvl6pPr>
              <a:buNone/>
              <a:defRPr sz="1988" b="0">
                <a:solidFill>
                  <a:srgbClr val="F5F5F7"/>
                </a:solidFill>
                <a:latin typeface="Helvetica Neue"/>
                <a:ea typeface="Helvetica Neue"/>
                <a:cs typeface="Helvetica Neue"/>
              </a:defRPr>
            </a:lvl6pPr>
            <a:lvl7pPr>
              <a:buNone/>
              <a:defRPr sz="1988" b="0">
                <a:solidFill>
                  <a:srgbClr val="F5F5F7"/>
                </a:solidFill>
                <a:latin typeface="Helvetica Neue"/>
                <a:ea typeface="Helvetica Neue"/>
                <a:cs typeface="Helvetica Neue"/>
              </a:defRPr>
            </a:lvl7pPr>
            <a:lvl8pPr>
              <a:buNone/>
              <a:defRPr sz="1988" b="0">
                <a:solidFill>
                  <a:srgbClr val="F5F5F7"/>
                </a:solidFill>
                <a:latin typeface="Helvetica Neue"/>
                <a:ea typeface="Helvetica Neue"/>
                <a:cs typeface="Helvetica Neue"/>
              </a:defRPr>
            </a:lvl8pPr>
            <a:lvl9pPr>
              <a:buNone/>
              <a:defRPr sz="1988" b="0">
                <a:solidFill>
                  <a:srgbClr val="F5F5F7"/>
                </a:solidFill>
                <a:latin typeface="Helvetica Neue"/>
                <a:ea typeface="Helvetica Neue"/>
                <a:cs typeface="Helvetica Neue"/>
              </a:defRPr>
            </a:lvl9pPr>
          </a:lstStyle>
          <a:p xmlns:a="http://schemas.openxmlformats.org/drawingml/2006/main">
            <a:pPr>
              <a:buNone/>
              <a:defRPr sz="1988" b="0">
                <a:solidFill>
                  <a:srgbClr val="F5F5F7"/>
                </a:solidFill>
                <a:latin typeface="Helvetica Neue"/>
                <a:ea typeface="Helvetica Neue"/>
                <a:cs typeface="Helvetica Neue"/>
              </a:defRPr>
            </a:pPr>
            <a:r>
              <a:rPr sz="1988" b="0">
                <a:solidFill>
                  <a:srgbClr val="F5F5F7"/>
                </a:solidFill>
                <a:latin typeface="Helvetica Neue"/>
                <a:ea typeface="Helvetica Neue"/>
                <a:cs typeface="Helvetica Neue"/>
              </a:rPr>
              <a:t>В условной выборке 90 нейтральных отзывов и 10 жалоб. Система всегда предсказывает нейтральный класс.</a:t>
            </a:r>
          </a:p>
        </p:txBody>
      </p:sp>
      <p:graphicFrame>
        <p:nvGraphicFramePr>
          <p:cNvPr id="6" name="">
            <a:extLst xmlns:a="http://schemas.openxmlformats.org/drawingml/2006/main">
              <a:ext uri="{FF2B5EF4-FFF2-40B4-BE49-F238E27FC236}">
                <a16:creationId xmlns:a16="http://schemas.microsoft.com/office/drawing/2014/main" id="{1C03C2B6-D6EE-4A09-A69E-04BF01B1AB88}"/>
              </a:ext>
            </a:extLst>
          </p:cNvPr>
          <p:cNvGraphicFramePr/>
          <p:nvPr/>
        </p:nvGraphicFramePr>
        <p:xfrm>
          <a:off xmlns:a="http://schemas.openxmlformats.org/drawingml/2006/main" x="685800" y="2876550"/>
          <a:ext xmlns:a="http://schemas.openxmlformats.org/drawingml/2006/main" cx="10820400" cy="1885950"/>
        </p:xfrm>
        <a:graphic xmlns:a="http://schemas.openxmlformats.org/drawingml/2006/main">
          <a:graphicData uri="http://schemas.openxmlformats.org/drawingml/2006/table">
            <a:tbl>
              <a:tblPr/>
              <a:tblGrid>
                <a:gridCol w="3429000"/>
                <a:gridCol w="3695700"/>
                <a:gridCol w="3695700"/>
              </a:tblGrid>
              <a:tr h="628650">
                <a:tc>
                  <a:txBody>
                    <a:bodyPr lIns="133350" tIns="76200" rIns="133350" bIns="76200"/>
                    <a:lstStyle/>
                    <a:p>
                      <a:r>
                        <a:rPr sz="1800" b="1">
                          <a:solidFill>
                            <a:srgbClr val="98989F"/>
                          </a:solidFill>
                          <a:latin typeface="Helvetica Neue"/>
                          <a:ea typeface="Helvetica Neue"/>
                          <a:cs typeface="Helvetica Neue"/>
                        </a:rPr>
                        <a:t>Истинный класс</a:t>
                      </a:r>
                    </a:p>
                  </a:txBody>
                  <a:tcPr marL="91440" marR="91440" marT="45720" marB="45720" anchor="ctr">
                    <a:lnL w="9525">
                      <a:solidFill>
                        <a:srgbClr val="28282B"/>
                      </a:solidFill>
                      <a:prstDash val="solid"/>
                    </a:lnL>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c>
                  <a:txBody>
                    <a:bodyPr lIns="133350" tIns="76200" rIns="133350" bIns="76200"/>
                    <a:lstStyle/>
                    <a:p>
                      <a:r>
                        <a:rPr sz="1800" b="1">
                          <a:solidFill>
                            <a:srgbClr val="98989F"/>
                          </a:solidFill>
                          <a:latin typeface="Helvetica Neue"/>
                          <a:ea typeface="Helvetica Neue"/>
                          <a:cs typeface="Helvetica Neue"/>
                        </a:rPr>
                        <a:t>Предсказано: нейтральный</a:t>
                      </a:r>
                    </a:p>
                  </a:txBody>
                  <a:tcPr marL="91440" marR="91440" marT="45720" marB="45720" anchor="ctr">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c>
                  <a:txBody>
                    <a:bodyPr lIns="133350" tIns="76200" rIns="133350" bIns="76200"/>
                    <a:lstStyle/>
                    <a:p>
                      <a:r>
                        <a:rPr sz="1800" b="1">
                          <a:solidFill>
                            <a:srgbClr val="98989F"/>
                          </a:solidFill>
                          <a:latin typeface="Helvetica Neue"/>
                          <a:ea typeface="Helvetica Neue"/>
                          <a:cs typeface="Helvetica Neue"/>
                        </a:rPr>
                        <a:t>Предсказано: жалоба</a:t>
                      </a:r>
                    </a:p>
                  </a:txBody>
                  <a:tcPr marL="91440" marR="91440" marT="45720" marB="45720" anchor="ctr">
                    <a:lnR w="9525">
                      <a:solidFill>
                        <a:srgbClr val="28282B"/>
                      </a:solidFill>
                      <a:prstDash val="solid"/>
                    </a:lnR>
                    <a:lnT w="9525">
                      <a:solidFill>
                        <a:srgbClr val="28282B"/>
                      </a:solidFill>
                      <a:prstDash val="solid"/>
                    </a:lnT>
                    <a:lnB w="9525">
                      <a:solidFill>
                        <a:srgbClr val="28282B"/>
                      </a:solidFill>
                      <a:prstDash val="solid"/>
                    </a:lnB>
                    <a:solidFill>
                      <a:srgbClr val="151517"/>
                    </a:solidFill>
                  </a:tcPr>
                </a:tc>
              </a:tr>
              <a:tr h="628650">
                <a:tc>
                  <a:txBody>
                    <a:bodyPr lIns="133350" tIns="76200" rIns="133350" bIns="76200"/>
                    <a:lstStyle/>
                    <a:p>
                      <a:r>
                        <a:rPr sz="1800" b="0">
                          <a:solidFill>
                            <a:srgbClr val="F5F5F7"/>
                          </a:solidFill>
                          <a:latin typeface="Helvetica Neue"/>
                          <a:ea typeface="Helvetica Neue"/>
                          <a:cs typeface="Helvetica Neue"/>
                        </a:rPr>
                        <a:t>Нейтральный</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800" b="0">
                          <a:solidFill>
                            <a:srgbClr val="F5F5F7"/>
                          </a:solidFill>
                          <a:latin typeface="Helvetica Neue"/>
                          <a:ea typeface="Helvetica Neue"/>
                          <a:cs typeface="Helvetica Neue"/>
                        </a:rPr>
                        <a:t>90</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800" b="0">
                          <a:solidFill>
                            <a:srgbClr val="98989F"/>
                          </a:solidFill>
                          <a:latin typeface="Helvetica Neue"/>
                          <a:ea typeface="Helvetica Neue"/>
                          <a:cs typeface="Helvetica Neue"/>
                        </a:rPr>
                        <a:t>0</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r h="628650">
                <a:tc>
                  <a:txBody>
                    <a:bodyPr lIns="133350" tIns="76200" rIns="133350" bIns="76200"/>
                    <a:lstStyle/>
                    <a:p>
                      <a:r>
                        <a:rPr sz="1800" b="0">
                          <a:solidFill>
                            <a:srgbClr val="F5F5F7"/>
                          </a:solidFill>
                          <a:latin typeface="Helvetica Neue"/>
                          <a:ea typeface="Helvetica Neue"/>
                          <a:cs typeface="Helvetica Neue"/>
                        </a:rPr>
                        <a:t>Жалоба</a:t>
                      </a:r>
                    </a:p>
                  </a:txBody>
                  <a:tcPr marL="91440" marR="91440" marT="45720" marB="45720" anchor="ctr">
                    <a:lnL w="9525">
                      <a:solidFill>
                        <a:srgbClr val="28282B"/>
                      </a:solidFill>
                      <a:prstDash val="solid"/>
                    </a:lnL>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800" b="0">
                          <a:solidFill>
                            <a:srgbClr val="F5F5F7"/>
                          </a:solidFill>
                          <a:latin typeface="Helvetica Neue"/>
                          <a:ea typeface="Helvetica Neue"/>
                          <a:cs typeface="Helvetica Neue"/>
                        </a:rPr>
                        <a:t>10</a:t>
                      </a:r>
                    </a:p>
                  </a:txBody>
                  <a:tcPr marL="91440" marR="91440" marT="45720" marB="45720" anchor="ctr">
                    <a:lnR w="9525">
                      <a:solidFill>
                        <a:srgbClr val="28282B"/>
                      </a:solidFill>
                      <a:prstDash val="solid"/>
                    </a:lnR>
                    <a:lnB w="9525">
                      <a:solidFill>
                        <a:srgbClr val="28282B"/>
                      </a:solidFill>
                      <a:prstDash val="solid"/>
                    </a:lnB>
                    <a:solidFill>
                      <a:srgbClr val="09090B"/>
                    </a:solidFill>
                  </a:tcPr>
                </a:tc>
                <a:tc>
                  <a:txBody>
                    <a:bodyPr lIns="133350" tIns="76200" rIns="133350" bIns="76200"/>
                    <a:lstStyle/>
                    <a:p>
                      <a:r>
                        <a:rPr sz="1800" b="0">
                          <a:solidFill>
                            <a:srgbClr val="98989F"/>
                          </a:solidFill>
                          <a:latin typeface="Helvetica Neue"/>
                          <a:ea typeface="Helvetica Neue"/>
                          <a:cs typeface="Helvetica Neue"/>
                        </a:rPr>
                        <a:t>0</a:t>
                      </a:r>
                    </a:p>
                  </a:txBody>
                  <a:tcPr marL="91440" marR="91440" marT="45720" marB="45720" anchor="ctr">
                    <a:lnR w="9525">
                      <a:solidFill>
                        <a:srgbClr val="28282B"/>
                      </a:solidFill>
                      <a:prstDash val="solid"/>
                    </a:lnR>
                    <a:lnB w="9525">
                      <a:solidFill>
                        <a:srgbClr val="28282B"/>
                      </a:solidFill>
                      <a:prstDash val="solid"/>
                    </a:lnB>
                    <a:solidFill>
                      <a:srgbClr val="09090B"/>
                    </a:solidFill>
                  </a:tcPr>
                </a:tc>
              </a:tr>
            </a:tbl>
          </a:graphicData>
        </a:graphic>
      </p:graphicFrame>
      <p:sp>
        <p:nvSpPr>
          <p:cNvPr id="7" name="exp90-5">
            <a:extLst xmlns:a="http://schemas.openxmlformats.org/drawingml/2006/main">
              <a:ext uri="{FF2B5EF4-FFF2-40B4-BE49-F238E27FC236}">
                <a16:creationId xmlns:a16="http://schemas.microsoft.com/office/drawing/2014/main" id="{67FFD3F4-0DA6-444F-90CA-BC24E396745F}"/>
              </a:ext>
            </a:extLst>
          </p:cNvPr>
          <p:cNvSpPr>
            <a:spLocks xmlns:a="http://schemas.openxmlformats.org/drawingml/2006/main" noGrp="1"/>
          </p:cNvSpPr>
          <p:nvPr/>
        </p:nvSpPr>
        <p:spPr>
          <a:xfrm xmlns:a="http://schemas.openxmlformats.org/drawingml/2006/main">
            <a:off x="685800" y="5276850"/>
            <a:ext cx="108204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CDCDD3"/>
                </a:solidFill>
                <a:latin typeface="Helvetica Neue"/>
                <a:ea typeface="Helvetica Neue"/>
                <a:cs typeface="Helvetica Neue"/>
              </a:defRPr>
            </a:defPPr>
            <a:lvl1pPr>
              <a:buNone/>
              <a:defRPr sz="1950" b="0">
                <a:solidFill>
                  <a:srgbClr val="CDCDD3"/>
                </a:solidFill>
                <a:latin typeface="Helvetica Neue"/>
                <a:ea typeface="Helvetica Neue"/>
                <a:cs typeface="Helvetica Neue"/>
              </a:defRPr>
            </a:lvl1pPr>
            <a:lvl2pPr>
              <a:buNone/>
              <a:defRPr sz="1950" b="0">
                <a:solidFill>
                  <a:srgbClr val="CDCDD3"/>
                </a:solidFill>
                <a:latin typeface="Helvetica Neue"/>
                <a:ea typeface="Helvetica Neue"/>
                <a:cs typeface="Helvetica Neue"/>
              </a:defRPr>
            </a:lvl2pPr>
            <a:lvl3pPr>
              <a:buNone/>
              <a:defRPr sz="1950" b="0">
                <a:solidFill>
                  <a:srgbClr val="CDCDD3"/>
                </a:solidFill>
                <a:latin typeface="Helvetica Neue"/>
                <a:ea typeface="Helvetica Neue"/>
                <a:cs typeface="Helvetica Neue"/>
              </a:defRPr>
            </a:lvl3pPr>
            <a:lvl4pPr>
              <a:buNone/>
              <a:defRPr sz="1950" b="0">
                <a:solidFill>
                  <a:srgbClr val="CDCDD3"/>
                </a:solidFill>
                <a:latin typeface="Helvetica Neue"/>
                <a:ea typeface="Helvetica Neue"/>
                <a:cs typeface="Helvetica Neue"/>
              </a:defRPr>
            </a:lvl4pPr>
            <a:lvl5pPr>
              <a:buNone/>
              <a:defRPr sz="1950" b="0">
                <a:solidFill>
                  <a:srgbClr val="CDCDD3"/>
                </a:solidFill>
                <a:latin typeface="Helvetica Neue"/>
                <a:ea typeface="Helvetica Neue"/>
                <a:cs typeface="Helvetica Neue"/>
              </a:defRPr>
            </a:lvl5pPr>
            <a:lvl6pPr>
              <a:buNone/>
              <a:defRPr sz="1950" b="0">
                <a:solidFill>
                  <a:srgbClr val="CDCDD3"/>
                </a:solidFill>
                <a:latin typeface="Helvetica Neue"/>
                <a:ea typeface="Helvetica Neue"/>
                <a:cs typeface="Helvetica Neue"/>
              </a:defRPr>
            </a:lvl6pPr>
            <a:lvl7pPr>
              <a:buNone/>
              <a:defRPr sz="1950" b="0">
                <a:solidFill>
                  <a:srgbClr val="CDCDD3"/>
                </a:solidFill>
                <a:latin typeface="Helvetica Neue"/>
                <a:ea typeface="Helvetica Neue"/>
                <a:cs typeface="Helvetica Neue"/>
              </a:defRPr>
            </a:lvl7pPr>
            <a:lvl8pPr>
              <a:buNone/>
              <a:defRPr sz="1950" b="0">
                <a:solidFill>
                  <a:srgbClr val="CDCDD3"/>
                </a:solidFill>
                <a:latin typeface="Helvetica Neue"/>
                <a:ea typeface="Helvetica Neue"/>
                <a:cs typeface="Helvetica Neue"/>
              </a:defRPr>
            </a:lvl8pPr>
            <a:lvl9pPr>
              <a:buNone/>
              <a:defRPr sz="1950" b="0">
                <a:solidFill>
                  <a:srgbClr val="CDCDD3"/>
                </a:solidFill>
                <a:latin typeface="Helvetica Neue"/>
                <a:ea typeface="Helvetica Neue"/>
                <a:cs typeface="Helvetica Neue"/>
              </a:defRPr>
            </a:lvl9pPr>
          </a:lstStyle>
          <a:p xmlns:a="http://schemas.openxmlformats.org/drawingml/2006/main">
            <a:pPr>
              <a:buNone/>
              <a:defRPr sz="1950" b="0">
                <a:solidFill>
                  <a:srgbClr val="CDCDD3"/>
                </a:solidFill>
                <a:latin typeface="Helvetica Neue"/>
                <a:ea typeface="Helvetica Neue"/>
                <a:cs typeface="Helvetica Neue"/>
              </a:defRPr>
            </a:pPr>
            <a:r>
              <a:rPr sz="1950" b="0">
                <a:solidFill>
                  <a:srgbClr val="CDCDD3"/>
                </a:solidFill>
                <a:latin typeface="Helvetica Neue"/>
                <a:ea typeface="Helvetica Neue"/>
                <a:cs typeface="Helvetica Neue"/>
              </a:rPr>
              <a:t>Accuracy равна 90%, но recall класса «жалоба» равен 0%. F1 нейтрального класса ≈ 0,947, F1 класса «жалоба» = 0; macro-F1 ≈ 0,474. Равный вес классов в macro-F1 позволяет заметить провал на редком классе.</a:t>
            </a:r>
          </a:p>
        </p:txBody>
      </p:sp>
    </p:spTree>
    <p:extLst>
      <p:ext uri="{BB962C8B-B14F-4D97-AF65-F5344CB8AC3E}">
        <p14:creationId xmlns:p14="http://schemas.microsoft.com/office/powerpoint/2010/main" val="345829341"/>
      </p:ext>
    </p:extLst>
  </p:cSld>
</p:sld>
</file>

<file path=ppt/slides/slide7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1" name="expanded-0">
            <a:extLst xmlns:a="http://schemas.openxmlformats.org/drawingml/2006/main">
              <a:ext uri="{FF2B5EF4-FFF2-40B4-BE49-F238E27FC236}">
                <a16:creationId xmlns:a16="http://schemas.microsoft.com/office/drawing/2014/main" id="{3C3A3308-35B0-45A3-A5A8-5862AEA499BB}"/>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anded-1">
            <a:extLst xmlns:a="http://schemas.openxmlformats.org/drawingml/2006/main">
              <a:ext uri="{FF2B5EF4-FFF2-40B4-BE49-F238E27FC236}">
                <a16:creationId xmlns:a16="http://schemas.microsoft.com/office/drawing/2014/main" id="{CFF7ED37-C3EE-4854-B4FF-57530310253D}"/>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71</a:t>
            </a:r>
          </a:p>
        </p:txBody>
      </p:sp>
      <p:sp>
        <p:nvSpPr>
          <p:cNvPr id="3" name="">
            <a:extLst xmlns:a="http://schemas.openxmlformats.org/drawingml/2006/main">
              <a:ext uri="{FF2B5EF4-FFF2-40B4-BE49-F238E27FC236}">
                <a16:creationId xmlns:a16="http://schemas.microsoft.com/office/drawing/2014/main" id="{9112DE1E-239B-4EFE-ACE0-D34B31D53C5D}"/>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ln>
        </p:spPr>
      </p:sp>
      <p:sp>
        <p:nvSpPr>
          <p:cNvPr id="4" name="expanded-3">
            <a:extLst xmlns:a="http://schemas.openxmlformats.org/drawingml/2006/main">
              <a:ext uri="{FF2B5EF4-FFF2-40B4-BE49-F238E27FC236}">
                <a16:creationId xmlns:a16="http://schemas.microsoft.com/office/drawing/2014/main" id="{C15B0E1B-D942-477D-B55A-C52BBF319AE4}"/>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Analysis and interpretability</a:t>
            </a:r>
          </a:p>
        </p:txBody>
      </p:sp>
      <p:pic>
        <p:nvPicPr>
          <p:cNvPr id="12" name="">
            <a:extLst xmlns:a="http://schemas.openxmlformats.org/drawingml/2006/main">
              <a:ext uri="{FF2B5EF4-FFF2-40B4-BE49-F238E27FC236}">
                <a16:creationId xmlns:a16="http://schemas.microsoft.com/office/drawing/2014/main" id="{C7C48223-DEE1-4904-9B35-1693E5994A7B}"/>
              </a:ext>
            </a:extLst>
          </p:cNvPr>
          <p:cNvPicPr>
            <a:picLocks xmlns:a="http://schemas.openxmlformats.org/drawingml/2006/main" noChangeAspect="1"/>
          </p:cNvPicPr>
          <p:nvPr/>
        </p:nvPicPr>
        <p:blipFill>
          <a:blip xmlns:r="http://schemas.openxmlformats.org/officeDocument/2006/relationships" xmlns:a="http://schemas.openxmlformats.org/drawingml/2006/main" r:embed="R49f4166bcced4c86"/>
          <a:stretch xmlns:a="http://schemas.openxmlformats.org/drawingml/2006/main"/>
        </p:blipFill>
        <p:spPr>
          <a:xfrm xmlns:a="http://schemas.openxmlformats.org/drawingml/2006/main">
            <a:off x="1352550" y="2105025"/>
            <a:ext cx="4857750" cy="3886200"/>
          </a:xfrm>
          <a:prstGeom xmlns:a="http://schemas.openxmlformats.org/drawingml/2006/main" prst="rect">
            <a:avLst/>
          </a:prstGeom>
        </p:spPr>
      </p:pic>
      <p:sp>
        <p:nvSpPr>
          <p:cNvPr id="13" name="ysda-4">
            <a:extLst xmlns:a="http://schemas.openxmlformats.org/drawingml/2006/main">
              <a:ext uri="{FF2B5EF4-FFF2-40B4-BE49-F238E27FC236}">
                <a16:creationId xmlns:a16="http://schemas.microsoft.com/office/drawing/2014/main" id="{5D20CE72-71D4-49F4-84BA-9783B7785EBB}"/>
              </a:ext>
            </a:extLst>
          </p:cNvPr>
          <p:cNvSpPr>
            <a:spLocks xmlns:a="http://schemas.openxmlformats.org/drawingml/2006/main" noGrp="1"/>
          </p:cNvSpPr>
          <p:nvPr/>
        </p:nvSpPr>
        <p:spPr>
          <a:xfrm xmlns:a="http://schemas.openxmlformats.org/drawingml/2006/main">
            <a:off x="7239000" y="2076450"/>
            <a:ext cx="4267200" cy="422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38" b="0">
                <a:solidFill>
                  <a:srgbClr val="CDCDD3"/>
                </a:solidFill>
                <a:latin typeface="Helvetica Neue"/>
                <a:ea typeface="Helvetica Neue"/>
                <a:cs typeface="Helvetica Neue"/>
              </a:defRPr>
            </a:defPPr>
            <a:lvl1pPr>
              <a:defRPr sz="1838" b="0">
                <a:solidFill>
                  <a:srgbClr val="CDCDD3"/>
                </a:solidFill>
                <a:latin typeface="Helvetica Neue"/>
                <a:ea typeface="Helvetica Neue"/>
                <a:cs typeface="Helvetica Neue"/>
              </a:defRPr>
            </a:lvl1pPr>
            <a:lvl2pPr>
              <a:defRPr sz="1838" b="0">
                <a:solidFill>
                  <a:srgbClr val="CDCDD3"/>
                </a:solidFill>
                <a:latin typeface="Helvetica Neue"/>
                <a:ea typeface="Helvetica Neue"/>
                <a:cs typeface="Helvetica Neue"/>
              </a:defRPr>
            </a:lvl2pPr>
            <a:lvl3pPr>
              <a:defRPr sz="1838" b="0">
                <a:solidFill>
                  <a:srgbClr val="CDCDD3"/>
                </a:solidFill>
                <a:latin typeface="Helvetica Neue"/>
                <a:ea typeface="Helvetica Neue"/>
                <a:cs typeface="Helvetica Neue"/>
              </a:defRPr>
            </a:lvl3pPr>
            <a:lvl4pPr>
              <a:defRPr sz="1838" b="0">
                <a:solidFill>
                  <a:srgbClr val="CDCDD3"/>
                </a:solidFill>
                <a:latin typeface="Helvetica Neue"/>
                <a:ea typeface="Helvetica Neue"/>
                <a:cs typeface="Helvetica Neue"/>
              </a:defRPr>
            </a:lvl4pPr>
            <a:lvl5pPr>
              <a:defRPr sz="1838" b="0">
                <a:solidFill>
                  <a:srgbClr val="CDCDD3"/>
                </a:solidFill>
                <a:latin typeface="Helvetica Neue"/>
                <a:ea typeface="Helvetica Neue"/>
                <a:cs typeface="Helvetica Neue"/>
              </a:defRPr>
            </a:lvl5pPr>
            <a:lvl6pPr>
              <a:defRPr sz="1838" b="0">
                <a:solidFill>
                  <a:srgbClr val="CDCDD3"/>
                </a:solidFill>
                <a:latin typeface="Helvetica Neue"/>
                <a:ea typeface="Helvetica Neue"/>
                <a:cs typeface="Helvetica Neue"/>
              </a:defRPr>
            </a:lvl6pPr>
            <a:lvl7pPr>
              <a:defRPr sz="1838" b="0">
                <a:solidFill>
                  <a:srgbClr val="CDCDD3"/>
                </a:solidFill>
                <a:latin typeface="Helvetica Neue"/>
                <a:ea typeface="Helvetica Neue"/>
                <a:cs typeface="Helvetica Neue"/>
              </a:defRPr>
            </a:lvl7pPr>
            <a:lvl8pPr>
              <a:defRPr sz="1838" b="0">
                <a:solidFill>
                  <a:srgbClr val="CDCDD3"/>
                </a:solidFill>
                <a:latin typeface="Helvetica Neue"/>
                <a:ea typeface="Helvetica Neue"/>
                <a:cs typeface="Helvetica Neue"/>
              </a:defRPr>
            </a:lvl8pPr>
            <a:lvl9pPr>
              <a:defRPr sz="1838" b="0">
                <a:solidFill>
                  <a:srgbClr val="CDCDD3"/>
                </a:solidFill>
                <a:latin typeface="Helvetica Neue"/>
                <a:ea typeface="Helvetica Neue"/>
                <a:cs typeface="Helvetica Neue"/>
              </a:defRPr>
            </a:lvl9pPr>
          </a:lstStyle>
          <a:p xmlns:a="http://schemas.openxmlformats.org/drawingml/2006/main">
            <a:pPr>
              <a:defRPr sz="1838" b="0">
                <a:solidFill>
                  <a:srgbClr val="CDCDD3"/>
                </a:solidFill>
                <a:latin typeface="Helvetica Neue"/>
                <a:ea typeface="Helvetica Neue"/>
                <a:cs typeface="Helvetica Neue"/>
              </a:defRPr>
            </a:pPr>
            <a:r>
              <a:rPr sz="1838" b="0">
                <a:solidFill>
                  <a:srgbClr val="CDCDD3"/>
                </a:solidFill>
                <a:latin typeface="Helvetica Neue"/>
                <a:ea typeface="Helvetica Neue"/>
                <a:cs typeface="Helvetica Neue"/>
              </a:rPr>
              <a:t>На рисунке показаны average feature effects: коэффициенты RidgeClassifier умножены на средние значения features на train. Знак показывает направление вклада в score класса. Например, слово space связано с темой sci.space. Это результат примера scikit-learn на 20 Newsgroups. Большой вклад не доказывает причинную связь: модель может использовать шаблоны и особенности dataset. Поэтому интерпретацию дополняют анализом ошибочных примеров.</a:t>
            </a:r>
          </a:p>
        </p:txBody>
      </p:sp>
      <p:sp>
        <p:nvSpPr>
          <p:cNvPr id="14" name="ysda-5">
            <a:extLst xmlns:a="http://schemas.openxmlformats.org/drawingml/2006/main">
              <a:ext uri="{FF2B5EF4-FFF2-40B4-BE49-F238E27FC236}">
                <a16:creationId xmlns:a16="http://schemas.microsoft.com/office/drawing/2014/main" id="{B1414B9C-CB38-41E9-93F4-C954EC4BA7EF}"/>
              </a:ext>
            </a:extLst>
          </p:cNvPr>
          <p:cNvSpPr>
            <a:spLocks xmlns:a="http://schemas.openxmlformats.org/drawingml/2006/main" noGrp="1"/>
          </p:cNvSpPr>
          <p:nvPr/>
        </p:nvSpPr>
        <p:spPr>
          <a:xfrm xmlns:a="http://schemas.openxmlformats.org/drawingml/2006/main">
            <a:off x="685800" y="6648450"/>
            <a:ext cx="10820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63" b="0">
                <a:solidFill>
                  <a:srgbClr val="98989F"/>
                </a:solidFill>
                <a:latin typeface="Helvetica Neue"/>
                <a:ea typeface="Helvetica Neue"/>
                <a:cs typeface="Helvetica Neue"/>
              </a:defRPr>
            </a:defPPr>
            <a:lvl1pPr>
              <a:defRPr sz="1163" b="0">
                <a:solidFill>
                  <a:srgbClr val="98989F"/>
                </a:solidFill>
                <a:latin typeface="Helvetica Neue"/>
                <a:ea typeface="Helvetica Neue"/>
                <a:cs typeface="Helvetica Neue"/>
              </a:defRPr>
            </a:lvl1pPr>
            <a:lvl2pPr>
              <a:defRPr sz="1163" b="0">
                <a:solidFill>
                  <a:srgbClr val="98989F"/>
                </a:solidFill>
                <a:latin typeface="Helvetica Neue"/>
                <a:ea typeface="Helvetica Neue"/>
                <a:cs typeface="Helvetica Neue"/>
              </a:defRPr>
            </a:lvl2pPr>
            <a:lvl3pPr>
              <a:defRPr sz="1163" b="0">
                <a:solidFill>
                  <a:srgbClr val="98989F"/>
                </a:solidFill>
                <a:latin typeface="Helvetica Neue"/>
                <a:ea typeface="Helvetica Neue"/>
                <a:cs typeface="Helvetica Neue"/>
              </a:defRPr>
            </a:lvl3pPr>
            <a:lvl4pPr>
              <a:defRPr sz="1163" b="0">
                <a:solidFill>
                  <a:srgbClr val="98989F"/>
                </a:solidFill>
                <a:latin typeface="Helvetica Neue"/>
                <a:ea typeface="Helvetica Neue"/>
                <a:cs typeface="Helvetica Neue"/>
              </a:defRPr>
            </a:lvl4pPr>
            <a:lvl5pPr>
              <a:defRPr sz="1163" b="0">
                <a:solidFill>
                  <a:srgbClr val="98989F"/>
                </a:solidFill>
                <a:latin typeface="Helvetica Neue"/>
                <a:ea typeface="Helvetica Neue"/>
                <a:cs typeface="Helvetica Neue"/>
              </a:defRPr>
            </a:lvl5pPr>
            <a:lvl6pPr>
              <a:defRPr sz="1163" b="0">
                <a:solidFill>
                  <a:srgbClr val="98989F"/>
                </a:solidFill>
                <a:latin typeface="Helvetica Neue"/>
                <a:ea typeface="Helvetica Neue"/>
                <a:cs typeface="Helvetica Neue"/>
              </a:defRPr>
            </a:lvl6pPr>
            <a:lvl7pPr>
              <a:defRPr sz="1163" b="0">
                <a:solidFill>
                  <a:srgbClr val="98989F"/>
                </a:solidFill>
                <a:latin typeface="Helvetica Neue"/>
                <a:ea typeface="Helvetica Neue"/>
                <a:cs typeface="Helvetica Neue"/>
              </a:defRPr>
            </a:lvl7pPr>
            <a:lvl8pPr>
              <a:defRPr sz="1163" b="0">
                <a:solidFill>
                  <a:srgbClr val="98989F"/>
                </a:solidFill>
                <a:latin typeface="Helvetica Neue"/>
                <a:ea typeface="Helvetica Neue"/>
                <a:cs typeface="Helvetica Neue"/>
              </a:defRPr>
            </a:lvl8pPr>
            <a:lvl9pPr>
              <a:defRPr sz="1163" b="0">
                <a:solidFill>
                  <a:srgbClr val="98989F"/>
                </a:solidFill>
                <a:latin typeface="Helvetica Neue"/>
                <a:ea typeface="Helvetica Neue"/>
                <a:cs typeface="Helvetica Neue"/>
              </a:defRPr>
            </a:lvl9pPr>
          </a:lstStyle>
          <a:p xmlns:a="http://schemas.openxmlformats.org/drawingml/2006/main">
            <a:pPr>
              <a:defRPr sz="1163" b="0">
                <a:solidFill>
                  <a:srgbClr val="98989F"/>
                </a:solidFill>
                <a:latin typeface="Helvetica Neue"/>
                <a:ea typeface="Helvetica Neue"/>
                <a:cs typeface="Helvetica Neue"/>
              </a:defRPr>
            </a:pPr>
            <a:r>
              <a:rPr sz="1163" b="0">
                <a:solidFill>
                  <a:srgbClr val="98989F"/>
                </a:solidFill>
                <a:latin typeface="Helvetica Neue"/>
                <a:ea typeface="Helvetica Neue"/>
                <a:cs typeface="Helvetica Neue"/>
                <a:hlinkClick xmlns:r="http://schemas.openxmlformats.org/officeDocument/2006/relationships" r:id="Rb10f95909cda489e"/>
              </a:rPr>
              <a:t>Источник: Документация scikit-learn, 20 Newsgroups</a:t>
            </a:r>
          </a:p>
        </p:txBody>
      </p:sp>
    </p:spTree>
    <p:extLst>
      <p:ext uri="{BB962C8B-B14F-4D97-AF65-F5344CB8AC3E}">
        <p14:creationId xmlns:p14="http://schemas.microsoft.com/office/powerpoint/2010/main" val="762401882"/>
      </p:ext>
    </p:extLst>
  </p:cSld>
</p:sld>
</file>

<file path=ppt/slides/slide7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9" name="exp90-0">
            <a:extLst xmlns:a="http://schemas.openxmlformats.org/drawingml/2006/main">
              <a:ext uri="{FF2B5EF4-FFF2-40B4-BE49-F238E27FC236}">
                <a16:creationId xmlns:a16="http://schemas.microsoft.com/office/drawing/2014/main" id="{08B5B529-2DDE-49EA-B8D8-FF40CBBC5AAD}"/>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90-1">
            <a:extLst xmlns:a="http://schemas.openxmlformats.org/drawingml/2006/main">
              <a:ext uri="{FF2B5EF4-FFF2-40B4-BE49-F238E27FC236}">
                <a16:creationId xmlns:a16="http://schemas.microsoft.com/office/drawing/2014/main" id="{2CBFDAD8-B921-4DF7-839A-D27852AE1F7C}"/>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72</a:t>
            </a:r>
          </a:p>
        </p:txBody>
      </p:sp>
      <p:sp>
        <p:nvSpPr>
          <p:cNvPr id="3" name="">
            <a:extLst xmlns:a="http://schemas.openxmlformats.org/drawingml/2006/main">
              <a:ext uri="{FF2B5EF4-FFF2-40B4-BE49-F238E27FC236}">
                <a16:creationId xmlns:a16="http://schemas.microsoft.com/office/drawing/2014/main" id="{25012837-10A2-4802-BFA1-90EB8E689377}"/>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0">
            <a:solidFill>
              <a:srgbClr val="28282B"/>
            </a:solidFill>
          </a:ln>
        </p:spPr>
      </p:sp>
      <p:sp>
        <p:nvSpPr>
          <p:cNvPr id="4" name="exp90-3">
            <a:extLst xmlns:a="http://schemas.openxmlformats.org/drawingml/2006/main">
              <a:ext uri="{FF2B5EF4-FFF2-40B4-BE49-F238E27FC236}">
                <a16:creationId xmlns:a16="http://schemas.microsoft.com/office/drawing/2014/main" id="{5F2B5BDD-65FB-4620-8849-59438982498B}"/>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Recurrent Neural Networks</a:t>
            </a:r>
          </a:p>
        </p:txBody>
      </p:sp>
      <p:pic>
        <p:nvPicPr>
          <p:cNvPr id="10" name="">
            <a:extLst xmlns:a="http://schemas.openxmlformats.org/drawingml/2006/main">
              <a:ext uri="{FF2B5EF4-FFF2-40B4-BE49-F238E27FC236}">
                <a16:creationId xmlns:a16="http://schemas.microsoft.com/office/drawing/2014/main" id="{F2D9A8A5-8949-4E26-8F17-5E7001A6ACF5}"/>
              </a:ext>
            </a:extLst>
          </p:cNvPr>
          <p:cNvPicPr>
            <a:picLocks xmlns:a="http://schemas.openxmlformats.org/drawingml/2006/main" noChangeAspect="1"/>
          </p:cNvPicPr>
          <p:nvPr/>
        </p:nvPicPr>
        <p:blipFill>
          <a:blip xmlns:r="http://schemas.openxmlformats.org/officeDocument/2006/relationships" xmlns:a="http://schemas.openxmlformats.org/drawingml/2006/main" r:embed="R3f33d19c64cf4900"/>
          <a:stretch xmlns:a="http://schemas.openxmlformats.org/drawingml/2006/main"/>
        </p:blipFill>
        <p:spPr>
          <a:xfrm xmlns:a="http://schemas.openxmlformats.org/drawingml/2006/main">
            <a:off x="1506825" y="2105025"/>
            <a:ext cx="4549200" cy="3886200"/>
          </a:xfrm>
          <a:prstGeom xmlns:a="http://schemas.openxmlformats.org/drawingml/2006/main" prst="rect">
            <a:avLst/>
          </a:prstGeom>
        </p:spPr>
      </p:pic>
      <p:sp>
        <p:nvSpPr>
          <p:cNvPr id="11" name="ysda-4">
            <a:extLst xmlns:a="http://schemas.openxmlformats.org/drawingml/2006/main">
              <a:ext uri="{FF2B5EF4-FFF2-40B4-BE49-F238E27FC236}">
                <a16:creationId xmlns:a16="http://schemas.microsoft.com/office/drawing/2014/main" id="{CBF7D47A-507C-4646-8175-9B7A9A2514C0}"/>
              </a:ext>
            </a:extLst>
          </p:cNvPr>
          <p:cNvSpPr>
            <a:spLocks xmlns:a="http://schemas.openxmlformats.org/drawingml/2006/main" noGrp="1"/>
          </p:cNvSpPr>
          <p:nvPr/>
        </p:nvSpPr>
        <p:spPr>
          <a:xfrm xmlns:a="http://schemas.openxmlformats.org/drawingml/2006/main">
            <a:off x="7239000" y="2076450"/>
            <a:ext cx="4267200" cy="422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38" b="0">
                <a:solidFill>
                  <a:srgbClr val="CDCDD3"/>
                </a:solidFill>
                <a:latin typeface="Helvetica Neue"/>
                <a:ea typeface="Helvetica Neue"/>
                <a:cs typeface="Helvetica Neue"/>
              </a:defRPr>
            </a:defPPr>
            <a:lvl1pPr>
              <a:defRPr sz="1838" b="0">
                <a:solidFill>
                  <a:srgbClr val="CDCDD3"/>
                </a:solidFill>
                <a:latin typeface="Helvetica Neue"/>
                <a:ea typeface="Helvetica Neue"/>
                <a:cs typeface="Helvetica Neue"/>
              </a:defRPr>
            </a:lvl1pPr>
            <a:lvl2pPr>
              <a:defRPr sz="1838" b="0">
                <a:solidFill>
                  <a:srgbClr val="CDCDD3"/>
                </a:solidFill>
                <a:latin typeface="Helvetica Neue"/>
                <a:ea typeface="Helvetica Neue"/>
                <a:cs typeface="Helvetica Neue"/>
              </a:defRPr>
            </a:lvl2pPr>
            <a:lvl3pPr>
              <a:defRPr sz="1838" b="0">
                <a:solidFill>
                  <a:srgbClr val="CDCDD3"/>
                </a:solidFill>
                <a:latin typeface="Helvetica Neue"/>
                <a:ea typeface="Helvetica Neue"/>
                <a:cs typeface="Helvetica Neue"/>
              </a:defRPr>
            </a:lvl3pPr>
            <a:lvl4pPr>
              <a:defRPr sz="1838" b="0">
                <a:solidFill>
                  <a:srgbClr val="CDCDD3"/>
                </a:solidFill>
                <a:latin typeface="Helvetica Neue"/>
                <a:ea typeface="Helvetica Neue"/>
                <a:cs typeface="Helvetica Neue"/>
              </a:defRPr>
            </a:lvl4pPr>
            <a:lvl5pPr>
              <a:defRPr sz="1838" b="0">
                <a:solidFill>
                  <a:srgbClr val="CDCDD3"/>
                </a:solidFill>
                <a:latin typeface="Helvetica Neue"/>
                <a:ea typeface="Helvetica Neue"/>
                <a:cs typeface="Helvetica Neue"/>
              </a:defRPr>
            </a:lvl5pPr>
            <a:lvl6pPr>
              <a:defRPr sz="1838" b="0">
                <a:solidFill>
                  <a:srgbClr val="CDCDD3"/>
                </a:solidFill>
                <a:latin typeface="Helvetica Neue"/>
                <a:ea typeface="Helvetica Neue"/>
                <a:cs typeface="Helvetica Neue"/>
              </a:defRPr>
            </a:lvl6pPr>
            <a:lvl7pPr>
              <a:defRPr sz="1838" b="0">
                <a:solidFill>
                  <a:srgbClr val="CDCDD3"/>
                </a:solidFill>
                <a:latin typeface="Helvetica Neue"/>
                <a:ea typeface="Helvetica Neue"/>
                <a:cs typeface="Helvetica Neue"/>
              </a:defRPr>
            </a:lvl7pPr>
            <a:lvl8pPr>
              <a:defRPr sz="1838" b="0">
                <a:solidFill>
                  <a:srgbClr val="CDCDD3"/>
                </a:solidFill>
                <a:latin typeface="Helvetica Neue"/>
                <a:ea typeface="Helvetica Neue"/>
                <a:cs typeface="Helvetica Neue"/>
              </a:defRPr>
            </a:lvl8pPr>
            <a:lvl9pPr>
              <a:defRPr sz="1838" b="0">
                <a:solidFill>
                  <a:srgbClr val="CDCDD3"/>
                </a:solidFill>
                <a:latin typeface="Helvetica Neue"/>
                <a:ea typeface="Helvetica Neue"/>
                <a:cs typeface="Helvetica Neue"/>
              </a:defRPr>
            </a:lvl9pPr>
          </a:lstStyle>
          <a:p xmlns:a="http://schemas.openxmlformats.org/drawingml/2006/main">
            <a:pPr>
              <a:defRPr sz="1838" b="0">
                <a:solidFill>
                  <a:srgbClr val="CDCDD3"/>
                </a:solidFill>
                <a:latin typeface="Helvetica Neue"/>
                <a:ea typeface="Helvetica Neue"/>
                <a:cs typeface="Helvetica Neue"/>
              </a:defRPr>
            </a:pPr>
            <a:r>
              <a:rPr sz="1838" b="0">
                <a:solidFill>
                  <a:srgbClr val="CDCDD3"/>
                </a:solidFill>
                <a:latin typeface="Helvetica Neue"/>
                <a:ea typeface="Helvetica Neue"/>
                <a:cs typeface="Helvetica Neue"/>
              </a:rPr>
              <a:t>Recurrent Neural Network обрабатывает последовательность по шагам. На каждом шаге получает текущий input xₜ и предыдущий hidden state hₜ₋₁, после чего вычисляет новое hₜ. Hidden state сохраняет информацию, доступную для следующих шагов. Одна и та же операция и её параметры применяются к разным позициям. Такая организация учитывает порядок tokens и позволяет обрабатывать последовательности разной длины.</a:t>
            </a:r>
          </a:p>
        </p:txBody>
      </p:sp>
    </p:spTree>
    <p:extLst>
      <p:ext uri="{BB962C8B-B14F-4D97-AF65-F5344CB8AC3E}">
        <p14:creationId xmlns:p14="http://schemas.microsoft.com/office/powerpoint/2010/main" val="1629038294"/>
      </p:ext>
    </p:extLst>
  </p:cSld>
</p:sld>
</file>

<file path=ppt/slides/slide7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9" name="exp90-0">
            <a:extLst xmlns:a="http://schemas.openxmlformats.org/drawingml/2006/main">
              <a:ext uri="{FF2B5EF4-FFF2-40B4-BE49-F238E27FC236}">
                <a16:creationId xmlns:a16="http://schemas.microsoft.com/office/drawing/2014/main" id="{CF1F6B93-BEF0-477E-8D44-17107CBB441A}"/>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90-1">
            <a:extLst xmlns:a="http://schemas.openxmlformats.org/drawingml/2006/main">
              <a:ext uri="{FF2B5EF4-FFF2-40B4-BE49-F238E27FC236}">
                <a16:creationId xmlns:a16="http://schemas.microsoft.com/office/drawing/2014/main" id="{544BC848-D6FA-43B3-9D02-CD3FD5E19682}"/>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73</a:t>
            </a:r>
          </a:p>
        </p:txBody>
      </p:sp>
      <p:sp>
        <p:nvSpPr>
          <p:cNvPr id="3" name="">
            <a:extLst xmlns:a="http://schemas.openxmlformats.org/drawingml/2006/main">
              <a:ext uri="{FF2B5EF4-FFF2-40B4-BE49-F238E27FC236}">
                <a16:creationId xmlns:a16="http://schemas.microsoft.com/office/drawing/2014/main" id="{F9D41F24-6EA7-47E4-8594-0EF288670677}"/>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0">
            <a:solidFill>
              <a:srgbClr val="28282B"/>
            </a:solidFill>
          </a:ln>
        </p:spPr>
      </p:sp>
      <p:sp>
        <p:nvSpPr>
          <p:cNvPr id="4" name="exp90-3">
            <a:extLst xmlns:a="http://schemas.openxmlformats.org/drawingml/2006/main">
              <a:ext uri="{FF2B5EF4-FFF2-40B4-BE49-F238E27FC236}">
                <a16:creationId xmlns:a16="http://schemas.microsoft.com/office/drawing/2014/main" id="{8FDB4E1B-DA74-49CE-9D4B-E95AC602C15D}"/>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RNN для text classification</a:t>
            </a:r>
          </a:p>
        </p:txBody>
      </p:sp>
      <p:pic>
        <p:nvPicPr>
          <p:cNvPr id="10" name="">
            <a:extLst xmlns:a="http://schemas.openxmlformats.org/drawingml/2006/main">
              <a:ext uri="{FF2B5EF4-FFF2-40B4-BE49-F238E27FC236}">
                <a16:creationId xmlns:a16="http://schemas.microsoft.com/office/drawing/2014/main" id="{E5018ECA-205A-4188-B903-D6353D9DF430}"/>
              </a:ext>
            </a:extLst>
          </p:cNvPr>
          <p:cNvPicPr>
            <a:picLocks xmlns:a="http://schemas.openxmlformats.org/drawingml/2006/main" noChangeAspect="1"/>
          </p:cNvPicPr>
          <p:nvPr/>
        </p:nvPicPr>
        <p:blipFill>
          <a:blip xmlns:r="http://schemas.openxmlformats.org/officeDocument/2006/relationships" xmlns:a="http://schemas.openxmlformats.org/drawingml/2006/main" r:embed="R1b555a491d3348e2"/>
          <a:stretch xmlns:a="http://schemas.openxmlformats.org/drawingml/2006/main"/>
        </p:blipFill>
        <p:spPr>
          <a:xfrm xmlns:a="http://schemas.openxmlformats.org/drawingml/2006/main">
            <a:off x="3625544" y="2000250"/>
            <a:ext cx="4940912" cy="2381250"/>
          </a:xfrm>
          <a:prstGeom xmlns:a="http://schemas.openxmlformats.org/drawingml/2006/main" prst="rect">
            <a:avLst/>
          </a:prstGeom>
        </p:spPr>
      </p:pic>
      <p:sp>
        <p:nvSpPr>
          <p:cNvPr id="11" name="ysda-4">
            <a:extLst xmlns:a="http://schemas.openxmlformats.org/drawingml/2006/main">
              <a:ext uri="{FF2B5EF4-FFF2-40B4-BE49-F238E27FC236}">
                <a16:creationId xmlns:a16="http://schemas.microsoft.com/office/drawing/2014/main" id="{FF0E996D-ADE3-4076-AF0A-4085BCB61642}"/>
              </a:ext>
            </a:extLst>
          </p:cNvPr>
          <p:cNvSpPr>
            <a:spLocks xmlns:a="http://schemas.openxmlformats.org/drawingml/2006/main" noGrp="1"/>
          </p:cNvSpPr>
          <p:nvPr/>
        </p:nvSpPr>
        <p:spPr>
          <a:xfrm xmlns:a="http://schemas.openxmlformats.org/drawingml/2006/main">
            <a:off x="685800" y="4600575"/>
            <a:ext cx="108204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13" b="0">
                <a:solidFill>
                  <a:srgbClr val="CDCDD3"/>
                </a:solidFill>
                <a:latin typeface="Helvetica Neue"/>
                <a:ea typeface="Helvetica Neue"/>
                <a:cs typeface="Helvetica Neue"/>
              </a:defRPr>
            </a:defPPr>
            <a:lvl1pPr>
              <a:defRPr sz="1913" b="0">
                <a:solidFill>
                  <a:srgbClr val="CDCDD3"/>
                </a:solidFill>
                <a:latin typeface="Helvetica Neue"/>
                <a:ea typeface="Helvetica Neue"/>
                <a:cs typeface="Helvetica Neue"/>
              </a:defRPr>
            </a:lvl1pPr>
            <a:lvl2pPr>
              <a:defRPr sz="1913" b="0">
                <a:solidFill>
                  <a:srgbClr val="CDCDD3"/>
                </a:solidFill>
                <a:latin typeface="Helvetica Neue"/>
                <a:ea typeface="Helvetica Neue"/>
                <a:cs typeface="Helvetica Neue"/>
              </a:defRPr>
            </a:lvl2pPr>
            <a:lvl3pPr>
              <a:defRPr sz="1913" b="0">
                <a:solidFill>
                  <a:srgbClr val="CDCDD3"/>
                </a:solidFill>
                <a:latin typeface="Helvetica Neue"/>
                <a:ea typeface="Helvetica Neue"/>
                <a:cs typeface="Helvetica Neue"/>
              </a:defRPr>
            </a:lvl3pPr>
            <a:lvl4pPr>
              <a:defRPr sz="1913" b="0">
                <a:solidFill>
                  <a:srgbClr val="CDCDD3"/>
                </a:solidFill>
                <a:latin typeface="Helvetica Neue"/>
                <a:ea typeface="Helvetica Neue"/>
                <a:cs typeface="Helvetica Neue"/>
              </a:defRPr>
            </a:lvl4pPr>
            <a:lvl5pPr>
              <a:defRPr sz="1913" b="0">
                <a:solidFill>
                  <a:srgbClr val="CDCDD3"/>
                </a:solidFill>
                <a:latin typeface="Helvetica Neue"/>
                <a:ea typeface="Helvetica Neue"/>
                <a:cs typeface="Helvetica Neue"/>
              </a:defRPr>
            </a:lvl5pPr>
            <a:lvl6pPr>
              <a:defRPr sz="1913" b="0">
                <a:solidFill>
                  <a:srgbClr val="CDCDD3"/>
                </a:solidFill>
                <a:latin typeface="Helvetica Neue"/>
                <a:ea typeface="Helvetica Neue"/>
                <a:cs typeface="Helvetica Neue"/>
              </a:defRPr>
            </a:lvl6pPr>
            <a:lvl7pPr>
              <a:defRPr sz="1913" b="0">
                <a:solidFill>
                  <a:srgbClr val="CDCDD3"/>
                </a:solidFill>
                <a:latin typeface="Helvetica Neue"/>
                <a:ea typeface="Helvetica Neue"/>
                <a:cs typeface="Helvetica Neue"/>
              </a:defRPr>
            </a:lvl7pPr>
            <a:lvl8pPr>
              <a:defRPr sz="1913" b="0">
                <a:solidFill>
                  <a:srgbClr val="CDCDD3"/>
                </a:solidFill>
                <a:latin typeface="Helvetica Neue"/>
                <a:ea typeface="Helvetica Neue"/>
                <a:cs typeface="Helvetica Neue"/>
              </a:defRPr>
            </a:lvl8pPr>
            <a:lvl9pPr>
              <a:defRPr sz="1913" b="0">
                <a:solidFill>
                  <a:srgbClr val="CDCDD3"/>
                </a:solidFill>
                <a:latin typeface="Helvetica Neue"/>
                <a:ea typeface="Helvetica Neue"/>
                <a:cs typeface="Helvetica Neue"/>
              </a:defRPr>
            </a:lvl9pPr>
          </a:lstStyle>
          <a:p xmlns:a="http://schemas.openxmlformats.org/drawingml/2006/main">
            <a:pPr>
              <a:defRPr sz="1913" b="0">
                <a:solidFill>
                  <a:srgbClr val="CDCDD3"/>
                </a:solidFill>
                <a:latin typeface="Helvetica Neue"/>
                <a:ea typeface="Helvetica Neue"/>
                <a:cs typeface="Helvetica Neue"/>
              </a:defRPr>
            </a:pPr>
            <a:r>
              <a:rPr sz="1913" b="0">
                <a:solidFill>
                  <a:srgbClr val="CDCDD3"/>
                </a:solidFill>
                <a:latin typeface="Helvetica Neue"/>
                <a:ea typeface="Helvetica Neue"/>
                <a:cs typeface="Helvetica Neue"/>
              </a:rPr>
              <a:t>Для text classification каждому token соответствует embedding. RNN читает последовательность; её последний hidden state можно использовать как representation всего текста. Затем classifier предсказывает class label. На схеме состояния связаны во времени, а параметры перехода общие для всех шагов. При работе с batch необходимо учитывать реальные длины: padding не должен случайно подменять содержательный последний state.</a:t>
            </a:r>
          </a:p>
        </p:txBody>
      </p:sp>
    </p:spTree>
    <p:extLst>
      <p:ext uri="{BB962C8B-B14F-4D97-AF65-F5344CB8AC3E}">
        <p14:creationId xmlns:p14="http://schemas.microsoft.com/office/powerpoint/2010/main" val="1599786550"/>
      </p:ext>
    </p:extLst>
  </p:cSld>
</p:sld>
</file>

<file path=ppt/slides/slide7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1" name="expanded-0">
            <a:extLst xmlns:a="http://schemas.openxmlformats.org/drawingml/2006/main">
              <a:ext uri="{FF2B5EF4-FFF2-40B4-BE49-F238E27FC236}">
                <a16:creationId xmlns:a16="http://schemas.microsoft.com/office/drawing/2014/main" id="{44005B2F-FE8B-416C-B2B6-74D821E4CE4E}"/>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anded-1">
            <a:extLst xmlns:a="http://schemas.openxmlformats.org/drawingml/2006/main">
              <a:ext uri="{FF2B5EF4-FFF2-40B4-BE49-F238E27FC236}">
                <a16:creationId xmlns:a16="http://schemas.microsoft.com/office/drawing/2014/main" id="{FDF1BCE7-A0C0-46DD-B928-D54186A513F9}"/>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74</a:t>
            </a:r>
          </a:p>
        </p:txBody>
      </p:sp>
      <p:sp>
        <p:nvSpPr>
          <p:cNvPr id="3" name="">
            <a:extLst xmlns:a="http://schemas.openxmlformats.org/drawingml/2006/main">
              <a:ext uri="{FF2B5EF4-FFF2-40B4-BE49-F238E27FC236}">
                <a16:creationId xmlns:a16="http://schemas.microsoft.com/office/drawing/2014/main" id="{C2C17C0E-A16D-4D9F-AB80-534E394A86C9}"/>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ln>
        </p:spPr>
      </p:sp>
      <p:sp>
        <p:nvSpPr>
          <p:cNvPr id="4" name="expanded-3">
            <a:extLst xmlns:a="http://schemas.openxmlformats.org/drawingml/2006/main">
              <a:ext uri="{FF2B5EF4-FFF2-40B4-BE49-F238E27FC236}">
                <a16:creationId xmlns:a16="http://schemas.microsoft.com/office/drawing/2014/main" id="{11AEC545-54E1-4595-AD16-374B61D09DB1}"/>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Bidirectional RNN</a:t>
            </a:r>
          </a:p>
        </p:txBody>
      </p:sp>
      <p:pic>
        <p:nvPicPr>
          <p:cNvPr id="32" name="">
            <a:extLst xmlns:a="http://schemas.openxmlformats.org/drawingml/2006/main">
              <a:ext uri="{FF2B5EF4-FFF2-40B4-BE49-F238E27FC236}">
                <a16:creationId xmlns:a16="http://schemas.microsoft.com/office/drawing/2014/main" id="{7170DFBD-46EC-43EF-98AB-96B2A513120A}"/>
              </a:ext>
            </a:extLst>
          </p:cNvPr>
          <p:cNvPicPr>
            <a:picLocks xmlns:a="http://schemas.openxmlformats.org/drawingml/2006/main" noChangeAspect="1"/>
          </p:cNvPicPr>
          <p:nvPr/>
        </p:nvPicPr>
        <p:blipFill>
          <a:blip xmlns:r="http://schemas.openxmlformats.org/officeDocument/2006/relationships" xmlns:a="http://schemas.openxmlformats.org/drawingml/2006/main" r:embed="Rb0923de7a82d4485"/>
          <a:stretch xmlns:a="http://schemas.openxmlformats.org/drawingml/2006/main"/>
        </p:blipFill>
        <p:spPr>
          <a:xfrm xmlns:a="http://schemas.openxmlformats.org/drawingml/2006/main">
            <a:off x="853821" y="2105025"/>
            <a:ext cx="5855208" cy="3886200"/>
          </a:xfrm>
          <a:prstGeom xmlns:a="http://schemas.openxmlformats.org/drawingml/2006/main" prst="rect">
            <a:avLst/>
          </a:prstGeom>
        </p:spPr>
      </p:pic>
      <p:sp>
        <p:nvSpPr>
          <p:cNvPr id="33" name="ysda-4">
            <a:extLst xmlns:a="http://schemas.openxmlformats.org/drawingml/2006/main">
              <a:ext uri="{FF2B5EF4-FFF2-40B4-BE49-F238E27FC236}">
                <a16:creationId xmlns:a16="http://schemas.microsoft.com/office/drawing/2014/main" id="{F0774B4F-34BC-4A05-AC5C-9B918E391995}"/>
              </a:ext>
            </a:extLst>
          </p:cNvPr>
          <p:cNvSpPr>
            <a:spLocks xmlns:a="http://schemas.openxmlformats.org/drawingml/2006/main" noGrp="1"/>
          </p:cNvSpPr>
          <p:nvPr/>
        </p:nvSpPr>
        <p:spPr>
          <a:xfrm xmlns:a="http://schemas.openxmlformats.org/drawingml/2006/main">
            <a:off x="7239000" y="2076450"/>
            <a:ext cx="4267200" cy="422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38" b="0">
                <a:solidFill>
                  <a:srgbClr val="CDCDD3"/>
                </a:solidFill>
                <a:latin typeface="Helvetica Neue"/>
                <a:ea typeface="Helvetica Neue"/>
                <a:cs typeface="Helvetica Neue"/>
              </a:defRPr>
            </a:defPPr>
            <a:lvl1pPr>
              <a:defRPr sz="1838" b="0">
                <a:solidFill>
                  <a:srgbClr val="CDCDD3"/>
                </a:solidFill>
                <a:latin typeface="Helvetica Neue"/>
                <a:ea typeface="Helvetica Neue"/>
                <a:cs typeface="Helvetica Neue"/>
              </a:defRPr>
            </a:lvl1pPr>
            <a:lvl2pPr>
              <a:defRPr sz="1838" b="0">
                <a:solidFill>
                  <a:srgbClr val="CDCDD3"/>
                </a:solidFill>
                <a:latin typeface="Helvetica Neue"/>
                <a:ea typeface="Helvetica Neue"/>
                <a:cs typeface="Helvetica Neue"/>
              </a:defRPr>
            </a:lvl2pPr>
            <a:lvl3pPr>
              <a:defRPr sz="1838" b="0">
                <a:solidFill>
                  <a:srgbClr val="CDCDD3"/>
                </a:solidFill>
                <a:latin typeface="Helvetica Neue"/>
                <a:ea typeface="Helvetica Neue"/>
                <a:cs typeface="Helvetica Neue"/>
              </a:defRPr>
            </a:lvl3pPr>
            <a:lvl4pPr>
              <a:defRPr sz="1838" b="0">
                <a:solidFill>
                  <a:srgbClr val="CDCDD3"/>
                </a:solidFill>
                <a:latin typeface="Helvetica Neue"/>
                <a:ea typeface="Helvetica Neue"/>
                <a:cs typeface="Helvetica Neue"/>
              </a:defRPr>
            </a:lvl4pPr>
            <a:lvl5pPr>
              <a:defRPr sz="1838" b="0">
                <a:solidFill>
                  <a:srgbClr val="CDCDD3"/>
                </a:solidFill>
                <a:latin typeface="Helvetica Neue"/>
                <a:ea typeface="Helvetica Neue"/>
                <a:cs typeface="Helvetica Neue"/>
              </a:defRPr>
            </a:lvl5pPr>
            <a:lvl6pPr>
              <a:defRPr sz="1838" b="0">
                <a:solidFill>
                  <a:srgbClr val="CDCDD3"/>
                </a:solidFill>
                <a:latin typeface="Helvetica Neue"/>
                <a:ea typeface="Helvetica Neue"/>
                <a:cs typeface="Helvetica Neue"/>
              </a:defRPr>
            </a:lvl6pPr>
            <a:lvl7pPr>
              <a:defRPr sz="1838" b="0">
                <a:solidFill>
                  <a:srgbClr val="CDCDD3"/>
                </a:solidFill>
                <a:latin typeface="Helvetica Neue"/>
                <a:ea typeface="Helvetica Neue"/>
                <a:cs typeface="Helvetica Neue"/>
              </a:defRPr>
            </a:lvl7pPr>
            <a:lvl8pPr>
              <a:defRPr sz="1838" b="0">
                <a:solidFill>
                  <a:srgbClr val="CDCDD3"/>
                </a:solidFill>
                <a:latin typeface="Helvetica Neue"/>
                <a:ea typeface="Helvetica Neue"/>
                <a:cs typeface="Helvetica Neue"/>
              </a:defRPr>
            </a:lvl8pPr>
            <a:lvl9pPr>
              <a:defRPr sz="1838" b="0">
                <a:solidFill>
                  <a:srgbClr val="CDCDD3"/>
                </a:solidFill>
                <a:latin typeface="Helvetica Neue"/>
                <a:ea typeface="Helvetica Neue"/>
                <a:cs typeface="Helvetica Neue"/>
              </a:defRPr>
            </a:lvl9pPr>
          </a:lstStyle>
          <a:p xmlns:a="http://schemas.openxmlformats.org/drawingml/2006/main">
            <a:pPr>
              <a:defRPr sz="1838" b="0">
                <a:solidFill>
                  <a:srgbClr val="CDCDD3"/>
                </a:solidFill>
                <a:latin typeface="Helvetica Neue"/>
                <a:ea typeface="Helvetica Neue"/>
                <a:cs typeface="Helvetica Neue"/>
              </a:defRPr>
            </a:pPr>
            <a:r>
              <a:rPr sz="1838" b="0">
                <a:solidFill>
                  <a:srgbClr val="CDCDD3"/>
                </a:solidFill>
                <a:latin typeface="Helvetica Neue"/>
                <a:ea typeface="Helvetica Neue"/>
                <a:cs typeface="Helvetica Neue"/>
              </a:rPr>
              <a:t>Bidirectional RNN использует два направления чтения: от начала к концу и от конца к началу. Их representations объединяются, чтобы учитывать контекст с обеих сторон. Это применимо, когда весь входной текст уже доступен, например при classification или sequence labeling. При autoregressive generation будущие tokens неизвестны, поэтому обратное чтение целевой последовательности использовать нельзя.</a:t>
            </a:r>
          </a:p>
        </p:txBody>
      </p:sp>
    </p:spTree>
    <p:extLst>
      <p:ext uri="{BB962C8B-B14F-4D97-AF65-F5344CB8AC3E}">
        <p14:creationId xmlns:p14="http://schemas.microsoft.com/office/powerpoint/2010/main" val="1725034603"/>
      </p:ext>
    </p:extLst>
  </p:cSld>
</p:sld>
</file>

<file path=ppt/slides/slide7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9" name="expanded-0">
            <a:extLst xmlns:a="http://schemas.openxmlformats.org/drawingml/2006/main">
              <a:ext uri="{FF2B5EF4-FFF2-40B4-BE49-F238E27FC236}">
                <a16:creationId xmlns:a16="http://schemas.microsoft.com/office/drawing/2014/main" id="{5FA4C248-9568-43EF-A0E9-A9213054AB86}"/>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anded-1">
            <a:extLst xmlns:a="http://schemas.openxmlformats.org/drawingml/2006/main">
              <a:ext uri="{FF2B5EF4-FFF2-40B4-BE49-F238E27FC236}">
                <a16:creationId xmlns:a16="http://schemas.microsoft.com/office/drawing/2014/main" id="{B194AD1D-B9D6-4AF9-AD6B-8B6679308EBA}"/>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75</a:t>
            </a:r>
          </a:p>
        </p:txBody>
      </p:sp>
      <p:sp>
        <p:nvSpPr>
          <p:cNvPr id="3" name="">
            <a:extLst xmlns:a="http://schemas.openxmlformats.org/drawingml/2006/main">
              <a:ext uri="{FF2B5EF4-FFF2-40B4-BE49-F238E27FC236}">
                <a16:creationId xmlns:a16="http://schemas.microsoft.com/office/drawing/2014/main" id="{32348CB1-20DF-476D-86F6-851F040BF9F8}"/>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ln>
        </p:spPr>
      </p:sp>
      <p:sp>
        <p:nvSpPr>
          <p:cNvPr id="4" name="expanded-3">
            <a:extLst xmlns:a="http://schemas.openxmlformats.org/drawingml/2006/main">
              <a:ext uri="{FF2B5EF4-FFF2-40B4-BE49-F238E27FC236}">
                <a16:creationId xmlns:a16="http://schemas.microsoft.com/office/drawing/2014/main" id="{AD260A7D-FBB2-4045-BE88-9FD23E1A694B}"/>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RNN: long-range dependencies</a:t>
            </a:r>
          </a:p>
        </p:txBody>
      </p:sp>
      <p:sp>
        <p:nvSpPr>
          <p:cNvPr id="30" name="ysda-4">
            <a:extLst xmlns:a="http://schemas.openxmlformats.org/drawingml/2006/main">
              <a:ext uri="{FF2B5EF4-FFF2-40B4-BE49-F238E27FC236}">
                <a16:creationId xmlns:a16="http://schemas.microsoft.com/office/drawing/2014/main" id="{BE66A8B7-C084-477D-9DBE-51A39A106CE4}"/>
              </a:ext>
            </a:extLst>
          </p:cNvPr>
          <p:cNvSpPr>
            <a:spLocks xmlns:a="http://schemas.openxmlformats.org/drawingml/2006/main" noGrp="1"/>
          </p:cNvSpPr>
          <p:nvPr/>
        </p:nvSpPr>
        <p:spPr>
          <a:xfrm xmlns:a="http://schemas.openxmlformats.org/drawingml/2006/main">
            <a:off x="685800" y="20478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Long-range dependencies</a:t>
            </a:r>
          </a:p>
        </p:txBody>
      </p:sp>
      <p:sp>
        <p:nvSpPr>
          <p:cNvPr id="31" name="ysda-5">
            <a:extLst xmlns:a="http://schemas.openxmlformats.org/drawingml/2006/main">
              <a:ext uri="{FF2B5EF4-FFF2-40B4-BE49-F238E27FC236}">
                <a16:creationId xmlns:a16="http://schemas.microsoft.com/office/drawing/2014/main" id="{40A11524-83E6-41E1-89F3-5DBCB5182AB2}"/>
              </a:ext>
            </a:extLst>
          </p:cNvPr>
          <p:cNvSpPr>
            <a:spLocks xmlns:a="http://schemas.openxmlformats.org/drawingml/2006/main" noGrp="1"/>
          </p:cNvSpPr>
          <p:nvPr/>
        </p:nvSpPr>
        <p:spPr>
          <a:xfrm xmlns:a="http://schemas.openxmlformats.org/drawingml/2006/main">
            <a:off x="685800" y="2514600"/>
            <a:ext cx="108204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Информация о ранних tokens должна пройти через последовательность hidden states. При обучении vanilla RNN сигнал может ослабевать или нестабильно возрастать; это связано с vanishing и exploding gradients. В результате связь между удалёнными частями текста бывает трудно выучить. Само наличие hidden state не гарантирует, что модель сохраняет все важные детали.</a:t>
            </a:r>
          </a:p>
        </p:txBody>
      </p:sp>
      <p:sp>
        <p:nvSpPr>
          <p:cNvPr id="32" name="ysda-6">
            <a:extLst xmlns:a="http://schemas.openxmlformats.org/drawingml/2006/main">
              <a:ext uri="{FF2B5EF4-FFF2-40B4-BE49-F238E27FC236}">
                <a16:creationId xmlns:a16="http://schemas.microsoft.com/office/drawing/2014/main" id="{6AD645A7-BE53-4406-8657-8CF3507E517F}"/>
              </a:ext>
            </a:extLst>
          </p:cNvPr>
          <p:cNvSpPr>
            <a:spLocks xmlns:a="http://schemas.openxmlformats.org/drawingml/2006/main" noGrp="1"/>
          </p:cNvSpPr>
          <p:nvPr/>
        </p:nvSpPr>
        <p:spPr>
          <a:xfrm xmlns:a="http://schemas.openxmlformats.org/drawingml/2006/main">
            <a:off x="685800" y="4229100"/>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Последовательность вычислений</a:t>
            </a:r>
          </a:p>
        </p:txBody>
      </p:sp>
      <p:sp>
        <p:nvSpPr>
          <p:cNvPr id="33" name="ysda-7">
            <a:extLst xmlns:a="http://schemas.openxmlformats.org/drawingml/2006/main">
              <a:ext uri="{FF2B5EF4-FFF2-40B4-BE49-F238E27FC236}">
                <a16:creationId xmlns:a16="http://schemas.microsoft.com/office/drawing/2014/main" id="{FD96199D-935A-490B-9BD7-3386691619DB}"/>
              </a:ext>
            </a:extLst>
          </p:cNvPr>
          <p:cNvSpPr>
            <a:spLocks xmlns:a="http://schemas.openxmlformats.org/drawingml/2006/main" noGrp="1"/>
          </p:cNvSpPr>
          <p:nvPr/>
        </p:nvSpPr>
        <p:spPr>
          <a:xfrm xmlns:a="http://schemas.openxmlformats.org/drawingml/2006/main">
            <a:off x="685800" y="4695825"/>
            <a:ext cx="10820400" cy="1914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В стандартной RNN следующий state зависит от предыдущего, поэтому позиции внутри последовательности нельзя обработать полностью независимо. Это ограничивает parallelization и усложняет работу с длинным контекстом. В classification с последним state информация о документе дополнительно проходит через представление фиксированного размера. Ограничения мотивировали gated RNN и механизмы attention.</a:t>
            </a:r>
          </a:p>
        </p:txBody>
      </p:sp>
    </p:spTree>
    <p:extLst>
      <p:ext uri="{BB962C8B-B14F-4D97-AF65-F5344CB8AC3E}">
        <p14:creationId xmlns:p14="http://schemas.microsoft.com/office/powerpoint/2010/main" val="512402259"/>
      </p:ext>
    </p:extLst>
  </p:cSld>
</p:sld>
</file>

<file path=ppt/slides/slide7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1" name="expanded-0">
            <a:extLst xmlns:a="http://schemas.openxmlformats.org/drawingml/2006/main">
              <a:ext uri="{FF2B5EF4-FFF2-40B4-BE49-F238E27FC236}">
                <a16:creationId xmlns:a16="http://schemas.microsoft.com/office/drawing/2014/main" id="{D9DB58B5-0FEF-496A-9583-FC71E2616FCB}"/>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anded-1">
            <a:extLst xmlns:a="http://schemas.openxmlformats.org/drawingml/2006/main">
              <a:ext uri="{FF2B5EF4-FFF2-40B4-BE49-F238E27FC236}">
                <a16:creationId xmlns:a16="http://schemas.microsoft.com/office/drawing/2014/main" id="{1F64D195-E3AB-440B-ADF4-27C0611EBF05}"/>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76</a:t>
            </a:r>
          </a:p>
        </p:txBody>
      </p:sp>
      <p:sp>
        <p:nvSpPr>
          <p:cNvPr id="3" name="">
            <a:extLst xmlns:a="http://schemas.openxmlformats.org/drawingml/2006/main">
              <a:ext uri="{FF2B5EF4-FFF2-40B4-BE49-F238E27FC236}">
                <a16:creationId xmlns:a16="http://schemas.microsoft.com/office/drawing/2014/main" id="{16E31E3C-11B2-48C8-8A89-5EA7C7D60214}"/>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ln>
        </p:spPr>
      </p:sp>
      <p:sp>
        <p:nvSpPr>
          <p:cNvPr id="4" name="expanded-3">
            <a:extLst xmlns:a="http://schemas.openxmlformats.org/drawingml/2006/main">
              <a:ext uri="{FF2B5EF4-FFF2-40B4-BE49-F238E27FC236}">
                <a16:creationId xmlns:a16="http://schemas.microsoft.com/office/drawing/2014/main" id="{8B243A3E-5FE4-4A08-8484-D8669ACD77CA}"/>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LSTM и GRU</a:t>
            </a:r>
          </a:p>
        </p:txBody>
      </p:sp>
      <p:sp>
        <p:nvSpPr>
          <p:cNvPr id="12" name="ysda-4">
            <a:extLst xmlns:a="http://schemas.openxmlformats.org/drawingml/2006/main">
              <a:ext uri="{FF2B5EF4-FFF2-40B4-BE49-F238E27FC236}">
                <a16:creationId xmlns:a16="http://schemas.microsoft.com/office/drawing/2014/main" id="{B229AECE-D9CD-4E16-91DF-05B383F9A741}"/>
              </a:ext>
            </a:extLst>
          </p:cNvPr>
          <p:cNvSpPr>
            <a:spLocks xmlns:a="http://schemas.openxmlformats.org/drawingml/2006/main" noGrp="1"/>
          </p:cNvSpPr>
          <p:nvPr/>
        </p:nvSpPr>
        <p:spPr>
          <a:xfrm xmlns:a="http://schemas.openxmlformats.org/drawingml/2006/main">
            <a:off x="685800" y="20478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Gated RNN</a:t>
            </a:r>
          </a:p>
        </p:txBody>
      </p:sp>
      <p:sp>
        <p:nvSpPr>
          <p:cNvPr id="13" name="ysda-5">
            <a:extLst xmlns:a="http://schemas.openxmlformats.org/drawingml/2006/main">
              <a:ext uri="{FF2B5EF4-FFF2-40B4-BE49-F238E27FC236}">
                <a16:creationId xmlns:a16="http://schemas.microsoft.com/office/drawing/2014/main" id="{EC8D9D64-5445-4639-8F86-0A58F8E23372}"/>
              </a:ext>
            </a:extLst>
          </p:cNvPr>
          <p:cNvSpPr>
            <a:spLocks xmlns:a="http://schemas.openxmlformats.org/drawingml/2006/main" noGrp="1"/>
          </p:cNvSpPr>
          <p:nvPr/>
        </p:nvSpPr>
        <p:spPr>
          <a:xfrm xmlns:a="http://schemas.openxmlformats.org/drawingml/2006/main">
            <a:off x="685800" y="2514600"/>
            <a:ext cx="108204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LSTM и GRU — варианты RNN, в которых gates регулируют обновление state и сохранение информации. LSTM дополнительно выделяет cell state; GRU использует другую, более компактную схему обновления. На этом этапе достаточно понимать назначение gates: модель учится, какую информацию продолжать хранить, а какую заменять новым входом.</a:t>
            </a:r>
          </a:p>
        </p:txBody>
      </p:sp>
      <p:sp>
        <p:nvSpPr>
          <p:cNvPr id="14" name="ysda-6">
            <a:extLst xmlns:a="http://schemas.openxmlformats.org/drawingml/2006/main">
              <a:ext uri="{FF2B5EF4-FFF2-40B4-BE49-F238E27FC236}">
                <a16:creationId xmlns:a16="http://schemas.microsoft.com/office/drawing/2014/main" id="{8D4E76F4-90C5-4B33-BCC6-078657B26304}"/>
              </a:ext>
            </a:extLst>
          </p:cNvPr>
          <p:cNvSpPr>
            <a:spLocks xmlns:a="http://schemas.openxmlformats.org/drawingml/2006/main" noGrp="1"/>
          </p:cNvSpPr>
          <p:nvPr/>
        </p:nvSpPr>
        <p:spPr>
          <a:xfrm xmlns:a="http://schemas.openxmlformats.org/drawingml/2006/main">
            <a:off x="685800" y="4229100"/>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Назначение и ограничения</a:t>
            </a:r>
          </a:p>
        </p:txBody>
      </p:sp>
      <p:sp>
        <p:nvSpPr>
          <p:cNvPr id="15" name="ysda-7">
            <a:extLst xmlns:a="http://schemas.openxmlformats.org/drawingml/2006/main">
              <a:ext uri="{FF2B5EF4-FFF2-40B4-BE49-F238E27FC236}">
                <a16:creationId xmlns:a16="http://schemas.microsoft.com/office/drawing/2014/main" id="{F213BE80-9FED-43AA-BA6B-7CE35E114073}"/>
              </a:ext>
            </a:extLst>
          </p:cNvPr>
          <p:cNvSpPr>
            <a:spLocks xmlns:a="http://schemas.openxmlformats.org/drawingml/2006/main" noGrp="1"/>
          </p:cNvSpPr>
          <p:nvPr/>
        </p:nvSpPr>
        <p:spPr>
          <a:xfrm xmlns:a="http://schemas.openxmlformats.org/drawingml/2006/main">
            <a:off x="685800" y="4695825"/>
            <a:ext cx="10820400" cy="1914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Такие модели применялись в text classification, sequence labeling и language modeling. Gates облегчают обучение зависимостей на расстоянии, но не устраняют последовательный характер обработки и не обеспечивают неограниченную память. Выбор конкретной cell и её формулы не входят в задачи первого занятия; важно отличать семейство RNN от конкретных вариантов LSTM и GRU.</a:t>
            </a:r>
          </a:p>
        </p:txBody>
      </p:sp>
    </p:spTree>
    <p:extLst>
      <p:ext uri="{BB962C8B-B14F-4D97-AF65-F5344CB8AC3E}">
        <p14:creationId xmlns:p14="http://schemas.microsoft.com/office/powerpoint/2010/main" val="941401563"/>
      </p:ext>
    </p:extLst>
  </p:cSld>
</p:sld>
</file>

<file path=ppt/slides/slide7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9" name="expanded-0">
            <a:extLst xmlns:a="http://schemas.openxmlformats.org/drawingml/2006/main">
              <a:ext uri="{FF2B5EF4-FFF2-40B4-BE49-F238E27FC236}">
                <a16:creationId xmlns:a16="http://schemas.microsoft.com/office/drawing/2014/main" id="{093F1457-F5DE-474C-82F9-7CCC4C063833}"/>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anded-1">
            <a:extLst xmlns:a="http://schemas.openxmlformats.org/drawingml/2006/main">
              <a:ext uri="{FF2B5EF4-FFF2-40B4-BE49-F238E27FC236}">
                <a16:creationId xmlns:a16="http://schemas.microsoft.com/office/drawing/2014/main" id="{9FDB7153-141B-4015-B16E-96F924BE8C2B}"/>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77</a:t>
            </a:r>
          </a:p>
        </p:txBody>
      </p:sp>
      <p:sp>
        <p:nvSpPr>
          <p:cNvPr id="3" name="">
            <a:extLst xmlns:a="http://schemas.openxmlformats.org/drawingml/2006/main">
              <a:ext uri="{FF2B5EF4-FFF2-40B4-BE49-F238E27FC236}">
                <a16:creationId xmlns:a16="http://schemas.microsoft.com/office/drawing/2014/main" id="{2EAFD0DB-C8DE-4818-83A5-5EF191A1A8FA}"/>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ln>
        </p:spPr>
      </p:sp>
      <p:sp>
        <p:nvSpPr>
          <p:cNvPr id="4" name="expanded-3">
            <a:extLst xmlns:a="http://schemas.openxmlformats.org/drawingml/2006/main">
              <a:ext uri="{FF2B5EF4-FFF2-40B4-BE49-F238E27FC236}">
                <a16:creationId xmlns:a16="http://schemas.microsoft.com/office/drawing/2014/main" id="{025420FA-4FB6-48D5-A2EF-4B8BB31241A5}"/>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RNN, attention и Transformer</a:t>
            </a:r>
          </a:p>
        </p:txBody>
      </p:sp>
      <p:sp>
        <p:nvSpPr>
          <p:cNvPr id="30" name="ysda-4">
            <a:extLst xmlns:a="http://schemas.openxmlformats.org/drawingml/2006/main">
              <a:ext uri="{FF2B5EF4-FFF2-40B4-BE49-F238E27FC236}">
                <a16:creationId xmlns:a16="http://schemas.microsoft.com/office/drawing/2014/main" id="{8FB09C0E-53E6-4B67-9D65-7242B1DA33A6}"/>
              </a:ext>
            </a:extLst>
          </p:cNvPr>
          <p:cNvSpPr>
            <a:spLocks xmlns:a="http://schemas.openxmlformats.org/drawingml/2006/main" noGrp="1"/>
          </p:cNvSpPr>
          <p:nvPr/>
        </p:nvSpPr>
        <p:spPr>
          <a:xfrm xmlns:a="http://schemas.openxmlformats.org/drawingml/2006/main">
            <a:off x="685800" y="20478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Attention</a:t>
            </a:r>
          </a:p>
        </p:txBody>
      </p:sp>
      <p:sp>
        <p:nvSpPr>
          <p:cNvPr id="31" name="ysda-5">
            <a:extLst xmlns:a="http://schemas.openxmlformats.org/drawingml/2006/main">
              <a:ext uri="{FF2B5EF4-FFF2-40B4-BE49-F238E27FC236}">
                <a16:creationId xmlns:a16="http://schemas.microsoft.com/office/drawing/2014/main" id="{5951B7B5-083E-456F-A47D-B9E2007CF2CA}"/>
              </a:ext>
            </a:extLst>
          </p:cNvPr>
          <p:cNvSpPr>
            <a:spLocks xmlns:a="http://schemas.openxmlformats.org/drawingml/2006/main" noGrp="1"/>
          </p:cNvSpPr>
          <p:nvPr/>
        </p:nvSpPr>
        <p:spPr>
          <a:xfrm xmlns:a="http://schemas.openxmlformats.org/drawingml/2006/main">
            <a:off x="685800" y="2514600"/>
            <a:ext cx="108204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Attention позволяет выходу использовать разные части доступного контекста с разными весами. В encoder–decoder системах он уменьшает необходимость передавать всё содержание через единственный вектор. Механизм может применяться вместе с RNN; поэтому attention и Transformer не являются взаимозаменяемыми названиями одного понятия.</a:t>
            </a:r>
          </a:p>
        </p:txBody>
      </p:sp>
      <p:sp>
        <p:nvSpPr>
          <p:cNvPr id="32" name="ysda-6">
            <a:extLst xmlns:a="http://schemas.openxmlformats.org/drawingml/2006/main">
              <a:ext uri="{FF2B5EF4-FFF2-40B4-BE49-F238E27FC236}">
                <a16:creationId xmlns:a16="http://schemas.microsoft.com/office/drawing/2014/main" id="{5BE37DBF-B234-46D8-BB05-F7032BB5503A}"/>
              </a:ext>
            </a:extLst>
          </p:cNvPr>
          <p:cNvSpPr>
            <a:spLocks xmlns:a="http://schemas.openxmlformats.org/drawingml/2006/main" noGrp="1"/>
          </p:cNvSpPr>
          <p:nvPr/>
        </p:nvSpPr>
        <p:spPr>
          <a:xfrm xmlns:a="http://schemas.openxmlformats.org/drawingml/2006/main">
            <a:off x="685800" y="4229100"/>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Transformer и дальнейшие темы</a:t>
            </a:r>
          </a:p>
        </p:txBody>
      </p:sp>
      <p:sp>
        <p:nvSpPr>
          <p:cNvPr id="33" name="ysda-7">
            <a:extLst xmlns:a="http://schemas.openxmlformats.org/drawingml/2006/main">
              <a:ext uri="{FF2B5EF4-FFF2-40B4-BE49-F238E27FC236}">
                <a16:creationId xmlns:a16="http://schemas.microsoft.com/office/drawing/2014/main" id="{F34A7930-111C-4D2E-8884-C32CAAE87245}"/>
              </a:ext>
            </a:extLst>
          </p:cNvPr>
          <p:cNvSpPr>
            <a:spLocks xmlns:a="http://schemas.openxmlformats.org/drawingml/2006/main" noGrp="1"/>
          </p:cNvSpPr>
          <p:nvPr/>
        </p:nvSpPr>
        <p:spPr>
          <a:xfrm xmlns:a="http://schemas.openxmlformats.org/drawingml/2006/main">
            <a:off x="685800" y="4695825"/>
            <a:ext cx="10820400" cy="1914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Transformer строит взаимодействие позиций через attention и использует информацию об их порядке. В отличие от стандартной recurrent схемы, обработку доступной последовательности при обучении можно сильнее parallelize. Подробные механизмы attention, masking и варианты encoder/decoder относятся ко второму блоку. На первой лекции важна связь этого этапа с ограничениями RNN.</a:t>
            </a:r>
          </a:p>
        </p:txBody>
      </p:sp>
    </p:spTree>
    <p:extLst>
      <p:ext uri="{BB962C8B-B14F-4D97-AF65-F5344CB8AC3E}">
        <p14:creationId xmlns:p14="http://schemas.microsoft.com/office/powerpoint/2010/main" val="1299681974"/>
      </p:ext>
    </p:extLst>
  </p:cSld>
</p:sld>
</file>

<file path=ppt/slides/slide7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1" name="expanded-0">
            <a:extLst xmlns:a="http://schemas.openxmlformats.org/drawingml/2006/main">
              <a:ext uri="{FF2B5EF4-FFF2-40B4-BE49-F238E27FC236}">
                <a16:creationId xmlns:a16="http://schemas.microsoft.com/office/drawing/2014/main" id="{8C42625D-F111-4E5E-941F-A41CDDE39521}"/>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anded-1">
            <a:extLst xmlns:a="http://schemas.openxmlformats.org/drawingml/2006/main">
              <a:ext uri="{FF2B5EF4-FFF2-40B4-BE49-F238E27FC236}">
                <a16:creationId xmlns:a16="http://schemas.microsoft.com/office/drawing/2014/main" id="{BD75C896-F0CB-4DAF-9728-E867C4400C6C}"/>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78</a:t>
            </a:r>
          </a:p>
        </p:txBody>
      </p:sp>
      <p:sp>
        <p:nvSpPr>
          <p:cNvPr id="3" name="">
            <a:extLst xmlns:a="http://schemas.openxmlformats.org/drawingml/2006/main">
              <a:ext uri="{FF2B5EF4-FFF2-40B4-BE49-F238E27FC236}">
                <a16:creationId xmlns:a16="http://schemas.microsoft.com/office/drawing/2014/main" id="{9369D39E-8A7D-4C11-A1BA-10C259BDF93A}"/>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ln>
        </p:spPr>
      </p:sp>
      <p:sp>
        <p:nvSpPr>
          <p:cNvPr id="4" name="expanded-3">
            <a:extLst xmlns:a="http://schemas.openxmlformats.org/drawingml/2006/main">
              <a:ext uri="{FF2B5EF4-FFF2-40B4-BE49-F238E27FC236}">
                <a16:creationId xmlns:a16="http://schemas.microsoft.com/office/drawing/2014/main" id="{470910BC-A4CC-4D83-8921-C24E2DDEFF5B}"/>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Библиотеки для NLP</a:t>
            </a:r>
          </a:p>
        </p:txBody>
      </p:sp>
      <p:sp>
        <p:nvSpPr>
          <p:cNvPr id="12" name="ysda-4">
            <a:extLst xmlns:a="http://schemas.openxmlformats.org/drawingml/2006/main">
              <a:ext uri="{FF2B5EF4-FFF2-40B4-BE49-F238E27FC236}">
                <a16:creationId xmlns:a16="http://schemas.microsoft.com/office/drawing/2014/main" id="{C698DDAE-CE84-4A47-881B-616650FC177C}"/>
              </a:ext>
            </a:extLst>
          </p:cNvPr>
          <p:cNvSpPr>
            <a:spLocks xmlns:a="http://schemas.openxmlformats.org/drawingml/2006/main" noGrp="1"/>
          </p:cNvSpPr>
          <p:nvPr/>
        </p:nvSpPr>
        <p:spPr>
          <a:xfrm xmlns:a="http://schemas.openxmlformats.org/drawingml/2006/main">
            <a:off x="685800" y="20478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Инструменты preprocessing и classical ML</a:t>
            </a:r>
          </a:p>
        </p:txBody>
      </p:sp>
      <p:sp>
        <p:nvSpPr>
          <p:cNvPr id="13" name="ysda-5">
            <a:extLst xmlns:a="http://schemas.openxmlformats.org/drawingml/2006/main">
              <a:ext uri="{FF2B5EF4-FFF2-40B4-BE49-F238E27FC236}">
                <a16:creationId xmlns:a16="http://schemas.microsoft.com/office/drawing/2014/main" id="{C0AB0426-F6F9-43FD-A66C-5C4594532B02}"/>
              </a:ext>
            </a:extLst>
          </p:cNvPr>
          <p:cNvSpPr>
            <a:spLocks xmlns:a="http://schemas.openxmlformats.org/drawingml/2006/main" noGrp="1"/>
          </p:cNvSpPr>
          <p:nvPr/>
        </p:nvSpPr>
        <p:spPr>
          <a:xfrm xmlns:a="http://schemas.openxmlformats.org/drawingml/2006/main">
            <a:off x="685800" y="2514600"/>
            <a:ext cx="108204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NLTK предоставляет учебные corpora и алгоритмы обработки текста. spaCy организует linguistic annotation через pipeline и объекты Doc, Token, Span. scikit-learn предоставляет vectorizers, classifiers, Pipeline и evaluation. Их функции пересекаются частично: библиотека выбирается по нужной операции, языку и способу построения эксперимента.</a:t>
            </a:r>
          </a:p>
        </p:txBody>
      </p:sp>
      <p:sp>
        <p:nvSpPr>
          <p:cNvPr id="14" name="ysda-6">
            <a:extLst xmlns:a="http://schemas.openxmlformats.org/drawingml/2006/main">
              <a:ext uri="{FF2B5EF4-FFF2-40B4-BE49-F238E27FC236}">
                <a16:creationId xmlns:a16="http://schemas.microsoft.com/office/drawing/2014/main" id="{B31CD05E-2C6E-4BF1-8BAF-14AF89922465}"/>
              </a:ext>
            </a:extLst>
          </p:cNvPr>
          <p:cNvSpPr>
            <a:spLocks xmlns:a="http://schemas.openxmlformats.org/drawingml/2006/main" noGrp="1"/>
          </p:cNvSpPr>
          <p:nvPr/>
        </p:nvSpPr>
        <p:spPr>
          <a:xfrm xmlns:a="http://schemas.openxmlformats.org/drawingml/2006/main">
            <a:off x="685800" y="4229100"/>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Pretrained representations и models</a:t>
            </a:r>
          </a:p>
        </p:txBody>
      </p:sp>
      <p:sp>
        <p:nvSpPr>
          <p:cNvPr id="15" name="ysda-7">
            <a:extLst xmlns:a="http://schemas.openxmlformats.org/drawingml/2006/main">
              <a:ext uri="{FF2B5EF4-FFF2-40B4-BE49-F238E27FC236}">
                <a16:creationId xmlns:a16="http://schemas.microsoft.com/office/drawing/2014/main" id="{5595ADD8-E99B-4EEA-8BAC-6E169E7BB789}"/>
              </a:ext>
            </a:extLst>
          </p:cNvPr>
          <p:cNvSpPr>
            <a:spLocks xmlns:a="http://schemas.openxmlformats.org/drawingml/2006/main" noGrp="1"/>
          </p:cNvSpPr>
          <p:nvPr/>
        </p:nvSpPr>
        <p:spPr>
          <a:xfrm xmlns:a="http://schemas.openxmlformats.org/drawingml/2006/main">
            <a:off x="685800" y="4695825"/>
            <a:ext cx="10820400" cy="1914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Gensim используется для corpus transformations и word embeddings. Hugging Face объединяет модели, datasets и средства tokenization; Sentence Transformers ориентирован на representations целых текстов. Программный пакет, pretrained weights и dataset — разные компоненты. Для воспроизводимости сохраняют их версии, настройки обработки и правила разбиения данных.</a:t>
            </a:r>
          </a:p>
        </p:txBody>
      </p:sp>
    </p:spTree>
    <p:extLst>
      <p:ext uri="{BB962C8B-B14F-4D97-AF65-F5344CB8AC3E}">
        <p14:creationId xmlns:p14="http://schemas.microsoft.com/office/powerpoint/2010/main" val="772953183"/>
      </p:ext>
    </p:extLst>
  </p:cSld>
</p:sld>
</file>

<file path=ppt/slides/slide7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1" name="expanded-0">
            <a:extLst xmlns:a="http://schemas.openxmlformats.org/drawingml/2006/main">
              <a:ext uri="{FF2B5EF4-FFF2-40B4-BE49-F238E27FC236}">
                <a16:creationId xmlns:a16="http://schemas.microsoft.com/office/drawing/2014/main" id="{11A5BCE9-4DFF-45DF-AD12-D115561EA1CB}"/>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anded-1">
            <a:extLst xmlns:a="http://schemas.openxmlformats.org/drawingml/2006/main">
              <a:ext uri="{FF2B5EF4-FFF2-40B4-BE49-F238E27FC236}">
                <a16:creationId xmlns:a16="http://schemas.microsoft.com/office/drawing/2014/main" id="{B75F1465-8528-4347-B409-E019DAC1F188}"/>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79</a:t>
            </a:r>
          </a:p>
        </p:txBody>
      </p:sp>
      <p:sp>
        <p:nvSpPr>
          <p:cNvPr id="3" name="">
            <a:extLst xmlns:a="http://schemas.openxmlformats.org/drawingml/2006/main">
              <a:ext uri="{FF2B5EF4-FFF2-40B4-BE49-F238E27FC236}">
                <a16:creationId xmlns:a16="http://schemas.microsoft.com/office/drawing/2014/main" id="{C17E2BA0-BC03-467C-BBD1-29997672DB5A}"/>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ln>
        </p:spPr>
      </p:sp>
      <p:sp>
        <p:nvSpPr>
          <p:cNvPr id="4" name="expanded-3">
            <a:extLst xmlns:a="http://schemas.openxmlformats.org/drawingml/2006/main">
              <a:ext uri="{FF2B5EF4-FFF2-40B4-BE49-F238E27FC236}">
                <a16:creationId xmlns:a16="http://schemas.microsoft.com/office/drawing/2014/main" id="{8E6F6A4D-ED76-47A3-A09D-C4652037DB99}"/>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NLTK</a:t>
            </a:r>
          </a:p>
        </p:txBody>
      </p:sp>
      <p:sp>
        <p:nvSpPr>
          <p:cNvPr id="12" name="theory-4">
            <a:extLst xmlns:a="http://schemas.openxmlformats.org/drawingml/2006/main">
              <a:ext uri="{FF2B5EF4-FFF2-40B4-BE49-F238E27FC236}">
                <a16:creationId xmlns:a16="http://schemas.microsoft.com/office/drawing/2014/main" id="{F9B5D6FE-EA3F-40BC-A49F-9BFF3904FBC2}"/>
              </a:ext>
            </a:extLst>
          </p:cNvPr>
          <p:cNvSpPr>
            <a:spLocks xmlns:a="http://schemas.openxmlformats.org/drawingml/2006/main" noGrp="1"/>
          </p:cNvSpPr>
          <p:nvPr/>
        </p:nvSpPr>
        <p:spPr>
          <a:xfrm xmlns:a="http://schemas.openxmlformats.org/drawingml/2006/main">
            <a:off x="685800" y="20478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buNone/>
              <a:defRPr sz="1950" b="1">
                <a:solidFill>
                  <a:srgbClr val="BD9FE3"/>
                </a:solidFill>
                <a:latin typeface="Helvetica Neue"/>
                <a:ea typeface="Helvetica Neue"/>
                <a:cs typeface="Helvetica Neue"/>
              </a:defRPr>
            </a:lvl1pPr>
            <a:lvl2pPr>
              <a:buNone/>
              <a:defRPr sz="1950" b="1">
                <a:solidFill>
                  <a:srgbClr val="BD9FE3"/>
                </a:solidFill>
                <a:latin typeface="Helvetica Neue"/>
                <a:ea typeface="Helvetica Neue"/>
                <a:cs typeface="Helvetica Neue"/>
              </a:defRPr>
            </a:lvl2pPr>
            <a:lvl3pPr>
              <a:buNone/>
              <a:defRPr sz="1950" b="1">
                <a:solidFill>
                  <a:srgbClr val="BD9FE3"/>
                </a:solidFill>
                <a:latin typeface="Helvetica Neue"/>
                <a:ea typeface="Helvetica Neue"/>
                <a:cs typeface="Helvetica Neue"/>
              </a:defRPr>
            </a:lvl3pPr>
            <a:lvl4pPr>
              <a:buNone/>
              <a:defRPr sz="1950" b="1">
                <a:solidFill>
                  <a:srgbClr val="BD9FE3"/>
                </a:solidFill>
                <a:latin typeface="Helvetica Neue"/>
                <a:ea typeface="Helvetica Neue"/>
                <a:cs typeface="Helvetica Neue"/>
              </a:defRPr>
            </a:lvl4pPr>
            <a:lvl5pPr>
              <a:buNone/>
              <a:defRPr sz="1950" b="1">
                <a:solidFill>
                  <a:srgbClr val="BD9FE3"/>
                </a:solidFill>
                <a:latin typeface="Helvetica Neue"/>
                <a:ea typeface="Helvetica Neue"/>
                <a:cs typeface="Helvetica Neue"/>
              </a:defRPr>
            </a:lvl5pPr>
            <a:lvl6pPr>
              <a:buNone/>
              <a:defRPr sz="1950" b="1">
                <a:solidFill>
                  <a:srgbClr val="BD9FE3"/>
                </a:solidFill>
                <a:latin typeface="Helvetica Neue"/>
                <a:ea typeface="Helvetica Neue"/>
                <a:cs typeface="Helvetica Neue"/>
              </a:defRPr>
            </a:lvl6pPr>
            <a:lvl7pPr>
              <a:buNone/>
              <a:defRPr sz="1950" b="1">
                <a:solidFill>
                  <a:srgbClr val="BD9FE3"/>
                </a:solidFill>
                <a:latin typeface="Helvetica Neue"/>
                <a:ea typeface="Helvetica Neue"/>
                <a:cs typeface="Helvetica Neue"/>
              </a:defRPr>
            </a:lvl7pPr>
            <a:lvl8pPr>
              <a:buNone/>
              <a:defRPr sz="1950" b="1">
                <a:solidFill>
                  <a:srgbClr val="BD9FE3"/>
                </a:solidFill>
                <a:latin typeface="Helvetica Neue"/>
                <a:ea typeface="Helvetica Neue"/>
                <a:cs typeface="Helvetica Neue"/>
              </a:defRPr>
            </a:lvl8pPr>
            <a:lvl9pPr>
              <a:buNone/>
              <a:defRPr sz="1950" b="1">
                <a:solidFill>
                  <a:srgbClr val="BD9FE3"/>
                </a:solidFill>
                <a:latin typeface="Helvetica Neue"/>
                <a:ea typeface="Helvetica Neue"/>
                <a:cs typeface="Helvetica Neue"/>
              </a:defRPr>
            </a:lvl9pPr>
          </a:lstStyle>
          <a:p xmlns:a="http://schemas.openxmlformats.org/drawingml/2006/main">
            <a:pPr>
              <a:buNone/>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Анализ языка и корпусов</a:t>
            </a:r>
          </a:p>
        </p:txBody>
      </p:sp>
      <p:sp>
        <p:nvSpPr>
          <p:cNvPr id="13" name="theory-5">
            <a:extLst xmlns:a="http://schemas.openxmlformats.org/drawingml/2006/main">
              <a:ext uri="{FF2B5EF4-FFF2-40B4-BE49-F238E27FC236}">
                <a16:creationId xmlns:a16="http://schemas.microsoft.com/office/drawing/2014/main" id="{75458A95-A488-446B-8F46-A08C0B84B094}"/>
              </a:ext>
            </a:extLst>
          </p:cNvPr>
          <p:cNvSpPr>
            <a:spLocks xmlns:a="http://schemas.openxmlformats.org/drawingml/2006/main" noGrp="1"/>
          </p:cNvSpPr>
          <p:nvPr/>
        </p:nvSpPr>
        <p:spPr>
          <a:xfrm xmlns:a="http://schemas.openxmlformats.org/drawingml/2006/main">
            <a:off x="685800" y="2514600"/>
            <a:ext cx="108204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buNone/>
              <a:defRPr sz="2025" b="0">
                <a:solidFill>
                  <a:srgbClr val="CDCDD3"/>
                </a:solidFill>
                <a:latin typeface="Helvetica Neue"/>
                <a:ea typeface="Helvetica Neue"/>
                <a:cs typeface="Helvetica Neue"/>
              </a:defRPr>
            </a:lvl1pPr>
            <a:lvl2pPr>
              <a:buNone/>
              <a:defRPr sz="2025" b="0">
                <a:solidFill>
                  <a:srgbClr val="CDCDD3"/>
                </a:solidFill>
                <a:latin typeface="Helvetica Neue"/>
                <a:ea typeface="Helvetica Neue"/>
                <a:cs typeface="Helvetica Neue"/>
              </a:defRPr>
            </a:lvl2pPr>
            <a:lvl3pPr>
              <a:buNone/>
              <a:defRPr sz="2025" b="0">
                <a:solidFill>
                  <a:srgbClr val="CDCDD3"/>
                </a:solidFill>
                <a:latin typeface="Helvetica Neue"/>
                <a:ea typeface="Helvetica Neue"/>
                <a:cs typeface="Helvetica Neue"/>
              </a:defRPr>
            </a:lvl3pPr>
            <a:lvl4pPr>
              <a:buNone/>
              <a:defRPr sz="2025" b="0">
                <a:solidFill>
                  <a:srgbClr val="CDCDD3"/>
                </a:solidFill>
                <a:latin typeface="Helvetica Neue"/>
                <a:ea typeface="Helvetica Neue"/>
                <a:cs typeface="Helvetica Neue"/>
              </a:defRPr>
            </a:lvl4pPr>
            <a:lvl5pPr>
              <a:buNone/>
              <a:defRPr sz="2025" b="0">
                <a:solidFill>
                  <a:srgbClr val="CDCDD3"/>
                </a:solidFill>
                <a:latin typeface="Helvetica Neue"/>
                <a:ea typeface="Helvetica Neue"/>
                <a:cs typeface="Helvetica Neue"/>
              </a:defRPr>
            </a:lvl5pPr>
            <a:lvl6pPr>
              <a:buNone/>
              <a:defRPr sz="2025" b="0">
                <a:solidFill>
                  <a:srgbClr val="CDCDD3"/>
                </a:solidFill>
                <a:latin typeface="Helvetica Neue"/>
                <a:ea typeface="Helvetica Neue"/>
                <a:cs typeface="Helvetica Neue"/>
              </a:defRPr>
            </a:lvl6pPr>
            <a:lvl7pPr>
              <a:buNone/>
              <a:defRPr sz="2025" b="0">
                <a:solidFill>
                  <a:srgbClr val="CDCDD3"/>
                </a:solidFill>
                <a:latin typeface="Helvetica Neue"/>
                <a:ea typeface="Helvetica Neue"/>
                <a:cs typeface="Helvetica Neue"/>
              </a:defRPr>
            </a:lvl7pPr>
            <a:lvl8pPr>
              <a:buNone/>
              <a:defRPr sz="2025" b="0">
                <a:solidFill>
                  <a:srgbClr val="CDCDD3"/>
                </a:solidFill>
                <a:latin typeface="Helvetica Neue"/>
                <a:ea typeface="Helvetica Neue"/>
                <a:cs typeface="Helvetica Neue"/>
              </a:defRPr>
            </a:lvl8pPr>
            <a:lvl9pPr>
              <a:buNone/>
              <a:defRPr sz="2025" b="0">
                <a:solidFill>
                  <a:srgbClr val="CDCDD3"/>
                </a:solidFill>
                <a:latin typeface="Helvetica Neue"/>
                <a:ea typeface="Helvetica Neue"/>
                <a:cs typeface="Helvetica Neue"/>
              </a:defRPr>
            </a:lvl9pPr>
          </a:lstStyle>
          <a:p xmlns:a="http://schemas.openxmlformats.org/drawingml/2006/main">
            <a:pPr>
              <a:buNone/>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NLTK объединяет алгоритмы tokenization, stemming, отдельные средства lemmatization и доступ к корпусам. Частотные распределения помогают описывать лексику, а инструменты n-grams и коллокаций позволяют изучать совместную встречаемость элементов. Такая организация удобна для поэтапного разбора операций и сравнения нескольких вариантов обработки.</a:t>
            </a:r>
          </a:p>
        </p:txBody>
      </p:sp>
      <p:sp>
        <p:nvSpPr>
          <p:cNvPr id="14" name="theory-6">
            <a:extLst xmlns:a="http://schemas.openxmlformats.org/drawingml/2006/main">
              <a:ext uri="{FF2B5EF4-FFF2-40B4-BE49-F238E27FC236}">
                <a16:creationId xmlns:a16="http://schemas.microsoft.com/office/drawing/2014/main" id="{B19703FF-B054-4512-A6A6-1626EB09A82C}"/>
              </a:ext>
            </a:extLst>
          </p:cNvPr>
          <p:cNvSpPr>
            <a:spLocks xmlns:a="http://schemas.openxmlformats.org/drawingml/2006/main" noGrp="1"/>
          </p:cNvSpPr>
          <p:nvPr/>
        </p:nvSpPr>
        <p:spPr>
          <a:xfrm xmlns:a="http://schemas.openxmlformats.org/drawingml/2006/main">
            <a:off x="685800" y="4229100"/>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buNone/>
              <a:defRPr sz="1950" b="1">
                <a:solidFill>
                  <a:srgbClr val="BD9FE3"/>
                </a:solidFill>
                <a:latin typeface="Helvetica Neue"/>
                <a:ea typeface="Helvetica Neue"/>
                <a:cs typeface="Helvetica Neue"/>
              </a:defRPr>
            </a:lvl1pPr>
            <a:lvl2pPr>
              <a:buNone/>
              <a:defRPr sz="1950" b="1">
                <a:solidFill>
                  <a:srgbClr val="BD9FE3"/>
                </a:solidFill>
                <a:latin typeface="Helvetica Neue"/>
                <a:ea typeface="Helvetica Neue"/>
                <a:cs typeface="Helvetica Neue"/>
              </a:defRPr>
            </a:lvl2pPr>
            <a:lvl3pPr>
              <a:buNone/>
              <a:defRPr sz="1950" b="1">
                <a:solidFill>
                  <a:srgbClr val="BD9FE3"/>
                </a:solidFill>
                <a:latin typeface="Helvetica Neue"/>
                <a:ea typeface="Helvetica Neue"/>
                <a:cs typeface="Helvetica Neue"/>
              </a:defRPr>
            </a:lvl3pPr>
            <a:lvl4pPr>
              <a:buNone/>
              <a:defRPr sz="1950" b="1">
                <a:solidFill>
                  <a:srgbClr val="BD9FE3"/>
                </a:solidFill>
                <a:latin typeface="Helvetica Neue"/>
                <a:ea typeface="Helvetica Neue"/>
                <a:cs typeface="Helvetica Neue"/>
              </a:defRPr>
            </a:lvl4pPr>
            <a:lvl5pPr>
              <a:buNone/>
              <a:defRPr sz="1950" b="1">
                <a:solidFill>
                  <a:srgbClr val="BD9FE3"/>
                </a:solidFill>
                <a:latin typeface="Helvetica Neue"/>
                <a:ea typeface="Helvetica Neue"/>
                <a:cs typeface="Helvetica Neue"/>
              </a:defRPr>
            </a:lvl5pPr>
            <a:lvl6pPr>
              <a:buNone/>
              <a:defRPr sz="1950" b="1">
                <a:solidFill>
                  <a:srgbClr val="BD9FE3"/>
                </a:solidFill>
                <a:latin typeface="Helvetica Neue"/>
                <a:ea typeface="Helvetica Neue"/>
                <a:cs typeface="Helvetica Neue"/>
              </a:defRPr>
            </a:lvl6pPr>
            <a:lvl7pPr>
              <a:buNone/>
              <a:defRPr sz="1950" b="1">
                <a:solidFill>
                  <a:srgbClr val="BD9FE3"/>
                </a:solidFill>
                <a:latin typeface="Helvetica Neue"/>
                <a:ea typeface="Helvetica Neue"/>
                <a:cs typeface="Helvetica Neue"/>
              </a:defRPr>
            </a:lvl7pPr>
            <a:lvl8pPr>
              <a:buNone/>
              <a:defRPr sz="1950" b="1">
                <a:solidFill>
                  <a:srgbClr val="BD9FE3"/>
                </a:solidFill>
                <a:latin typeface="Helvetica Neue"/>
                <a:ea typeface="Helvetica Neue"/>
                <a:cs typeface="Helvetica Neue"/>
              </a:defRPr>
            </a:lvl8pPr>
            <a:lvl9pPr>
              <a:buNone/>
              <a:defRPr sz="1950" b="1">
                <a:solidFill>
                  <a:srgbClr val="BD9FE3"/>
                </a:solidFill>
                <a:latin typeface="Helvetica Neue"/>
                <a:ea typeface="Helvetica Neue"/>
                <a:cs typeface="Helvetica Neue"/>
              </a:defRPr>
            </a:lvl9pPr>
          </a:lstStyle>
          <a:p xmlns:a="http://schemas.openxmlformats.org/drawingml/2006/main">
            <a:pPr>
              <a:buNone/>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Выбор отдельных инструментов</a:t>
            </a:r>
          </a:p>
        </p:txBody>
      </p:sp>
      <p:sp>
        <p:nvSpPr>
          <p:cNvPr id="15" name="theory-7">
            <a:extLst xmlns:a="http://schemas.openxmlformats.org/drawingml/2006/main">
              <a:ext uri="{FF2B5EF4-FFF2-40B4-BE49-F238E27FC236}">
                <a16:creationId xmlns:a16="http://schemas.microsoft.com/office/drawing/2014/main" id="{733D182E-98A0-424C-932D-25E506A06D4E}"/>
              </a:ext>
            </a:extLst>
          </p:cNvPr>
          <p:cNvSpPr>
            <a:spLocks xmlns:a="http://schemas.openxmlformats.org/drawingml/2006/main" noGrp="1"/>
          </p:cNvSpPr>
          <p:nvPr/>
        </p:nvSpPr>
        <p:spPr>
          <a:xfrm xmlns:a="http://schemas.openxmlformats.org/drawingml/2006/main">
            <a:off x="685800" y="4695825"/>
            <a:ext cx="10820400" cy="1743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buNone/>
              <a:defRPr sz="2025" b="0">
                <a:solidFill>
                  <a:srgbClr val="CDCDD3"/>
                </a:solidFill>
                <a:latin typeface="Helvetica Neue"/>
                <a:ea typeface="Helvetica Neue"/>
                <a:cs typeface="Helvetica Neue"/>
              </a:defRPr>
            </a:lvl1pPr>
            <a:lvl2pPr>
              <a:buNone/>
              <a:defRPr sz="2025" b="0">
                <a:solidFill>
                  <a:srgbClr val="CDCDD3"/>
                </a:solidFill>
                <a:latin typeface="Helvetica Neue"/>
                <a:ea typeface="Helvetica Neue"/>
                <a:cs typeface="Helvetica Neue"/>
              </a:defRPr>
            </a:lvl2pPr>
            <a:lvl3pPr>
              <a:buNone/>
              <a:defRPr sz="2025" b="0">
                <a:solidFill>
                  <a:srgbClr val="CDCDD3"/>
                </a:solidFill>
                <a:latin typeface="Helvetica Neue"/>
                <a:ea typeface="Helvetica Neue"/>
                <a:cs typeface="Helvetica Neue"/>
              </a:defRPr>
            </a:lvl3pPr>
            <a:lvl4pPr>
              <a:buNone/>
              <a:defRPr sz="2025" b="0">
                <a:solidFill>
                  <a:srgbClr val="CDCDD3"/>
                </a:solidFill>
                <a:latin typeface="Helvetica Neue"/>
                <a:ea typeface="Helvetica Neue"/>
                <a:cs typeface="Helvetica Neue"/>
              </a:defRPr>
            </a:lvl4pPr>
            <a:lvl5pPr>
              <a:buNone/>
              <a:defRPr sz="2025" b="0">
                <a:solidFill>
                  <a:srgbClr val="CDCDD3"/>
                </a:solidFill>
                <a:latin typeface="Helvetica Neue"/>
                <a:ea typeface="Helvetica Neue"/>
                <a:cs typeface="Helvetica Neue"/>
              </a:defRPr>
            </a:lvl5pPr>
            <a:lvl6pPr>
              <a:buNone/>
              <a:defRPr sz="2025" b="0">
                <a:solidFill>
                  <a:srgbClr val="CDCDD3"/>
                </a:solidFill>
                <a:latin typeface="Helvetica Neue"/>
                <a:ea typeface="Helvetica Neue"/>
                <a:cs typeface="Helvetica Neue"/>
              </a:defRPr>
            </a:lvl6pPr>
            <a:lvl7pPr>
              <a:buNone/>
              <a:defRPr sz="2025" b="0">
                <a:solidFill>
                  <a:srgbClr val="CDCDD3"/>
                </a:solidFill>
                <a:latin typeface="Helvetica Neue"/>
                <a:ea typeface="Helvetica Neue"/>
                <a:cs typeface="Helvetica Neue"/>
              </a:defRPr>
            </a:lvl7pPr>
            <a:lvl8pPr>
              <a:buNone/>
              <a:defRPr sz="2025" b="0">
                <a:solidFill>
                  <a:srgbClr val="CDCDD3"/>
                </a:solidFill>
                <a:latin typeface="Helvetica Neue"/>
                <a:ea typeface="Helvetica Neue"/>
                <a:cs typeface="Helvetica Neue"/>
              </a:defRPr>
            </a:lvl8pPr>
            <a:lvl9pPr>
              <a:buNone/>
              <a:defRPr sz="2025" b="0">
                <a:solidFill>
                  <a:srgbClr val="CDCDD3"/>
                </a:solidFill>
                <a:latin typeface="Helvetica Neue"/>
                <a:ea typeface="Helvetica Neue"/>
                <a:cs typeface="Helvetica Neue"/>
              </a:defRPr>
            </a:lvl9pPr>
          </a:lstStyle>
          <a:p xmlns:a="http://schemas.openxmlformats.org/drawingml/2006/main">
            <a:pPr>
              <a:buNone/>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NLTK не задаёт единственную обязательную последовательность анализа. Пользователь выбирает алгоритмы и определяет, как передавать результаты между ними. Поддержку языка проверяют отдельно для каждого метода и ресурса. Наличие функции с нужным названием не означает, что она пригодна для русского текста или конкретного жанра без дополнительных условий.</a:t>
            </a:r>
          </a:p>
        </p:txBody>
      </p:sp>
    </p:spTree>
    <p:extLst>
      <p:ext uri="{BB962C8B-B14F-4D97-AF65-F5344CB8AC3E}">
        <p14:creationId xmlns:p14="http://schemas.microsoft.com/office/powerpoint/2010/main" val="1732596099"/>
      </p:ext>
    </p:extLst>
  </p:cSld>
</p:sld>
</file>

<file path=ppt/slides/slide8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9" name="expanded-0">
            <a:extLst xmlns:a="http://schemas.openxmlformats.org/drawingml/2006/main">
              <a:ext uri="{FF2B5EF4-FFF2-40B4-BE49-F238E27FC236}">
                <a16:creationId xmlns:a16="http://schemas.microsoft.com/office/drawing/2014/main" id="{40927934-E26B-46B4-B815-01F0F050F188}"/>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anded-1">
            <a:extLst xmlns:a="http://schemas.openxmlformats.org/drawingml/2006/main">
              <a:ext uri="{FF2B5EF4-FFF2-40B4-BE49-F238E27FC236}">
                <a16:creationId xmlns:a16="http://schemas.microsoft.com/office/drawing/2014/main" id="{20424473-D284-4787-8A4A-CC3A42F8185C}"/>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80</a:t>
            </a:r>
          </a:p>
        </p:txBody>
      </p:sp>
      <p:sp>
        <p:nvSpPr>
          <p:cNvPr id="3" name="">
            <a:extLst xmlns:a="http://schemas.openxmlformats.org/drawingml/2006/main">
              <a:ext uri="{FF2B5EF4-FFF2-40B4-BE49-F238E27FC236}">
                <a16:creationId xmlns:a16="http://schemas.microsoft.com/office/drawing/2014/main" id="{1CFB3FAC-5EBA-424F-A9CB-F146D8305245}"/>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ln>
        </p:spPr>
      </p:sp>
      <p:sp>
        <p:nvSpPr>
          <p:cNvPr id="4" name="expanded-3">
            <a:extLst xmlns:a="http://schemas.openxmlformats.org/drawingml/2006/main">
              <a:ext uri="{FF2B5EF4-FFF2-40B4-BE49-F238E27FC236}">
                <a16:creationId xmlns:a16="http://schemas.microsoft.com/office/drawing/2014/main" id="{F20C4719-31ED-442C-9EB2-4E921C63458D}"/>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NLTK: corpora и lexical resources</a:t>
            </a:r>
          </a:p>
        </p:txBody>
      </p:sp>
      <p:sp>
        <p:nvSpPr>
          <p:cNvPr id="30" name="theory-4">
            <a:extLst xmlns:a="http://schemas.openxmlformats.org/drawingml/2006/main">
              <a:ext uri="{FF2B5EF4-FFF2-40B4-BE49-F238E27FC236}">
                <a16:creationId xmlns:a16="http://schemas.microsoft.com/office/drawing/2014/main" id="{921F36B8-7F18-4696-9486-B99CFDF2DACB}"/>
              </a:ext>
            </a:extLst>
          </p:cNvPr>
          <p:cNvSpPr>
            <a:spLocks xmlns:a="http://schemas.openxmlformats.org/drawingml/2006/main" noGrp="1"/>
          </p:cNvSpPr>
          <p:nvPr/>
        </p:nvSpPr>
        <p:spPr>
          <a:xfrm xmlns:a="http://schemas.openxmlformats.org/drawingml/2006/main">
            <a:off x="685800" y="20478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buNone/>
              <a:defRPr sz="1950" b="1">
                <a:solidFill>
                  <a:srgbClr val="BD9FE3"/>
                </a:solidFill>
                <a:latin typeface="Helvetica Neue"/>
                <a:ea typeface="Helvetica Neue"/>
                <a:cs typeface="Helvetica Neue"/>
              </a:defRPr>
            </a:lvl1pPr>
            <a:lvl2pPr>
              <a:buNone/>
              <a:defRPr sz="1950" b="1">
                <a:solidFill>
                  <a:srgbClr val="BD9FE3"/>
                </a:solidFill>
                <a:latin typeface="Helvetica Neue"/>
                <a:ea typeface="Helvetica Neue"/>
                <a:cs typeface="Helvetica Neue"/>
              </a:defRPr>
            </a:lvl2pPr>
            <a:lvl3pPr>
              <a:buNone/>
              <a:defRPr sz="1950" b="1">
                <a:solidFill>
                  <a:srgbClr val="BD9FE3"/>
                </a:solidFill>
                <a:latin typeface="Helvetica Neue"/>
                <a:ea typeface="Helvetica Neue"/>
                <a:cs typeface="Helvetica Neue"/>
              </a:defRPr>
            </a:lvl3pPr>
            <a:lvl4pPr>
              <a:buNone/>
              <a:defRPr sz="1950" b="1">
                <a:solidFill>
                  <a:srgbClr val="BD9FE3"/>
                </a:solidFill>
                <a:latin typeface="Helvetica Neue"/>
                <a:ea typeface="Helvetica Neue"/>
                <a:cs typeface="Helvetica Neue"/>
              </a:defRPr>
            </a:lvl4pPr>
            <a:lvl5pPr>
              <a:buNone/>
              <a:defRPr sz="1950" b="1">
                <a:solidFill>
                  <a:srgbClr val="BD9FE3"/>
                </a:solidFill>
                <a:latin typeface="Helvetica Neue"/>
                <a:ea typeface="Helvetica Neue"/>
                <a:cs typeface="Helvetica Neue"/>
              </a:defRPr>
            </a:lvl5pPr>
            <a:lvl6pPr>
              <a:buNone/>
              <a:defRPr sz="1950" b="1">
                <a:solidFill>
                  <a:srgbClr val="BD9FE3"/>
                </a:solidFill>
                <a:latin typeface="Helvetica Neue"/>
                <a:ea typeface="Helvetica Neue"/>
                <a:cs typeface="Helvetica Neue"/>
              </a:defRPr>
            </a:lvl6pPr>
            <a:lvl7pPr>
              <a:buNone/>
              <a:defRPr sz="1950" b="1">
                <a:solidFill>
                  <a:srgbClr val="BD9FE3"/>
                </a:solidFill>
                <a:latin typeface="Helvetica Neue"/>
                <a:ea typeface="Helvetica Neue"/>
                <a:cs typeface="Helvetica Neue"/>
              </a:defRPr>
            </a:lvl7pPr>
            <a:lvl8pPr>
              <a:buNone/>
              <a:defRPr sz="1950" b="1">
                <a:solidFill>
                  <a:srgbClr val="BD9FE3"/>
                </a:solidFill>
                <a:latin typeface="Helvetica Neue"/>
                <a:ea typeface="Helvetica Neue"/>
                <a:cs typeface="Helvetica Neue"/>
              </a:defRPr>
            </a:lvl8pPr>
            <a:lvl9pPr>
              <a:buNone/>
              <a:defRPr sz="1950" b="1">
                <a:solidFill>
                  <a:srgbClr val="BD9FE3"/>
                </a:solidFill>
                <a:latin typeface="Helvetica Neue"/>
                <a:ea typeface="Helvetica Neue"/>
                <a:cs typeface="Helvetica Neue"/>
              </a:defRPr>
            </a:lvl9pPr>
          </a:lstStyle>
          <a:p xmlns:a="http://schemas.openxmlformats.org/drawingml/2006/main">
            <a:pPr>
              <a:buNone/>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Состав ресурсов</a:t>
            </a:r>
          </a:p>
        </p:txBody>
      </p:sp>
      <p:sp>
        <p:nvSpPr>
          <p:cNvPr id="31" name="theory-5">
            <a:extLst xmlns:a="http://schemas.openxmlformats.org/drawingml/2006/main">
              <a:ext uri="{FF2B5EF4-FFF2-40B4-BE49-F238E27FC236}">
                <a16:creationId xmlns:a16="http://schemas.microsoft.com/office/drawing/2014/main" id="{8A815425-68CF-48E8-B503-597DE4003BC7}"/>
              </a:ext>
            </a:extLst>
          </p:cNvPr>
          <p:cNvSpPr>
            <a:spLocks xmlns:a="http://schemas.openxmlformats.org/drawingml/2006/main" noGrp="1"/>
          </p:cNvSpPr>
          <p:nvPr/>
        </p:nvSpPr>
        <p:spPr>
          <a:xfrm xmlns:a="http://schemas.openxmlformats.org/drawingml/2006/main">
            <a:off x="685800" y="2514600"/>
            <a:ext cx="108204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buNone/>
              <a:defRPr sz="2025" b="0">
                <a:solidFill>
                  <a:srgbClr val="CDCDD3"/>
                </a:solidFill>
                <a:latin typeface="Helvetica Neue"/>
                <a:ea typeface="Helvetica Neue"/>
                <a:cs typeface="Helvetica Neue"/>
              </a:defRPr>
            </a:lvl1pPr>
            <a:lvl2pPr>
              <a:buNone/>
              <a:defRPr sz="2025" b="0">
                <a:solidFill>
                  <a:srgbClr val="CDCDD3"/>
                </a:solidFill>
                <a:latin typeface="Helvetica Neue"/>
                <a:ea typeface="Helvetica Neue"/>
                <a:cs typeface="Helvetica Neue"/>
              </a:defRPr>
            </a:lvl2pPr>
            <a:lvl3pPr>
              <a:buNone/>
              <a:defRPr sz="2025" b="0">
                <a:solidFill>
                  <a:srgbClr val="CDCDD3"/>
                </a:solidFill>
                <a:latin typeface="Helvetica Neue"/>
                <a:ea typeface="Helvetica Neue"/>
                <a:cs typeface="Helvetica Neue"/>
              </a:defRPr>
            </a:lvl3pPr>
            <a:lvl4pPr>
              <a:buNone/>
              <a:defRPr sz="2025" b="0">
                <a:solidFill>
                  <a:srgbClr val="CDCDD3"/>
                </a:solidFill>
                <a:latin typeface="Helvetica Neue"/>
                <a:ea typeface="Helvetica Neue"/>
                <a:cs typeface="Helvetica Neue"/>
              </a:defRPr>
            </a:lvl4pPr>
            <a:lvl5pPr>
              <a:buNone/>
              <a:defRPr sz="2025" b="0">
                <a:solidFill>
                  <a:srgbClr val="CDCDD3"/>
                </a:solidFill>
                <a:latin typeface="Helvetica Neue"/>
                <a:ea typeface="Helvetica Neue"/>
                <a:cs typeface="Helvetica Neue"/>
              </a:defRPr>
            </a:lvl5pPr>
            <a:lvl6pPr>
              <a:buNone/>
              <a:defRPr sz="2025" b="0">
                <a:solidFill>
                  <a:srgbClr val="CDCDD3"/>
                </a:solidFill>
                <a:latin typeface="Helvetica Neue"/>
                <a:ea typeface="Helvetica Neue"/>
                <a:cs typeface="Helvetica Neue"/>
              </a:defRPr>
            </a:lvl6pPr>
            <a:lvl7pPr>
              <a:buNone/>
              <a:defRPr sz="2025" b="0">
                <a:solidFill>
                  <a:srgbClr val="CDCDD3"/>
                </a:solidFill>
                <a:latin typeface="Helvetica Neue"/>
                <a:ea typeface="Helvetica Neue"/>
                <a:cs typeface="Helvetica Neue"/>
              </a:defRPr>
            </a:lvl7pPr>
            <a:lvl8pPr>
              <a:buNone/>
              <a:defRPr sz="2025" b="0">
                <a:solidFill>
                  <a:srgbClr val="CDCDD3"/>
                </a:solidFill>
                <a:latin typeface="Helvetica Neue"/>
                <a:ea typeface="Helvetica Neue"/>
                <a:cs typeface="Helvetica Neue"/>
              </a:defRPr>
            </a:lvl8pPr>
            <a:lvl9pPr>
              <a:buNone/>
              <a:defRPr sz="2025" b="0">
                <a:solidFill>
                  <a:srgbClr val="CDCDD3"/>
                </a:solidFill>
                <a:latin typeface="Helvetica Neue"/>
                <a:ea typeface="Helvetica Neue"/>
                <a:cs typeface="Helvetica Neue"/>
              </a:defRPr>
            </a:lvl9pPr>
          </a:lstStyle>
          <a:p xmlns:a="http://schemas.openxmlformats.org/drawingml/2006/main">
            <a:pPr>
              <a:buNone/>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Корпуса содержат тексты и иногда аннотации, словари описывают лексические единицы, а списки stop words задают набор часто исключаемых элементов. Эти ресурсы имеют собственное происхождение и назначение. Многие из них доступны отдельно от программного пакета, поэтому необходимо понимать, какие именно данные использует выбранная операция.</a:t>
            </a:r>
          </a:p>
        </p:txBody>
      </p:sp>
      <p:sp>
        <p:nvSpPr>
          <p:cNvPr id="32" name="theory-6">
            <a:extLst xmlns:a="http://schemas.openxmlformats.org/drawingml/2006/main">
              <a:ext uri="{FF2B5EF4-FFF2-40B4-BE49-F238E27FC236}">
                <a16:creationId xmlns:a16="http://schemas.microsoft.com/office/drawing/2014/main" id="{C6A59EE2-8995-4521-B7EF-8419AF95CF9F}"/>
              </a:ext>
            </a:extLst>
          </p:cNvPr>
          <p:cNvSpPr>
            <a:spLocks xmlns:a="http://schemas.openxmlformats.org/drawingml/2006/main" noGrp="1"/>
          </p:cNvSpPr>
          <p:nvPr/>
        </p:nvSpPr>
        <p:spPr>
          <a:xfrm xmlns:a="http://schemas.openxmlformats.org/drawingml/2006/main">
            <a:off x="685800" y="4229100"/>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buNone/>
              <a:defRPr sz="1950" b="1">
                <a:solidFill>
                  <a:srgbClr val="BD9FE3"/>
                </a:solidFill>
                <a:latin typeface="Helvetica Neue"/>
                <a:ea typeface="Helvetica Neue"/>
                <a:cs typeface="Helvetica Neue"/>
              </a:defRPr>
            </a:lvl1pPr>
            <a:lvl2pPr>
              <a:buNone/>
              <a:defRPr sz="1950" b="1">
                <a:solidFill>
                  <a:srgbClr val="BD9FE3"/>
                </a:solidFill>
                <a:latin typeface="Helvetica Neue"/>
                <a:ea typeface="Helvetica Neue"/>
                <a:cs typeface="Helvetica Neue"/>
              </a:defRPr>
            </a:lvl2pPr>
            <a:lvl3pPr>
              <a:buNone/>
              <a:defRPr sz="1950" b="1">
                <a:solidFill>
                  <a:srgbClr val="BD9FE3"/>
                </a:solidFill>
                <a:latin typeface="Helvetica Neue"/>
                <a:ea typeface="Helvetica Neue"/>
                <a:cs typeface="Helvetica Neue"/>
              </a:defRPr>
            </a:lvl3pPr>
            <a:lvl4pPr>
              <a:buNone/>
              <a:defRPr sz="1950" b="1">
                <a:solidFill>
                  <a:srgbClr val="BD9FE3"/>
                </a:solidFill>
                <a:latin typeface="Helvetica Neue"/>
                <a:ea typeface="Helvetica Neue"/>
                <a:cs typeface="Helvetica Neue"/>
              </a:defRPr>
            </a:lvl4pPr>
            <a:lvl5pPr>
              <a:buNone/>
              <a:defRPr sz="1950" b="1">
                <a:solidFill>
                  <a:srgbClr val="BD9FE3"/>
                </a:solidFill>
                <a:latin typeface="Helvetica Neue"/>
                <a:ea typeface="Helvetica Neue"/>
                <a:cs typeface="Helvetica Neue"/>
              </a:defRPr>
            </a:lvl5pPr>
            <a:lvl6pPr>
              <a:buNone/>
              <a:defRPr sz="1950" b="1">
                <a:solidFill>
                  <a:srgbClr val="BD9FE3"/>
                </a:solidFill>
                <a:latin typeface="Helvetica Neue"/>
                <a:ea typeface="Helvetica Neue"/>
                <a:cs typeface="Helvetica Neue"/>
              </a:defRPr>
            </a:lvl6pPr>
            <a:lvl7pPr>
              <a:buNone/>
              <a:defRPr sz="1950" b="1">
                <a:solidFill>
                  <a:srgbClr val="BD9FE3"/>
                </a:solidFill>
                <a:latin typeface="Helvetica Neue"/>
                <a:ea typeface="Helvetica Neue"/>
                <a:cs typeface="Helvetica Neue"/>
              </a:defRPr>
            </a:lvl7pPr>
            <a:lvl8pPr>
              <a:buNone/>
              <a:defRPr sz="1950" b="1">
                <a:solidFill>
                  <a:srgbClr val="BD9FE3"/>
                </a:solidFill>
                <a:latin typeface="Helvetica Neue"/>
                <a:ea typeface="Helvetica Neue"/>
                <a:cs typeface="Helvetica Neue"/>
              </a:defRPr>
            </a:lvl8pPr>
            <a:lvl9pPr>
              <a:buNone/>
              <a:defRPr sz="1950" b="1">
                <a:solidFill>
                  <a:srgbClr val="BD9FE3"/>
                </a:solidFill>
                <a:latin typeface="Helvetica Neue"/>
                <a:ea typeface="Helvetica Neue"/>
                <a:cs typeface="Helvetica Neue"/>
              </a:defRPr>
            </a:lvl9pPr>
          </a:lstStyle>
          <a:p xmlns:a="http://schemas.openxmlformats.org/drawingml/2006/main">
            <a:pPr>
              <a:buNone/>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Применимость к задаче</a:t>
            </a:r>
          </a:p>
        </p:txBody>
      </p:sp>
      <p:sp>
        <p:nvSpPr>
          <p:cNvPr id="33" name="theory-7">
            <a:extLst xmlns:a="http://schemas.openxmlformats.org/drawingml/2006/main">
              <a:ext uri="{FF2B5EF4-FFF2-40B4-BE49-F238E27FC236}">
                <a16:creationId xmlns:a16="http://schemas.microsoft.com/office/drawing/2014/main" id="{078FC1F5-8C74-4E4F-9F53-60C481CD705C}"/>
              </a:ext>
            </a:extLst>
          </p:cNvPr>
          <p:cNvSpPr>
            <a:spLocks xmlns:a="http://schemas.openxmlformats.org/drawingml/2006/main" noGrp="1"/>
          </p:cNvSpPr>
          <p:nvPr/>
        </p:nvSpPr>
        <p:spPr>
          <a:xfrm xmlns:a="http://schemas.openxmlformats.org/drawingml/2006/main">
            <a:off x="685800" y="4695825"/>
            <a:ext cx="10820400" cy="1743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buNone/>
              <a:defRPr sz="2025" b="0">
                <a:solidFill>
                  <a:srgbClr val="CDCDD3"/>
                </a:solidFill>
                <a:latin typeface="Helvetica Neue"/>
                <a:ea typeface="Helvetica Neue"/>
                <a:cs typeface="Helvetica Neue"/>
              </a:defRPr>
            </a:lvl1pPr>
            <a:lvl2pPr>
              <a:buNone/>
              <a:defRPr sz="2025" b="0">
                <a:solidFill>
                  <a:srgbClr val="CDCDD3"/>
                </a:solidFill>
                <a:latin typeface="Helvetica Neue"/>
                <a:ea typeface="Helvetica Neue"/>
                <a:cs typeface="Helvetica Neue"/>
              </a:defRPr>
            </a:lvl2pPr>
            <a:lvl3pPr>
              <a:buNone/>
              <a:defRPr sz="2025" b="0">
                <a:solidFill>
                  <a:srgbClr val="CDCDD3"/>
                </a:solidFill>
                <a:latin typeface="Helvetica Neue"/>
                <a:ea typeface="Helvetica Neue"/>
                <a:cs typeface="Helvetica Neue"/>
              </a:defRPr>
            </a:lvl3pPr>
            <a:lvl4pPr>
              <a:buNone/>
              <a:defRPr sz="2025" b="0">
                <a:solidFill>
                  <a:srgbClr val="CDCDD3"/>
                </a:solidFill>
                <a:latin typeface="Helvetica Neue"/>
                <a:ea typeface="Helvetica Neue"/>
                <a:cs typeface="Helvetica Neue"/>
              </a:defRPr>
            </a:lvl4pPr>
            <a:lvl5pPr>
              <a:buNone/>
              <a:defRPr sz="2025" b="0">
                <a:solidFill>
                  <a:srgbClr val="CDCDD3"/>
                </a:solidFill>
                <a:latin typeface="Helvetica Neue"/>
                <a:ea typeface="Helvetica Neue"/>
                <a:cs typeface="Helvetica Neue"/>
              </a:defRPr>
            </a:lvl5pPr>
            <a:lvl6pPr>
              <a:buNone/>
              <a:defRPr sz="2025" b="0">
                <a:solidFill>
                  <a:srgbClr val="CDCDD3"/>
                </a:solidFill>
                <a:latin typeface="Helvetica Neue"/>
                <a:ea typeface="Helvetica Neue"/>
                <a:cs typeface="Helvetica Neue"/>
              </a:defRPr>
            </a:lvl6pPr>
            <a:lvl7pPr>
              <a:buNone/>
              <a:defRPr sz="2025" b="0">
                <a:solidFill>
                  <a:srgbClr val="CDCDD3"/>
                </a:solidFill>
                <a:latin typeface="Helvetica Neue"/>
                <a:ea typeface="Helvetica Neue"/>
                <a:cs typeface="Helvetica Neue"/>
              </a:defRPr>
            </a:lvl7pPr>
            <a:lvl8pPr>
              <a:buNone/>
              <a:defRPr sz="2025" b="0">
                <a:solidFill>
                  <a:srgbClr val="CDCDD3"/>
                </a:solidFill>
                <a:latin typeface="Helvetica Neue"/>
                <a:ea typeface="Helvetica Neue"/>
                <a:cs typeface="Helvetica Neue"/>
              </a:defRPr>
            </a:lvl8pPr>
            <a:lvl9pPr>
              <a:buNone/>
              <a:defRPr sz="2025" b="0">
                <a:solidFill>
                  <a:srgbClr val="CDCDD3"/>
                </a:solidFill>
                <a:latin typeface="Helvetica Neue"/>
                <a:ea typeface="Helvetica Neue"/>
                <a:cs typeface="Helvetica Neue"/>
              </a:defRPr>
            </a:lvl9pPr>
          </a:lstStyle>
          <a:p xmlns:a="http://schemas.openxmlformats.org/drawingml/2006/main">
            <a:pPr>
              <a:buNone/>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Готовый ресурс отражает определённый язык, предметную область и правила составления. Например, список stop words может содержать отрицания, которые важны для оценки тональности. Перед применением проверяют состав ресурса на характерных текстах. Для сравнения методов сохраняют одну и ту же версию, чтобы изменение результата можно было связать с конкретным решением.</a:t>
            </a:r>
          </a:p>
        </p:txBody>
      </p:sp>
    </p:spTree>
    <p:extLst>
      <p:ext uri="{BB962C8B-B14F-4D97-AF65-F5344CB8AC3E}">
        <p14:creationId xmlns:p14="http://schemas.microsoft.com/office/powerpoint/2010/main" val="4368665"/>
      </p:ext>
    </p:extLst>
  </p:cSld>
</p:sld>
</file>

<file path=ppt/slides/slide8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1" name="expanded-0">
            <a:extLst xmlns:a="http://schemas.openxmlformats.org/drawingml/2006/main">
              <a:ext uri="{FF2B5EF4-FFF2-40B4-BE49-F238E27FC236}">
                <a16:creationId xmlns:a16="http://schemas.microsoft.com/office/drawing/2014/main" id="{11A13429-AF8B-4F14-908D-243A22404DF6}"/>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anded-1">
            <a:extLst xmlns:a="http://schemas.openxmlformats.org/drawingml/2006/main">
              <a:ext uri="{FF2B5EF4-FFF2-40B4-BE49-F238E27FC236}">
                <a16:creationId xmlns:a16="http://schemas.microsoft.com/office/drawing/2014/main" id="{E0A80DF9-3DCC-450B-9314-B9BEC8DEBF76}"/>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81</a:t>
            </a:r>
          </a:p>
        </p:txBody>
      </p:sp>
      <p:sp>
        <p:nvSpPr>
          <p:cNvPr id="3" name="">
            <a:extLst xmlns:a="http://schemas.openxmlformats.org/drawingml/2006/main">
              <a:ext uri="{FF2B5EF4-FFF2-40B4-BE49-F238E27FC236}">
                <a16:creationId xmlns:a16="http://schemas.microsoft.com/office/drawing/2014/main" id="{65FF3388-4376-462A-8027-3B72E1BD3D8F}"/>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ln>
        </p:spPr>
      </p:sp>
      <p:sp>
        <p:nvSpPr>
          <p:cNvPr id="4" name="expanded-3">
            <a:extLst xmlns:a="http://schemas.openxmlformats.org/drawingml/2006/main">
              <a:ext uri="{FF2B5EF4-FFF2-40B4-BE49-F238E27FC236}">
                <a16:creationId xmlns:a16="http://schemas.microsoft.com/office/drawing/2014/main" id="{6DDA53F4-76B4-4D0A-BB14-0CBD07CC2E52}"/>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spaCy: Doc, Token и Span</a:t>
            </a:r>
          </a:p>
        </p:txBody>
      </p:sp>
      <p:sp>
        <p:nvSpPr>
          <p:cNvPr id="12" name="theory-4">
            <a:extLst xmlns:a="http://schemas.openxmlformats.org/drawingml/2006/main">
              <a:ext uri="{FF2B5EF4-FFF2-40B4-BE49-F238E27FC236}">
                <a16:creationId xmlns:a16="http://schemas.microsoft.com/office/drawing/2014/main" id="{D0C554BF-479C-4094-844D-952B4EAA6E77}"/>
              </a:ext>
            </a:extLst>
          </p:cNvPr>
          <p:cNvSpPr>
            <a:spLocks xmlns:a="http://schemas.openxmlformats.org/drawingml/2006/main" noGrp="1"/>
          </p:cNvSpPr>
          <p:nvPr/>
        </p:nvSpPr>
        <p:spPr>
          <a:xfrm xmlns:a="http://schemas.openxmlformats.org/drawingml/2006/main">
            <a:off x="685800" y="20478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buNone/>
              <a:defRPr sz="1950" b="1">
                <a:solidFill>
                  <a:srgbClr val="BD9FE3"/>
                </a:solidFill>
                <a:latin typeface="Helvetica Neue"/>
                <a:ea typeface="Helvetica Neue"/>
                <a:cs typeface="Helvetica Neue"/>
              </a:defRPr>
            </a:lvl1pPr>
            <a:lvl2pPr>
              <a:buNone/>
              <a:defRPr sz="1950" b="1">
                <a:solidFill>
                  <a:srgbClr val="BD9FE3"/>
                </a:solidFill>
                <a:latin typeface="Helvetica Neue"/>
                <a:ea typeface="Helvetica Neue"/>
                <a:cs typeface="Helvetica Neue"/>
              </a:defRPr>
            </a:lvl2pPr>
            <a:lvl3pPr>
              <a:buNone/>
              <a:defRPr sz="1950" b="1">
                <a:solidFill>
                  <a:srgbClr val="BD9FE3"/>
                </a:solidFill>
                <a:latin typeface="Helvetica Neue"/>
                <a:ea typeface="Helvetica Neue"/>
                <a:cs typeface="Helvetica Neue"/>
              </a:defRPr>
            </a:lvl3pPr>
            <a:lvl4pPr>
              <a:buNone/>
              <a:defRPr sz="1950" b="1">
                <a:solidFill>
                  <a:srgbClr val="BD9FE3"/>
                </a:solidFill>
                <a:latin typeface="Helvetica Neue"/>
                <a:ea typeface="Helvetica Neue"/>
                <a:cs typeface="Helvetica Neue"/>
              </a:defRPr>
            </a:lvl4pPr>
            <a:lvl5pPr>
              <a:buNone/>
              <a:defRPr sz="1950" b="1">
                <a:solidFill>
                  <a:srgbClr val="BD9FE3"/>
                </a:solidFill>
                <a:latin typeface="Helvetica Neue"/>
                <a:ea typeface="Helvetica Neue"/>
                <a:cs typeface="Helvetica Neue"/>
              </a:defRPr>
            </a:lvl5pPr>
            <a:lvl6pPr>
              <a:buNone/>
              <a:defRPr sz="1950" b="1">
                <a:solidFill>
                  <a:srgbClr val="BD9FE3"/>
                </a:solidFill>
                <a:latin typeface="Helvetica Neue"/>
                <a:ea typeface="Helvetica Neue"/>
                <a:cs typeface="Helvetica Neue"/>
              </a:defRPr>
            </a:lvl6pPr>
            <a:lvl7pPr>
              <a:buNone/>
              <a:defRPr sz="1950" b="1">
                <a:solidFill>
                  <a:srgbClr val="BD9FE3"/>
                </a:solidFill>
                <a:latin typeface="Helvetica Neue"/>
                <a:ea typeface="Helvetica Neue"/>
                <a:cs typeface="Helvetica Neue"/>
              </a:defRPr>
            </a:lvl7pPr>
            <a:lvl8pPr>
              <a:buNone/>
              <a:defRPr sz="1950" b="1">
                <a:solidFill>
                  <a:srgbClr val="BD9FE3"/>
                </a:solidFill>
                <a:latin typeface="Helvetica Neue"/>
                <a:ea typeface="Helvetica Neue"/>
                <a:cs typeface="Helvetica Neue"/>
              </a:defRPr>
            </a:lvl8pPr>
            <a:lvl9pPr>
              <a:buNone/>
              <a:defRPr sz="1950" b="1">
                <a:solidFill>
                  <a:srgbClr val="BD9FE3"/>
                </a:solidFill>
                <a:latin typeface="Helvetica Neue"/>
                <a:ea typeface="Helvetica Neue"/>
                <a:cs typeface="Helvetica Neue"/>
              </a:defRPr>
            </a:lvl9pPr>
          </a:lstStyle>
          <a:p xmlns:a="http://schemas.openxmlformats.org/drawingml/2006/main">
            <a:pPr>
              <a:buNone/>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Документ и токен</a:t>
            </a:r>
          </a:p>
        </p:txBody>
      </p:sp>
      <p:sp>
        <p:nvSpPr>
          <p:cNvPr id="13" name="theory-5">
            <a:extLst xmlns:a="http://schemas.openxmlformats.org/drawingml/2006/main">
              <a:ext uri="{FF2B5EF4-FFF2-40B4-BE49-F238E27FC236}">
                <a16:creationId xmlns:a16="http://schemas.microsoft.com/office/drawing/2014/main" id="{E9FBEF5C-AFC9-49E7-B4DD-1E3B4FC7100C}"/>
              </a:ext>
            </a:extLst>
          </p:cNvPr>
          <p:cNvSpPr>
            <a:spLocks xmlns:a="http://schemas.openxmlformats.org/drawingml/2006/main" noGrp="1"/>
          </p:cNvSpPr>
          <p:nvPr/>
        </p:nvSpPr>
        <p:spPr>
          <a:xfrm xmlns:a="http://schemas.openxmlformats.org/drawingml/2006/main">
            <a:off x="685800" y="2514600"/>
            <a:ext cx="108204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buNone/>
              <a:defRPr sz="2025" b="0">
                <a:solidFill>
                  <a:srgbClr val="CDCDD3"/>
                </a:solidFill>
                <a:latin typeface="Helvetica Neue"/>
                <a:ea typeface="Helvetica Neue"/>
                <a:cs typeface="Helvetica Neue"/>
              </a:defRPr>
            </a:lvl1pPr>
            <a:lvl2pPr>
              <a:buNone/>
              <a:defRPr sz="2025" b="0">
                <a:solidFill>
                  <a:srgbClr val="CDCDD3"/>
                </a:solidFill>
                <a:latin typeface="Helvetica Neue"/>
                <a:ea typeface="Helvetica Neue"/>
                <a:cs typeface="Helvetica Neue"/>
              </a:defRPr>
            </a:lvl2pPr>
            <a:lvl3pPr>
              <a:buNone/>
              <a:defRPr sz="2025" b="0">
                <a:solidFill>
                  <a:srgbClr val="CDCDD3"/>
                </a:solidFill>
                <a:latin typeface="Helvetica Neue"/>
                <a:ea typeface="Helvetica Neue"/>
                <a:cs typeface="Helvetica Neue"/>
              </a:defRPr>
            </a:lvl3pPr>
            <a:lvl4pPr>
              <a:buNone/>
              <a:defRPr sz="2025" b="0">
                <a:solidFill>
                  <a:srgbClr val="CDCDD3"/>
                </a:solidFill>
                <a:latin typeface="Helvetica Neue"/>
                <a:ea typeface="Helvetica Neue"/>
                <a:cs typeface="Helvetica Neue"/>
              </a:defRPr>
            </a:lvl4pPr>
            <a:lvl5pPr>
              <a:buNone/>
              <a:defRPr sz="2025" b="0">
                <a:solidFill>
                  <a:srgbClr val="CDCDD3"/>
                </a:solidFill>
                <a:latin typeface="Helvetica Neue"/>
                <a:ea typeface="Helvetica Neue"/>
                <a:cs typeface="Helvetica Neue"/>
              </a:defRPr>
            </a:lvl5pPr>
            <a:lvl6pPr>
              <a:buNone/>
              <a:defRPr sz="2025" b="0">
                <a:solidFill>
                  <a:srgbClr val="CDCDD3"/>
                </a:solidFill>
                <a:latin typeface="Helvetica Neue"/>
                <a:ea typeface="Helvetica Neue"/>
                <a:cs typeface="Helvetica Neue"/>
              </a:defRPr>
            </a:lvl6pPr>
            <a:lvl7pPr>
              <a:buNone/>
              <a:defRPr sz="2025" b="0">
                <a:solidFill>
                  <a:srgbClr val="CDCDD3"/>
                </a:solidFill>
                <a:latin typeface="Helvetica Neue"/>
                <a:ea typeface="Helvetica Neue"/>
                <a:cs typeface="Helvetica Neue"/>
              </a:defRPr>
            </a:lvl7pPr>
            <a:lvl8pPr>
              <a:buNone/>
              <a:defRPr sz="2025" b="0">
                <a:solidFill>
                  <a:srgbClr val="CDCDD3"/>
                </a:solidFill>
                <a:latin typeface="Helvetica Neue"/>
                <a:ea typeface="Helvetica Neue"/>
                <a:cs typeface="Helvetica Neue"/>
              </a:defRPr>
            </a:lvl8pPr>
            <a:lvl9pPr>
              <a:buNone/>
              <a:defRPr sz="2025" b="0">
                <a:solidFill>
                  <a:srgbClr val="CDCDD3"/>
                </a:solidFill>
                <a:latin typeface="Helvetica Neue"/>
                <a:ea typeface="Helvetica Neue"/>
                <a:cs typeface="Helvetica Neue"/>
              </a:defRPr>
            </a:lvl9pPr>
          </a:lstStyle>
          <a:p xmlns:a="http://schemas.openxmlformats.org/drawingml/2006/main">
            <a:pPr>
              <a:buNone/>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spaCy представляет обработанный текст объектом документа, который сохраняет исходное содержание и последовательность токенов. Каждый токен связан с позицией в тексте и доступными аннотациями: леммой, частью речи и другими признаками. Набор заполненных атрибутов зависит от компонентов, которые обработали документ, и возможностей загруженной модели.</a:t>
            </a:r>
          </a:p>
        </p:txBody>
      </p:sp>
      <p:sp>
        <p:nvSpPr>
          <p:cNvPr id="14" name="theory-6">
            <a:extLst xmlns:a="http://schemas.openxmlformats.org/drawingml/2006/main">
              <a:ext uri="{FF2B5EF4-FFF2-40B4-BE49-F238E27FC236}">
                <a16:creationId xmlns:a16="http://schemas.microsoft.com/office/drawing/2014/main" id="{734E27E5-A28E-4E27-A470-48A80043334F}"/>
              </a:ext>
            </a:extLst>
          </p:cNvPr>
          <p:cNvSpPr>
            <a:spLocks xmlns:a="http://schemas.openxmlformats.org/drawingml/2006/main" noGrp="1"/>
          </p:cNvSpPr>
          <p:nvPr/>
        </p:nvSpPr>
        <p:spPr>
          <a:xfrm xmlns:a="http://schemas.openxmlformats.org/drawingml/2006/main">
            <a:off x="685800" y="4229100"/>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buNone/>
              <a:defRPr sz="1950" b="1">
                <a:solidFill>
                  <a:srgbClr val="BD9FE3"/>
                </a:solidFill>
                <a:latin typeface="Helvetica Neue"/>
                <a:ea typeface="Helvetica Neue"/>
                <a:cs typeface="Helvetica Neue"/>
              </a:defRPr>
            </a:lvl1pPr>
            <a:lvl2pPr>
              <a:buNone/>
              <a:defRPr sz="1950" b="1">
                <a:solidFill>
                  <a:srgbClr val="BD9FE3"/>
                </a:solidFill>
                <a:latin typeface="Helvetica Neue"/>
                <a:ea typeface="Helvetica Neue"/>
                <a:cs typeface="Helvetica Neue"/>
              </a:defRPr>
            </a:lvl2pPr>
            <a:lvl3pPr>
              <a:buNone/>
              <a:defRPr sz="1950" b="1">
                <a:solidFill>
                  <a:srgbClr val="BD9FE3"/>
                </a:solidFill>
                <a:latin typeface="Helvetica Neue"/>
                <a:ea typeface="Helvetica Neue"/>
                <a:cs typeface="Helvetica Neue"/>
              </a:defRPr>
            </a:lvl3pPr>
            <a:lvl4pPr>
              <a:buNone/>
              <a:defRPr sz="1950" b="1">
                <a:solidFill>
                  <a:srgbClr val="BD9FE3"/>
                </a:solidFill>
                <a:latin typeface="Helvetica Neue"/>
                <a:ea typeface="Helvetica Neue"/>
                <a:cs typeface="Helvetica Neue"/>
              </a:defRPr>
            </a:lvl4pPr>
            <a:lvl5pPr>
              <a:buNone/>
              <a:defRPr sz="1950" b="1">
                <a:solidFill>
                  <a:srgbClr val="BD9FE3"/>
                </a:solidFill>
                <a:latin typeface="Helvetica Neue"/>
                <a:ea typeface="Helvetica Neue"/>
                <a:cs typeface="Helvetica Neue"/>
              </a:defRPr>
            </a:lvl5pPr>
            <a:lvl6pPr>
              <a:buNone/>
              <a:defRPr sz="1950" b="1">
                <a:solidFill>
                  <a:srgbClr val="BD9FE3"/>
                </a:solidFill>
                <a:latin typeface="Helvetica Neue"/>
                <a:ea typeface="Helvetica Neue"/>
                <a:cs typeface="Helvetica Neue"/>
              </a:defRPr>
            </a:lvl6pPr>
            <a:lvl7pPr>
              <a:buNone/>
              <a:defRPr sz="1950" b="1">
                <a:solidFill>
                  <a:srgbClr val="BD9FE3"/>
                </a:solidFill>
                <a:latin typeface="Helvetica Neue"/>
                <a:ea typeface="Helvetica Neue"/>
                <a:cs typeface="Helvetica Neue"/>
              </a:defRPr>
            </a:lvl7pPr>
            <a:lvl8pPr>
              <a:buNone/>
              <a:defRPr sz="1950" b="1">
                <a:solidFill>
                  <a:srgbClr val="BD9FE3"/>
                </a:solidFill>
                <a:latin typeface="Helvetica Neue"/>
                <a:ea typeface="Helvetica Neue"/>
                <a:cs typeface="Helvetica Neue"/>
              </a:defRPr>
            </a:lvl8pPr>
            <a:lvl9pPr>
              <a:buNone/>
              <a:defRPr sz="1950" b="1">
                <a:solidFill>
                  <a:srgbClr val="BD9FE3"/>
                </a:solidFill>
                <a:latin typeface="Helvetica Neue"/>
                <a:ea typeface="Helvetica Neue"/>
                <a:cs typeface="Helvetica Neue"/>
              </a:defRPr>
            </a:lvl9pPr>
          </a:lstStyle>
          <a:p xmlns:a="http://schemas.openxmlformats.org/drawingml/2006/main">
            <a:pPr>
              <a:buNone/>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Фрагменты текста</a:t>
            </a:r>
          </a:p>
        </p:txBody>
      </p:sp>
      <p:sp>
        <p:nvSpPr>
          <p:cNvPr id="15" name="theory-7">
            <a:extLst xmlns:a="http://schemas.openxmlformats.org/drawingml/2006/main">
              <a:ext uri="{FF2B5EF4-FFF2-40B4-BE49-F238E27FC236}">
                <a16:creationId xmlns:a16="http://schemas.microsoft.com/office/drawing/2014/main" id="{A65739B7-0DE1-47F7-96FA-A68F40DC0D94}"/>
              </a:ext>
            </a:extLst>
          </p:cNvPr>
          <p:cNvSpPr>
            <a:spLocks xmlns:a="http://schemas.openxmlformats.org/drawingml/2006/main" noGrp="1"/>
          </p:cNvSpPr>
          <p:nvPr/>
        </p:nvSpPr>
        <p:spPr>
          <a:xfrm xmlns:a="http://schemas.openxmlformats.org/drawingml/2006/main">
            <a:off x="685800" y="4695825"/>
            <a:ext cx="10820400" cy="1743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buNone/>
              <a:defRPr sz="2025" b="0">
                <a:solidFill>
                  <a:srgbClr val="CDCDD3"/>
                </a:solidFill>
                <a:latin typeface="Helvetica Neue"/>
                <a:ea typeface="Helvetica Neue"/>
                <a:cs typeface="Helvetica Neue"/>
              </a:defRPr>
            </a:lvl1pPr>
            <a:lvl2pPr>
              <a:buNone/>
              <a:defRPr sz="2025" b="0">
                <a:solidFill>
                  <a:srgbClr val="CDCDD3"/>
                </a:solidFill>
                <a:latin typeface="Helvetica Neue"/>
                <a:ea typeface="Helvetica Neue"/>
                <a:cs typeface="Helvetica Neue"/>
              </a:defRPr>
            </a:lvl2pPr>
            <a:lvl3pPr>
              <a:buNone/>
              <a:defRPr sz="2025" b="0">
                <a:solidFill>
                  <a:srgbClr val="CDCDD3"/>
                </a:solidFill>
                <a:latin typeface="Helvetica Neue"/>
                <a:ea typeface="Helvetica Neue"/>
                <a:cs typeface="Helvetica Neue"/>
              </a:defRPr>
            </a:lvl3pPr>
            <a:lvl4pPr>
              <a:buNone/>
              <a:defRPr sz="2025" b="0">
                <a:solidFill>
                  <a:srgbClr val="CDCDD3"/>
                </a:solidFill>
                <a:latin typeface="Helvetica Neue"/>
                <a:ea typeface="Helvetica Neue"/>
                <a:cs typeface="Helvetica Neue"/>
              </a:defRPr>
            </a:lvl4pPr>
            <a:lvl5pPr>
              <a:buNone/>
              <a:defRPr sz="2025" b="0">
                <a:solidFill>
                  <a:srgbClr val="CDCDD3"/>
                </a:solidFill>
                <a:latin typeface="Helvetica Neue"/>
                <a:ea typeface="Helvetica Neue"/>
                <a:cs typeface="Helvetica Neue"/>
              </a:defRPr>
            </a:lvl5pPr>
            <a:lvl6pPr>
              <a:buNone/>
              <a:defRPr sz="2025" b="0">
                <a:solidFill>
                  <a:srgbClr val="CDCDD3"/>
                </a:solidFill>
                <a:latin typeface="Helvetica Neue"/>
                <a:ea typeface="Helvetica Neue"/>
                <a:cs typeface="Helvetica Neue"/>
              </a:defRPr>
            </a:lvl6pPr>
            <a:lvl7pPr>
              <a:buNone/>
              <a:defRPr sz="2025" b="0">
                <a:solidFill>
                  <a:srgbClr val="CDCDD3"/>
                </a:solidFill>
                <a:latin typeface="Helvetica Neue"/>
                <a:ea typeface="Helvetica Neue"/>
                <a:cs typeface="Helvetica Neue"/>
              </a:defRPr>
            </a:lvl7pPr>
            <a:lvl8pPr>
              <a:buNone/>
              <a:defRPr sz="2025" b="0">
                <a:solidFill>
                  <a:srgbClr val="CDCDD3"/>
                </a:solidFill>
                <a:latin typeface="Helvetica Neue"/>
                <a:ea typeface="Helvetica Neue"/>
                <a:cs typeface="Helvetica Neue"/>
              </a:defRPr>
            </a:lvl8pPr>
            <a:lvl9pPr>
              <a:buNone/>
              <a:defRPr sz="2025" b="0">
                <a:solidFill>
                  <a:srgbClr val="CDCDD3"/>
                </a:solidFill>
                <a:latin typeface="Helvetica Neue"/>
                <a:ea typeface="Helvetica Neue"/>
                <a:cs typeface="Helvetica Neue"/>
              </a:defRPr>
            </a:lvl9pPr>
          </a:lstStyle>
          <a:p xmlns:a="http://schemas.openxmlformats.org/drawingml/2006/main">
            <a:pPr>
              <a:buNone/>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Фрагмент объединяет последовательные токены и позволяет описывать предложение, именованную сущность или иной выделенный участок. Такое представление связывает лингвистические аннотации с исходной записью. Для последующего анализа важно сохранять границы фрагментов и не путать предсказание компонента с достоверной ручной разметкой.</a:t>
            </a:r>
          </a:p>
        </p:txBody>
      </p:sp>
    </p:spTree>
    <p:extLst>
      <p:ext uri="{BB962C8B-B14F-4D97-AF65-F5344CB8AC3E}">
        <p14:creationId xmlns:p14="http://schemas.microsoft.com/office/powerpoint/2010/main" val="352836108"/>
      </p:ext>
    </p:extLst>
  </p:cSld>
</p:sld>
</file>

<file path=ppt/slides/slide8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1" name="expanded-0">
            <a:extLst xmlns:a="http://schemas.openxmlformats.org/drawingml/2006/main">
              <a:ext uri="{FF2B5EF4-FFF2-40B4-BE49-F238E27FC236}">
                <a16:creationId xmlns:a16="http://schemas.microsoft.com/office/drawing/2014/main" id="{05C3F9B3-6A96-406D-BE56-DF65C1684614}"/>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anded-1">
            <a:extLst xmlns:a="http://schemas.openxmlformats.org/drawingml/2006/main">
              <a:ext uri="{FF2B5EF4-FFF2-40B4-BE49-F238E27FC236}">
                <a16:creationId xmlns:a16="http://schemas.microsoft.com/office/drawing/2014/main" id="{94A57EA5-00DF-4905-837A-0ABD710AD8E2}"/>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82</a:t>
            </a:r>
          </a:p>
        </p:txBody>
      </p:sp>
      <p:sp>
        <p:nvSpPr>
          <p:cNvPr id="3" name="">
            <a:extLst xmlns:a="http://schemas.openxmlformats.org/drawingml/2006/main">
              <a:ext uri="{FF2B5EF4-FFF2-40B4-BE49-F238E27FC236}">
                <a16:creationId xmlns:a16="http://schemas.microsoft.com/office/drawing/2014/main" id="{2A502460-7DAF-45E2-BE06-5B98AC22FA61}"/>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ln>
        </p:spPr>
      </p:sp>
      <p:sp>
        <p:nvSpPr>
          <p:cNvPr id="4" name="expanded-3">
            <a:extLst xmlns:a="http://schemas.openxmlformats.org/drawingml/2006/main">
              <a:ext uri="{FF2B5EF4-FFF2-40B4-BE49-F238E27FC236}">
                <a16:creationId xmlns:a16="http://schemas.microsoft.com/office/drawing/2014/main" id="{E528DA3F-709F-4B58-BD94-8D3B84DF499A}"/>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spaCy pipeline</a:t>
            </a:r>
          </a:p>
        </p:txBody>
      </p:sp>
      <p:pic>
        <p:nvPicPr>
          <p:cNvPr id="12" name="">
            <a:extLst xmlns:a="http://schemas.openxmlformats.org/drawingml/2006/main">
              <a:ext uri="{FF2B5EF4-FFF2-40B4-BE49-F238E27FC236}">
                <a16:creationId xmlns:a16="http://schemas.microsoft.com/office/drawing/2014/main" id="{93CB4E7D-C1F4-42D2-B36A-B75674F2C33C}"/>
              </a:ext>
            </a:extLst>
          </p:cNvPr>
          <p:cNvPicPr>
            <a:picLocks xmlns:a="http://schemas.openxmlformats.org/drawingml/2006/main" noChangeAspect="1"/>
          </p:cNvPicPr>
          <p:nvPr/>
        </p:nvPicPr>
        <p:blipFill>
          <a:blip xmlns:r="http://schemas.openxmlformats.org/officeDocument/2006/relationships" xmlns:a="http://schemas.openxmlformats.org/drawingml/2006/main" r:embed="R3c45ed4d7ac447f4"/>
          <a:srcRect xmlns:a="http://schemas.openxmlformats.org/drawingml/2006/main" l="0" t="0" r="0" b="0"/>
          <a:stretch xmlns:a="http://schemas.openxmlformats.org/drawingml/2006/main">
            <a:fillRect l="0" t="0" r="0" b="0"/>
          </a:stretch>
        </p:blipFill>
        <p:spPr>
          <a:xfrm xmlns:a="http://schemas.openxmlformats.org/drawingml/2006/main">
            <a:off x="685800" y="2022695"/>
            <a:ext cx="10820400" cy="2069660"/>
          </a:xfrm>
          <a:prstGeom xmlns:a="http://schemas.openxmlformats.org/drawingml/2006/main" prst="rect">
            <a:avLst/>
          </a:prstGeom>
        </p:spPr>
      </p:pic>
      <p:sp>
        <p:nvSpPr>
          <p:cNvPr id="13" name="theory-4">
            <a:extLst xmlns:a="http://schemas.openxmlformats.org/drawingml/2006/main">
              <a:ext uri="{FF2B5EF4-FFF2-40B4-BE49-F238E27FC236}">
                <a16:creationId xmlns:a16="http://schemas.microsoft.com/office/drawing/2014/main" id="{34B1FF64-5731-45D7-AE7D-3A43E0814C57}"/>
              </a:ext>
            </a:extLst>
          </p:cNvPr>
          <p:cNvSpPr>
            <a:spLocks xmlns:a="http://schemas.openxmlformats.org/drawingml/2006/main" noGrp="1"/>
          </p:cNvSpPr>
          <p:nvPr/>
        </p:nvSpPr>
        <p:spPr>
          <a:xfrm xmlns:a="http://schemas.openxmlformats.org/drawingml/2006/main">
            <a:off x="685800" y="423862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Состав компонентов зависит от выбранной языковой модели.</a:t>
            </a:r>
          </a:p>
        </p:txBody>
      </p:sp>
      <p:sp>
        <p:nvSpPr>
          <p:cNvPr id="14" name="theory-5">
            <a:extLst xmlns:a="http://schemas.openxmlformats.org/drawingml/2006/main">
              <a:ext uri="{FF2B5EF4-FFF2-40B4-BE49-F238E27FC236}">
                <a16:creationId xmlns:a16="http://schemas.microsoft.com/office/drawing/2014/main" id="{AA1039B9-8F0D-4B78-A69D-142DB623D6D4}"/>
              </a:ext>
            </a:extLst>
          </p:cNvPr>
          <p:cNvSpPr>
            <a:spLocks xmlns:a="http://schemas.openxmlformats.org/drawingml/2006/main" noGrp="1"/>
          </p:cNvSpPr>
          <p:nvPr/>
        </p:nvSpPr>
        <p:spPr>
          <a:xfrm xmlns:a="http://schemas.openxmlformats.org/drawingml/2006/main">
            <a:off x="685800" y="4714875"/>
            <a:ext cx="108204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13" b="0">
                <a:solidFill>
                  <a:srgbClr val="CDCDD3"/>
                </a:solidFill>
                <a:latin typeface="Helvetica Neue"/>
                <a:ea typeface="Helvetica Neue"/>
                <a:cs typeface="Helvetica Neue"/>
              </a:defRPr>
            </a:defPPr>
            <a:lvl1pPr>
              <a:buNone/>
              <a:defRPr sz="1913" b="0">
                <a:solidFill>
                  <a:srgbClr val="CDCDD3"/>
                </a:solidFill>
                <a:latin typeface="Helvetica Neue"/>
                <a:ea typeface="Helvetica Neue"/>
                <a:cs typeface="Helvetica Neue"/>
              </a:defRPr>
            </a:lvl1pPr>
            <a:lvl2pPr>
              <a:buNone/>
              <a:defRPr sz="1913" b="0">
                <a:solidFill>
                  <a:srgbClr val="CDCDD3"/>
                </a:solidFill>
                <a:latin typeface="Helvetica Neue"/>
                <a:ea typeface="Helvetica Neue"/>
                <a:cs typeface="Helvetica Neue"/>
              </a:defRPr>
            </a:lvl2pPr>
            <a:lvl3pPr>
              <a:buNone/>
              <a:defRPr sz="1913" b="0">
                <a:solidFill>
                  <a:srgbClr val="CDCDD3"/>
                </a:solidFill>
                <a:latin typeface="Helvetica Neue"/>
                <a:ea typeface="Helvetica Neue"/>
                <a:cs typeface="Helvetica Neue"/>
              </a:defRPr>
            </a:lvl3pPr>
            <a:lvl4pPr>
              <a:buNone/>
              <a:defRPr sz="1913" b="0">
                <a:solidFill>
                  <a:srgbClr val="CDCDD3"/>
                </a:solidFill>
                <a:latin typeface="Helvetica Neue"/>
                <a:ea typeface="Helvetica Neue"/>
                <a:cs typeface="Helvetica Neue"/>
              </a:defRPr>
            </a:lvl4pPr>
            <a:lvl5pPr>
              <a:buNone/>
              <a:defRPr sz="1913" b="0">
                <a:solidFill>
                  <a:srgbClr val="CDCDD3"/>
                </a:solidFill>
                <a:latin typeface="Helvetica Neue"/>
                <a:ea typeface="Helvetica Neue"/>
                <a:cs typeface="Helvetica Neue"/>
              </a:defRPr>
            </a:lvl5pPr>
            <a:lvl6pPr>
              <a:buNone/>
              <a:defRPr sz="1913" b="0">
                <a:solidFill>
                  <a:srgbClr val="CDCDD3"/>
                </a:solidFill>
                <a:latin typeface="Helvetica Neue"/>
                <a:ea typeface="Helvetica Neue"/>
                <a:cs typeface="Helvetica Neue"/>
              </a:defRPr>
            </a:lvl6pPr>
            <a:lvl7pPr>
              <a:buNone/>
              <a:defRPr sz="1913" b="0">
                <a:solidFill>
                  <a:srgbClr val="CDCDD3"/>
                </a:solidFill>
                <a:latin typeface="Helvetica Neue"/>
                <a:ea typeface="Helvetica Neue"/>
                <a:cs typeface="Helvetica Neue"/>
              </a:defRPr>
            </a:lvl7pPr>
            <a:lvl8pPr>
              <a:buNone/>
              <a:defRPr sz="1913" b="0">
                <a:solidFill>
                  <a:srgbClr val="CDCDD3"/>
                </a:solidFill>
                <a:latin typeface="Helvetica Neue"/>
                <a:ea typeface="Helvetica Neue"/>
                <a:cs typeface="Helvetica Neue"/>
              </a:defRPr>
            </a:lvl8pPr>
            <a:lvl9pPr>
              <a:buNone/>
              <a:defRPr sz="1913" b="0">
                <a:solidFill>
                  <a:srgbClr val="CDCDD3"/>
                </a:solidFill>
                <a:latin typeface="Helvetica Neue"/>
                <a:ea typeface="Helvetica Neue"/>
                <a:cs typeface="Helvetica Neue"/>
              </a:defRPr>
            </a:lvl9pPr>
          </a:lstStyle>
          <a:p xmlns:a="http://schemas.openxmlformats.org/drawingml/2006/main">
            <a:pPr>
              <a:buNone/>
              <a:defRPr sz="1913" b="0">
                <a:solidFill>
                  <a:srgbClr val="CDCDD3"/>
                </a:solidFill>
                <a:latin typeface="Helvetica Neue"/>
                <a:ea typeface="Helvetica Neue"/>
                <a:cs typeface="Helvetica Neue"/>
              </a:defRPr>
            </a:pPr>
            <a:r>
              <a:rPr sz="1913" b="0">
                <a:solidFill>
                  <a:srgbClr val="CDCDD3"/>
                </a:solidFill>
                <a:latin typeface="Helvetica Neue"/>
                <a:ea typeface="Helvetica Neue"/>
                <a:cs typeface="Helvetica Neue"/>
              </a:rPr>
              <a:t>Tokenizer выделяет элементы текста. Последующие компоненты добавляют части речи, синтаксические связи, сущности и другие аннотации к документу. Схема показывает типовой принцип, а конкретный состав зависит от модели. Некоторые этапы используют результаты предыдущих. Поэтому отключение компонента требует проверки оставшихся аннотаций и качества конечной задачи.</a:t>
            </a:r>
          </a:p>
        </p:txBody>
      </p:sp>
      <p:sp>
        <p:nvSpPr>
          <p:cNvPr id="15" name="theory-6">
            <a:extLst xmlns:a="http://schemas.openxmlformats.org/drawingml/2006/main">
              <a:ext uri="{FF2B5EF4-FFF2-40B4-BE49-F238E27FC236}">
                <a16:creationId xmlns:a16="http://schemas.microsoft.com/office/drawing/2014/main" id="{F4BB1F10-4650-42E8-A993-7E2246F31E3D}"/>
              </a:ext>
            </a:extLst>
          </p:cNvPr>
          <p:cNvSpPr>
            <a:spLocks xmlns:a="http://schemas.openxmlformats.org/drawingml/2006/main" noGrp="1"/>
          </p:cNvSpPr>
          <p:nvPr/>
        </p:nvSpPr>
        <p:spPr>
          <a:xfrm xmlns:a="http://schemas.openxmlformats.org/drawingml/2006/main">
            <a:off x="685800" y="6572250"/>
            <a:ext cx="108204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38" b="0">
                <a:solidFill>
                  <a:srgbClr val="98989F"/>
                </a:solidFill>
                <a:latin typeface="Helvetica Neue"/>
                <a:ea typeface="Helvetica Neue"/>
                <a:cs typeface="Helvetica Neue"/>
              </a:defRPr>
            </a:defPPr>
            <a:lvl1pPr>
              <a:buNone/>
              <a:defRPr sz="1238" b="0">
                <a:solidFill>
                  <a:srgbClr val="98989F"/>
                </a:solidFill>
                <a:latin typeface="Helvetica Neue"/>
                <a:ea typeface="Helvetica Neue"/>
                <a:cs typeface="Helvetica Neue"/>
              </a:defRPr>
            </a:lvl1pPr>
            <a:lvl2pPr>
              <a:buNone/>
              <a:defRPr sz="1238" b="0">
                <a:solidFill>
                  <a:srgbClr val="98989F"/>
                </a:solidFill>
                <a:latin typeface="Helvetica Neue"/>
                <a:ea typeface="Helvetica Neue"/>
                <a:cs typeface="Helvetica Neue"/>
              </a:defRPr>
            </a:lvl2pPr>
            <a:lvl3pPr>
              <a:buNone/>
              <a:defRPr sz="1238" b="0">
                <a:solidFill>
                  <a:srgbClr val="98989F"/>
                </a:solidFill>
                <a:latin typeface="Helvetica Neue"/>
                <a:ea typeface="Helvetica Neue"/>
                <a:cs typeface="Helvetica Neue"/>
              </a:defRPr>
            </a:lvl3pPr>
            <a:lvl4pPr>
              <a:buNone/>
              <a:defRPr sz="1238" b="0">
                <a:solidFill>
                  <a:srgbClr val="98989F"/>
                </a:solidFill>
                <a:latin typeface="Helvetica Neue"/>
                <a:ea typeface="Helvetica Neue"/>
                <a:cs typeface="Helvetica Neue"/>
              </a:defRPr>
            </a:lvl4pPr>
            <a:lvl5pPr>
              <a:buNone/>
              <a:defRPr sz="1238" b="0">
                <a:solidFill>
                  <a:srgbClr val="98989F"/>
                </a:solidFill>
                <a:latin typeface="Helvetica Neue"/>
                <a:ea typeface="Helvetica Neue"/>
                <a:cs typeface="Helvetica Neue"/>
              </a:defRPr>
            </a:lvl5pPr>
            <a:lvl6pPr>
              <a:buNone/>
              <a:defRPr sz="1238" b="0">
                <a:solidFill>
                  <a:srgbClr val="98989F"/>
                </a:solidFill>
                <a:latin typeface="Helvetica Neue"/>
                <a:ea typeface="Helvetica Neue"/>
                <a:cs typeface="Helvetica Neue"/>
              </a:defRPr>
            </a:lvl6pPr>
            <a:lvl7pPr>
              <a:buNone/>
              <a:defRPr sz="1238" b="0">
                <a:solidFill>
                  <a:srgbClr val="98989F"/>
                </a:solidFill>
                <a:latin typeface="Helvetica Neue"/>
                <a:ea typeface="Helvetica Neue"/>
                <a:cs typeface="Helvetica Neue"/>
              </a:defRPr>
            </a:lvl7pPr>
            <a:lvl8pPr>
              <a:buNone/>
              <a:defRPr sz="1238" b="0">
                <a:solidFill>
                  <a:srgbClr val="98989F"/>
                </a:solidFill>
                <a:latin typeface="Helvetica Neue"/>
                <a:ea typeface="Helvetica Neue"/>
                <a:cs typeface="Helvetica Neue"/>
              </a:defRPr>
            </a:lvl8pPr>
            <a:lvl9pPr>
              <a:buNone/>
              <a:defRPr sz="1238" b="0">
                <a:solidFill>
                  <a:srgbClr val="98989F"/>
                </a:solidFill>
                <a:latin typeface="Helvetica Neue"/>
                <a:ea typeface="Helvetica Neue"/>
                <a:cs typeface="Helvetica Neue"/>
              </a:defRPr>
            </a:lvl9pPr>
          </a:lstStyle>
          <a:p xmlns:a="http://schemas.openxmlformats.org/drawingml/2006/main">
            <a:pPr>
              <a:buNone/>
              <a:defRPr sz="1238" b="0">
                <a:solidFill>
                  <a:srgbClr val="98989F"/>
                </a:solidFill>
                <a:latin typeface="Helvetica Neue"/>
                <a:ea typeface="Helvetica Neue"/>
                <a:cs typeface="Helvetica Neue"/>
              </a:defRPr>
            </a:pPr>
            <a:r>
              <a:rPr sz="1238" b="0">
                <a:solidFill>
                  <a:srgbClr val="98989F"/>
                </a:solidFill>
                <a:latin typeface="Helvetica Neue"/>
                <a:ea typeface="Helvetica Neue"/>
                <a:cs typeface="Helvetica Neue"/>
                <a:hlinkClick xmlns:r="http://schemas.openxmlformats.org/officeDocument/2006/relationships" r:id="R6cc214cce08047a1"/>
              </a:rPr>
              <a:t>Источник: Документация spaCy</a:t>
            </a:r>
          </a:p>
        </p:txBody>
      </p:sp>
    </p:spTree>
    <p:extLst>
      <p:ext uri="{BB962C8B-B14F-4D97-AF65-F5344CB8AC3E}">
        <p14:creationId xmlns:p14="http://schemas.microsoft.com/office/powerpoint/2010/main" val="20690958"/>
      </p:ext>
    </p:extLst>
  </p:cSld>
</p:sld>
</file>

<file path=ppt/slides/slide8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1" name="expanded-0">
            <a:extLst xmlns:a="http://schemas.openxmlformats.org/drawingml/2006/main">
              <a:ext uri="{FF2B5EF4-FFF2-40B4-BE49-F238E27FC236}">
                <a16:creationId xmlns:a16="http://schemas.microsoft.com/office/drawing/2014/main" id="{B095C10D-7EC4-4818-B069-2AA2F3ECED81}"/>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anded-1">
            <a:extLst xmlns:a="http://schemas.openxmlformats.org/drawingml/2006/main">
              <a:ext uri="{FF2B5EF4-FFF2-40B4-BE49-F238E27FC236}">
                <a16:creationId xmlns:a16="http://schemas.microsoft.com/office/drawing/2014/main" id="{97CCC94A-6DC2-4FFB-8F25-18908A8DBBEF}"/>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83</a:t>
            </a:r>
          </a:p>
        </p:txBody>
      </p:sp>
      <p:sp>
        <p:nvSpPr>
          <p:cNvPr id="3" name="">
            <a:extLst xmlns:a="http://schemas.openxmlformats.org/drawingml/2006/main">
              <a:ext uri="{FF2B5EF4-FFF2-40B4-BE49-F238E27FC236}">
                <a16:creationId xmlns:a16="http://schemas.microsoft.com/office/drawing/2014/main" id="{B5B02172-E64A-4002-81BF-E6A8DCC66E6B}"/>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ln>
        </p:spPr>
      </p:sp>
      <p:sp>
        <p:nvSpPr>
          <p:cNvPr id="4" name="expanded-3">
            <a:extLst xmlns:a="http://schemas.openxmlformats.org/drawingml/2006/main">
              <a:ext uri="{FF2B5EF4-FFF2-40B4-BE49-F238E27FC236}">
                <a16:creationId xmlns:a16="http://schemas.microsoft.com/office/drawing/2014/main" id="{428B55B7-4797-4D9B-9C73-663AE810D259}"/>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spaCy: language data и trained pipelines</a:t>
            </a:r>
          </a:p>
        </p:txBody>
      </p:sp>
      <p:sp>
        <p:nvSpPr>
          <p:cNvPr id="32" name="theory-4">
            <a:extLst xmlns:a="http://schemas.openxmlformats.org/drawingml/2006/main">
              <a:ext uri="{FF2B5EF4-FFF2-40B4-BE49-F238E27FC236}">
                <a16:creationId xmlns:a16="http://schemas.microsoft.com/office/drawing/2014/main" id="{62D56026-A7D5-4118-89B5-3116872DBC56}"/>
              </a:ext>
            </a:extLst>
          </p:cNvPr>
          <p:cNvSpPr>
            <a:spLocks xmlns:a="http://schemas.openxmlformats.org/drawingml/2006/main" noGrp="1"/>
          </p:cNvSpPr>
          <p:nvPr/>
        </p:nvSpPr>
        <p:spPr>
          <a:xfrm xmlns:a="http://schemas.openxmlformats.org/drawingml/2006/main">
            <a:off x="685800" y="20478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buNone/>
              <a:defRPr sz="1950" b="1">
                <a:solidFill>
                  <a:srgbClr val="BD9FE3"/>
                </a:solidFill>
                <a:latin typeface="Helvetica Neue"/>
                <a:ea typeface="Helvetica Neue"/>
                <a:cs typeface="Helvetica Neue"/>
              </a:defRPr>
            </a:lvl1pPr>
            <a:lvl2pPr>
              <a:buNone/>
              <a:defRPr sz="1950" b="1">
                <a:solidFill>
                  <a:srgbClr val="BD9FE3"/>
                </a:solidFill>
                <a:latin typeface="Helvetica Neue"/>
                <a:ea typeface="Helvetica Neue"/>
                <a:cs typeface="Helvetica Neue"/>
              </a:defRPr>
            </a:lvl2pPr>
            <a:lvl3pPr>
              <a:buNone/>
              <a:defRPr sz="1950" b="1">
                <a:solidFill>
                  <a:srgbClr val="BD9FE3"/>
                </a:solidFill>
                <a:latin typeface="Helvetica Neue"/>
                <a:ea typeface="Helvetica Neue"/>
                <a:cs typeface="Helvetica Neue"/>
              </a:defRPr>
            </a:lvl3pPr>
            <a:lvl4pPr>
              <a:buNone/>
              <a:defRPr sz="1950" b="1">
                <a:solidFill>
                  <a:srgbClr val="BD9FE3"/>
                </a:solidFill>
                <a:latin typeface="Helvetica Neue"/>
                <a:ea typeface="Helvetica Neue"/>
                <a:cs typeface="Helvetica Neue"/>
              </a:defRPr>
            </a:lvl4pPr>
            <a:lvl5pPr>
              <a:buNone/>
              <a:defRPr sz="1950" b="1">
                <a:solidFill>
                  <a:srgbClr val="BD9FE3"/>
                </a:solidFill>
                <a:latin typeface="Helvetica Neue"/>
                <a:ea typeface="Helvetica Neue"/>
                <a:cs typeface="Helvetica Neue"/>
              </a:defRPr>
            </a:lvl5pPr>
            <a:lvl6pPr>
              <a:buNone/>
              <a:defRPr sz="1950" b="1">
                <a:solidFill>
                  <a:srgbClr val="BD9FE3"/>
                </a:solidFill>
                <a:latin typeface="Helvetica Neue"/>
                <a:ea typeface="Helvetica Neue"/>
                <a:cs typeface="Helvetica Neue"/>
              </a:defRPr>
            </a:lvl6pPr>
            <a:lvl7pPr>
              <a:buNone/>
              <a:defRPr sz="1950" b="1">
                <a:solidFill>
                  <a:srgbClr val="BD9FE3"/>
                </a:solidFill>
                <a:latin typeface="Helvetica Neue"/>
                <a:ea typeface="Helvetica Neue"/>
                <a:cs typeface="Helvetica Neue"/>
              </a:defRPr>
            </a:lvl7pPr>
            <a:lvl8pPr>
              <a:buNone/>
              <a:defRPr sz="1950" b="1">
                <a:solidFill>
                  <a:srgbClr val="BD9FE3"/>
                </a:solidFill>
                <a:latin typeface="Helvetica Neue"/>
                <a:ea typeface="Helvetica Neue"/>
                <a:cs typeface="Helvetica Neue"/>
              </a:defRPr>
            </a:lvl8pPr>
            <a:lvl9pPr>
              <a:buNone/>
              <a:defRPr sz="1950" b="1">
                <a:solidFill>
                  <a:srgbClr val="BD9FE3"/>
                </a:solidFill>
                <a:latin typeface="Helvetica Neue"/>
                <a:ea typeface="Helvetica Neue"/>
                <a:cs typeface="Helvetica Neue"/>
              </a:defRPr>
            </a:lvl9pPr>
          </a:lstStyle>
          <a:p xmlns:a="http://schemas.openxmlformats.org/drawingml/2006/main">
            <a:pPr>
              <a:buNone/>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Базовая конфигурация языка</a:t>
            </a:r>
          </a:p>
        </p:txBody>
      </p:sp>
      <p:sp>
        <p:nvSpPr>
          <p:cNvPr id="33" name="theory-5">
            <a:extLst xmlns:a="http://schemas.openxmlformats.org/drawingml/2006/main">
              <a:ext uri="{FF2B5EF4-FFF2-40B4-BE49-F238E27FC236}">
                <a16:creationId xmlns:a16="http://schemas.microsoft.com/office/drawing/2014/main" id="{DC3D0B32-4F77-4712-AB5E-FB540BDAB986}"/>
              </a:ext>
            </a:extLst>
          </p:cNvPr>
          <p:cNvSpPr>
            <a:spLocks xmlns:a="http://schemas.openxmlformats.org/drawingml/2006/main" noGrp="1"/>
          </p:cNvSpPr>
          <p:nvPr/>
        </p:nvSpPr>
        <p:spPr>
          <a:xfrm xmlns:a="http://schemas.openxmlformats.org/drawingml/2006/main">
            <a:off x="685800" y="2514600"/>
            <a:ext cx="108204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buNone/>
              <a:defRPr sz="2025" b="0">
                <a:solidFill>
                  <a:srgbClr val="CDCDD3"/>
                </a:solidFill>
                <a:latin typeface="Helvetica Neue"/>
                <a:ea typeface="Helvetica Neue"/>
                <a:cs typeface="Helvetica Neue"/>
              </a:defRPr>
            </a:lvl1pPr>
            <a:lvl2pPr>
              <a:buNone/>
              <a:defRPr sz="2025" b="0">
                <a:solidFill>
                  <a:srgbClr val="CDCDD3"/>
                </a:solidFill>
                <a:latin typeface="Helvetica Neue"/>
                <a:ea typeface="Helvetica Neue"/>
                <a:cs typeface="Helvetica Neue"/>
              </a:defRPr>
            </a:lvl2pPr>
            <a:lvl3pPr>
              <a:buNone/>
              <a:defRPr sz="2025" b="0">
                <a:solidFill>
                  <a:srgbClr val="CDCDD3"/>
                </a:solidFill>
                <a:latin typeface="Helvetica Neue"/>
                <a:ea typeface="Helvetica Neue"/>
                <a:cs typeface="Helvetica Neue"/>
              </a:defRPr>
            </a:lvl3pPr>
            <a:lvl4pPr>
              <a:buNone/>
              <a:defRPr sz="2025" b="0">
                <a:solidFill>
                  <a:srgbClr val="CDCDD3"/>
                </a:solidFill>
                <a:latin typeface="Helvetica Neue"/>
                <a:ea typeface="Helvetica Neue"/>
                <a:cs typeface="Helvetica Neue"/>
              </a:defRPr>
            </a:lvl4pPr>
            <a:lvl5pPr>
              <a:buNone/>
              <a:defRPr sz="2025" b="0">
                <a:solidFill>
                  <a:srgbClr val="CDCDD3"/>
                </a:solidFill>
                <a:latin typeface="Helvetica Neue"/>
                <a:ea typeface="Helvetica Neue"/>
                <a:cs typeface="Helvetica Neue"/>
              </a:defRPr>
            </a:lvl5pPr>
            <a:lvl6pPr>
              <a:buNone/>
              <a:defRPr sz="2025" b="0">
                <a:solidFill>
                  <a:srgbClr val="CDCDD3"/>
                </a:solidFill>
                <a:latin typeface="Helvetica Neue"/>
                <a:ea typeface="Helvetica Neue"/>
                <a:cs typeface="Helvetica Neue"/>
              </a:defRPr>
            </a:lvl6pPr>
            <a:lvl7pPr>
              <a:buNone/>
              <a:defRPr sz="2025" b="0">
                <a:solidFill>
                  <a:srgbClr val="CDCDD3"/>
                </a:solidFill>
                <a:latin typeface="Helvetica Neue"/>
                <a:ea typeface="Helvetica Neue"/>
                <a:cs typeface="Helvetica Neue"/>
              </a:defRPr>
            </a:lvl7pPr>
            <a:lvl8pPr>
              <a:buNone/>
              <a:defRPr sz="2025" b="0">
                <a:solidFill>
                  <a:srgbClr val="CDCDD3"/>
                </a:solidFill>
                <a:latin typeface="Helvetica Neue"/>
                <a:ea typeface="Helvetica Neue"/>
                <a:cs typeface="Helvetica Neue"/>
              </a:defRPr>
            </a:lvl8pPr>
            <a:lvl9pPr>
              <a:buNone/>
              <a:defRPr sz="2025" b="0">
                <a:solidFill>
                  <a:srgbClr val="CDCDD3"/>
                </a:solidFill>
                <a:latin typeface="Helvetica Neue"/>
                <a:ea typeface="Helvetica Neue"/>
                <a:cs typeface="Helvetica Neue"/>
              </a:defRPr>
            </a:lvl9pPr>
          </a:lstStyle>
          <a:p xmlns:a="http://schemas.openxmlformats.org/drawingml/2006/main">
            <a:pPr>
              <a:buNone/>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Языковой объект может содержать tokenizer, правила и общие настройки без обученных компонентов анализа. Это позволяет разделить техническое выделение элементов и предсказание лингвистических характеристик. Наличие поддержки языка в библиотеке само по себе не означает, что система уже умеет определять части речи, сущности и леммы с заданным качеством.</a:t>
            </a:r>
          </a:p>
        </p:txBody>
      </p:sp>
      <p:sp>
        <p:nvSpPr>
          <p:cNvPr id="34" name="theory-6">
            <a:extLst xmlns:a="http://schemas.openxmlformats.org/drawingml/2006/main">
              <a:ext uri="{FF2B5EF4-FFF2-40B4-BE49-F238E27FC236}">
                <a16:creationId xmlns:a16="http://schemas.microsoft.com/office/drawing/2014/main" id="{22E430EA-48AC-4256-90E7-08F7202F5601}"/>
              </a:ext>
            </a:extLst>
          </p:cNvPr>
          <p:cNvSpPr>
            <a:spLocks xmlns:a="http://schemas.openxmlformats.org/drawingml/2006/main" noGrp="1"/>
          </p:cNvSpPr>
          <p:nvPr/>
        </p:nvSpPr>
        <p:spPr>
          <a:xfrm xmlns:a="http://schemas.openxmlformats.org/drawingml/2006/main">
            <a:off x="685800" y="4229100"/>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buNone/>
              <a:defRPr sz="1950" b="1">
                <a:solidFill>
                  <a:srgbClr val="BD9FE3"/>
                </a:solidFill>
                <a:latin typeface="Helvetica Neue"/>
                <a:ea typeface="Helvetica Neue"/>
                <a:cs typeface="Helvetica Neue"/>
              </a:defRPr>
            </a:lvl1pPr>
            <a:lvl2pPr>
              <a:buNone/>
              <a:defRPr sz="1950" b="1">
                <a:solidFill>
                  <a:srgbClr val="BD9FE3"/>
                </a:solidFill>
                <a:latin typeface="Helvetica Neue"/>
                <a:ea typeface="Helvetica Neue"/>
                <a:cs typeface="Helvetica Neue"/>
              </a:defRPr>
            </a:lvl2pPr>
            <a:lvl3pPr>
              <a:buNone/>
              <a:defRPr sz="1950" b="1">
                <a:solidFill>
                  <a:srgbClr val="BD9FE3"/>
                </a:solidFill>
                <a:latin typeface="Helvetica Neue"/>
                <a:ea typeface="Helvetica Neue"/>
                <a:cs typeface="Helvetica Neue"/>
              </a:defRPr>
            </a:lvl3pPr>
            <a:lvl4pPr>
              <a:buNone/>
              <a:defRPr sz="1950" b="1">
                <a:solidFill>
                  <a:srgbClr val="BD9FE3"/>
                </a:solidFill>
                <a:latin typeface="Helvetica Neue"/>
                <a:ea typeface="Helvetica Neue"/>
                <a:cs typeface="Helvetica Neue"/>
              </a:defRPr>
            </a:lvl4pPr>
            <a:lvl5pPr>
              <a:buNone/>
              <a:defRPr sz="1950" b="1">
                <a:solidFill>
                  <a:srgbClr val="BD9FE3"/>
                </a:solidFill>
                <a:latin typeface="Helvetica Neue"/>
                <a:ea typeface="Helvetica Neue"/>
                <a:cs typeface="Helvetica Neue"/>
              </a:defRPr>
            </a:lvl5pPr>
            <a:lvl6pPr>
              <a:buNone/>
              <a:defRPr sz="1950" b="1">
                <a:solidFill>
                  <a:srgbClr val="BD9FE3"/>
                </a:solidFill>
                <a:latin typeface="Helvetica Neue"/>
                <a:ea typeface="Helvetica Neue"/>
                <a:cs typeface="Helvetica Neue"/>
              </a:defRPr>
            </a:lvl6pPr>
            <a:lvl7pPr>
              <a:buNone/>
              <a:defRPr sz="1950" b="1">
                <a:solidFill>
                  <a:srgbClr val="BD9FE3"/>
                </a:solidFill>
                <a:latin typeface="Helvetica Neue"/>
                <a:ea typeface="Helvetica Neue"/>
                <a:cs typeface="Helvetica Neue"/>
              </a:defRPr>
            </a:lvl7pPr>
            <a:lvl8pPr>
              <a:buNone/>
              <a:defRPr sz="1950" b="1">
                <a:solidFill>
                  <a:srgbClr val="BD9FE3"/>
                </a:solidFill>
                <a:latin typeface="Helvetica Neue"/>
                <a:ea typeface="Helvetica Neue"/>
                <a:cs typeface="Helvetica Neue"/>
              </a:defRPr>
            </a:lvl8pPr>
            <a:lvl9pPr>
              <a:buNone/>
              <a:defRPr sz="1950" b="1">
                <a:solidFill>
                  <a:srgbClr val="BD9FE3"/>
                </a:solidFill>
                <a:latin typeface="Helvetica Neue"/>
                <a:ea typeface="Helvetica Neue"/>
                <a:cs typeface="Helvetica Neue"/>
              </a:defRPr>
            </a:lvl9pPr>
          </a:lstStyle>
          <a:p xmlns:a="http://schemas.openxmlformats.org/drawingml/2006/main">
            <a:pPr>
              <a:buNone/>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Обученные компоненты</a:t>
            </a:r>
          </a:p>
        </p:txBody>
      </p:sp>
      <p:sp>
        <p:nvSpPr>
          <p:cNvPr id="35" name="theory-7">
            <a:extLst xmlns:a="http://schemas.openxmlformats.org/drawingml/2006/main">
              <a:ext uri="{FF2B5EF4-FFF2-40B4-BE49-F238E27FC236}">
                <a16:creationId xmlns:a16="http://schemas.microsoft.com/office/drawing/2014/main" id="{876F6F41-C608-4F4B-9D0E-1E8FE24A37A6}"/>
              </a:ext>
            </a:extLst>
          </p:cNvPr>
          <p:cNvSpPr>
            <a:spLocks xmlns:a="http://schemas.openxmlformats.org/drawingml/2006/main" noGrp="1"/>
          </p:cNvSpPr>
          <p:nvPr/>
        </p:nvSpPr>
        <p:spPr>
          <a:xfrm xmlns:a="http://schemas.openxmlformats.org/drawingml/2006/main">
            <a:off x="685800" y="4695825"/>
            <a:ext cx="10820400" cy="1743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buNone/>
              <a:defRPr sz="2025" b="0">
                <a:solidFill>
                  <a:srgbClr val="CDCDD3"/>
                </a:solidFill>
                <a:latin typeface="Helvetica Neue"/>
                <a:ea typeface="Helvetica Neue"/>
                <a:cs typeface="Helvetica Neue"/>
              </a:defRPr>
            </a:lvl1pPr>
            <a:lvl2pPr>
              <a:buNone/>
              <a:defRPr sz="2025" b="0">
                <a:solidFill>
                  <a:srgbClr val="CDCDD3"/>
                </a:solidFill>
                <a:latin typeface="Helvetica Neue"/>
                <a:ea typeface="Helvetica Neue"/>
                <a:cs typeface="Helvetica Neue"/>
              </a:defRPr>
            </a:lvl2pPr>
            <a:lvl3pPr>
              <a:buNone/>
              <a:defRPr sz="2025" b="0">
                <a:solidFill>
                  <a:srgbClr val="CDCDD3"/>
                </a:solidFill>
                <a:latin typeface="Helvetica Neue"/>
                <a:ea typeface="Helvetica Neue"/>
                <a:cs typeface="Helvetica Neue"/>
              </a:defRPr>
            </a:lvl3pPr>
            <a:lvl4pPr>
              <a:buNone/>
              <a:defRPr sz="2025" b="0">
                <a:solidFill>
                  <a:srgbClr val="CDCDD3"/>
                </a:solidFill>
                <a:latin typeface="Helvetica Neue"/>
                <a:ea typeface="Helvetica Neue"/>
                <a:cs typeface="Helvetica Neue"/>
              </a:defRPr>
            </a:lvl4pPr>
            <a:lvl5pPr>
              <a:buNone/>
              <a:defRPr sz="2025" b="0">
                <a:solidFill>
                  <a:srgbClr val="CDCDD3"/>
                </a:solidFill>
                <a:latin typeface="Helvetica Neue"/>
                <a:ea typeface="Helvetica Neue"/>
                <a:cs typeface="Helvetica Neue"/>
              </a:defRPr>
            </a:lvl5pPr>
            <a:lvl6pPr>
              <a:buNone/>
              <a:defRPr sz="2025" b="0">
                <a:solidFill>
                  <a:srgbClr val="CDCDD3"/>
                </a:solidFill>
                <a:latin typeface="Helvetica Neue"/>
                <a:ea typeface="Helvetica Neue"/>
                <a:cs typeface="Helvetica Neue"/>
              </a:defRPr>
            </a:lvl6pPr>
            <a:lvl7pPr>
              <a:buNone/>
              <a:defRPr sz="2025" b="0">
                <a:solidFill>
                  <a:srgbClr val="CDCDD3"/>
                </a:solidFill>
                <a:latin typeface="Helvetica Neue"/>
                <a:ea typeface="Helvetica Neue"/>
                <a:cs typeface="Helvetica Neue"/>
              </a:defRPr>
            </a:lvl7pPr>
            <a:lvl8pPr>
              <a:buNone/>
              <a:defRPr sz="2025" b="0">
                <a:solidFill>
                  <a:srgbClr val="CDCDD3"/>
                </a:solidFill>
                <a:latin typeface="Helvetica Neue"/>
                <a:ea typeface="Helvetica Neue"/>
                <a:cs typeface="Helvetica Neue"/>
              </a:defRPr>
            </a:lvl8pPr>
            <a:lvl9pPr>
              <a:buNone/>
              <a:defRPr sz="2025" b="0">
                <a:solidFill>
                  <a:srgbClr val="CDCDD3"/>
                </a:solidFill>
                <a:latin typeface="Helvetica Neue"/>
                <a:ea typeface="Helvetica Neue"/>
                <a:cs typeface="Helvetica Neue"/>
              </a:defRPr>
            </a:lvl9pPr>
          </a:lstStyle>
          <a:p xmlns:a="http://schemas.openxmlformats.org/drawingml/2006/main">
            <a:pPr>
              <a:buNone/>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Предобученная модель поставляет параметры и конфигурацию для конкретного набора операций. Её возможности зависят от данных обучения, языка и состава пакета. При выборе проверяют назначение модели и примеры её ошибок на целевом корпусе. Размер или название варианта помогают идентифицировать пакет, но не заменяют измерение качества в конкретном применении.</a:t>
            </a:r>
          </a:p>
        </p:txBody>
      </p:sp>
    </p:spTree>
    <p:extLst>
      <p:ext uri="{BB962C8B-B14F-4D97-AF65-F5344CB8AC3E}">
        <p14:creationId xmlns:p14="http://schemas.microsoft.com/office/powerpoint/2010/main" val="1371808651"/>
      </p:ext>
    </p:extLst>
  </p:cSld>
</p:sld>
</file>

<file path=ppt/slides/slide8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1" name="expanded-0">
            <a:extLst xmlns:a="http://schemas.openxmlformats.org/drawingml/2006/main">
              <a:ext uri="{FF2B5EF4-FFF2-40B4-BE49-F238E27FC236}">
                <a16:creationId xmlns:a16="http://schemas.microsoft.com/office/drawing/2014/main" id="{7755EF8A-BBCC-48AC-B474-BDE99B7DF01B}"/>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anded-1">
            <a:extLst xmlns:a="http://schemas.openxmlformats.org/drawingml/2006/main">
              <a:ext uri="{FF2B5EF4-FFF2-40B4-BE49-F238E27FC236}">
                <a16:creationId xmlns:a16="http://schemas.microsoft.com/office/drawing/2014/main" id="{7BC335D4-B444-497B-B3BF-4C903DD3E9E4}"/>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84</a:t>
            </a:r>
          </a:p>
        </p:txBody>
      </p:sp>
      <p:sp>
        <p:nvSpPr>
          <p:cNvPr id="3" name="">
            <a:extLst xmlns:a="http://schemas.openxmlformats.org/drawingml/2006/main">
              <a:ext uri="{FF2B5EF4-FFF2-40B4-BE49-F238E27FC236}">
                <a16:creationId xmlns:a16="http://schemas.microsoft.com/office/drawing/2014/main" id="{C3E44DCC-DABC-44D6-948F-7A96DCFC3278}"/>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ln>
        </p:spPr>
      </p:sp>
      <p:sp>
        <p:nvSpPr>
          <p:cNvPr id="4" name="expanded-3">
            <a:extLst xmlns:a="http://schemas.openxmlformats.org/drawingml/2006/main">
              <a:ext uri="{FF2B5EF4-FFF2-40B4-BE49-F238E27FC236}">
                <a16:creationId xmlns:a16="http://schemas.microsoft.com/office/drawing/2014/main" id="{3140CF00-D42A-476A-A57F-5DF4A43432AC}"/>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scikit-learn: vectorizers и Pipeline</a:t>
            </a:r>
          </a:p>
        </p:txBody>
      </p:sp>
      <p:sp>
        <p:nvSpPr>
          <p:cNvPr id="12" name="ysda-4">
            <a:extLst xmlns:a="http://schemas.openxmlformats.org/drawingml/2006/main">
              <a:ext uri="{FF2B5EF4-FFF2-40B4-BE49-F238E27FC236}">
                <a16:creationId xmlns:a16="http://schemas.microsoft.com/office/drawing/2014/main" id="{339A72B7-803A-4EA9-B0FE-D0A659410F6F}"/>
              </a:ext>
            </a:extLst>
          </p:cNvPr>
          <p:cNvSpPr>
            <a:spLocks xmlns:a="http://schemas.openxmlformats.org/drawingml/2006/main" noGrp="1"/>
          </p:cNvSpPr>
          <p:nvPr/>
        </p:nvSpPr>
        <p:spPr>
          <a:xfrm xmlns:a="http://schemas.openxmlformats.org/drawingml/2006/main">
            <a:off x="685800" y="20478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CountVectorizer и TfidfVectorizer</a:t>
            </a:r>
          </a:p>
        </p:txBody>
      </p:sp>
      <p:sp>
        <p:nvSpPr>
          <p:cNvPr id="13" name="ysda-5">
            <a:extLst xmlns:a="http://schemas.openxmlformats.org/drawingml/2006/main">
              <a:ext uri="{FF2B5EF4-FFF2-40B4-BE49-F238E27FC236}">
                <a16:creationId xmlns:a16="http://schemas.microsoft.com/office/drawing/2014/main" id="{6DF38F5E-EA9D-426E-AA6C-92FC959E7E75}"/>
              </a:ext>
            </a:extLst>
          </p:cNvPr>
          <p:cNvSpPr>
            <a:spLocks xmlns:a="http://schemas.openxmlformats.org/drawingml/2006/main" noGrp="1"/>
          </p:cNvSpPr>
          <p:nvPr/>
        </p:nvSpPr>
        <p:spPr>
          <a:xfrm xmlns:a="http://schemas.openxmlformats.org/drawingml/2006/main">
            <a:off x="685800" y="2514600"/>
            <a:ext cx="108204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CountVectorizer формирует vocabulary и counts выбранных features. TfidfVectorizer дополнительно рассчитывает IDF и применяет TF-IDF weighting. Настройки включают word или character analyzer, n-gram range, min_df и max_df. Vectorizer обучается на train; готовый vocabulary применяется к dev, test и новым текстам без переобучения.</a:t>
            </a:r>
          </a:p>
        </p:txBody>
      </p:sp>
      <p:sp>
        <p:nvSpPr>
          <p:cNvPr id="14" name="ysda-6">
            <a:extLst xmlns:a="http://schemas.openxmlformats.org/drawingml/2006/main">
              <a:ext uri="{FF2B5EF4-FFF2-40B4-BE49-F238E27FC236}">
                <a16:creationId xmlns:a16="http://schemas.microsoft.com/office/drawing/2014/main" id="{C2A83F00-076B-42E3-BD7F-5185FFDDB18F}"/>
              </a:ext>
            </a:extLst>
          </p:cNvPr>
          <p:cNvSpPr>
            <a:spLocks xmlns:a="http://schemas.openxmlformats.org/drawingml/2006/main" noGrp="1"/>
          </p:cNvSpPr>
          <p:nvPr/>
        </p:nvSpPr>
        <p:spPr>
          <a:xfrm xmlns:a="http://schemas.openxmlformats.org/drawingml/2006/main">
            <a:off x="685800" y="4229100"/>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Pipeline и classifier</a:t>
            </a:r>
          </a:p>
        </p:txBody>
      </p:sp>
      <p:sp>
        <p:nvSpPr>
          <p:cNvPr id="15" name="ysda-7">
            <a:extLst xmlns:a="http://schemas.openxmlformats.org/drawingml/2006/main">
              <a:ext uri="{FF2B5EF4-FFF2-40B4-BE49-F238E27FC236}">
                <a16:creationId xmlns:a16="http://schemas.microsoft.com/office/drawing/2014/main" id="{137483D0-F683-41AD-BFC0-206E3D0B9C9F}"/>
              </a:ext>
            </a:extLst>
          </p:cNvPr>
          <p:cNvSpPr>
            <a:spLocks xmlns:a="http://schemas.openxmlformats.org/drawingml/2006/main" noGrp="1"/>
          </p:cNvSpPr>
          <p:nvPr/>
        </p:nvSpPr>
        <p:spPr>
          <a:xfrm xmlns:a="http://schemas.openxmlformats.org/drawingml/2006/main">
            <a:off x="685800" y="4695825"/>
            <a:ext cx="10820400" cy="1914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Pipeline объединяет vectorizer с LogisticRegression, MultinomialNB или другим estimator. В cross-validation каждый train fold получает собственный fitted vectorizer, что снижает риск data leakage. Методы fit, transform и predict относятся к разным операциям. На семинаре эта схема станет основой baseline; здесь рассматриваются назначение компонентов и правила их использования.</a:t>
            </a:r>
          </a:p>
        </p:txBody>
      </p:sp>
    </p:spTree>
    <p:extLst>
      <p:ext uri="{BB962C8B-B14F-4D97-AF65-F5344CB8AC3E}">
        <p14:creationId xmlns:p14="http://schemas.microsoft.com/office/powerpoint/2010/main" val="992175420"/>
      </p:ext>
    </p:extLst>
  </p:cSld>
</p:sld>
</file>

<file path=ppt/slides/slide8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1" name="expanded-0">
            <a:extLst xmlns:a="http://schemas.openxmlformats.org/drawingml/2006/main">
              <a:ext uri="{FF2B5EF4-FFF2-40B4-BE49-F238E27FC236}">
                <a16:creationId xmlns:a16="http://schemas.microsoft.com/office/drawing/2014/main" id="{FF6554B4-80F6-4419-B9CC-085CE353DD24}"/>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anded-1">
            <a:extLst xmlns:a="http://schemas.openxmlformats.org/drawingml/2006/main">
              <a:ext uri="{FF2B5EF4-FFF2-40B4-BE49-F238E27FC236}">
                <a16:creationId xmlns:a16="http://schemas.microsoft.com/office/drawing/2014/main" id="{CD45C872-2796-45C8-B4EC-32CF47AB676F}"/>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85</a:t>
            </a:r>
          </a:p>
        </p:txBody>
      </p:sp>
      <p:sp>
        <p:nvSpPr>
          <p:cNvPr id="3" name="">
            <a:extLst xmlns:a="http://schemas.openxmlformats.org/drawingml/2006/main">
              <a:ext uri="{FF2B5EF4-FFF2-40B4-BE49-F238E27FC236}">
                <a16:creationId xmlns:a16="http://schemas.microsoft.com/office/drawing/2014/main" id="{61E68EA7-AB15-4872-A75C-FD3A2580FCEF}"/>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ln>
        </p:spPr>
      </p:sp>
      <p:sp>
        <p:nvSpPr>
          <p:cNvPr id="4" name="expanded-3">
            <a:extLst xmlns:a="http://schemas.openxmlformats.org/drawingml/2006/main">
              <a:ext uri="{FF2B5EF4-FFF2-40B4-BE49-F238E27FC236}">
                <a16:creationId xmlns:a16="http://schemas.microsoft.com/office/drawing/2014/main" id="{B8B5D1F5-803A-4D74-B61E-0C929E65D8A3}"/>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Gensim и word embeddings</a:t>
            </a:r>
          </a:p>
        </p:txBody>
      </p:sp>
      <p:sp>
        <p:nvSpPr>
          <p:cNvPr id="12" name="ysda-4">
            <a:extLst xmlns:a="http://schemas.openxmlformats.org/drawingml/2006/main">
              <a:ext uri="{FF2B5EF4-FFF2-40B4-BE49-F238E27FC236}">
                <a16:creationId xmlns:a16="http://schemas.microsoft.com/office/drawing/2014/main" id="{130DCCF6-3AF6-4539-908B-A8171CDBA976}"/>
              </a:ext>
            </a:extLst>
          </p:cNvPr>
          <p:cNvSpPr>
            <a:spLocks xmlns:a="http://schemas.openxmlformats.org/drawingml/2006/main" noGrp="1"/>
          </p:cNvSpPr>
          <p:nvPr/>
        </p:nvSpPr>
        <p:spPr>
          <a:xfrm xmlns:a="http://schemas.openxmlformats.org/drawingml/2006/main">
            <a:off x="685800" y="20478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Corpus transformations</a:t>
            </a:r>
          </a:p>
        </p:txBody>
      </p:sp>
      <p:sp>
        <p:nvSpPr>
          <p:cNvPr id="13" name="ysda-5">
            <a:extLst xmlns:a="http://schemas.openxmlformats.org/drawingml/2006/main">
              <a:ext uri="{FF2B5EF4-FFF2-40B4-BE49-F238E27FC236}">
                <a16:creationId xmlns:a16="http://schemas.microsoft.com/office/drawing/2014/main" id="{C578F6AD-8BCD-4FD5-9953-CC9E0474E37B}"/>
              </a:ext>
            </a:extLst>
          </p:cNvPr>
          <p:cNvSpPr>
            <a:spLocks xmlns:a="http://schemas.openxmlformats.org/drawingml/2006/main" noGrp="1"/>
          </p:cNvSpPr>
          <p:nvPr/>
        </p:nvSpPr>
        <p:spPr>
          <a:xfrm xmlns:a="http://schemas.openxmlformats.org/drawingml/2006/main">
            <a:off x="685800" y="2514600"/>
            <a:ext cx="108204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Gensim предоставляет Dictionary для vocabulary, BoW representations и transformations, включая TF-IDF и LSI. Инструменты поддерживают обработку коллекций по документам, что полезно, когда corpus не помещается в память целиком. Входные и выходные representations должны сохранять согласованные идентификаторы features; одинаковая размерность ещё не гарантирует их соответствие.</a:t>
            </a:r>
          </a:p>
        </p:txBody>
      </p:sp>
      <p:sp>
        <p:nvSpPr>
          <p:cNvPr id="14" name="ysda-6">
            <a:extLst xmlns:a="http://schemas.openxmlformats.org/drawingml/2006/main">
              <a:ext uri="{FF2B5EF4-FFF2-40B4-BE49-F238E27FC236}">
                <a16:creationId xmlns:a16="http://schemas.microsoft.com/office/drawing/2014/main" id="{BA0EDD50-C6FF-4E67-A87D-771A2630E163}"/>
              </a:ext>
            </a:extLst>
          </p:cNvPr>
          <p:cNvSpPr>
            <a:spLocks xmlns:a="http://schemas.openxmlformats.org/drawingml/2006/main" noGrp="1"/>
          </p:cNvSpPr>
          <p:nvPr/>
        </p:nvSpPr>
        <p:spPr>
          <a:xfrm xmlns:a="http://schemas.openxmlformats.org/drawingml/2006/main">
            <a:off x="685800" y="4229100"/>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Word embeddings</a:t>
            </a:r>
          </a:p>
        </p:txBody>
      </p:sp>
      <p:sp>
        <p:nvSpPr>
          <p:cNvPr id="15" name="ysda-7">
            <a:extLst xmlns:a="http://schemas.openxmlformats.org/drawingml/2006/main">
              <a:ext uri="{FF2B5EF4-FFF2-40B4-BE49-F238E27FC236}">
                <a16:creationId xmlns:a16="http://schemas.microsoft.com/office/drawing/2014/main" id="{D5912082-FF22-4E8A-A30F-0024DF3C9A2F}"/>
              </a:ext>
            </a:extLst>
          </p:cNvPr>
          <p:cNvSpPr>
            <a:spLocks xmlns:a="http://schemas.openxmlformats.org/drawingml/2006/main" noGrp="1"/>
          </p:cNvSpPr>
          <p:nvPr/>
        </p:nvSpPr>
        <p:spPr>
          <a:xfrm xmlns:a="http://schemas.openxmlformats.org/drawingml/2006/main">
            <a:off x="685800" y="4695825"/>
            <a:ext cx="10820400" cy="1914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В Gensim есть реализации Word2Vec и FastText, а KeyedVectors используется для хранения и применения готовых vectors. Word embeddings описывают слова; получение representation всего документа требует отдельного решения. Word2Vec, GloVe, fastText и doc2vec относятся ко второй лекции. Gensim позволяет сохранять representations и применять их при обработке нового corpus.</a:t>
            </a:r>
          </a:p>
        </p:txBody>
      </p:sp>
    </p:spTree>
    <p:extLst>
      <p:ext uri="{BB962C8B-B14F-4D97-AF65-F5344CB8AC3E}">
        <p14:creationId xmlns:p14="http://schemas.microsoft.com/office/powerpoint/2010/main" val="509765450"/>
      </p:ext>
    </p:extLst>
  </p:cSld>
</p:sld>
</file>

<file path=ppt/slides/slide8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1" name="expanded-0">
            <a:extLst xmlns:a="http://schemas.openxmlformats.org/drawingml/2006/main">
              <a:ext uri="{FF2B5EF4-FFF2-40B4-BE49-F238E27FC236}">
                <a16:creationId xmlns:a16="http://schemas.microsoft.com/office/drawing/2014/main" id="{FDB51B7C-F0F5-4F0C-8092-A50336B54A0E}"/>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anded-1">
            <a:extLst xmlns:a="http://schemas.openxmlformats.org/drawingml/2006/main">
              <a:ext uri="{FF2B5EF4-FFF2-40B4-BE49-F238E27FC236}">
                <a16:creationId xmlns:a16="http://schemas.microsoft.com/office/drawing/2014/main" id="{6E49B10E-83D1-4735-BDDE-366F7AB1EAF7}"/>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86</a:t>
            </a:r>
          </a:p>
        </p:txBody>
      </p:sp>
      <p:sp>
        <p:nvSpPr>
          <p:cNvPr id="3" name="">
            <a:extLst xmlns:a="http://schemas.openxmlformats.org/drawingml/2006/main">
              <a:ext uri="{FF2B5EF4-FFF2-40B4-BE49-F238E27FC236}">
                <a16:creationId xmlns:a16="http://schemas.microsoft.com/office/drawing/2014/main" id="{A9CD1A17-A419-4A60-864B-FC2B1234CA5D}"/>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ln>
        </p:spPr>
      </p:sp>
      <p:sp>
        <p:nvSpPr>
          <p:cNvPr id="4" name="expanded-3">
            <a:extLst xmlns:a="http://schemas.openxmlformats.org/drawingml/2006/main">
              <a:ext uri="{FF2B5EF4-FFF2-40B4-BE49-F238E27FC236}">
                <a16:creationId xmlns:a16="http://schemas.microsoft.com/office/drawing/2014/main" id="{97C3A3D1-91B5-4132-B88C-17BE3E2DFD31}"/>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Hugging Face ecosystem</a:t>
            </a:r>
          </a:p>
        </p:txBody>
      </p:sp>
      <p:sp>
        <p:nvSpPr>
          <p:cNvPr id="12" name="theory-4">
            <a:extLst xmlns:a="http://schemas.openxmlformats.org/drawingml/2006/main">
              <a:ext uri="{FF2B5EF4-FFF2-40B4-BE49-F238E27FC236}">
                <a16:creationId xmlns:a16="http://schemas.microsoft.com/office/drawing/2014/main" id="{4FE9FEFF-6F20-4087-9B21-2CCE16616FC3}"/>
              </a:ext>
            </a:extLst>
          </p:cNvPr>
          <p:cNvSpPr>
            <a:spLocks xmlns:a="http://schemas.openxmlformats.org/drawingml/2006/main" noGrp="1"/>
          </p:cNvSpPr>
          <p:nvPr/>
        </p:nvSpPr>
        <p:spPr>
          <a:xfrm xmlns:a="http://schemas.openxmlformats.org/drawingml/2006/main">
            <a:off x="685800" y="20478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buNone/>
              <a:defRPr sz="1950" b="1">
                <a:solidFill>
                  <a:srgbClr val="BD9FE3"/>
                </a:solidFill>
                <a:latin typeface="Helvetica Neue"/>
                <a:ea typeface="Helvetica Neue"/>
                <a:cs typeface="Helvetica Neue"/>
              </a:defRPr>
            </a:lvl1pPr>
            <a:lvl2pPr>
              <a:buNone/>
              <a:defRPr sz="1950" b="1">
                <a:solidFill>
                  <a:srgbClr val="BD9FE3"/>
                </a:solidFill>
                <a:latin typeface="Helvetica Neue"/>
                <a:ea typeface="Helvetica Neue"/>
                <a:cs typeface="Helvetica Neue"/>
              </a:defRPr>
            </a:lvl2pPr>
            <a:lvl3pPr>
              <a:buNone/>
              <a:defRPr sz="1950" b="1">
                <a:solidFill>
                  <a:srgbClr val="BD9FE3"/>
                </a:solidFill>
                <a:latin typeface="Helvetica Neue"/>
                <a:ea typeface="Helvetica Neue"/>
                <a:cs typeface="Helvetica Neue"/>
              </a:defRPr>
            </a:lvl3pPr>
            <a:lvl4pPr>
              <a:buNone/>
              <a:defRPr sz="1950" b="1">
                <a:solidFill>
                  <a:srgbClr val="BD9FE3"/>
                </a:solidFill>
                <a:latin typeface="Helvetica Neue"/>
                <a:ea typeface="Helvetica Neue"/>
                <a:cs typeface="Helvetica Neue"/>
              </a:defRPr>
            </a:lvl4pPr>
            <a:lvl5pPr>
              <a:buNone/>
              <a:defRPr sz="1950" b="1">
                <a:solidFill>
                  <a:srgbClr val="BD9FE3"/>
                </a:solidFill>
                <a:latin typeface="Helvetica Neue"/>
                <a:ea typeface="Helvetica Neue"/>
                <a:cs typeface="Helvetica Neue"/>
              </a:defRPr>
            </a:lvl5pPr>
            <a:lvl6pPr>
              <a:buNone/>
              <a:defRPr sz="1950" b="1">
                <a:solidFill>
                  <a:srgbClr val="BD9FE3"/>
                </a:solidFill>
                <a:latin typeface="Helvetica Neue"/>
                <a:ea typeface="Helvetica Neue"/>
                <a:cs typeface="Helvetica Neue"/>
              </a:defRPr>
            </a:lvl6pPr>
            <a:lvl7pPr>
              <a:buNone/>
              <a:defRPr sz="1950" b="1">
                <a:solidFill>
                  <a:srgbClr val="BD9FE3"/>
                </a:solidFill>
                <a:latin typeface="Helvetica Neue"/>
                <a:ea typeface="Helvetica Neue"/>
                <a:cs typeface="Helvetica Neue"/>
              </a:defRPr>
            </a:lvl7pPr>
            <a:lvl8pPr>
              <a:buNone/>
              <a:defRPr sz="1950" b="1">
                <a:solidFill>
                  <a:srgbClr val="BD9FE3"/>
                </a:solidFill>
                <a:latin typeface="Helvetica Neue"/>
                <a:ea typeface="Helvetica Neue"/>
                <a:cs typeface="Helvetica Neue"/>
              </a:defRPr>
            </a:lvl8pPr>
            <a:lvl9pPr>
              <a:buNone/>
              <a:defRPr sz="1950" b="1">
                <a:solidFill>
                  <a:srgbClr val="BD9FE3"/>
                </a:solidFill>
                <a:latin typeface="Helvetica Neue"/>
                <a:ea typeface="Helvetica Neue"/>
                <a:cs typeface="Helvetica Neue"/>
              </a:defRPr>
            </a:lvl9pPr>
          </a:lstStyle>
          <a:p xmlns:a="http://schemas.openxmlformats.org/drawingml/2006/main">
            <a:pPr>
              <a:buNone/>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Модели и подготовка данных</a:t>
            </a:r>
          </a:p>
        </p:txBody>
      </p:sp>
      <p:sp>
        <p:nvSpPr>
          <p:cNvPr id="13" name="theory-5">
            <a:extLst xmlns:a="http://schemas.openxmlformats.org/drawingml/2006/main">
              <a:ext uri="{FF2B5EF4-FFF2-40B4-BE49-F238E27FC236}">
                <a16:creationId xmlns:a16="http://schemas.microsoft.com/office/drawing/2014/main" id="{A6BD40A9-EC12-4D97-97BE-025D2EF69E09}"/>
              </a:ext>
            </a:extLst>
          </p:cNvPr>
          <p:cNvSpPr>
            <a:spLocks xmlns:a="http://schemas.openxmlformats.org/drawingml/2006/main" noGrp="1"/>
          </p:cNvSpPr>
          <p:nvPr/>
        </p:nvSpPr>
        <p:spPr>
          <a:xfrm xmlns:a="http://schemas.openxmlformats.org/drawingml/2006/main">
            <a:off x="685800" y="2514600"/>
            <a:ext cx="108204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buNone/>
              <a:defRPr sz="2025" b="0">
                <a:solidFill>
                  <a:srgbClr val="CDCDD3"/>
                </a:solidFill>
                <a:latin typeface="Helvetica Neue"/>
                <a:ea typeface="Helvetica Neue"/>
                <a:cs typeface="Helvetica Neue"/>
              </a:defRPr>
            </a:lvl1pPr>
            <a:lvl2pPr>
              <a:buNone/>
              <a:defRPr sz="2025" b="0">
                <a:solidFill>
                  <a:srgbClr val="CDCDD3"/>
                </a:solidFill>
                <a:latin typeface="Helvetica Neue"/>
                <a:ea typeface="Helvetica Neue"/>
                <a:cs typeface="Helvetica Neue"/>
              </a:defRPr>
            </a:lvl2pPr>
            <a:lvl3pPr>
              <a:buNone/>
              <a:defRPr sz="2025" b="0">
                <a:solidFill>
                  <a:srgbClr val="CDCDD3"/>
                </a:solidFill>
                <a:latin typeface="Helvetica Neue"/>
                <a:ea typeface="Helvetica Neue"/>
                <a:cs typeface="Helvetica Neue"/>
              </a:defRPr>
            </a:lvl3pPr>
            <a:lvl4pPr>
              <a:buNone/>
              <a:defRPr sz="2025" b="0">
                <a:solidFill>
                  <a:srgbClr val="CDCDD3"/>
                </a:solidFill>
                <a:latin typeface="Helvetica Neue"/>
                <a:ea typeface="Helvetica Neue"/>
                <a:cs typeface="Helvetica Neue"/>
              </a:defRPr>
            </a:lvl4pPr>
            <a:lvl5pPr>
              <a:buNone/>
              <a:defRPr sz="2025" b="0">
                <a:solidFill>
                  <a:srgbClr val="CDCDD3"/>
                </a:solidFill>
                <a:latin typeface="Helvetica Neue"/>
                <a:ea typeface="Helvetica Neue"/>
                <a:cs typeface="Helvetica Neue"/>
              </a:defRPr>
            </a:lvl5pPr>
            <a:lvl6pPr>
              <a:buNone/>
              <a:defRPr sz="2025" b="0">
                <a:solidFill>
                  <a:srgbClr val="CDCDD3"/>
                </a:solidFill>
                <a:latin typeface="Helvetica Neue"/>
                <a:ea typeface="Helvetica Neue"/>
                <a:cs typeface="Helvetica Neue"/>
              </a:defRPr>
            </a:lvl6pPr>
            <a:lvl7pPr>
              <a:buNone/>
              <a:defRPr sz="2025" b="0">
                <a:solidFill>
                  <a:srgbClr val="CDCDD3"/>
                </a:solidFill>
                <a:latin typeface="Helvetica Neue"/>
                <a:ea typeface="Helvetica Neue"/>
                <a:cs typeface="Helvetica Neue"/>
              </a:defRPr>
            </a:lvl7pPr>
            <a:lvl8pPr>
              <a:buNone/>
              <a:defRPr sz="2025" b="0">
                <a:solidFill>
                  <a:srgbClr val="CDCDD3"/>
                </a:solidFill>
                <a:latin typeface="Helvetica Neue"/>
                <a:ea typeface="Helvetica Neue"/>
                <a:cs typeface="Helvetica Neue"/>
              </a:defRPr>
            </a:lvl8pPr>
            <a:lvl9pPr>
              <a:buNone/>
              <a:defRPr sz="2025" b="0">
                <a:solidFill>
                  <a:srgbClr val="CDCDD3"/>
                </a:solidFill>
                <a:latin typeface="Helvetica Neue"/>
                <a:ea typeface="Helvetica Neue"/>
                <a:cs typeface="Helvetica Neue"/>
              </a:defRPr>
            </a:lvl9pPr>
          </a:lstStyle>
          <a:p xmlns:a="http://schemas.openxmlformats.org/drawingml/2006/main">
            <a:pPr>
              <a:buNone/>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Transformers предоставляет интерфейсы к архитектурам, предобученным параметрам и связанным tokenizers. Datasets помогает загружать и преобразовывать наборы данных. Tokenizers содержит средства tokenization. Совместимость tokenizer с моделью имеет принципиальное значение, поскольку словарь и правила выделения элементов определяют представление входного текста.</a:t>
            </a:r>
          </a:p>
        </p:txBody>
      </p:sp>
      <p:sp>
        <p:nvSpPr>
          <p:cNvPr id="14" name="theory-6">
            <a:extLst xmlns:a="http://schemas.openxmlformats.org/drawingml/2006/main">
              <a:ext uri="{FF2B5EF4-FFF2-40B4-BE49-F238E27FC236}">
                <a16:creationId xmlns:a16="http://schemas.microsoft.com/office/drawing/2014/main" id="{C0F37279-F59F-4541-B850-3D6FB0868846}"/>
              </a:ext>
            </a:extLst>
          </p:cNvPr>
          <p:cNvSpPr>
            <a:spLocks xmlns:a="http://schemas.openxmlformats.org/drawingml/2006/main" noGrp="1"/>
          </p:cNvSpPr>
          <p:nvPr/>
        </p:nvSpPr>
        <p:spPr>
          <a:xfrm xmlns:a="http://schemas.openxmlformats.org/drawingml/2006/main">
            <a:off x="685800" y="4229100"/>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buNone/>
              <a:defRPr sz="1950" b="1">
                <a:solidFill>
                  <a:srgbClr val="BD9FE3"/>
                </a:solidFill>
                <a:latin typeface="Helvetica Neue"/>
                <a:ea typeface="Helvetica Neue"/>
                <a:cs typeface="Helvetica Neue"/>
              </a:defRPr>
            </a:lvl1pPr>
            <a:lvl2pPr>
              <a:buNone/>
              <a:defRPr sz="1950" b="1">
                <a:solidFill>
                  <a:srgbClr val="BD9FE3"/>
                </a:solidFill>
                <a:latin typeface="Helvetica Neue"/>
                <a:ea typeface="Helvetica Neue"/>
                <a:cs typeface="Helvetica Neue"/>
              </a:defRPr>
            </a:lvl2pPr>
            <a:lvl3pPr>
              <a:buNone/>
              <a:defRPr sz="1950" b="1">
                <a:solidFill>
                  <a:srgbClr val="BD9FE3"/>
                </a:solidFill>
                <a:latin typeface="Helvetica Neue"/>
                <a:ea typeface="Helvetica Neue"/>
                <a:cs typeface="Helvetica Neue"/>
              </a:defRPr>
            </a:lvl3pPr>
            <a:lvl4pPr>
              <a:buNone/>
              <a:defRPr sz="1950" b="1">
                <a:solidFill>
                  <a:srgbClr val="BD9FE3"/>
                </a:solidFill>
                <a:latin typeface="Helvetica Neue"/>
                <a:ea typeface="Helvetica Neue"/>
                <a:cs typeface="Helvetica Neue"/>
              </a:defRPr>
            </a:lvl4pPr>
            <a:lvl5pPr>
              <a:buNone/>
              <a:defRPr sz="1950" b="1">
                <a:solidFill>
                  <a:srgbClr val="BD9FE3"/>
                </a:solidFill>
                <a:latin typeface="Helvetica Neue"/>
                <a:ea typeface="Helvetica Neue"/>
                <a:cs typeface="Helvetica Neue"/>
              </a:defRPr>
            </a:lvl5pPr>
            <a:lvl6pPr>
              <a:buNone/>
              <a:defRPr sz="1950" b="1">
                <a:solidFill>
                  <a:srgbClr val="BD9FE3"/>
                </a:solidFill>
                <a:latin typeface="Helvetica Neue"/>
                <a:ea typeface="Helvetica Neue"/>
                <a:cs typeface="Helvetica Neue"/>
              </a:defRPr>
            </a:lvl6pPr>
            <a:lvl7pPr>
              <a:buNone/>
              <a:defRPr sz="1950" b="1">
                <a:solidFill>
                  <a:srgbClr val="BD9FE3"/>
                </a:solidFill>
                <a:latin typeface="Helvetica Neue"/>
                <a:ea typeface="Helvetica Neue"/>
                <a:cs typeface="Helvetica Neue"/>
              </a:defRPr>
            </a:lvl7pPr>
            <a:lvl8pPr>
              <a:buNone/>
              <a:defRPr sz="1950" b="1">
                <a:solidFill>
                  <a:srgbClr val="BD9FE3"/>
                </a:solidFill>
                <a:latin typeface="Helvetica Neue"/>
                <a:ea typeface="Helvetica Neue"/>
                <a:cs typeface="Helvetica Neue"/>
              </a:defRPr>
            </a:lvl8pPr>
            <a:lvl9pPr>
              <a:buNone/>
              <a:defRPr sz="1950" b="1">
                <a:solidFill>
                  <a:srgbClr val="BD9FE3"/>
                </a:solidFill>
                <a:latin typeface="Helvetica Neue"/>
                <a:ea typeface="Helvetica Neue"/>
                <a:cs typeface="Helvetica Neue"/>
              </a:defRPr>
            </a:lvl9pPr>
          </a:lstStyle>
          <a:p xmlns:a="http://schemas.openxmlformats.org/drawingml/2006/main">
            <a:pPr>
              <a:buNone/>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Выбор готового компонента</a:t>
            </a:r>
          </a:p>
        </p:txBody>
      </p:sp>
      <p:sp>
        <p:nvSpPr>
          <p:cNvPr id="15" name="theory-7">
            <a:extLst xmlns:a="http://schemas.openxmlformats.org/drawingml/2006/main">
              <a:ext uri="{FF2B5EF4-FFF2-40B4-BE49-F238E27FC236}">
                <a16:creationId xmlns:a16="http://schemas.microsoft.com/office/drawing/2014/main" id="{A8CA6977-588D-4A79-BEEE-5FFB7B62B5D0}"/>
              </a:ext>
            </a:extLst>
          </p:cNvPr>
          <p:cNvSpPr>
            <a:spLocks xmlns:a="http://schemas.openxmlformats.org/drawingml/2006/main" noGrp="1"/>
          </p:cNvSpPr>
          <p:nvPr/>
        </p:nvSpPr>
        <p:spPr>
          <a:xfrm xmlns:a="http://schemas.openxmlformats.org/drawingml/2006/main">
            <a:off x="685800" y="4695825"/>
            <a:ext cx="10820400" cy="1743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buNone/>
              <a:defRPr sz="2025" b="0">
                <a:solidFill>
                  <a:srgbClr val="CDCDD3"/>
                </a:solidFill>
                <a:latin typeface="Helvetica Neue"/>
                <a:ea typeface="Helvetica Neue"/>
                <a:cs typeface="Helvetica Neue"/>
              </a:defRPr>
            </a:lvl1pPr>
            <a:lvl2pPr>
              <a:buNone/>
              <a:defRPr sz="2025" b="0">
                <a:solidFill>
                  <a:srgbClr val="CDCDD3"/>
                </a:solidFill>
                <a:latin typeface="Helvetica Neue"/>
                <a:ea typeface="Helvetica Neue"/>
                <a:cs typeface="Helvetica Neue"/>
              </a:defRPr>
            </a:lvl2pPr>
            <a:lvl3pPr>
              <a:buNone/>
              <a:defRPr sz="2025" b="0">
                <a:solidFill>
                  <a:srgbClr val="CDCDD3"/>
                </a:solidFill>
                <a:latin typeface="Helvetica Neue"/>
                <a:ea typeface="Helvetica Neue"/>
                <a:cs typeface="Helvetica Neue"/>
              </a:defRPr>
            </a:lvl3pPr>
            <a:lvl4pPr>
              <a:buNone/>
              <a:defRPr sz="2025" b="0">
                <a:solidFill>
                  <a:srgbClr val="CDCDD3"/>
                </a:solidFill>
                <a:latin typeface="Helvetica Neue"/>
                <a:ea typeface="Helvetica Neue"/>
                <a:cs typeface="Helvetica Neue"/>
              </a:defRPr>
            </a:lvl4pPr>
            <a:lvl5pPr>
              <a:buNone/>
              <a:defRPr sz="2025" b="0">
                <a:solidFill>
                  <a:srgbClr val="CDCDD3"/>
                </a:solidFill>
                <a:latin typeface="Helvetica Neue"/>
                <a:ea typeface="Helvetica Neue"/>
                <a:cs typeface="Helvetica Neue"/>
              </a:defRPr>
            </a:lvl5pPr>
            <a:lvl6pPr>
              <a:buNone/>
              <a:defRPr sz="2025" b="0">
                <a:solidFill>
                  <a:srgbClr val="CDCDD3"/>
                </a:solidFill>
                <a:latin typeface="Helvetica Neue"/>
                <a:ea typeface="Helvetica Neue"/>
                <a:cs typeface="Helvetica Neue"/>
              </a:defRPr>
            </a:lvl6pPr>
            <a:lvl7pPr>
              <a:buNone/>
              <a:defRPr sz="2025" b="0">
                <a:solidFill>
                  <a:srgbClr val="CDCDD3"/>
                </a:solidFill>
                <a:latin typeface="Helvetica Neue"/>
                <a:ea typeface="Helvetica Neue"/>
                <a:cs typeface="Helvetica Neue"/>
              </a:defRPr>
            </a:lvl7pPr>
            <a:lvl8pPr>
              <a:buNone/>
              <a:defRPr sz="2025" b="0">
                <a:solidFill>
                  <a:srgbClr val="CDCDD3"/>
                </a:solidFill>
                <a:latin typeface="Helvetica Neue"/>
                <a:ea typeface="Helvetica Neue"/>
                <a:cs typeface="Helvetica Neue"/>
              </a:defRPr>
            </a:lvl8pPr>
            <a:lvl9pPr>
              <a:buNone/>
              <a:defRPr sz="2025" b="0">
                <a:solidFill>
                  <a:srgbClr val="CDCDD3"/>
                </a:solidFill>
                <a:latin typeface="Helvetica Neue"/>
                <a:ea typeface="Helvetica Neue"/>
                <a:cs typeface="Helvetica Neue"/>
              </a:defRPr>
            </a:lvl9pPr>
          </a:lstStyle>
          <a:p xmlns:a="http://schemas.openxmlformats.org/drawingml/2006/main">
            <a:pPr>
              <a:buNone/>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В Hub размещаются модели и наборы данных с описаниями назначения и ограничений. При выборе проверяют поддерживаемые языки, целевую задачу, входной формат и условия использования. Для повторения результата фиксируют конкретную ревизию. Наличие готового компонента сокращает объём разработки, но его качество на целевых текстах требует отдельной проверки.</a:t>
            </a:r>
          </a:p>
        </p:txBody>
      </p:sp>
    </p:spTree>
    <p:extLst>
      <p:ext uri="{BB962C8B-B14F-4D97-AF65-F5344CB8AC3E}">
        <p14:creationId xmlns:p14="http://schemas.microsoft.com/office/powerpoint/2010/main" val="926196820"/>
      </p:ext>
    </p:extLst>
  </p:cSld>
</p:sld>
</file>

<file path=ppt/slides/slide8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1" name="expanded-0">
            <a:extLst xmlns:a="http://schemas.openxmlformats.org/drawingml/2006/main">
              <a:ext uri="{FF2B5EF4-FFF2-40B4-BE49-F238E27FC236}">
                <a16:creationId xmlns:a16="http://schemas.microsoft.com/office/drawing/2014/main" id="{E2FC0A26-24E2-499B-8DAD-1B10D3C497E7}"/>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98989F"/>
                </a:solidFill>
                <a:latin typeface="Helvetica Neue"/>
                <a:ea typeface="Helvetica Neue"/>
                <a:cs typeface="Helvetica Neue"/>
              </a:defRPr>
            </a:defPPr>
            <a:lvl1pPr>
              <a:buNone/>
              <a:defRPr sz="1425" b="0">
                <a:solidFill>
                  <a:srgbClr val="98989F"/>
                </a:solidFill>
                <a:latin typeface="Helvetica Neue"/>
                <a:ea typeface="Helvetica Neue"/>
                <a:cs typeface="Helvetica Neue"/>
              </a:defRPr>
            </a:lvl1pPr>
            <a:lvl2pPr>
              <a:buNone/>
              <a:defRPr sz="1425" b="0">
                <a:solidFill>
                  <a:srgbClr val="98989F"/>
                </a:solidFill>
                <a:latin typeface="Helvetica Neue"/>
                <a:ea typeface="Helvetica Neue"/>
                <a:cs typeface="Helvetica Neue"/>
              </a:defRPr>
            </a:lvl2pPr>
            <a:lvl3pPr>
              <a:buNone/>
              <a:defRPr sz="1425" b="0">
                <a:solidFill>
                  <a:srgbClr val="98989F"/>
                </a:solidFill>
                <a:latin typeface="Helvetica Neue"/>
                <a:ea typeface="Helvetica Neue"/>
                <a:cs typeface="Helvetica Neue"/>
              </a:defRPr>
            </a:lvl3pPr>
            <a:lvl4pPr>
              <a:buNone/>
              <a:defRPr sz="1425" b="0">
                <a:solidFill>
                  <a:srgbClr val="98989F"/>
                </a:solidFill>
                <a:latin typeface="Helvetica Neue"/>
                <a:ea typeface="Helvetica Neue"/>
                <a:cs typeface="Helvetica Neue"/>
              </a:defRPr>
            </a:lvl4pPr>
            <a:lvl5pPr>
              <a:buNone/>
              <a:defRPr sz="1425" b="0">
                <a:solidFill>
                  <a:srgbClr val="98989F"/>
                </a:solidFill>
                <a:latin typeface="Helvetica Neue"/>
                <a:ea typeface="Helvetica Neue"/>
                <a:cs typeface="Helvetica Neue"/>
              </a:defRPr>
            </a:lvl5pPr>
            <a:lvl6pPr>
              <a:buNone/>
              <a:defRPr sz="1425" b="0">
                <a:solidFill>
                  <a:srgbClr val="98989F"/>
                </a:solidFill>
                <a:latin typeface="Helvetica Neue"/>
                <a:ea typeface="Helvetica Neue"/>
                <a:cs typeface="Helvetica Neue"/>
              </a:defRPr>
            </a:lvl6pPr>
            <a:lvl7pPr>
              <a:buNone/>
              <a:defRPr sz="1425" b="0">
                <a:solidFill>
                  <a:srgbClr val="98989F"/>
                </a:solidFill>
                <a:latin typeface="Helvetica Neue"/>
                <a:ea typeface="Helvetica Neue"/>
                <a:cs typeface="Helvetica Neue"/>
              </a:defRPr>
            </a:lvl7pPr>
            <a:lvl8pPr>
              <a:buNone/>
              <a:defRPr sz="1425" b="0">
                <a:solidFill>
                  <a:srgbClr val="98989F"/>
                </a:solidFill>
                <a:latin typeface="Helvetica Neue"/>
                <a:ea typeface="Helvetica Neue"/>
                <a:cs typeface="Helvetica Neue"/>
              </a:defRPr>
            </a:lvl8pPr>
            <a:lvl9pPr>
              <a:buNone/>
              <a:defRPr sz="1425" b="0">
                <a:solidFill>
                  <a:srgbClr val="98989F"/>
                </a:solidFill>
                <a:latin typeface="Helvetica Neue"/>
                <a:ea typeface="Helvetica Neue"/>
                <a:cs typeface="Helvetica Neue"/>
              </a:defRPr>
            </a:lvl9pPr>
          </a:lstStyle>
          <a:p xmlns:a="http://schemas.openxmlformats.org/drawingml/2006/main">
            <a:pP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expanded-1">
            <a:extLst xmlns:a="http://schemas.openxmlformats.org/drawingml/2006/main">
              <a:ext uri="{FF2B5EF4-FFF2-40B4-BE49-F238E27FC236}">
                <a16:creationId xmlns:a16="http://schemas.microsoft.com/office/drawing/2014/main" id="{9BE0E174-ADDF-4917-A190-8D80FCEE7452}"/>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87</a:t>
            </a:r>
          </a:p>
        </p:txBody>
      </p:sp>
      <p:sp>
        <p:nvSpPr>
          <p:cNvPr id="3" name="">
            <a:extLst xmlns:a="http://schemas.openxmlformats.org/drawingml/2006/main">
              <a:ext uri="{FF2B5EF4-FFF2-40B4-BE49-F238E27FC236}">
                <a16:creationId xmlns:a16="http://schemas.microsoft.com/office/drawing/2014/main" id="{6A98DB9C-4474-4708-A489-38DE7F9F4EA2}"/>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ln>
        </p:spPr>
      </p:sp>
      <p:sp>
        <p:nvSpPr>
          <p:cNvPr id="4" name="expanded-3">
            <a:extLst xmlns:a="http://schemas.openxmlformats.org/drawingml/2006/main">
              <a:ext uri="{FF2B5EF4-FFF2-40B4-BE49-F238E27FC236}">
                <a16:creationId xmlns:a16="http://schemas.microsoft.com/office/drawing/2014/main" id="{612EFAAF-80CF-4F8B-83AF-196B0948658F}"/>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F5F5F7"/>
                </a:solidFill>
                <a:latin typeface="Helvetica Neue"/>
                <a:ea typeface="Helvetica Neue"/>
                <a:cs typeface="Helvetica Neue"/>
              </a:defRPr>
            </a:defPPr>
            <a:lvl1pPr>
              <a:buNone/>
              <a:defRPr sz="3225" b="1">
                <a:solidFill>
                  <a:srgbClr val="F5F5F7"/>
                </a:solidFill>
                <a:latin typeface="Helvetica Neue"/>
                <a:ea typeface="Helvetica Neue"/>
                <a:cs typeface="Helvetica Neue"/>
              </a:defRPr>
            </a:lvl1pPr>
            <a:lvl2pPr>
              <a:buNone/>
              <a:defRPr sz="3225" b="1">
                <a:solidFill>
                  <a:srgbClr val="F5F5F7"/>
                </a:solidFill>
                <a:latin typeface="Helvetica Neue"/>
                <a:ea typeface="Helvetica Neue"/>
                <a:cs typeface="Helvetica Neue"/>
              </a:defRPr>
            </a:lvl2pPr>
            <a:lvl3pPr>
              <a:buNone/>
              <a:defRPr sz="3225" b="1">
                <a:solidFill>
                  <a:srgbClr val="F5F5F7"/>
                </a:solidFill>
                <a:latin typeface="Helvetica Neue"/>
                <a:ea typeface="Helvetica Neue"/>
                <a:cs typeface="Helvetica Neue"/>
              </a:defRPr>
            </a:lvl3pPr>
            <a:lvl4pPr>
              <a:buNone/>
              <a:defRPr sz="3225" b="1">
                <a:solidFill>
                  <a:srgbClr val="F5F5F7"/>
                </a:solidFill>
                <a:latin typeface="Helvetica Neue"/>
                <a:ea typeface="Helvetica Neue"/>
                <a:cs typeface="Helvetica Neue"/>
              </a:defRPr>
            </a:lvl4pPr>
            <a:lvl5pPr>
              <a:buNone/>
              <a:defRPr sz="3225" b="1">
                <a:solidFill>
                  <a:srgbClr val="F5F5F7"/>
                </a:solidFill>
                <a:latin typeface="Helvetica Neue"/>
                <a:ea typeface="Helvetica Neue"/>
                <a:cs typeface="Helvetica Neue"/>
              </a:defRPr>
            </a:lvl5pPr>
            <a:lvl6pPr>
              <a:buNone/>
              <a:defRPr sz="3225" b="1">
                <a:solidFill>
                  <a:srgbClr val="F5F5F7"/>
                </a:solidFill>
                <a:latin typeface="Helvetica Neue"/>
                <a:ea typeface="Helvetica Neue"/>
                <a:cs typeface="Helvetica Neue"/>
              </a:defRPr>
            </a:lvl6pPr>
            <a:lvl7pPr>
              <a:buNone/>
              <a:defRPr sz="3225" b="1">
                <a:solidFill>
                  <a:srgbClr val="F5F5F7"/>
                </a:solidFill>
                <a:latin typeface="Helvetica Neue"/>
                <a:ea typeface="Helvetica Neue"/>
                <a:cs typeface="Helvetica Neue"/>
              </a:defRPr>
            </a:lvl7pPr>
            <a:lvl8pPr>
              <a:buNone/>
              <a:defRPr sz="3225" b="1">
                <a:solidFill>
                  <a:srgbClr val="F5F5F7"/>
                </a:solidFill>
                <a:latin typeface="Helvetica Neue"/>
                <a:ea typeface="Helvetica Neue"/>
                <a:cs typeface="Helvetica Neue"/>
              </a:defRPr>
            </a:lvl8pPr>
            <a:lvl9pPr>
              <a:buNone/>
              <a:defRPr sz="3225" b="1">
                <a:solidFill>
                  <a:srgbClr val="F5F5F7"/>
                </a:solidFill>
                <a:latin typeface="Helvetica Neue"/>
                <a:ea typeface="Helvetica Neue"/>
                <a:cs typeface="Helvetica Neue"/>
              </a:defRPr>
            </a:lvl9pPr>
          </a:lstStyle>
          <a:p xmlns:a="http://schemas.openxmlformats.org/drawingml/2006/main">
            <a:pPr>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Sentence Transformers</a:t>
            </a:r>
          </a:p>
        </p:txBody>
      </p:sp>
      <p:sp>
        <p:nvSpPr>
          <p:cNvPr id="12" name="theory-4">
            <a:extLst xmlns:a="http://schemas.openxmlformats.org/drawingml/2006/main">
              <a:ext uri="{FF2B5EF4-FFF2-40B4-BE49-F238E27FC236}">
                <a16:creationId xmlns:a16="http://schemas.microsoft.com/office/drawing/2014/main" id="{71B75976-F8AA-413E-8F9F-0EB240F2F9C4}"/>
              </a:ext>
            </a:extLst>
          </p:cNvPr>
          <p:cNvSpPr>
            <a:spLocks xmlns:a="http://schemas.openxmlformats.org/drawingml/2006/main" noGrp="1"/>
          </p:cNvSpPr>
          <p:nvPr/>
        </p:nvSpPr>
        <p:spPr>
          <a:xfrm xmlns:a="http://schemas.openxmlformats.org/drawingml/2006/main">
            <a:off x="685800" y="20478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buNone/>
              <a:defRPr sz="1950" b="1">
                <a:solidFill>
                  <a:srgbClr val="BD9FE3"/>
                </a:solidFill>
                <a:latin typeface="Helvetica Neue"/>
                <a:ea typeface="Helvetica Neue"/>
                <a:cs typeface="Helvetica Neue"/>
              </a:defRPr>
            </a:lvl1pPr>
            <a:lvl2pPr>
              <a:buNone/>
              <a:defRPr sz="1950" b="1">
                <a:solidFill>
                  <a:srgbClr val="BD9FE3"/>
                </a:solidFill>
                <a:latin typeface="Helvetica Neue"/>
                <a:ea typeface="Helvetica Neue"/>
                <a:cs typeface="Helvetica Neue"/>
              </a:defRPr>
            </a:lvl2pPr>
            <a:lvl3pPr>
              <a:buNone/>
              <a:defRPr sz="1950" b="1">
                <a:solidFill>
                  <a:srgbClr val="BD9FE3"/>
                </a:solidFill>
                <a:latin typeface="Helvetica Neue"/>
                <a:ea typeface="Helvetica Neue"/>
                <a:cs typeface="Helvetica Neue"/>
              </a:defRPr>
            </a:lvl3pPr>
            <a:lvl4pPr>
              <a:buNone/>
              <a:defRPr sz="1950" b="1">
                <a:solidFill>
                  <a:srgbClr val="BD9FE3"/>
                </a:solidFill>
                <a:latin typeface="Helvetica Neue"/>
                <a:ea typeface="Helvetica Neue"/>
                <a:cs typeface="Helvetica Neue"/>
              </a:defRPr>
            </a:lvl4pPr>
            <a:lvl5pPr>
              <a:buNone/>
              <a:defRPr sz="1950" b="1">
                <a:solidFill>
                  <a:srgbClr val="BD9FE3"/>
                </a:solidFill>
                <a:latin typeface="Helvetica Neue"/>
                <a:ea typeface="Helvetica Neue"/>
                <a:cs typeface="Helvetica Neue"/>
              </a:defRPr>
            </a:lvl5pPr>
            <a:lvl6pPr>
              <a:buNone/>
              <a:defRPr sz="1950" b="1">
                <a:solidFill>
                  <a:srgbClr val="BD9FE3"/>
                </a:solidFill>
                <a:latin typeface="Helvetica Neue"/>
                <a:ea typeface="Helvetica Neue"/>
                <a:cs typeface="Helvetica Neue"/>
              </a:defRPr>
            </a:lvl6pPr>
            <a:lvl7pPr>
              <a:buNone/>
              <a:defRPr sz="1950" b="1">
                <a:solidFill>
                  <a:srgbClr val="BD9FE3"/>
                </a:solidFill>
                <a:latin typeface="Helvetica Neue"/>
                <a:ea typeface="Helvetica Neue"/>
                <a:cs typeface="Helvetica Neue"/>
              </a:defRPr>
            </a:lvl7pPr>
            <a:lvl8pPr>
              <a:buNone/>
              <a:defRPr sz="1950" b="1">
                <a:solidFill>
                  <a:srgbClr val="BD9FE3"/>
                </a:solidFill>
                <a:latin typeface="Helvetica Neue"/>
                <a:ea typeface="Helvetica Neue"/>
                <a:cs typeface="Helvetica Neue"/>
              </a:defRPr>
            </a:lvl8pPr>
            <a:lvl9pPr>
              <a:buNone/>
              <a:defRPr sz="1950" b="1">
                <a:solidFill>
                  <a:srgbClr val="BD9FE3"/>
                </a:solidFill>
                <a:latin typeface="Helvetica Neue"/>
                <a:ea typeface="Helvetica Neue"/>
                <a:cs typeface="Helvetica Neue"/>
              </a:defRPr>
            </a:lvl9pPr>
          </a:lstStyle>
          <a:p xmlns:a="http://schemas.openxmlformats.org/drawingml/2006/main">
            <a:pPr>
              <a:buNone/>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Представления целых текстов</a:t>
            </a:r>
          </a:p>
        </p:txBody>
      </p:sp>
      <p:sp>
        <p:nvSpPr>
          <p:cNvPr id="13" name="theory-5">
            <a:extLst xmlns:a="http://schemas.openxmlformats.org/drawingml/2006/main">
              <a:ext uri="{FF2B5EF4-FFF2-40B4-BE49-F238E27FC236}">
                <a16:creationId xmlns:a16="http://schemas.microsoft.com/office/drawing/2014/main" id="{15D8B046-59FE-4E44-B763-6D8B2CF32C5B}"/>
              </a:ext>
            </a:extLst>
          </p:cNvPr>
          <p:cNvSpPr>
            <a:spLocks xmlns:a="http://schemas.openxmlformats.org/drawingml/2006/main" noGrp="1"/>
          </p:cNvSpPr>
          <p:nvPr/>
        </p:nvSpPr>
        <p:spPr>
          <a:xfrm xmlns:a="http://schemas.openxmlformats.org/drawingml/2006/main">
            <a:off x="685800" y="2514600"/>
            <a:ext cx="108204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buNone/>
              <a:defRPr sz="2025" b="0">
                <a:solidFill>
                  <a:srgbClr val="CDCDD3"/>
                </a:solidFill>
                <a:latin typeface="Helvetica Neue"/>
                <a:ea typeface="Helvetica Neue"/>
                <a:cs typeface="Helvetica Neue"/>
              </a:defRPr>
            </a:lvl1pPr>
            <a:lvl2pPr>
              <a:buNone/>
              <a:defRPr sz="2025" b="0">
                <a:solidFill>
                  <a:srgbClr val="CDCDD3"/>
                </a:solidFill>
                <a:latin typeface="Helvetica Neue"/>
                <a:ea typeface="Helvetica Neue"/>
                <a:cs typeface="Helvetica Neue"/>
              </a:defRPr>
            </a:lvl2pPr>
            <a:lvl3pPr>
              <a:buNone/>
              <a:defRPr sz="2025" b="0">
                <a:solidFill>
                  <a:srgbClr val="CDCDD3"/>
                </a:solidFill>
                <a:latin typeface="Helvetica Neue"/>
                <a:ea typeface="Helvetica Neue"/>
                <a:cs typeface="Helvetica Neue"/>
              </a:defRPr>
            </a:lvl3pPr>
            <a:lvl4pPr>
              <a:buNone/>
              <a:defRPr sz="2025" b="0">
                <a:solidFill>
                  <a:srgbClr val="CDCDD3"/>
                </a:solidFill>
                <a:latin typeface="Helvetica Neue"/>
                <a:ea typeface="Helvetica Neue"/>
                <a:cs typeface="Helvetica Neue"/>
              </a:defRPr>
            </a:lvl4pPr>
            <a:lvl5pPr>
              <a:buNone/>
              <a:defRPr sz="2025" b="0">
                <a:solidFill>
                  <a:srgbClr val="CDCDD3"/>
                </a:solidFill>
                <a:latin typeface="Helvetica Neue"/>
                <a:ea typeface="Helvetica Neue"/>
                <a:cs typeface="Helvetica Neue"/>
              </a:defRPr>
            </a:lvl5pPr>
            <a:lvl6pPr>
              <a:buNone/>
              <a:defRPr sz="2025" b="0">
                <a:solidFill>
                  <a:srgbClr val="CDCDD3"/>
                </a:solidFill>
                <a:latin typeface="Helvetica Neue"/>
                <a:ea typeface="Helvetica Neue"/>
                <a:cs typeface="Helvetica Neue"/>
              </a:defRPr>
            </a:lvl6pPr>
            <a:lvl7pPr>
              <a:buNone/>
              <a:defRPr sz="2025" b="0">
                <a:solidFill>
                  <a:srgbClr val="CDCDD3"/>
                </a:solidFill>
                <a:latin typeface="Helvetica Neue"/>
                <a:ea typeface="Helvetica Neue"/>
                <a:cs typeface="Helvetica Neue"/>
              </a:defRPr>
            </a:lvl7pPr>
            <a:lvl8pPr>
              <a:buNone/>
              <a:defRPr sz="2025" b="0">
                <a:solidFill>
                  <a:srgbClr val="CDCDD3"/>
                </a:solidFill>
                <a:latin typeface="Helvetica Neue"/>
                <a:ea typeface="Helvetica Neue"/>
                <a:cs typeface="Helvetica Neue"/>
              </a:defRPr>
            </a:lvl8pPr>
            <a:lvl9pPr>
              <a:buNone/>
              <a:defRPr sz="2025" b="0">
                <a:solidFill>
                  <a:srgbClr val="CDCDD3"/>
                </a:solidFill>
                <a:latin typeface="Helvetica Neue"/>
                <a:ea typeface="Helvetica Neue"/>
                <a:cs typeface="Helvetica Neue"/>
              </a:defRPr>
            </a:lvl9pPr>
          </a:lstStyle>
          <a:p xmlns:a="http://schemas.openxmlformats.org/drawingml/2006/main">
            <a:pPr>
              <a:buNone/>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sentence-transformers предоставляет модели и средства получения векторов предложений и документов. Такие представления используют для семантического поиска, кластеризации и как признаки для других алгоритмов. В типичном сценарии каждому тексту соответствует один вектор, а смысловая близость оценивается выбранной мерой в пространстве представлений.</a:t>
            </a:r>
          </a:p>
        </p:txBody>
      </p:sp>
      <p:sp>
        <p:nvSpPr>
          <p:cNvPr id="14" name="theory-6">
            <a:extLst xmlns:a="http://schemas.openxmlformats.org/drawingml/2006/main">
              <a:ext uri="{FF2B5EF4-FFF2-40B4-BE49-F238E27FC236}">
                <a16:creationId xmlns:a16="http://schemas.microsoft.com/office/drawing/2014/main" id="{D9630E4F-D8CD-47C4-BA29-9411CB96788B}"/>
              </a:ext>
            </a:extLst>
          </p:cNvPr>
          <p:cNvSpPr>
            <a:spLocks xmlns:a="http://schemas.openxmlformats.org/drawingml/2006/main" noGrp="1"/>
          </p:cNvSpPr>
          <p:nvPr/>
        </p:nvSpPr>
        <p:spPr>
          <a:xfrm xmlns:a="http://schemas.openxmlformats.org/drawingml/2006/main">
            <a:off x="685800" y="4229100"/>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buNone/>
              <a:defRPr sz="1950" b="1">
                <a:solidFill>
                  <a:srgbClr val="BD9FE3"/>
                </a:solidFill>
                <a:latin typeface="Helvetica Neue"/>
                <a:ea typeface="Helvetica Neue"/>
                <a:cs typeface="Helvetica Neue"/>
              </a:defRPr>
            </a:lvl1pPr>
            <a:lvl2pPr>
              <a:buNone/>
              <a:defRPr sz="1950" b="1">
                <a:solidFill>
                  <a:srgbClr val="BD9FE3"/>
                </a:solidFill>
                <a:latin typeface="Helvetica Neue"/>
                <a:ea typeface="Helvetica Neue"/>
                <a:cs typeface="Helvetica Neue"/>
              </a:defRPr>
            </a:lvl2pPr>
            <a:lvl3pPr>
              <a:buNone/>
              <a:defRPr sz="1950" b="1">
                <a:solidFill>
                  <a:srgbClr val="BD9FE3"/>
                </a:solidFill>
                <a:latin typeface="Helvetica Neue"/>
                <a:ea typeface="Helvetica Neue"/>
                <a:cs typeface="Helvetica Neue"/>
              </a:defRPr>
            </a:lvl3pPr>
            <a:lvl4pPr>
              <a:buNone/>
              <a:defRPr sz="1950" b="1">
                <a:solidFill>
                  <a:srgbClr val="BD9FE3"/>
                </a:solidFill>
                <a:latin typeface="Helvetica Neue"/>
                <a:ea typeface="Helvetica Neue"/>
                <a:cs typeface="Helvetica Neue"/>
              </a:defRPr>
            </a:lvl4pPr>
            <a:lvl5pPr>
              <a:buNone/>
              <a:defRPr sz="1950" b="1">
                <a:solidFill>
                  <a:srgbClr val="BD9FE3"/>
                </a:solidFill>
                <a:latin typeface="Helvetica Neue"/>
                <a:ea typeface="Helvetica Neue"/>
                <a:cs typeface="Helvetica Neue"/>
              </a:defRPr>
            </a:lvl5pPr>
            <a:lvl6pPr>
              <a:buNone/>
              <a:defRPr sz="1950" b="1">
                <a:solidFill>
                  <a:srgbClr val="BD9FE3"/>
                </a:solidFill>
                <a:latin typeface="Helvetica Neue"/>
                <a:ea typeface="Helvetica Neue"/>
                <a:cs typeface="Helvetica Neue"/>
              </a:defRPr>
            </a:lvl6pPr>
            <a:lvl7pPr>
              <a:buNone/>
              <a:defRPr sz="1950" b="1">
                <a:solidFill>
                  <a:srgbClr val="BD9FE3"/>
                </a:solidFill>
                <a:latin typeface="Helvetica Neue"/>
                <a:ea typeface="Helvetica Neue"/>
                <a:cs typeface="Helvetica Neue"/>
              </a:defRPr>
            </a:lvl7pPr>
            <a:lvl8pPr>
              <a:buNone/>
              <a:defRPr sz="1950" b="1">
                <a:solidFill>
                  <a:srgbClr val="BD9FE3"/>
                </a:solidFill>
                <a:latin typeface="Helvetica Neue"/>
                <a:ea typeface="Helvetica Neue"/>
                <a:cs typeface="Helvetica Neue"/>
              </a:defRPr>
            </a:lvl8pPr>
            <a:lvl9pPr>
              <a:buNone/>
              <a:defRPr sz="1950" b="1">
                <a:solidFill>
                  <a:srgbClr val="BD9FE3"/>
                </a:solidFill>
                <a:latin typeface="Helvetica Neue"/>
                <a:ea typeface="Helvetica Neue"/>
                <a:cs typeface="Helvetica Neue"/>
              </a:defRPr>
            </a:lvl9pPr>
          </a:lstStyle>
          <a:p xmlns:a="http://schemas.openxmlformats.org/drawingml/2006/main">
            <a:pPr>
              <a:buNone/>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Условия применения</a:t>
            </a:r>
          </a:p>
        </p:txBody>
      </p:sp>
      <p:sp>
        <p:nvSpPr>
          <p:cNvPr id="15" name="theory-7">
            <a:extLst xmlns:a="http://schemas.openxmlformats.org/drawingml/2006/main">
              <a:ext uri="{FF2B5EF4-FFF2-40B4-BE49-F238E27FC236}">
                <a16:creationId xmlns:a16="http://schemas.microsoft.com/office/drawing/2014/main" id="{813177BA-387B-4666-A5D8-BD466558D734}"/>
              </a:ext>
            </a:extLst>
          </p:cNvPr>
          <p:cNvSpPr>
            <a:spLocks xmlns:a="http://schemas.openxmlformats.org/drawingml/2006/main" noGrp="1"/>
          </p:cNvSpPr>
          <p:nvPr/>
        </p:nvSpPr>
        <p:spPr>
          <a:xfrm xmlns:a="http://schemas.openxmlformats.org/drawingml/2006/main">
            <a:off x="685800" y="4695825"/>
            <a:ext cx="10820400" cy="1743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buNone/>
              <a:defRPr sz="2025" b="0">
                <a:solidFill>
                  <a:srgbClr val="CDCDD3"/>
                </a:solidFill>
                <a:latin typeface="Helvetica Neue"/>
                <a:ea typeface="Helvetica Neue"/>
                <a:cs typeface="Helvetica Neue"/>
              </a:defRPr>
            </a:lvl1pPr>
            <a:lvl2pPr>
              <a:buNone/>
              <a:defRPr sz="2025" b="0">
                <a:solidFill>
                  <a:srgbClr val="CDCDD3"/>
                </a:solidFill>
                <a:latin typeface="Helvetica Neue"/>
                <a:ea typeface="Helvetica Neue"/>
                <a:cs typeface="Helvetica Neue"/>
              </a:defRPr>
            </a:lvl2pPr>
            <a:lvl3pPr>
              <a:buNone/>
              <a:defRPr sz="2025" b="0">
                <a:solidFill>
                  <a:srgbClr val="CDCDD3"/>
                </a:solidFill>
                <a:latin typeface="Helvetica Neue"/>
                <a:ea typeface="Helvetica Neue"/>
                <a:cs typeface="Helvetica Neue"/>
              </a:defRPr>
            </a:lvl3pPr>
            <a:lvl4pPr>
              <a:buNone/>
              <a:defRPr sz="2025" b="0">
                <a:solidFill>
                  <a:srgbClr val="CDCDD3"/>
                </a:solidFill>
                <a:latin typeface="Helvetica Neue"/>
                <a:ea typeface="Helvetica Neue"/>
                <a:cs typeface="Helvetica Neue"/>
              </a:defRPr>
            </a:lvl4pPr>
            <a:lvl5pPr>
              <a:buNone/>
              <a:defRPr sz="2025" b="0">
                <a:solidFill>
                  <a:srgbClr val="CDCDD3"/>
                </a:solidFill>
                <a:latin typeface="Helvetica Neue"/>
                <a:ea typeface="Helvetica Neue"/>
                <a:cs typeface="Helvetica Neue"/>
              </a:defRPr>
            </a:lvl5pPr>
            <a:lvl6pPr>
              <a:buNone/>
              <a:defRPr sz="2025" b="0">
                <a:solidFill>
                  <a:srgbClr val="CDCDD3"/>
                </a:solidFill>
                <a:latin typeface="Helvetica Neue"/>
                <a:ea typeface="Helvetica Neue"/>
                <a:cs typeface="Helvetica Neue"/>
              </a:defRPr>
            </a:lvl6pPr>
            <a:lvl7pPr>
              <a:buNone/>
              <a:defRPr sz="2025" b="0">
                <a:solidFill>
                  <a:srgbClr val="CDCDD3"/>
                </a:solidFill>
                <a:latin typeface="Helvetica Neue"/>
                <a:ea typeface="Helvetica Neue"/>
                <a:cs typeface="Helvetica Neue"/>
              </a:defRPr>
            </a:lvl7pPr>
            <a:lvl8pPr>
              <a:buNone/>
              <a:defRPr sz="2025" b="0">
                <a:solidFill>
                  <a:srgbClr val="CDCDD3"/>
                </a:solidFill>
                <a:latin typeface="Helvetica Neue"/>
                <a:ea typeface="Helvetica Neue"/>
                <a:cs typeface="Helvetica Neue"/>
              </a:defRPr>
            </a:lvl8pPr>
            <a:lvl9pPr>
              <a:buNone/>
              <a:defRPr sz="2025" b="0">
                <a:solidFill>
                  <a:srgbClr val="CDCDD3"/>
                </a:solidFill>
                <a:latin typeface="Helvetica Neue"/>
                <a:ea typeface="Helvetica Neue"/>
                <a:cs typeface="Helvetica Neue"/>
              </a:defRPr>
            </a:lvl9pPr>
          </a:lstStyle>
          <a:p xmlns:a="http://schemas.openxmlformats.org/drawingml/2006/main">
            <a:pPr>
              <a:buNone/>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Необходимо проверить язык модели, назначение её обучения и требования к оформлению входа. Для поиска некоторые модели различают запросы и документы или используют специальные инструкции. Полученный вектор сам по себе не является меткой тональности. При сравнении с TF-IDF сохраняют одинаковые данные и процедуру оценки, чтобы измерить влияние способа представления.</a:t>
            </a:r>
          </a:p>
        </p:txBody>
      </p:sp>
    </p:spTree>
    <p:extLst>
      <p:ext uri="{BB962C8B-B14F-4D97-AF65-F5344CB8AC3E}">
        <p14:creationId xmlns:p14="http://schemas.microsoft.com/office/powerpoint/2010/main" val="208176775"/>
      </p:ext>
    </p:extLst>
  </p:cSld>
</p:sld>
</file>

<file path=ppt/slides/slide8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text-0">
            <a:extLst xmlns:a="http://schemas.openxmlformats.org/drawingml/2006/main">
              <a:ext uri="{FF2B5EF4-FFF2-40B4-BE49-F238E27FC236}">
                <a16:creationId xmlns:a16="http://schemas.microsoft.com/office/drawing/2014/main" id="{2D3C9AF6-31FF-4F91-AD18-8D5AC0666700}"/>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98989F"/>
                </a:solidFill>
                <a:latin typeface="Helvetica Neue"/>
                <a:ea typeface="Helvetica Neue"/>
                <a:cs typeface="Helvetica Neue"/>
              </a:defRPr>
            </a:defPPr>
            <a:lvl1pPr algn="l">
              <a:buNone/>
              <a:defRPr sz="1425" b="0">
                <a:solidFill>
                  <a:srgbClr val="98989F"/>
                </a:solidFill>
                <a:latin typeface="Helvetica Neue"/>
                <a:ea typeface="Helvetica Neue"/>
                <a:cs typeface="Helvetica Neue"/>
              </a:defRPr>
            </a:lvl1pPr>
            <a:lvl2pPr algn="l">
              <a:buNone/>
              <a:defRPr sz="1425" b="0">
                <a:solidFill>
                  <a:srgbClr val="98989F"/>
                </a:solidFill>
                <a:latin typeface="Helvetica Neue"/>
                <a:ea typeface="Helvetica Neue"/>
                <a:cs typeface="Helvetica Neue"/>
              </a:defRPr>
            </a:lvl2pPr>
            <a:lvl3pPr algn="l">
              <a:buNone/>
              <a:defRPr sz="1425" b="0">
                <a:solidFill>
                  <a:srgbClr val="98989F"/>
                </a:solidFill>
                <a:latin typeface="Helvetica Neue"/>
                <a:ea typeface="Helvetica Neue"/>
                <a:cs typeface="Helvetica Neue"/>
              </a:defRPr>
            </a:lvl3pPr>
            <a:lvl4pPr algn="l">
              <a:buNone/>
              <a:defRPr sz="1425" b="0">
                <a:solidFill>
                  <a:srgbClr val="98989F"/>
                </a:solidFill>
                <a:latin typeface="Helvetica Neue"/>
                <a:ea typeface="Helvetica Neue"/>
                <a:cs typeface="Helvetica Neue"/>
              </a:defRPr>
            </a:lvl4pPr>
            <a:lvl5pPr algn="l">
              <a:buNone/>
              <a:defRPr sz="1425" b="0">
                <a:solidFill>
                  <a:srgbClr val="98989F"/>
                </a:solidFill>
                <a:latin typeface="Helvetica Neue"/>
                <a:ea typeface="Helvetica Neue"/>
                <a:cs typeface="Helvetica Neue"/>
              </a:defRPr>
            </a:lvl5pPr>
            <a:lvl6pPr algn="l">
              <a:buNone/>
              <a:defRPr sz="1425" b="0">
                <a:solidFill>
                  <a:srgbClr val="98989F"/>
                </a:solidFill>
                <a:latin typeface="Helvetica Neue"/>
                <a:ea typeface="Helvetica Neue"/>
                <a:cs typeface="Helvetica Neue"/>
              </a:defRPr>
            </a:lvl6pPr>
            <a:lvl7pPr algn="l">
              <a:buNone/>
              <a:defRPr sz="1425" b="0">
                <a:solidFill>
                  <a:srgbClr val="98989F"/>
                </a:solidFill>
                <a:latin typeface="Helvetica Neue"/>
                <a:ea typeface="Helvetica Neue"/>
                <a:cs typeface="Helvetica Neue"/>
              </a:defRPr>
            </a:lvl7pPr>
            <a:lvl8pPr algn="l">
              <a:buNone/>
              <a:defRPr sz="1425" b="0">
                <a:solidFill>
                  <a:srgbClr val="98989F"/>
                </a:solidFill>
                <a:latin typeface="Helvetica Neue"/>
                <a:ea typeface="Helvetica Neue"/>
                <a:cs typeface="Helvetica Neue"/>
              </a:defRPr>
            </a:lvl8pPr>
            <a:lvl9pPr algn="l">
              <a:buNone/>
              <a:defRPr sz="1425" b="0">
                <a:solidFill>
                  <a:srgbClr val="98989F"/>
                </a:solidFill>
                <a:latin typeface="Helvetica Neue"/>
                <a:ea typeface="Helvetica Neue"/>
                <a:cs typeface="Helvetica Neue"/>
              </a:defRPr>
            </a:lvl9pPr>
          </a:lstStyle>
          <a:p xmlns:a="http://schemas.openxmlformats.org/drawingml/2006/main">
            <a:pPr algn="l">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text-1">
            <a:extLst xmlns:a="http://schemas.openxmlformats.org/drawingml/2006/main">
              <a:ext uri="{FF2B5EF4-FFF2-40B4-BE49-F238E27FC236}">
                <a16:creationId xmlns:a16="http://schemas.microsoft.com/office/drawing/2014/main" id="{72EB10ED-A632-4404-8FC8-2F0A0405A4BF}"/>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88</a:t>
            </a:r>
          </a:p>
        </p:txBody>
      </p:sp>
      <p:sp>
        <p:nvSpPr>
          <p:cNvPr id="3" name="">
            <a:extLst xmlns:a="http://schemas.openxmlformats.org/drawingml/2006/main">
              <a:ext uri="{FF2B5EF4-FFF2-40B4-BE49-F238E27FC236}">
                <a16:creationId xmlns:a16="http://schemas.microsoft.com/office/drawing/2014/main" id="{95F6A054-ED86-49B3-B568-17FAD5FD828D}"/>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prstDash val="solid"/>
          </a:ln>
        </p:spPr>
      </p:sp>
      <p:sp>
        <p:nvSpPr>
          <p:cNvPr id="4" name="text-3">
            <a:extLst xmlns:a="http://schemas.openxmlformats.org/drawingml/2006/main">
              <a:ext uri="{FF2B5EF4-FFF2-40B4-BE49-F238E27FC236}">
                <a16:creationId xmlns:a16="http://schemas.microsoft.com/office/drawing/2014/main" id="{05E76031-6A30-4763-AB7F-44EDC3349049}"/>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5F7"/>
                </a:solidFill>
                <a:latin typeface="Helvetica Neue"/>
                <a:ea typeface="Helvetica Neue"/>
                <a:cs typeface="Helvetica Neue"/>
              </a:defRPr>
            </a:defPPr>
            <a:lvl1pPr algn="l">
              <a:buNone/>
              <a:defRPr sz="3450" b="1">
                <a:solidFill>
                  <a:srgbClr val="F5F5F7"/>
                </a:solidFill>
                <a:latin typeface="Helvetica Neue"/>
                <a:ea typeface="Helvetica Neue"/>
                <a:cs typeface="Helvetica Neue"/>
              </a:defRPr>
            </a:lvl1pPr>
            <a:lvl2pPr algn="l">
              <a:buNone/>
              <a:defRPr sz="3450" b="1">
                <a:solidFill>
                  <a:srgbClr val="F5F5F7"/>
                </a:solidFill>
                <a:latin typeface="Helvetica Neue"/>
                <a:ea typeface="Helvetica Neue"/>
                <a:cs typeface="Helvetica Neue"/>
              </a:defRPr>
            </a:lvl2pPr>
            <a:lvl3pPr algn="l">
              <a:buNone/>
              <a:defRPr sz="3450" b="1">
                <a:solidFill>
                  <a:srgbClr val="F5F5F7"/>
                </a:solidFill>
                <a:latin typeface="Helvetica Neue"/>
                <a:ea typeface="Helvetica Neue"/>
                <a:cs typeface="Helvetica Neue"/>
              </a:defRPr>
            </a:lvl3pPr>
            <a:lvl4pPr algn="l">
              <a:buNone/>
              <a:defRPr sz="3450" b="1">
                <a:solidFill>
                  <a:srgbClr val="F5F5F7"/>
                </a:solidFill>
                <a:latin typeface="Helvetica Neue"/>
                <a:ea typeface="Helvetica Neue"/>
                <a:cs typeface="Helvetica Neue"/>
              </a:defRPr>
            </a:lvl4pPr>
            <a:lvl5pPr algn="l">
              <a:buNone/>
              <a:defRPr sz="3450" b="1">
                <a:solidFill>
                  <a:srgbClr val="F5F5F7"/>
                </a:solidFill>
                <a:latin typeface="Helvetica Neue"/>
                <a:ea typeface="Helvetica Neue"/>
                <a:cs typeface="Helvetica Neue"/>
              </a:defRPr>
            </a:lvl5pPr>
            <a:lvl6pPr algn="l">
              <a:buNone/>
              <a:defRPr sz="3450" b="1">
                <a:solidFill>
                  <a:srgbClr val="F5F5F7"/>
                </a:solidFill>
                <a:latin typeface="Helvetica Neue"/>
                <a:ea typeface="Helvetica Neue"/>
                <a:cs typeface="Helvetica Neue"/>
              </a:defRPr>
            </a:lvl6pPr>
            <a:lvl7pPr algn="l">
              <a:buNone/>
              <a:defRPr sz="3450" b="1">
                <a:solidFill>
                  <a:srgbClr val="F5F5F7"/>
                </a:solidFill>
                <a:latin typeface="Helvetica Neue"/>
                <a:ea typeface="Helvetica Neue"/>
                <a:cs typeface="Helvetica Neue"/>
              </a:defRPr>
            </a:lvl7pPr>
            <a:lvl8pPr algn="l">
              <a:buNone/>
              <a:defRPr sz="3450" b="1">
                <a:solidFill>
                  <a:srgbClr val="F5F5F7"/>
                </a:solidFill>
                <a:latin typeface="Helvetica Neue"/>
                <a:ea typeface="Helvetica Neue"/>
                <a:cs typeface="Helvetica Neue"/>
              </a:defRPr>
            </a:lvl8pPr>
            <a:lvl9pPr algn="l">
              <a:buNone/>
              <a:defRPr sz="3450" b="1">
                <a:solidFill>
                  <a:srgbClr val="F5F5F7"/>
                </a:solidFill>
                <a:latin typeface="Helvetica Neue"/>
                <a:ea typeface="Helvetica Neue"/>
                <a:cs typeface="Helvetica Neue"/>
              </a:defRPr>
            </a:lvl9pPr>
          </a:lstStyle>
          <a:p xmlns:a="http://schemas.openxmlformats.org/drawingml/2006/main">
            <a:pPr algn="l">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Контрольные вопросы</a:t>
            </a:r>
          </a:p>
        </p:txBody>
      </p:sp>
      <p:sp>
        <p:nvSpPr>
          <p:cNvPr id="17" name="ysda-4">
            <a:extLst xmlns:a="http://schemas.openxmlformats.org/drawingml/2006/main">
              <a:ext uri="{FF2B5EF4-FFF2-40B4-BE49-F238E27FC236}">
                <a16:creationId xmlns:a16="http://schemas.microsoft.com/office/drawing/2014/main" id="{0BCE1F26-459E-4813-A236-3DA9C3F712AA}"/>
              </a:ext>
            </a:extLst>
          </p:cNvPr>
          <p:cNvSpPr>
            <a:spLocks xmlns:a="http://schemas.openxmlformats.org/drawingml/2006/main" noGrp="1"/>
          </p:cNvSpPr>
          <p:nvPr/>
        </p:nvSpPr>
        <p:spPr>
          <a:xfrm xmlns:a="http://schemas.openxmlformats.org/drawingml/2006/main">
            <a:off x="685800" y="20478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Данные и representations</a:t>
            </a:r>
          </a:p>
        </p:txBody>
      </p:sp>
      <p:sp>
        <p:nvSpPr>
          <p:cNvPr id="18" name="ysda-5">
            <a:extLst xmlns:a="http://schemas.openxmlformats.org/drawingml/2006/main">
              <a:ext uri="{FF2B5EF4-FFF2-40B4-BE49-F238E27FC236}">
                <a16:creationId xmlns:a16="http://schemas.microsoft.com/office/drawing/2014/main" id="{58BA798E-623B-454C-A0BB-68F85E95069A}"/>
              </a:ext>
            </a:extLst>
          </p:cNvPr>
          <p:cNvSpPr>
            <a:spLocks xmlns:a="http://schemas.openxmlformats.org/drawingml/2006/main" noGrp="1"/>
          </p:cNvSpPr>
          <p:nvPr/>
        </p:nvSpPr>
        <p:spPr>
          <a:xfrm xmlns:a="http://schemas.openxmlformats.org/drawingml/2006/main">
            <a:off x="685800" y="2514600"/>
            <a:ext cx="108204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Чем отличаются single-label и multi-label classification? Как различаются token, type и vocabulary? Когда lemmatization может потерять полезную информацию? Почему удаление negation опасно для sentiment analysis? Что сохраняют word n-grams и что теряет Bag of Words? Чем document frequency отличается от числа вхождений слова?</a:t>
            </a:r>
          </a:p>
        </p:txBody>
      </p:sp>
      <p:sp>
        <p:nvSpPr>
          <p:cNvPr id="19" name="ysda-6">
            <a:extLst xmlns:a="http://schemas.openxmlformats.org/drawingml/2006/main">
              <a:ext uri="{FF2B5EF4-FFF2-40B4-BE49-F238E27FC236}">
                <a16:creationId xmlns:a16="http://schemas.microsoft.com/office/drawing/2014/main" id="{D1958A8E-1CDC-465D-9A37-5DCF43078498}"/>
              </a:ext>
            </a:extLst>
          </p:cNvPr>
          <p:cNvSpPr>
            <a:spLocks xmlns:a="http://schemas.openxmlformats.org/drawingml/2006/main" noGrp="1"/>
          </p:cNvSpPr>
          <p:nvPr/>
        </p:nvSpPr>
        <p:spPr>
          <a:xfrm xmlns:a="http://schemas.openxmlformats.org/drawingml/2006/main">
            <a:off x="685800" y="4229100"/>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Модели и evaluation</a:t>
            </a:r>
          </a:p>
        </p:txBody>
      </p:sp>
      <p:sp>
        <p:nvSpPr>
          <p:cNvPr id="20" name="ysda-7">
            <a:extLst xmlns:a="http://schemas.openxmlformats.org/drawingml/2006/main">
              <a:ext uri="{FF2B5EF4-FFF2-40B4-BE49-F238E27FC236}">
                <a16:creationId xmlns:a16="http://schemas.microsoft.com/office/drawing/2014/main" id="{1635C3F3-C371-4697-BE3A-FFBB5BBCAD23}"/>
              </a:ext>
            </a:extLst>
          </p:cNvPr>
          <p:cNvSpPr>
            <a:spLocks xmlns:a="http://schemas.openxmlformats.org/drawingml/2006/main" noGrp="1"/>
          </p:cNvSpPr>
          <p:nvPr/>
        </p:nvSpPr>
        <p:spPr>
          <a:xfrm xmlns:a="http://schemas.openxmlformats.org/drawingml/2006/main">
            <a:off x="685800" y="4695825"/>
            <a:ext cx="10820400" cy="1914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Как разделяются feature extractor и classifier? В чём смысл conditional independence у Naive Bayes? Какова роль Logistic Regression в TF-IDF baseline? Что хранит hidden state RNN и зачем нужны LSTM/GRU? Почему vocabulary оценивают только на train? Как выбрать split и metrics, если классы несбалансированы, а документы связаны между собой?</a:t>
            </a:r>
          </a:p>
        </p:txBody>
      </p:sp>
    </p:spTree>
    <p:extLst>
      <p:ext uri="{BB962C8B-B14F-4D97-AF65-F5344CB8AC3E}">
        <p14:creationId xmlns:p14="http://schemas.microsoft.com/office/powerpoint/2010/main" val="499649307"/>
      </p:ext>
    </p:extLst>
  </p:cSld>
</p:sld>
</file>

<file path=ppt/slides/slide8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text-0">
            <a:extLst xmlns:a="http://schemas.openxmlformats.org/drawingml/2006/main">
              <a:ext uri="{FF2B5EF4-FFF2-40B4-BE49-F238E27FC236}">
                <a16:creationId xmlns:a16="http://schemas.microsoft.com/office/drawing/2014/main" id="{5A17CE14-EC40-429F-9AE1-65CA4066EEB5}"/>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98989F"/>
                </a:solidFill>
                <a:latin typeface="Helvetica Neue"/>
                <a:ea typeface="Helvetica Neue"/>
                <a:cs typeface="Helvetica Neue"/>
              </a:defRPr>
            </a:defPPr>
            <a:lvl1pPr algn="l">
              <a:buNone/>
              <a:defRPr sz="1425" b="0">
                <a:solidFill>
                  <a:srgbClr val="98989F"/>
                </a:solidFill>
                <a:latin typeface="Helvetica Neue"/>
                <a:ea typeface="Helvetica Neue"/>
                <a:cs typeface="Helvetica Neue"/>
              </a:defRPr>
            </a:lvl1pPr>
            <a:lvl2pPr algn="l">
              <a:buNone/>
              <a:defRPr sz="1425" b="0">
                <a:solidFill>
                  <a:srgbClr val="98989F"/>
                </a:solidFill>
                <a:latin typeface="Helvetica Neue"/>
                <a:ea typeface="Helvetica Neue"/>
                <a:cs typeface="Helvetica Neue"/>
              </a:defRPr>
            </a:lvl2pPr>
            <a:lvl3pPr algn="l">
              <a:buNone/>
              <a:defRPr sz="1425" b="0">
                <a:solidFill>
                  <a:srgbClr val="98989F"/>
                </a:solidFill>
                <a:latin typeface="Helvetica Neue"/>
                <a:ea typeface="Helvetica Neue"/>
                <a:cs typeface="Helvetica Neue"/>
              </a:defRPr>
            </a:lvl3pPr>
            <a:lvl4pPr algn="l">
              <a:buNone/>
              <a:defRPr sz="1425" b="0">
                <a:solidFill>
                  <a:srgbClr val="98989F"/>
                </a:solidFill>
                <a:latin typeface="Helvetica Neue"/>
                <a:ea typeface="Helvetica Neue"/>
                <a:cs typeface="Helvetica Neue"/>
              </a:defRPr>
            </a:lvl4pPr>
            <a:lvl5pPr algn="l">
              <a:buNone/>
              <a:defRPr sz="1425" b="0">
                <a:solidFill>
                  <a:srgbClr val="98989F"/>
                </a:solidFill>
                <a:latin typeface="Helvetica Neue"/>
                <a:ea typeface="Helvetica Neue"/>
                <a:cs typeface="Helvetica Neue"/>
              </a:defRPr>
            </a:lvl5pPr>
            <a:lvl6pPr algn="l">
              <a:buNone/>
              <a:defRPr sz="1425" b="0">
                <a:solidFill>
                  <a:srgbClr val="98989F"/>
                </a:solidFill>
                <a:latin typeface="Helvetica Neue"/>
                <a:ea typeface="Helvetica Neue"/>
                <a:cs typeface="Helvetica Neue"/>
              </a:defRPr>
            </a:lvl6pPr>
            <a:lvl7pPr algn="l">
              <a:buNone/>
              <a:defRPr sz="1425" b="0">
                <a:solidFill>
                  <a:srgbClr val="98989F"/>
                </a:solidFill>
                <a:latin typeface="Helvetica Neue"/>
                <a:ea typeface="Helvetica Neue"/>
                <a:cs typeface="Helvetica Neue"/>
              </a:defRPr>
            </a:lvl7pPr>
            <a:lvl8pPr algn="l">
              <a:buNone/>
              <a:defRPr sz="1425" b="0">
                <a:solidFill>
                  <a:srgbClr val="98989F"/>
                </a:solidFill>
                <a:latin typeface="Helvetica Neue"/>
                <a:ea typeface="Helvetica Neue"/>
                <a:cs typeface="Helvetica Neue"/>
              </a:defRPr>
            </a:lvl8pPr>
            <a:lvl9pPr algn="l">
              <a:buNone/>
              <a:defRPr sz="1425" b="0">
                <a:solidFill>
                  <a:srgbClr val="98989F"/>
                </a:solidFill>
                <a:latin typeface="Helvetica Neue"/>
                <a:ea typeface="Helvetica Neue"/>
                <a:cs typeface="Helvetica Neue"/>
              </a:defRPr>
            </a:lvl9pPr>
          </a:lstStyle>
          <a:p xmlns:a="http://schemas.openxmlformats.org/drawingml/2006/main">
            <a:pPr algn="l">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text-1">
            <a:extLst xmlns:a="http://schemas.openxmlformats.org/drawingml/2006/main">
              <a:ext uri="{FF2B5EF4-FFF2-40B4-BE49-F238E27FC236}">
                <a16:creationId xmlns:a16="http://schemas.microsoft.com/office/drawing/2014/main" id="{03438765-B38B-49D1-935D-17D90CA83A99}"/>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89</a:t>
            </a:r>
          </a:p>
        </p:txBody>
      </p:sp>
      <p:sp>
        <p:nvSpPr>
          <p:cNvPr id="3" name="">
            <a:extLst xmlns:a="http://schemas.openxmlformats.org/drawingml/2006/main">
              <a:ext uri="{FF2B5EF4-FFF2-40B4-BE49-F238E27FC236}">
                <a16:creationId xmlns:a16="http://schemas.microsoft.com/office/drawing/2014/main" id="{AEE94292-84B1-4B2C-84CB-32F5FEE2E239}"/>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prstDash val="solid"/>
          </a:ln>
        </p:spPr>
      </p:sp>
      <p:sp>
        <p:nvSpPr>
          <p:cNvPr id="4" name="text-3">
            <a:extLst xmlns:a="http://schemas.openxmlformats.org/drawingml/2006/main">
              <a:ext uri="{FF2B5EF4-FFF2-40B4-BE49-F238E27FC236}">
                <a16:creationId xmlns:a16="http://schemas.microsoft.com/office/drawing/2014/main" id="{EB8140D8-52BA-4616-AEB8-CCB8131E4589}"/>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5F7"/>
                </a:solidFill>
                <a:latin typeface="Helvetica Neue"/>
                <a:ea typeface="Helvetica Neue"/>
                <a:cs typeface="Helvetica Neue"/>
              </a:defRPr>
            </a:defPPr>
            <a:lvl1pPr algn="l">
              <a:buNone/>
              <a:defRPr sz="3450" b="1">
                <a:solidFill>
                  <a:srgbClr val="F5F5F7"/>
                </a:solidFill>
                <a:latin typeface="Helvetica Neue"/>
                <a:ea typeface="Helvetica Neue"/>
                <a:cs typeface="Helvetica Neue"/>
              </a:defRPr>
            </a:lvl1pPr>
            <a:lvl2pPr algn="l">
              <a:buNone/>
              <a:defRPr sz="3450" b="1">
                <a:solidFill>
                  <a:srgbClr val="F5F5F7"/>
                </a:solidFill>
                <a:latin typeface="Helvetica Neue"/>
                <a:ea typeface="Helvetica Neue"/>
                <a:cs typeface="Helvetica Neue"/>
              </a:defRPr>
            </a:lvl2pPr>
            <a:lvl3pPr algn="l">
              <a:buNone/>
              <a:defRPr sz="3450" b="1">
                <a:solidFill>
                  <a:srgbClr val="F5F5F7"/>
                </a:solidFill>
                <a:latin typeface="Helvetica Neue"/>
                <a:ea typeface="Helvetica Neue"/>
                <a:cs typeface="Helvetica Neue"/>
              </a:defRPr>
            </a:lvl3pPr>
            <a:lvl4pPr algn="l">
              <a:buNone/>
              <a:defRPr sz="3450" b="1">
                <a:solidFill>
                  <a:srgbClr val="F5F5F7"/>
                </a:solidFill>
                <a:latin typeface="Helvetica Neue"/>
                <a:ea typeface="Helvetica Neue"/>
                <a:cs typeface="Helvetica Neue"/>
              </a:defRPr>
            </a:lvl4pPr>
            <a:lvl5pPr algn="l">
              <a:buNone/>
              <a:defRPr sz="3450" b="1">
                <a:solidFill>
                  <a:srgbClr val="F5F5F7"/>
                </a:solidFill>
                <a:latin typeface="Helvetica Neue"/>
                <a:ea typeface="Helvetica Neue"/>
                <a:cs typeface="Helvetica Neue"/>
              </a:defRPr>
            </a:lvl5pPr>
            <a:lvl6pPr algn="l">
              <a:buNone/>
              <a:defRPr sz="3450" b="1">
                <a:solidFill>
                  <a:srgbClr val="F5F5F7"/>
                </a:solidFill>
                <a:latin typeface="Helvetica Neue"/>
                <a:ea typeface="Helvetica Neue"/>
                <a:cs typeface="Helvetica Neue"/>
              </a:defRPr>
            </a:lvl6pPr>
            <a:lvl7pPr algn="l">
              <a:buNone/>
              <a:defRPr sz="3450" b="1">
                <a:solidFill>
                  <a:srgbClr val="F5F5F7"/>
                </a:solidFill>
                <a:latin typeface="Helvetica Neue"/>
                <a:ea typeface="Helvetica Neue"/>
                <a:cs typeface="Helvetica Neue"/>
              </a:defRPr>
            </a:lvl7pPr>
            <a:lvl8pPr algn="l">
              <a:buNone/>
              <a:defRPr sz="3450" b="1">
                <a:solidFill>
                  <a:srgbClr val="F5F5F7"/>
                </a:solidFill>
                <a:latin typeface="Helvetica Neue"/>
                <a:ea typeface="Helvetica Neue"/>
                <a:cs typeface="Helvetica Neue"/>
              </a:defRPr>
            </a:lvl8pPr>
            <a:lvl9pPr algn="l">
              <a:buNone/>
              <a:defRPr sz="3450" b="1">
                <a:solidFill>
                  <a:srgbClr val="F5F5F7"/>
                </a:solidFill>
                <a:latin typeface="Helvetica Neue"/>
                <a:ea typeface="Helvetica Neue"/>
                <a:cs typeface="Helvetica Neue"/>
              </a:defRPr>
            </a:lvl9pPr>
          </a:lstStyle>
          <a:p xmlns:a="http://schemas.openxmlformats.org/drawingml/2006/main">
            <a:pPr algn="l">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Результаты лекции и содержание семинара</a:t>
            </a:r>
          </a:p>
        </p:txBody>
      </p:sp>
      <p:sp>
        <p:nvSpPr>
          <p:cNvPr id="17" name="ysda-4">
            <a:extLst xmlns:a="http://schemas.openxmlformats.org/drawingml/2006/main">
              <a:ext uri="{FF2B5EF4-FFF2-40B4-BE49-F238E27FC236}">
                <a16:creationId xmlns:a16="http://schemas.microsoft.com/office/drawing/2014/main" id="{F3DFBF00-8180-47B8-A335-28A54075F684}"/>
              </a:ext>
            </a:extLst>
          </p:cNvPr>
          <p:cNvSpPr>
            <a:spLocks xmlns:a="http://schemas.openxmlformats.org/drawingml/2006/main" noGrp="1"/>
          </p:cNvSpPr>
          <p:nvPr/>
        </p:nvSpPr>
        <p:spPr>
          <a:xfrm xmlns:a="http://schemas.openxmlformats.org/drawingml/2006/main">
            <a:off x="685800" y="20478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Основные понятия</a:t>
            </a:r>
          </a:p>
        </p:txBody>
      </p:sp>
      <p:sp>
        <p:nvSpPr>
          <p:cNvPr id="18" name="ysda-5">
            <a:extLst xmlns:a="http://schemas.openxmlformats.org/drawingml/2006/main">
              <a:ext uri="{FF2B5EF4-FFF2-40B4-BE49-F238E27FC236}">
                <a16:creationId xmlns:a16="http://schemas.microsoft.com/office/drawing/2014/main" id="{1F2E7DD6-1F96-4168-8472-E7EAE0987F82}"/>
              </a:ext>
            </a:extLst>
          </p:cNvPr>
          <p:cNvSpPr>
            <a:spLocks xmlns:a="http://schemas.openxmlformats.org/drawingml/2006/main" noGrp="1"/>
          </p:cNvSpPr>
          <p:nvPr/>
        </p:nvSpPr>
        <p:spPr>
          <a:xfrm xmlns:a="http://schemas.openxmlformats.org/drawingml/2006/main">
            <a:off x="685800" y="2514600"/>
            <a:ext cx="108204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NLP-задача определяется входом, доступным контекстом и ожидаемым ответом. Данные и annotation задают смысл меток. Preprocessing и feature representation определяют, какую информацию получит classifier. Classical models служат понятным baseline; RNN показывает, как обучаемое представление может учитывать последовательность tokens. Качество проверяют на независимых данных.</a:t>
            </a:r>
          </a:p>
        </p:txBody>
      </p:sp>
      <p:sp>
        <p:nvSpPr>
          <p:cNvPr id="19" name="ysda-6">
            <a:extLst xmlns:a="http://schemas.openxmlformats.org/drawingml/2006/main">
              <a:ext uri="{FF2B5EF4-FFF2-40B4-BE49-F238E27FC236}">
                <a16:creationId xmlns:a16="http://schemas.microsoft.com/office/drawing/2014/main" id="{EFB424E2-5382-455A-96E8-C552B772AC88}"/>
              </a:ext>
            </a:extLst>
          </p:cNvPr>
          <p:cNvSpPr>
            <a:spLocks xmlns:a="http://schemas.openxmlformats.org/drawingml/2006/main" noGrp="1"/>
          </p:cNvSpPr>
          <p:nvPr/>
        </p:nvSpPr>
        <p:spPr>
          <a:xfrm xmlns:a="http://schemas.openxmlformats.org/drawingml/2006/main">
            <a:off x="685800" y="4229100"/>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D9FE3"/>
                </a:solidFill>
                <a:latin typeface="Helvetica Neue"/>
                <a:ea typeface="Helvetica Neue"/>
                <a:cs typeface="Helvetica Neue"/>
              </a:defRPr>
            </a:defPPr>
            <a:lvl1pPr>
              <a:defRPr sz="1950" b="1">
                <a:solidFill>
                  <a:srgbClr val="BD9FE3"/>
                </a:solidFill>
                <a:latin typeface="Helvetica Neue"/>
                <a:ea typeface="Helvetica Neue"/>
                <a:cs typeface="Helvetica Neue"/>
              </a:defRPr>
            </a:lvl1pPr>
            <a:lvl2pPr>
              <a:defRPr sz="1950" b="1">
                <a:solidFill>
                  <a:srgbClr val="BD9FE3"/>
                </a:solidFill>
                <a:latin typeface="Helvetica Neue"/>
                <a:ea typeface="Helvetica Neue"/>
                <a:cs typeface="Helvetica Neue"/>
              </a:defRPr>
            </a:lvl2pPr>
            <a:lvl3pPr>
              <a:defRPr sz="1950" b="1">
                <a:solidFill>
                  <a:srgbClr val="BD9FE3"/>
                </a:solidFill>
                <a:latin typeface="Helvetica Neue"/>
                <a:ea typeface="Helvetica Neue"/>
                <a:cs typeface="Helvetica Neue"/>
              </a:defRPr>
            </a:lvl3pPr>
            <a:lvl4pPr>
              <a:defRPr sz="1950" b="1">
                <a:solidFill>
                  <a:srgbClr val="BD9FE3"/>
                </a:solidFill>
                <a:latin typeface="Helvetica Neue"/>
                <a:ea typeface="Helvetica Neue"/>
                <a:cs typeface="Helvetica Neue"/>
              </a:defRPr>
            </a:lvl4pPr>
            <a:lvl5pPr>
              <a:defRPr sz="1950" b="1">
                <a:solidFill>
                  <a:srgbClr val="BD9FE3"/>
                </a:solidFill>
                <a:latin typeface="Helvetica Neue"/>
                <a:ea typeface="Helvetica Neue"/>
                <a:cs typeface="Helvetica Neue"/>
              </a:defRPr>
            </a:lvl5pPr>
            <a:lvl6pPr>
              <a:defRPr sz="1950" b="1">
                <a:solidFill>
                  <a:srgbClr val="BD9FE3"/>
                </a:solidFill>
                <a:latin typeface="Helvetica Neue"/>
                <a:ea typeface="Helvetica Neue"/>
                <a:cs typeface="Helvetica Neue"/>
              </a:defRPr>
            </a:lvl6pPr>
            <a:lvl7pPr>
              <a:defRPr sz="1950" b="1">
                <a:solidFill>
                  <a:srgbClr val="BD9FE3"/>
                </a:solidFill>
                <a:latin typeface="Helvetica Neue"/>
                <a:ea typeface="Helvetica Neue"/>
                <a:cs typeface="Helvetica Neue"/>
              </a:defRPr>
            </a:lvl7pPr>
            <a:lvl8pPr>
              <a:defRPr sz="1950" b="1">
                <a:solidFill>
                  <a:srgbClr val="BD9FE3"/>
                </a:solidFill>
                <a:latin typeface="Helvetica Neue"/>
                <a:ea typeface="Helvetica Neue"/>
                <a:cs typeface="Helvetica Neue"/>
              </a:defRPr>
            </a:lvl8pPr>
            <a:lvl9pPr>
              <a:defRPr sz="1950" b="1">
                <a:solidFill>
                  <a:srgbClr val="BD9FE3"/>
                </a:solidFill>
                <a:latin typeface="Helvetica Neue"/>
                <a:ea typeface="Helvetica Neue"/>
                <a:cs typeface="Helvetica Neue"/>
              </a:defRPr>
            </a:lvl9pPr>
          </a:lstStyle>
          <a:p xmlns:a="http://schemas.openxmlformats.org/drawingml/2006/main">
            <a:pPr>
              <a:defRPr sz="1950" b="1">
                <a:solidFill>
                  <a:srgbClr val="BD9FE3"/>
                </a:solidFill>
                <a:latin typeface="Helvetica Neue"/>
                <a:ea typeface="Helvetica Neue"/>
                <a:cs typeface="Helvetica Neue"/>
              </a:defRPr>
            </a:pPr>
            <a:r>
              <a:rPr sz="1950" b="1">
                <a:solidFill>
                  <a:srgbClr val="BD9FE3"/>
                </a:solidFill>
                <a:latin typeface="Helvetica Neue"/>
                <a:ea typeface="Helvetica Neue"/>
                <a:cs typeface="Helvetica Neue"/>
              </a:rPr>
              <a:t>Вторая лекция и семинар</a:t>
            </a:r>
          </a:p>
        </p:txBody>
      </p:sp>
      <p:sp>
        <p:nvSpPr>
          <p:cNvPr id="20" name="ysda-7">
            <a:extLst xmlns:a="http://schemas.openxmlformats.org/drawingml/2006/main">
              <a:ext uri="{FF2B5EF4-FFF2-40B4-BE49-F238E27FC236}">
                <a16:creationId xmlns:a16="http://schemas.microsoft.com/office/drawing/2014/main" id="{5AA6E731-062C-4BDA-AB72-4C0F29420940}"/>
              </a:ext>
            </a:extLst>
          </p:cNvPr>
          <p:cNvSpPr>
            <a:spLocks xmlns:a="http://schemas.openxmlformats.org/drawingml/2006/main" noGrp="1"/>
          </p:cNvSpPr>
          <p:nvPr/>
        </p:nvSpPr>
        <p:spPr>
          <a:xfrm xmlns:a="http://schemas.openxmlformats.org/drawingml/2006/main">
            <a:off x="685800" y="4695825"/>
            <a:ext cx="10820400" cy="1914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CDCDD3"/>
                </a:solidFill>
                <a:latin typeface="Helvetica Neue"/>
                <a:ea typeface="Helvetica Neue"/>
                <a:cs typeface="Helvetica Neue"/>
              </a:defRPr>
            </a:defPPr>
            <a:lvl1pPr>
              <a:defRPr sz="2025" b="0">
                <a:solidFill>
                  <a:srgbClr val="CDCDD3"/>
                </a:solidFill>
                <a:latin typeface="Helvetica Neue"/>
                <a:ea typeface="Helvetica Neue"/>
                <a:cs typeface="Helvetica Neue"/>
              </a:defRPr>
            </a:lvl1pPr>
            <a:lvl2pPr>
              <a:defRPr sz="2025" b="0">
                <a:solidFill>
                  <a:srgbClr val="CDCDD3"/>
                </a:solidFill>
                <a:latin typeface="Helvetica Neue"/>
                <a:ea typeface="Helvetica Neue"/>
                <a:cs typeface="Helvetica Neue"/>
              </a:defRPr>
            </a:lvl2pPr>
            <a:lvl3pPr>
              <a:defRPr sz="2025" b="0">
                <a:solidFill>
                  <a:srgbClr val="CDCDD3"/>
                </a:solidFill>
                <a:latin typeface="Helvetica Neue"/>
                <a:ea typeface="Helvetica Neue"/>
                <a:cs typeface="Helvetica Neue"/>
              </a:defRPr>
            </a:lvl3pPr>
            <a:lvl4pPr>
              <a:defRPr sz="2025" b="0">
                <a:solidFill>
                  <a:srgbClr val="CDCDD3"/>
                </a:solidFill>
                <a:latin typeface="Helvetica Neue"/>
                <a:ea typeface="Helvetica Neue"/>
                <a:cs typeface="Helvetica Neue"/>
              </a:defRPr>
            </a:lvl4pPr>
            <a:lvl5pPr>
              <a:defRPr sz="2025" b="0">
                <a:solidFill>
                  <a:srgbClr val="CDCDD3"/>
                </a:solidFill>
                <a:latin typeface="Helvetica Neue"/>
                <a:ea typeface="Helvetica Neue"/>
                <a:cs typeface="Helvetica Neue"/>
              </a:defRPr>
            </a:lvl5pPr>
            <a:lvl6pPr>
              <a:defRPr sz="2025" b="0">
                <a:solidFill>
                  <a:srgbClr val="CDCDD3"/>
                </a:solidFill>
                <a:latin typeface="Helvetica Neue"/>
                <a:ea typeface="Helvetica Neue"/>
                <a:cs typeface="Helvetica Neue"/>
              </a:defRPr>
            </a:lvl6pPr>
            <a:lvl7pPr>
              <a:defRPr sz="2025" b="0">
                <a:solidFill>
                  <a:srgbClr val="CDCDD3"/>
                </a:solidFill>
                <a:latin typeface="Helvetica Neue"/>
                <a:ea typeface="Helvetica Neue"/>
                <a:cs typeface="Helvetica Neue"/>
              </a:defRPr>
            </a:lvl7pPr>
            <a:lvl8pPr>
              <a:defRPr sz="2025" b="0">
                <a:solidFill>
                  <a:srgbClr val="CDCDD3"/>
                </a:solidFill>
                <a:latin typeface="Helvetica Neue"/>
                <a:ea typeface="Helvetica Neue"/>
                <a:cs typeface="Helvetica Neue"/>
              </a:defRPr>
            </a:lvl8pPr>
            <a:lvl9pPr>
              <a:defRPr sz="2025" b="0">
                <a:solidFill>
                  <a:srgbClr val="CDCDD3"/>
                </a:solidFill>
                <a:latin typeface="Helvetica Neue"/>
                <a:ea typeface="Helvetica Neue"/>
                <a:cs typeface="Helvetica Neue"/>
              </a:defRPr>
            </a:lvl9pPr>
          </a:lstStyle>
          <a:p xmlns:a="http://schemas.openxmlformats.org/drawingml/2006/main">
            <a:pPr>
              <a:defRPr sz="2025" b="0">
                <a:solidFill>
                  <a:srgbClr val="CDCDD3"/>
                </a:solidFill>
                <a:latin typeface="Helvetica Neue"/>
                <a:ea typeface="Helvetica Neue"/>
                <a:cs typeface="Helvetica Neue"/>
              </a:defRPr>
            </a:pPr>
            <a:r>
              <a:rPr sz="2025" b="0">
                <a:solidFill>
                  <a:srgbClr val="CDCDD3"/>
                </a:solidFill>
                <a:latin typeface="Helvetica Neue"/>
                <a:ea typeface="Helvetica Neue"/>
                <a:cs typeface="Helvetica Neue"/>
              </a:rPr>
              <a:t>Вторая лекция: word2vec, GloVe, fastText, doc2vec; static и contextual embeddings, ELMo → BERT, transfer learning и роль embeddings в retrieval/RAG. Семинар: preprocessing с NLTK и spaCy, TF-IDF + Logistic Regression через sklearn и сравнение с Sentence Transformers. Все фрагменты кода и выполнение экспериментов относятся к семинару.</a:t>
            </a:r>
          </a:p>
        </p:txBody>
      </p:sp>
    </p:spTree>
    <p:extLst>
      <p:ext uri="{BB962C8B-B14F-4D97-AF65-F5344CB8AC3E}">
        <p14:creationId xmlns:p14="http://schemas.microsoft.com/office/powerpoint/2010/main" val="2044607749"/>
      </p:ext>
    </p:extLst>
  </p:cSld>
</p:sld>
</file>

<file path=ppt/slides/slide9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FCEB98F0-6755-4DEC-9E28-04F957CF1385}"/>
              </a:ext>
            </a:extLst>
          </p:cNvPr>
          <p:cNvSpPr>
            <a:spLocks xmlns:a="http://schemas.openxmlformats.org/drawingml/2006/main" noGrp="1"/>
          </p:cNvSpPr>
          <p:nvPr/>
        </p:nvSpPr>
        <p:spPr>
          <a:xfrm xmlns:a="http://schemas.openxmlformats.org/drawingml/2006/main">
            <a:off x="685800" y="3333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98989F"/>
                </a:solidFill>
                <a:latin typeface="Helvetica Neue"/>
                <a:ea typeface="Helvetica Neue"/>
                <a:cs typeface="Helvetica Neue"/>
              </a:defRPr>
            </a:defPPr>
            <a:lvl1pPr algn="l">
              <a:buNone/>
              <a:defRPr sz="1425" b="0">
                <a:solidFill>
                  <a:srgbClr val="98989F"/>
                </a:solidFill>
                <a:latin typeface="Helvetica Neue"/>
                <a:ea typeface="Helvetica Neue"/>
                <a:cs typeface="Helvetica Neue"/>
              </a:defRPr>
            </a:lvl1pPr>
            <a:lvl2pPr algn="l">
              <a:buNone/>
              <a:defRPr sz="1425" b="0">
                <a:solidFill>
                  <a:srgbClr val="98989F"/>
                </a:solidFill>
                <a:latin typeface="Helvetica Neue"/>
                <a:ea typeface="Helvetica Neue"/>
                <a:cs typeface="Helvetica Neue"/>
              </a:defRPr>
            </a:lvl2pPr>
            <a:lvl3pPr algn="l">
              <a:buNone/>
              <a:defRPr sz="1425" b="0">
                <a:solidFill>
                  <a:srgbClr val="98989F"/>
                </a:solidFill>
                <a:latin typeface="Helvetica Neue"/>
                <a:ea typeface="Helvetica Neue"/>
                <a:cs typeface="Helvetica Neue"/>
              </a:defRPr>
            </a:lvl3pPr>
            <a:lvl4pPr algn="l">
              <a:buNone/>
              <a:defRPr sz="1425" b="0">
                <a:solidFill>
                  <a:srgbClr val="98989F"/>
                </a:solidFill>
                <a:latin typeface="Helvetica Neue"/>
                <a:ea typeface="Helvetica Neue"/>
                <a:cs typeface="Helvetica Neue"/>
              </a:defRPr>
            </a:lvl4pPr>
            <a:lvl5pPr algn="l">
              <a:buNone/>
              <a:defRPr sz="1425" b="0">
                <a:solidFill>
                  <a:srgbClr val="98989F"/>
                </a:solidFill>
                <a:latin typeface="Helvetica Neue"/>
                <a:ea typeface="Helvetica Neue"/>
                <a:cs typeface="Helvetica Neue"/>
              </a:defRPr>
            </a:lvl5pPr>
            <a:lvl6pPr algn="l">
              <a:buNone/>
              <a:defRPr sz="1425" b="0">
                <a:solidFill>
                  <a:srgbClr val="98989F"/>
                </a:solidFill>
                <a:latin typeface="Helvetica Neue"/>
                <a:ea typeface="Helvetica Neue"/>
                <a:cs typeface="Helvetica Neue"/>
              </a:defRPr>
            </a:lvl6pPr>
            <a:lvl7pPr algn="l">
              <a:buNone/>
              <a:defRPr sz="1425" b="0">
                <a:solidFill>
                  <a:srgbClr val="98989F"/>
                </a:solidFill>
                <a:latin typeface="Helvetica Neue"/>
                <a:ea typeface="Helvetica Neue"/>
                <a:cs typeface="Helvetica Neue"/>
              </a:defRPr>
            </a:lvl7pPr>
            <a:lvl8pPr algn="l">
              <a:buNone/>
              <a:defRPr sz="1425" b="0">
                <a:solidFill>
                  <a:srgbClr val="98989F"/>
                </a:solidFill>
                <a:latin typeface="Helvetica Neue"/>
                <a:ea typeface="Helvetica Neue"/>
                <a:cs typeface="Helvetica Neue"/>
              </a:defRPr>
            </a:lvl8pPr>
            <a:lvl9pPr algn="l">
              <a:buNone/>
              <a:defRPr sz="1425" b="0">
                <a:solidFill>
                  <a:srgbClr val="98989F"/>
                </a:solidFill>
                <a:latin typeface="Helvetica Neue"/>
                <a:ea typeface="Helvetica Neue"/>
                <a:cs typeface="Helvetica Neue"/>
              </a:defRPr>
            </a:lvl9pPr>
          </a:lstStyle>
          <a:p xmlns:a="http://schemas.openxmlformats.org/drawingml/2006/main">
            <a:pPr algn="l">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NLP</a:t>
            </a:r>
          </a:p>
        </p:txBody>
      </p:sp>
      <p:sp>
        <p:nvSpPr>
          <p:cNvPr id="2" name="text-1">
            <a:extLst xmlns:a="http://schemas.openxmlformats.org/drawingml/2006/main">
              <a:ext uri="{FF2B5EF4-FFF2-40B4-BE49-F238E27FC236}">
                <a16:creationId xmlns:a16="http://schemas.microsoft.com/office/drawing/2014/main" id="{D8A55AC4-C58D-4AB7-8182-B53A805FD0B7}"/>
              </a:ext>
            </a:extLst>
          </p:cNvPr>
          <p:cNvSpPr>
            <a:spLocks xmlns:a="http://schemas.openxmlformats.org/drawingml/2006/main" noGrp="1"/>
          </p:cNvSpPr>
          <p:nvPr/>
        </p:nvSpPr>
        <p:spPr>
          <a:xfrm xmlns:a="http://schemas.openxmlformats.org/drawingml/2006/main">
            <a:off x="10763250" y="333375"/>
            <a:ext cx="742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98989F"/>
                </a:solidFill>
                <a:latin typeface="Helvetica Neue"/>
                <a:ea typeface="Helvetica Neue"/>
                <a:cs typeface="Helvetica Neue"/>
              </a:defRPr>
            </a:defPPr>
            <a:lvl1pPr algn="r">
              <a:buNone/>
              <a:defRPr sz="1425" b="0">
                <a:solidFill>
                  <a:srgbClr val="98989F"/>
                </a:solidFill>
                <a:latin typeface="Helvetica Neue"/>
                <a:ea typeface="Helvetica Neue"/>
                <a:cs typeface="Helvetica Neue"/>
              </a:defRPr>
            </a:lvl1pPr>
            <a:lvl2pPr algn="r">
              <a:buNone/>
              <a:defRPr sz="1425" b="0">
                <a:solidFill>
                  <a:srgbClr val="98989F"/>
                </a:solidFill>
                <a:latin typeface="Helvetica Neue"/>
                <a:ea typeface="Helvetica Neue"/>
                <a:cs typeface="Helvetica Neue"/>
              </a:defRPr>
            </a:lvl2pPr>
            <a:lvl3pPr algn="r">
              <a:buNone/>
              <a:defRPr sz="1425" b="0">
                <a:solidFill>
                  <a:srgbClr val="98989F"/>
                </a:solidFill>
                <a:latin typeface="Helvetica Neue"/>
                <a:ea typeface="Helvetica Neue"/>
                <a:cs typeface="Helvetica Neue"/>
              </a:defRPr>
            </a:lvl3pPr>
            <a:lvl4pPr algn="r">
              <a:buNone/>
              <a:defRPr sz="1425" b="0">
                <a:solidFill>
                  <a:srgbClr val="98989F"/>
                </a:solidFill>
                <a:latin typeface="Helvetica Neue"/>
                <a:ea typeface="Helvetica Neue"/>
                <a:cs typeface="Helvetica Neue"/>
              </a:defRPr>
            </a:lvl4pPr>
            <a:lvl5pPr algn="r">
              <a:buNone/>
              <a:defRPr sz="1425" b="0">
                <a:solidFill>
                  <a:srgbClr val="98989F"/>
                </a:solidFill>
                <a:latin typeface="Helvetica Neue"/>
                <a:ea typeface="Helvetica Neue"/>
                <a:cs typeface="Helvetica Neue"/>
              </a:defRPr>
            </a:lvl5pPr>
            <a:lvl6pPr algn="r">
              <a:buNone/>
              <a:defRPr sz="1425" b="0">
                <a:solidFill>
                  <a:srgbClr val="98989F"/>
                </a:solidFill>
                <a:latin typeface="Helvetica Neue"/>
                <a:ea typeface="Helvetica Neue"/>
                <a:cs typeface="Helvetica Neue"/>
              </a:defRPr>
            </a:lvl6pPr>
            <a:lvl7pPr algn="r">
              <a:buNone/>
              <a:defRPr sz="1425" b="0">
                <a:solidFill>
                  <a:srgbClr val="98989F"/>
                </a:solidFill>
                <a:latin typeface="Helvetica Neue"/>
                <a:ea typeface="Helvetica Neue"/>
                <a:cs typeface="Helvetica Neue"/>
              </a:defRPr>
            </a:lvl7pPr>
            <a:lvl8pPr algn="r">
              <a:buNone/>
              <a:defRPr sz="1425" b="0">
                <a:solidFill>
                  <a:srgbClr val="98989F"/>
                </a:solidFill>
                <a:latin typeface="Helvetica Neue"/>
                <a:ea typeface="Helvetica Neue"/>
                <a:cs typeface="Helvetica Neue"/>
              </a:defRPr>
            </a:lvl8pPr>
            <a:lvl9pPr algn="r">
              <a:buNone/>
              <a:defRPr sz="1425" b="0">
                <a:solidFill>
                  <a:srgbClr val="98989F"/>
                </a:solidFill>
                <a:latin typeface="Helvetica Neue"/>
                <a:ea typeface="Helvetica Neue"/>
                <a:cs typeface="Helvetica Neue"/>
              </a:defRPr>
            </a:lvl9pPr>
          </a:lstStyle>
          <a:p xmlns:a="http://schemas.openxmlformats.org/drawingml/2006/main">
            <a:pPr algn="r">
              <a:buNone/>
              <a:defRPr sz="1425" b="0">
                <a:solidFill>
                  <a:srgbClr val="98989F"/>
                </a:solidFill>
                <a:latin typeface="Helvetica Neue"/>
                <a:ea typeface="Helvetica Neue"/>
                <a:cs typeface="Helvetica Neue"/>
              </a:defRPr>
            </a:pPr>
            <a:r>
              <a:rPr sz="1425" b="0">
                <a:solidFill>
                  <a:srgbClr val="98989F"/>
                </a:solidFill>
                <a:latin typeface="Helvetica Neue"/>
                <a:ea typeface="Helvetica Neue"/>
                <a:cs typeface="Helvetica Neue"/>
              </a:rPr>
              <a:t>90</a:t>
            </a:r>
          </a:p>
        </p:txBody>
      </p:sp>
      <p:sp>
        <p:nvSpPr>
          <p:cNvPr id="3" name="">
            <a:extLst xmlns:a="http://schemas.openxmlformats.org/drawingml/2006/main">
              <a:ext uri="{FF2B5EF4-FFF2-40B4-BE49-F238E27FC236}">
                <a16:creationId xmlns:a16="http://schemas.microsoft.com/office/drawing/2014/main" id="{19AEF263-5F09-41C7-8B7D-34AA2DB89F33}"/>
              </a:ext>
            </a:extLst>
          </p:cNvPr>
          <p:cNvSpPr>
            <a:spLocks xmlns:a="http://schemas.openxmlformats.org/drawingml/2006/main" noGrp="1"/>
          </p:cNvSpPr>
          <p:nvPr/>
        </p:nvSpPr>
        <p:spPr>
          <a:xfrm xmlns:a="http://schemas.openxmlformats.org/drawingml/2006/main">
            <a:off x="685800" y="742950"/>
            <a:ext cx="10820400" cy="9525"/>
          </a:xfrm>
          <a:prstGeom xmlns:a="http://schemas.openxmlformats.org/drawingml/2006/main" prst="rect">
            <a:avLst/>
          </a:prstGeom>
          <a:solidFill xmlns:a="http://schemas.openxmlformats.org/drawingml/2006/main">
            <a:srgbClr val="28282B"/>
          </a:solidFill>
          <a:ln xmlns:a="http://schemas.openxmlformats.org/drawingml/2006/main" w="9525">
            <a:solidFill>
              <a:srgbClr val="28282B"/>
            </a:solidFill>
            <a:prstDash val="solid"/>
          </a:ln>
        </p:spPr>
      </p:sp>
      <p:sp>
        <p:nvSpPr>
          <p:cNvPr id="4" name="text-3">
            <a:extLst xmlns:a="http://schemas.openxmlformats.org/drawingml/2006/main">
              <a:ext uri="{FF2B5EF4-FFF2-40B4-BE49-F238E27FC236}">
                <a16:creationId xmlns:a16="http://schemas.microsoft.com/office/drawing/2014/main" id="{324881D0-0DF4-42D9-8E06-1F39FE0A099E}"/>
              </a:ext>
            </a:extLst>
          </p:cNvPr>
          <p:cNvSpPr>
            <a:spLocks xmlns:a="http://schemas.openxmlformats.org/drawingml/2006/main" noGrp="1"/>
          </p:cNvSpPr>
          <p:nvPr/>
        </p:nvSpPr>
        <p:spPr>
          <a:xfrm xmlns:a="http://schemas.openxmlformats.org/drawingml/2006/main">
            <a:off x="685800" y="10668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5F7"/>
                </a:solidFill>
                <a:latin typeface="Helvetica Neue"/>
                <a:ea typeface="Helvetica Neue"/>
                <a:cs typeface="Helvetica Neue"/>
              </a:defRPr>
            </a:defPPr>
            <a:lvl1pPr algn="l">
              <a:buNone/>
              <a:defRPr sz="3450" b="1">
                <a:solidFill>
                  <a:srgbClr val="F5F5F7"/>
                </a:solidFill>
                <a:latin typeface="Helvetica Neue"/>
                <a:ea typeface="Helvetica Neue"/>
                <a:cs typeface="Helvetica Neue"/>
              </a:defRPr>
            </a:lvl1pPr>
            <a:lvl2pPr algn="l">
              <a:buNone/>
              <a:defRPr sz="3450" b="1">
                <a:solidFill>
                  <a:srgbClr val="F5F5F7"/>
                </a:solidFill>
                <a:latin typeface="Helvetica Neue"/>
                <a:ea typeface="Helvetica Neue"/>
                <a:cs typeface="Helvetica Neue"/>
              </a:defRPr>
            </a:lvl2pPr>
            <a:lvl3pPr algn="l">
              <a:buNone/>
              <a:defRPr sz="3450" b="1">
                <a:solidFill>
                  <a:srgbClr val="F5F5F7"/>
                </a:solidFill>
                <a:latin typeface="Helvetica Neue"/>
                <a:ea typeface="Helvetica Neue"/>
                <a:cs typeface="Helvetica Neue"/>
              </a:defRPr>
            </a:lvl3pPr>
            <a:lvl4pPr algn="l">
              <a:buNone/>
              <a:defRPr sz="3450" b="1">
                <a:solidFill>
                  <a:srgbClr val="F5F5F7"/>
                </a:solidFill>
                <a:latin typeface="Helvetica Neue"/>
                <a:ea typeface="Helvetica Neue"/>
                <a:cs typeface="Helvetica Neue"/>
              </a:defRPr>
            </a:lvl4pPr>
            <a:lvl5pPr algn="l">
              <a:buNone/>
              <a:defRPr sz="3450" b="1">
                <a:solidFill>
                  <a:srgbClr val="F5F5F7"/>
                </a:solidFill>
                <a:latin typeface="Helvetica Neue"/>
                <a:ea typeface="Helvetica Neue"/>
                <a:cs typeface="Helvetica Neue"/>
              </a:defRPr>
            </a:lvl5pPr>
            <a:lvl6pPr algn="l">
              <a:buNone/>
              <a:defRPr sz="3450" b="1">
                <a:solidFill>
                  <a:srgbClr val="F5F5F7"/>
                </a:solidFill>
                <a:latin typeface="Helvetica Neue"/>
                <a:ea typeface="Helvetica Neue"/>
                <a:cs typeface="Helvetica Neue"/>
              </a:defRPr>
            </a:lvl6pPr>
            <a:lvl7pPr algn="l">
              <a:buNone/>
              <a:defRPr sz="3450" b="1">
                <a:solidFill>
                  <a:srgbClr val="F5F5F7"/>
                </a:solidFill>
                <a:latin typeface="Helvetica Neue"/>
                <a:ea typeface="Helvetica Neue"/>
                <a:cs typeface="Helvetica Neue"/>
              </a:defRPr>
            </a:lvl7pPr>
            <a:lvl8pPr algn="l">
              <a:buNone/>
              <a:defRPr sz="3450" b="1">
                <a:solidFill>
                  <a:srgbClr val="F5F5F7"/>
                </a:solidFill>
                <a:latin typeface="Helvetica Neue"/>
                <a:ea typeface="Helvetica Neue"/>
                <a:cs typeface="Helvetica Neue"/>
              </a:defRPr>
            </a:lvl8pPr>
            <a:lvl9pPr algn="l">
              <a:buNone/>
              <a:defRPr sz="3450" b="1">
                <a:solidFill>
                  <a:srgbClr val="F5F5F7"/>
                </a:solidFill>
                <a:latin typeface="Helvetica Neue"/>
                <a:ea typeface="Helvetica Neue"/>
                <a:cs typeface="Helvetica Neue"/>
              </a:defRPr>
            </a:lvl9pPr>
          </a:lstStyle>
          <a:p xmlns:a="http://schemas.openxmlformats.org/drawingml/2006/main">
            <a:pPr algn="l">
              <a:buNone/>
              <a:defRPr sz="3225" b="1">
                <a:solidFill>
                  <a:srgbClr val="F5F5F7"/>
                </a:solidFill>
                <a:latin typeface="Helvetica Neue"/>
                <a:ea typeface="Helvetica Neue"/>
                <a:cs typeface="Helvetica Neue"/>
              </a:defRPr>
            </a:pPr>
            <a:r>
              <a:rPr sz="3225" b="1">
                <a:solidFill>
                  <a:srgbClr val="F5F5F7"/>
                </a:solidFill>
                <a:latin typeface="Helvetica Neue"/>
                <a:ea typeface="Helvetica Neue"/>
                <a:cs typeface="Helvetica Neue"/>
              </a:rPr>
              <a:t>Материалы и источники</a:t>
            </a:r>
          </a:p>
        </p:txBody>
      </p:sp>
      <p:sp>
        <p:nvSpPr>
          <p:cNvPr id="12" name="ysda-5">
            <a:extLst xmlns:a="http://schemas.openxmlformats.org/drawingml/2006/main">
              <a:ext uri="{FF2B5EF4-FFF2-40B4-BE49-F238E27FC236}">
                <a16:creationId xmlns:a16="http://schemas.microsoft.com/office/drawing/2014/main" id="{658533E1-39BC-4C99-8657-45A7CFCD7141}"/>
              </a:ext>
            </a:extLst>
          </p:cNvPr>
          <p:cNvSpPr>
            <a:spLocks xmlns:a="http://schemas.openxmlformats.org/drawingml/2006/main" noGrp="1"/>
          </p:cNvSpPr>
          <p:nvPr/>
        </p:nvSpPr>
        <p:spPr>
          <a:xfrm xmlns:a="http://schemas.openxmlformats.org/drawingml/2006/main">
            <a:off x="685800" y="3152775"/>
            <a:ext cx="50863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BD9FE3"/>
                </a:solidFill>
                <a:latin typeface="Helvetica Neue"/>
                <a:ea typeface="Helvetica Neue"/>
                <a:cs typeface="Helvetica Neue"/>
              </a:defRPr>
            </a:defPPr>
            <a:lvl1pPr>
              <a:defRPr sz="1800" b="1">
                <a:solidFill>
                  <a:srgbClr val="BD9FE3"/>
                </a:solidFill>
                <a:latin typeface="Helvetica Neue"/>
                <a:ea typeface="Helvetica Neue"/>
                <a:cs typeface="Helvetica Neue"/>
              </a:defRPr>
            </a:lvl1pPr>
            <a:lvl2pPr>
              <a:defRPr sz="1800" b="1">
                <a:solidFill>
                  <a:srgbClr val="BD9FE3"/>
                </a:solidFill>
                <a:latin typeface="Helvetica Neue"/>
                <a:ea typeface="Helvetica Neue"/>
                <a:cs typeface="Helvetica Neue"/>
              </a:defRPr>
            </a:lvl2pPr>
            <a:lvl3pPr>
              <a:defRPr sz="1800" b="1">
                <a:solidFill>
                  <a:srgbClr val="BD9FE3"/>
                </a:solidFill>
                <a:latin typeface="Helvetica Neue"/>
                <a:ea typeface="Helvetica Neue"/>
                <a:cs typeface="Helvetica Neue"/>
              </a:defRPr>
            </a:lvl3pPr>
            <a:lvl4pPr>
              <a:defRPr sz="1800" b="1">
                <a:solidFill>
                  <a:srgbClr val="BD9FE3"/>
                </a:solidFill>
                <a:latin typeface="Helvetica Neue"/>
                <a:ea typeface="Helvetica Neue"/>
                <a:cs typeface="Helvetica Neue"/>
              </a:defRPr>
            </a:lvl4pPr>
            <a:lvl5pPr>
              <a:defRPr sz="1800" b="1">
                <a:solidFill>
                  <a:srgbClr val="BD9FE3"/>
                </a:solidFill>
                <a:latin typeface="Helvetica Neue"/>
                <a:ea typeface="Helvetica Neue"/>
                <a:cs typeface="Helvetica Neue"/>
              </a:defRPr>
            </a:lvl5pPr>
            <a:lvl6pPr>
              <a:defRPr sz="1800" b="1">
                <a:solidFill>
                  <a:srgbClr val="BD9FE3"/>
                </a:solidFill>
                <a:latin typeface="Helvetica Neue"/>
                <a:ea typeface="Helvetica Neue"/>
                <a:cs typeface="Helvetica Neue"/>
              </a:defRPr>
            </a:lvl6pPr>
            <a:lvl7pPr>
              <a:defRPr sz="1800" b="1">
                <a:solidFill>
                  <a:srgbClr val="BD9FE3"/>
                </a:solidFill>
                <a:latin typeface="Helvetica Neue"/>
                <a:ea typeface="Helvetica Neue"/>
                <a:cs typeface="Helvetica Neue"/>
              </a:defRPr>
            </a:lvl7pPr>
            <a:lvl8pPr>
              <a:defRPr sz="1800" b="1">
                <a:solidFill>
                  <a:srgbClr val="BD9FE3"/>
                </a:solidFill>
                <a:latin typeface="Helvetica Neue"/>
                <a:ea typeface="Helvetica Neue"/>
                <a:cs typeface="Helvetica Neue"/>
              </a:defRPr>
            </a:lvl8pPr>
            <a:lvl9pPr>
              <a:defRPr sz="1800" b="1">
                <a:solidFill>
                  <a:srgbClr val="BD9FE3"/>
                </a:solidFill>
                <a:latin typeface="Helvetica Neue"/>
                <a:ea typeface="Helvetica Neue"/>
                <a:cs typeface="Helvetica Neue"/>
              </a:defRPr>
            </a:lvl9pPr>
          </a:lstStyle>
          <a:p xmlns:a="http://schemas.openxmlformats.org/drawingml/2006/main">
            <a:pPr>
              <a:defRPr sz="1800" b="1">
                <a:solidFill>
                  <a:srgbClr val="BD9FE3"/>
                </a:solidFill>
                <a:latin typeface="Helvetica Neue"/>
                <a:ea typeface="Helvetica Neue"/>
                <a:cs typeface="Helvetica Neue"/>
              </a:defRPr>
            </a:pPr>
            <a:r>
              <a:rPr sz="1800" b="1">
                <a:solidFill>
                  <a:srgbClr val="BD9FE3"/>
                </a:solidFill>
                <a:latin typeface="Helvetica Neue"/>
                <a:ea typeface="Helvetica Neue"/>
                <a:cs typeface="Helvetica Neue"/>
                <a:hlinkClick xmlns:r="http://schemas.openxmlformats.org/officeDocument/2006/relationships" r:id="R2e290593984d4ddd"/>
              </a:rPr>
              <a:t>YSDA NLP course</a:t>
            </a:r>
          </a:p>
        </p:txBody>
      </p:sp>
      <p:sp>
        <p:nvSpPr>
          <p:cNvPr id="13" name="ysda-6">
            <a:extLst xmlns:a="http://schemas.openxmlformats.org/drawingml/2006/main">
              <a:ext uri="{FF2B5EF4-FFF2-40B4-BE49-F238E27FC236}">
                <a16:creationId xmlns:a16="http://schemas.microsoft.com/office/drawing/2014/main" id="{EEC72A34-4349-4B68-AC0E-6F9AD2D7ECFF}"/>
              </a:ext>
            </a:extLst>
          </p:cNvPr>
          <p:cNvSpPr>
            <a:spLocks xmlns:a="http://schemas.openxmlformats.org/drawingml/2006/main" noGrp="1"/>
          </p:cNvSpPr>
          <p:nvPr/>
        </p:nvSpPr>
        <p:spPr>
          <a:xfrm xmlns:a="http://schemas.openxmlformats.org/drawingml/2006/main">
            <a:off x="685800" y="3533775"/>
            <a:ext cx="50863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88" b="0">
                <a:solidFill>
                  <a:srgbClr val="CDCDD3"/>
                </a:solidFill>
                <a:latin typeface="Helvetica Neue"/>
                <a:ea typeface="Helvetica Neue"/>
                <a:cs typeface="Helvetica Neue"/>
              </a:defRPr>
            </a:defPPr>
            <a:lvl1pPr>
              <a:defRPr sz="1688" b="0">
                <a:solidFill>
                  <a:srgbClr val="CDCDD3"/>
                </a:solidFill>
                <a:latin typeface="Helvetica Neue"/>
                <a:ea typeface="Helvetica Neue"/>
                <a:cs typeface="Helvetica Neue"/>
              </a:defRPr>
            </a:lvl1pPr>
            <a:lvl2pPr>
              <a:defRPr sz="1688" b="0">
                <a:solidFill>
                  <a:srgbClr val="CDCDD3"/>
                </a:solidFill>
                <a:latin typeface="Helvetica Neue"/>
                <a:ea typeface="Helvetica Neue"/>
                <a:cs typeface="Helvetica Neue"/>
              </a:defRPr>
            </a:lvl2pPr>
            <a:lvl3pPr>
              <a:defRPr sz="1688" b="0">
                <a:solidFill>
                  <a:srgbClr val="CDCDD3"/>
                </a:solidFill>
                <a:latin typeface="Helvetica Neue"/>
                <a:ea typeface="Helvetica Neue"/>
                <a:cs typeface="Helvetica Neue"/>
              </a:defRPr>
            </a:lvl3pPr>
            <a:lvl4pPr>
              <a:defRPr sz="1688" b="0">
                <a:solidFill>
                  <a:srgbClr val="CDCDD3"/>
                </a:solidFill>
                <a:latin typeface="Helvetica Neue"/>
                <a:ea typeface="Helvetica Neue"/>
                <a:cs typeface="Helvetica Neue"/>
              </a:defRPr>
            </a:lvl4pPr>
            <a:lvl5pPr>
              <a:defRPr sz="1688" b="0">
                <a:solidFill>
                  <a:srgbClr val="CDCDD3"/>
                </a:solidFill>
                <a:latin typeface="Helvetica Neue"/>
                <a:ea typeface="Helvetica Neue"/>
                <a:cs typeface="Helvetica Neue"/>
              </a:defRPr>
            </a:lvl5pPr>
            <a:lvl6pPr>
              <a:defRPr sz="1688" b="0">
                <a:solidFill>
                  <a:srgbClr val="CDCDD3"/>
                </a:solidFill>
                <a:latin typeface="Helvetica Neue"/>
                <a:ea typeface="Helvetica Neue"/>
                <a:cs typeface="Helvetica Neue"/>
              </a:defRPr>
            </a:lvl6pPr>
            <a:lvl7pPr>
              <a:defRPr sz="1688" b="0">
                <a:solidFill>
                  <a:srgbClr val="CDCDD3"/>
                </a:solidFill>
                <a:latin typeface="Helvetica Neue"/>
                <a:ea typeface="Helvetica Neue"/>
                <a:cs typeface="Helvetica Neue"/>
              </a:defRPr>
            </a:lvl7pPr>
            <a:lvl8pPr>
              <a:defRPr sz="1688" b="0">
                <a:solidFill>
                  <a:srgbClr val="CDCDD3"/>
                </a:solidFill>
                <a:latin typeface="Helvetica Neue"/>
                <a:ea typeface="Helvetica Neue"/>
                <a:cs typeface="Helvetica Neue"/>
              </a:defRPr>
            </a:lvl8pPr>
            <a:lvl9pPr>
              <a:defRPr sz="1688" b="0">
                <a:solidFill>
                  <a:srgbClr val="CDCDD3"/>
                </a:solidFill>
                <a:latin typeface="Helvetica Neue"/>
                <a:ea typeface="Helvetica Neue"/>
                <a:cs typeface="Helvetica Neue"/>
              </a:defRPr>
            </a:lvl9pPr>
          </a:lstStyle>
          <a:p xmlns:a="http://schemas.openxmlformats.org/drawingml/2006/main">
            <a:pPr>
              <a:defRPr sz="1688" b="0">
                <a:solidFill>
                  <a:srgbClr val="CDCDD3"/>
                </a:solidFill>
                <a:latin typeface="Helvetica Neue"/>
                <a:ea typeface="Helvetica Neue"/>
                <a:cs typeface="Helvetica Neue"/>
              </a:defRPr>
            </a:pPr>
            <a:r>
              <a:rPr sz="1688" b="0">
                <a:solidFill>
                  <a:srgbClr val="CDCDD3"/>
                </a:solidFill>
                <a:latin typeface="Helvetica Neue"/>
                <a:ea typeface="Helvetica Neue"/>
                <a:cs typeface="Helvetica Neue"/>
              </a:rPr>
              <a:t>Репозиторий, lecture slides и notebooks.</a:t>
            </a:r>
          </a:p>
        </p:txBody>
      </p:sp>
      <p:sp>
        <p:nvSpPr>
          <p:cNvPr id="18" name="ysda-11">
            <a:extLst xmlns:a="http://schemas.openxmlformats.org/drawingml/2006/main">
              <a:ext uri="{FF2B5EF4-FFF2-40B4-BE49-F238E27FC236}">
                <a16:creationId xmlns:a16="http://schemas.microsoft.com/office/drawing/2014/main" id="{2DE82781-E2B7-4FED-BBCB-2E354EFD9BBD}"/>
              </a:ext>
            </a:extLst>
          </p:cNvPr>
          <p:cNvSpPr>
            <a:spLocks xmlns:a="http://schemas.openxmlformats.org/drawingml/2006/main" noGrp="1"/>
          </p:cNvSpPr>
          <p:nvPr/>
        </p:nvSpPr>
        <p:spPr>
          <a:xfrm xmlns:a="http://schemas.openxmlformats.org/drawingml/2006/main">
            <a:off x="6419850" y="3152775"/>
            <a:ext cx="50863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BD9FE3"/>
                </a:solidFill>
                <a:latin typeface="Helvetica Neue"/>
                <a:ea typeface="Helvetica Neue"/>
                <a:cs typeface="Helvetica Neue"/>
              </a:defRPr>
            </a:defPPr>
            <a:lvl1pPr>
              <a:defRPr sz="1800" b="1">
                <a:solidFill>
                  <a:srgbClr val="BD9FE3"/>
                </a:solidFill>
                <a:latin typeface="Helvetica Neue"/>
                <a:ea typeface="Helvetica Neue"/>
                <a:cs typeface="Helvetica Neue"/>
              </a:defRPr>
            </a:lvl1pPr>
            <a:lvl2pPr>
              <a:defRPr sz="1800" b="1">
                <a:solidFill>
                  <a:srgbClr val="BD9FE3"/>
                </a:solidFill>
                <a:latin typeface="Helvetica Neue"/>
                <a:ea typeface="Helvetica Neue"/>
                <a:cs typeface="Helvetica Neue"/>
              </a:defRPr>
            </a:lvl2pPr>
            <a:lvl3pPr>
              <a:defRPr sz="1800" b="1">
                <a:solidFill>
                  <a:srgbClr val="BD9FE3"/>
                </a:solidFill>
                <a:latin typeface="Helvetica Neue"/>
                <a:ea typeface="Helvetica Neue"/>
                <a:cs typeface="Helvetica Neue"/>
              </a:defRPr>
            </a:lvl3pPr>
            <a:lvl4pPr>
              <a:defRPr sz="1800" b="1">
                <a:solidFill>
                  <a:srgbClr val="BD9FE3"/>
                </a:solidFill>
                <a:latin typeface="Helvetica Neue"/>
                <a:ea typeface="Helvetica Neue"/>
                <a:cs typeface="Helvetica Neue"/>
              </a:defRPr>
            </a:lvl4pPr>
            <a:lvl5pPr>
              <a:defRPr sz="1800" b="1">
                <a:solidFill>
                  <a:srgbClr val="BD9FE3"/>
                </a:solidFill>
                <a:latin typeface="Helvetica Neue"/>
                <a:ea typeface="Helvetica Neue"/>
                <a:cs typeface="Helvetica Neue"/>
              </a:defRPr>
            </a:lvl5pPr>
            <a:lvl6pPr>
              <a:defRPr sz="1800" b="1">
                <a:solidFill>
                  <a:srgbClr val="BD9FE3"/>
                </a:solidFill>
                <a:latin typeface="Helvetica Neue"/>
                <a:ea typeface="Helvetica Neue"/>
                <a:cs typeface="Helvetica Neue"/>
              </a:defRPr>
            </a:lvl6pPr>
            <a:lvl7pPr>
              <a:defRPr sz="1800" b="1">
                <a:solidFill>
                  <a:srgbClr val="BD9FE3"/>
                </a:solidFill>
                <a:latin typeface="Helvetica Neue"/>
                <a:ea typeface="Helvetica Neue"/>
                <a:cs typeface="Helvetica Neue"/>
              </a:defRPr>
            </a:lvl7pPr>
            <a:lvl8pPr>
              <a:defRPr sz="1800" b="1">
                <a:solidFill>
                  <a:srgbClr val="BD9FE3"/>
                </a:solidFill>
                <a:latin typeface="Helvetica Neue"/>
                <a:ea typeface="Helvetica Neue"/>
                <a:cs typeface="Helvetica Neue"/>
              </a:defRPr>
            </a:lvl8pPr>
            <a:lvl9pPr>
              <a:defRPr sz="1800" b="1">
                <a:solidFill>
                  <a:srgbClr val="BD9FE3"/>
                </a:solidFill>
                <a:latin typeface="Helvetica Neue"/>
                <a:ea typeface="Helvetica Neue"/>
                <a:cs typeface="Helvetica Neue"/>
              </a:defRPr>
            </a:lvl9pPr>
          </a:lstStyle>
          <a:p xmlns:a="http://schemas.openxmlformats.org/drawingml/2006/main">
            <a:pPr>
              <a:defRPr sz="1800" b="1">
                <a:solidFill>
                  <a:srgbClr val="BD9FE3"/>
                </a:solidFill>
                <a:latin typeface="Helvetica Neue"/>
                <a:ea typeface="Helvetica Neue"/>
                <a:cs typeface="Helvetica Neue"/>
              </a:defRPr>
            </a:pPr>
            <a:r>
              <a:rPr sz="1800" b="1">
                <a:solidFill>
                  <a:srgbClr val="BD9FE3"/>
                </a:solidFill>
                <a:latin typeface="Helvetica Neue"/>
                <a:ea typeface="Helvetica Neue"/>
                <a:cs typeface="Helvetica Neue"/>
                <a:hlinkClick xmlns:r="http://schemas.openxmlformats.org/officeDocument/2006/relationships" r:id="R257baa0523cb4fa4"/>
              </a:rPr>
              <a:t>NLTK Book и spaCy</a:t>
            </a:r>
          </a:p>
        </p:txBody>
      </p:sp>
      <p:sp>
        <p:nvSpPr>
          <p:cNvPr id="19" name="ysda-12">
            <a:extLst xmlns:a="http://schemas.openxmlformats.org/drawingml/2006/main">
              <a:ext uri="{FF2B5EF4-FFF2-40B4-BE49-F238E27FC236}">
                <a16:creationId xmlns:a16="http://schemas.microsoft.com/office/drawing/2014/main" id="{5093A0FC-0E99-4F35-AD0F-655E20690237}"/>
              </a:ext>
            </a:extLst>
          </p:cNvPr>
          <p:cNvSpPr>
            <a:spLocks xmlns:a="http://schemas.openxmlformats.org/drawingml/2006/main" noGrp="1"/>
          </p:cNvSpPr>
          <p:nvPr/>
        </p:nvSpPr>
        <p:spPr>
          <a:xfrm xmlns:a="http://schemas.openxmlformats.org/drawingml/2006/main">
            <a:off x="6419850" y="3533775"/>
            <a:ext cx="50863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88" b="0">
                <a:solidFill>
                  <a:srgbClr val="CDCDD3"/>
                </a:solidFill>
                <a:latin typeface="Helvetica Neue"/>
                <a:ea typeface="Helvetica Neue"/>
                <a:cs typeface="Helvetica Neue"/>
              </a:defRPr>
            </a:defPPr>
            <a:lvl1pPr>
              <a:defRPr sz="1688" b="0">
                <a:solidFill>
                  <a:srgbClr val="CDCDD3"/>
                </a:solidFill>
                <a:latin typeface="Helvetica Neue"/>
                <a:ea typeface="Helvetica Neue"/>
                <a:cs typeface="Helvetica Neue"/>
              </a:defRPr>
            </a:lvl1pPr>
            <a:lvl2pPr>
              <a:defRPr sz="1688" b="0">
                <a:solidFill>
                  <a:srgbClr val="CDCDD3"/>
                </a:solidFill>
                <a:latin typeface="Helvetica Neue"/>
                <a:ea typeface="Helvetica Neue"/>
                <a:cs typeface="Helvetica Neue"/>
              </a:defRPr>
            </a:lvl2pPr>
            <a:lvl3pPr>
              <a:defRPr sz="1688" b="0">
                <a:solidFill>
                  <a:srgbClr val="CDCDD3"/>
                </a:solidFill>
                <a:latin typeface="Helvetica Neue"/>
                <a:ea typeface="Helvetica Neue"/>
                <a:cs typeface="Helvetica Neue"/>
              </a:defRPr>
            </a:lvl3pPr>
            <a:lvl4pPr>
              <a:defRPr sz="1688" b="0">
                <a:solidFill>
                  <a:srgbClr val="CDCDD3"/>
                </a:solidFill>
                <a:latin typeface="Helvetica Neue"/>
                <a:ea typeface="Helvetica Neue"/>
                <a:cs typeface="Helvetica Neue"/>
              </a:defRPr>
            </a:lvl4pPr>
            <a:lvl5pPr>
              <a:defRPr sz="1688" b="0">
                <a:solidFill>
                  <a:srgbClr val="CDCDD3"/>
                </a:solidFill>
                <a:latin typeface="Helvetica Neue"/>
                <a:ea typeface="Helvetica Neue"/>
                <a:cs typeface="Helvetica Neue"/>
              </a:defRPr>
            </a:lvl5pPr>
            <a:lvl6pPr>
              <a:defRPr sz="1688" b="0">
                <a:solidFill>
                  <a:srgbClr val="CDCDD3"/>
                </a:solidFill>
                <a:latin typeface="Helvetica Neue"/>
                <a:ea typeface="Helvetica Neue"/>
                <a:cs typeface="Helvetica Neue"/>
              </a:defRPr>
            </a:lvl6pPr>
            <a:lvl7pPr>
              <a:defRPr sz="1688" b="0">
                <a:solidFill>
                  <a:srgbClr val="CDCDD3"/>
                </a:solidFill>
                <a:latin typeface="Helvetica Neue"/>
                <a:ea typeface="Helvetica Neue"/>
                <a:cs typeface="Helvetica Neue"/>
              </a:defRPr>
            </a:lvl7pPr>
            <a:lvl8pPr>
              <a:defRPr sz="1688" b="0">
                <a:solidFill>
                  <a:srgbClr val="CDCDD3"/>
                </a:solidFill>
                <a:latin typeface="Helvetica Neue"/>
                <a:ea typeface="Helvetica Neue"/>
                <a:cs typeface="Helvetica Neue"/>
              </a:defRPr>
            </a:lvl8pPr>
            <a:lvl9pPr>
              <a:defRPr sz="1688" b="0">
                <a:solidFill>
                  <a:srgbClr val="CDCDD3"/>
                </a:solidFill>
                <a:latin typeface="Helvetica Neue"/>
                <a:ea typeface="Helvetica Neue"/>
                <a:cs typeface="Helvetica Neue"/>
              </a:defRPr>
            </a:lvl9pPr>
          </a:lstStyle>
          <a:p xmlns:a="http://schemas.openxmlformats.org/drawingml/2006/main">
            <a:pPr>
              <a:defRPr sz="1688" b="0">
                <a:solidFill>
                  <a:srgbClr val="CDCDD3"/>
                </a:solidFill>
                <a:latin typeface="Helvetica Neue"/>
                <a:ea typeface="Helvetica Neue"/>
                <a:cs typeface="Helvetica Neue"/>
              </a:defRPr>
            </a:pPr>
            <a:r>
              <a:rPr sz="1688" b="0">
                <a:solidFill>
                  <a:srgbClr val="CDCDD3"/>
                </a:solidFill>
                <a:latin typeface="Helvetica Neue"/>
                <a:ea typeface="Helvetica Neue"/>
                <a:cs typeface="Helvetica Neue"/>
              </a:rPr>
              <a:t>Preprocessing и linguistic annotation.</a:t>
            </a:r>
          </a:p>
        </p:txBody>
      </p:sp>
      <p:sp>
        <p:nvSpPr>
          <p:cNvPr id="20" name="ysda-13">
            <a:extLst xmlns:a="http://schemas.openxmlformats.org/drawingml/2006/main">
              <a:ext uri="{FF2B5EF4-FFF2-40B4-BE49-F238E27FC236}">
                <a16:creationId xmlns:a16="http://schemas.microsoft.com/office/drawing/2014/main" id="{DF788A52-DA94-4D56-9662-E9EEF38CD135}"/>
              </a:ext>
            </a:extLst>
          </p:cNvPr>
          <p:cNvSpPr>
            <a:spLocks xmlns:a="http://schemas.openxmlformats.org/drawingml/2006/main" noGrp="1"/>
          </p:cNvSpPr>
          <p:nvPr/>
        </p:nvSpPr>
        <p:spPr>
          <a:xfrm xmlns:a="http://schemas.openxmlformats.org/drawingml/2006/main">
            <a:off x="685800" y="4581525"/>
            <a:ext cx="50863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BD9FE3"/>
                </a:solidFill>
                <a:latin typeface="Helvetica Neue"/>
                <a:ea typeface="Helvetica Neue"/>
                <a:cs typeface="Helvetica Neue"/>
              </a:defRPr>
            </a:defPPr>
            <a:lvl1pPr>
              <a:defRPr sz="1800" b="1">
                <a:solidFill>
                  <a:srgbClr val="BD9FE3"/>
                </a:solidFill>
                <a:latin typeface="Helvetica Neue"/>
                <a:ea typeface="Helvetica Neue"/>
                <a:cs typeface="Helvetica Neue"/>
              </a:defRPr>
            </a:lvl1pPr>
            <a:lvl2pPr>
              <a:defRPr sz="1800" b="1">
                <a:solidFill>
                  <a:srgbClr val="BD9FE3"/>
                </a:solidFill>
                <a:latin typeface="Helvetica Neue"/>
                <a:ea typeface="Helvetica Neue"/>
                <a:cs typeface="Helvetica Neue"/>
              </a:defRPr>
            </a:lvl2pPr>
            <a:lvl3pPr>
              <a:defRPr sz="1800" b="1">
                <a:solidFill>
                  <a:srgbClr val="BD9FE3"/>
                </a:solidFill>
                <a:latin typeface="Helvetica Neue"/>
                <a:ea typeface="Helvetica Neue"/>
                <a:cs typeface="Helvetica Neue"/>
              </a:defRPr>
            </a:lvl3pPr>
            <a:lvl4pPr>
              <a:defRPr sz="1800" b="1">
                <a:solidFill>
                  <a:srgbClr val="BD9FE3"/>
                </a:solidFill>
                <a:latin typeface="Helvetica Neue"/>
                <a:ea typeface="Helvetica Neue"/>
                <a:cs typeface="Helvetica Neue"/>
              </a:defRPr>
            </a:lvl4pPr>
            <a:lvl5pPr>
              <a:defRPr sz="1800" b="1">
                <a:solidFill>
                  <a:srgbClr val="BD9FE3"/>
                </a:solidFill>
                <a:latin typeface="Helvetica Neue"/>
                <a:ea typeface="Helvetica Neue"/>
                <a:cs typeface="Helvetica Neue"/>
              </a:defRPr>
            </a:lvl5pPr>
            <a:lvl6pPr>
              <a:defRPr sz="1800" b="1">
                <a:solidFill>
                  <a:srgbClr val="BD9FE3"/>
                </a:solidFill>
                <a:latin typeface="Helvetica Neue"/>
                <a:ea typeface="Helvetica Neue"/>
                <a:cs typeface="Helvetica Neue"/>
              </a:defRPr>
            </a:lvl6pPr>
            <a:lvl7pPr>
              <a:defRPr sz="1800" b="1">
                <a:solidFill>
                  <a:srgbClr val="BD9FE3"/>
                </a:solidFill>
                <a:latin typeface="Helvetica Neue"/>
                <a:ea typeface="Helvetica Neue"/>
                <a:cs typeface="Helvetica Neue"/>
              </a:defRPr>
            </a:lvl7pPr>
            <a:lvl8pPr>
              <a:defRPr sz="1800" b="1">
                <a:solidFill>
                  <a:srgbClr val="BD9FE3"/>
                </a:solidFill>
                <a:latin typeface="Helvetica Neue"/>
                <a:ea typeface="Helvetica Neue"/>
                <a:cs typeface="Helvetica Neue"/>
              </a:defRPr>
            </a:lvl8pPr>
            <a:lvl9pPr>
              <a:defRPr sz="1800" b="1">
                <a:solidFill>
                  <a:srgbClr val="BD9FE3"/>
                </a:solidFill>
                <a:latin typeface="Helvetica Neue"/>
                <a:ea typeface="Helvetica Neue"/>
                <a:cs typeface="Helvetica Neue"/>
              </a:defRPr>
            </a:lvl9pPr>
          </a:lstStyle>
          <a:p xmlns:a="http://schemas.openxmlformats.org/drawingml/2006/main">
            <a:pPr>
              <a:defRPr sz="1800" b="1">
                <a:solidFill>
                  <a:srgbClr val="BD9FE3"/>
                </a:solidFill>
                <a:latin typeface="Helvetica Neue"/>
                <a:ea typeface="Helvetica Neue"/>
                <a:cs typeface="Helvetica Neue"/>
              </a:defRPr>
            </a:pPr>
            <a:r>
              <a:rPr sz="1800" b="1">
                <a:solidFill>
                  <a:srgbClr val="BD9FE3"/>
                </a:solidFill>
                <a:latin typeface="Helvetica Neue"/>
                <a:ea typeface="Helvetica Neue"/>
                <a:cs typeface="Helvetica Neue"/>
                <a:hlinkClick xmlns:r="http://schemas.openxmlformats.org/officeDocument/2006/relationships" r:id="Rcb2dae8a5a554eea"/>
              </a:rPr>
              <a:t>scikit-learn</a:t>
            </a:r>
          </a:p>
        </p:txBody>
      </p:sp>
      <p:sp>
        <p:nvSpPr>
          <p:cNvPr id="21" name="ysda-14">
            <a:extLst xmlns:a="http://schemas.openxmlformats.org/drawingml/2006/main">
              <a:ext uri="{FF2B5EF4-FFF2-40B4-BE49-F238E27FC236}">
                <a16:creationId xmlns:a16="http://schemas.microsoft.com/office/drawing/2014/main" id="{06C49DE0-27E2-48B4-B17A-9D375A5EB82A}"/>
              </a:ext>
            </a:extLst>
          </p:cNvPr>
          <p:cNvSpPr>
            <a:spLocks xmlns:a="http://schemas.openxmlformats.org/drawingml/2006/main" noGrp="1"/>
          </p:cNvSpPr>
          <p:nvPr/>
        </p:nvSpPr>
        <p:spPr>
          <a:xfrm xmlns:a="http://schemas.openxmlformats.org/drawingml/2006/main">
            <a:off x="685800" y="4962525"/>
            <a:ext cx="50863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88" b="0">
                <a:solidFill>
                  <a:srgbClr val="CDCDD3"/>
                </a:solidFill>
                <a:latin typeface="Helvetica Neue"/>
                <a:ea typeface="Helvetica Neue"/>
                <a:cs typeface="Helvetica Neue"/>
              </a:defRPr>
            </a:defPPr>
            <a:lvl1pPr>
              <a:defRPr sz="1688" b="0">
                <a:solidFill>
                  <a:srgbClr val="CDCDD3"/>
                </a:solidFill>
                <a:latin typeface="Helvetica Neue"/>
                <a:ea typeface="Helvetica Neue"/>
                <a:cs typeface="Helvetica Neue"/>
              </a:defRPr>
            </a:lvl1pPr>
            <a:lvl2pPr>
              <a:defRPr sz="1688" b="0">
                <a:solidFill>
                  <a:srgbClr val="CDCDD3"/>
                </a:solidFill>
                <a:latin typeface="Helvetica Neue"/>
                <a:ea typeface="Helvetica Neue"/>
                <a:cs typeface="Helvetica Neue"/>
              </a:defRPr>
            </a:lvl2pPr>
            <a:lvl3pPr>
              <a:defRPr sz="1688" b="0">
                <a:solidFill>
                  <a:srgbClr val="CDCDD3"/>
                </a:solidFill>
                <a:latin typeface="Helvetica Neue"/>
                <a:ea typeface="Helvetica Neue"/>
                <a:cs typeface="Helvetica Neue"/>
              </a:defRPr>
            </a:lvl3pPr>
            <a:lvl4pPr>
              <a:defRPr sz="1688" b="0">
                <a:solidFill>
                  <a:srgbClr val="CDCDD3"/>
                </a:solidFill>
                <a:latin typeface="Helvetica Neue"/>
                <a:ea typeface="Helvetica Neue"/>
                <a:cs typeface="Helvetica Neue"/>
              </a:defRPr>
            </a:lvl4pPr>
            <a:lvl5pPr>
              <a:defRPr sz="1688" b="0">
                <a:solidFill>
                  <a:srgbClr val="CDCDD3"/>
                </a:solidFill>
                <a:latin typeface="Helvetica Neue"/>
                <a:ea typeface="Helvetica Neue"/>
                <a:cs typeface="Helvetica Neue"/>
              </a:defRPr>
            </a:lvl5pPr>
            <a:lvl6pPr>
              <a:defRPr sz="1688" b="0">
                <a:solidFill>
                  <a:srgbClr val="CDCDD3"/>
                </a:solidFill>
                <a:latin typeface="Helvetica Neue"/>
                <a:ea typeface="Helvetica Neue"/>
                <a:cs typeface="Helvetica Neue"/>
              </a:defRPr>
            </a:lvl6pPr>
            <a:lvl7pPr>
              <a:defRPr sz="1688" b="0">
                <a:solidFill>
                  <a:srgbClr val="CDCDD3"/>
                </a:solidFill>
                <a:latin typeface="Helvetica Neue"/>
                <a:ea typeface="Helvetica Neue"/>
                <a:cs typeface="Helvetica Neue"/>
              </a:defRPr>
            </a:lvl7pPr>
            <a:lvl8pPr>
              <a:defRPr sz="1688" b="0">
                <a:solidFill>
                  <a:srgbClr val="CDCDD3"/>
                </a:solidFill>
                <a:latin typeface="Helvetica Neue"/>
                <a:ea typeface="Helvetica Neue"/>
                <a:cs typeface="Helvetica Neue"/>
              </a:defRPr>
            </a:lvl8pPr>
            <a:lvl9pPr>
              <a:defRPr sz="1688" b="0">
                <a:solidFill>
                  <a:srgbClr val="CDCDD3"/>
                </a:solidFill>
                <a:latin typeface="Helvetica Neue"/>
                <a:ea typeface="Helvetica Neue"/>
                <a:cs typeface="Helvetica Neue"/>
              </a:defRPr>
            </a:lvl9pPr>
          </a:lstStyle>
          <a:p xmlns:a="http://schemas.openxmlformats.org/drawingml/2006/main">
            <a:pPr>
              <a:defRPr sz="1688" b="0">
                <a:solidFill>
                  <a:srgbClr val="CDCDD3"/>
                </a:solidFill>
                <a:latin typeface="Helvetica Neue"/>
                <a:ea typeface="Helvetica Neue"/>
                <a:cs typeface="Helvetica Neue"/>
              </a:defRPr>
            </a:pPr>
            <a:r>
              <a:rPr sz="1688" b="0">
                <a:solidFill>
                  <a:srgbClr val="CDCDD3"/>
                </a:solidFill>
                <a:latin typeface="Helvetica Neue"/>
                <a:ea typeface="Helvetica Neue"/>
                <a:cs typeface="Helvetica Neue"/>
              </a:rPr>
              <a:t>Vectorizers, Pipeline, classifiers и evaluation.</a:t>
            </a:r>
          </a:p>
        </p:txBody>
      </p:sp>
      <p:sp>
        <p:nvSpPr>
          <p:cNvPr id="22" name="ysda-15">
            <a:extLst xmlns:a="http://schemas.openxmlformats.org/drawingml/2006/main">
              <a:ext uri="{FF2B5EF4-FFF2-40B4-BE49-F238E27FC236}">
                <a16:creationId xmlns:a16="http://schemas.microsoft.com/office/drawing/2014/main" id="{9DD12024-EAE8-48A7-980F-D65BD703C552}"/>
              </a:ext>
            </a:extLst>
          </p:cNvPr>
          <p:cNvSpPr>
            <a:spLocks xmlns:a="http://schemas.openxmlformats.org/drawingml/2006/main" noGrp="1"/>
          </p:cNvSpPr>
          <p:nvPr/>
        </p:nvSpPr>
        <p:spPr>
          <a:xfrm xmlns:a="http://schemas.openxmlformats.org/drawingml/2006/main">
            <a:off x="6419850" y="4581525"/>
            <a:ext cx="50863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BD9FE3"/>
                </a:solidFill>
                <a:latin typeface="Helvetica Neue"/>
                <a:ea typeface="Helvetica Neue"/>
                <a:cs typeface="Helvetica Neue"/>
              </a:defRPr>
            </a:defPPr>
            <a:lvl1pPr>
              <a:defRPr sz="1800" b="1">
                <a:solidFill>
                  <a:srgbClr val="BD9FE3"/>
                </a:solidFill>
                <a:latin typeface="Helvetica Neue"/>
                <a:ea typeface="Helvetica Neue"/>
                <a:cs typeface="Helvetica Neue"/>
              </a:defRPr>
            </a:lvl1pPr>
            <a:lvl2pPr>
              <a:defRPr sz="1800" b="1">
                <a:solidFill>
                  <a:srgbClr val="BD9FE3"/>
                </a:solidFill>
                <a:latin typeface="Helvetica Neue"/>
                <a:ea typeface="Helvetica Neue"/>
                <a:cs typeface="Helvetica Neue"/>
              </a:defRPr>
            </a:lvl2pPr>
            <a:lvl3pPr>
              <a:defRPr sz="1800" b="1">
                <a:solidFill>
                  <a:srgbClr val="BD9FE3"/>
                </a:solidFill>
                <a:latin typeface="Helvetica Neue"/>
                <a:ea typeface="Helvetica Neue"/>
                <a:cs typeface="Helvetica Neue"/>
              </a:defRPr>
            </a:lvl3pPr>
            <a:lvl4pPr>
              <a:defRPr sz="1800" b="1">
                <a:solidFill>
                  <a:srgbClr val="BD9FE3"/>
                </a:solidFill>
                <a:latin typeface="Helvetica Neue"/>
                <a:ea typeface="Helvetica Neue"/>
                <a:cs typeface="Helvetica Neue"/>
              </a:defRPr>
            </a:lvl4pPr>
            <a:lvl5pPr>
              <a:defRPr sz="1800" b="1">
                <a:solidFill>
                  <a:srgbClr val="BD9FE3"/>
                </a:solidFill>
                <a:latin typeface="Helvetica Neue"/>
                <a:ea typeface="Helvetica Neue"/>
                <a:cs typeface="Helvetica Neue"/>
              </a:defRPr>
            </a:lvl5pPr>
            <a:lvl6pPr>
              <a:defRPr sz="1800" b="1">
                <a:solidFill>
                  <a:srgbClr val="BD9FE3"/>
                </a:solidFill>
                <a:latin typeface="Helvetica Neue"/>
                <a:ea typeface="Helvetica Neue"/>
                <a:cs typeface="Helvetica Neue"/>
              </a:defRPr>
            </a:lvl6pPr>
            <a:lvl7pPr>
              <a:defRPr sz="1800" b="1">
                <a:solidFill>
                  <a:srgbClr val="BD9FE3"/>
                </a:solidFill>
                <a:latin typeface="Helvetica Neue"/>
                <a:ea typeface="Helvetica Neue"/>
                <a:cs typeface="Helvetica Neue"/>
              </a:defRPr>
            </a:lvl7pPr>
            <a:lvl8pPr>
              <a:defRPr sz="1800" b="1">
                <a:solidFill>
                  <a:srgbClr val="BD9FE3"/>
                </a:solidFill>
                <a:latin typeface="Helvetica Neue"/>
                <a:ea typeface="Helvetica Neue"/>
                <a:cs typeface="Helvetica Neue"/>
              </a:defRPr>
            </a:lvl8pPr>
            <a:lvl9pPr>
              <a:defRPr sz="1800" b="1">
                <a:solidFill>
                  <a:srgbClr val="BD9FE3"/>
                </a:solidFill>
                <a:latin typeface="Helvetica Neue"/>
                <a:ea typeface="Helvetica Neue"/>
                <a:cs typeface="Helvetica Neue"/>
              </a:defRPr>
            </a:lvl9pPr>
          </a:lstStyle>
          <a:p xmlns:a="http://schemas.openxmlformats.org/drawingml/2006/main">
            <a:pPr>
              <a:defRPr sz="1800" b="1">
                <a:solidFill>
                  <a:srgbClr val="BD9FE3"/>
                </a:solidFill>
                <a:latin typeface="Helvetica Neue"/>
                <a:ea typeface="Helvetica Neue"/>
                <a:cs typeface="Helvetica Neue"/>
              </a:defRPr>
            </a:pPr>
            <a:r>
              <a:rPr sz="1800" b="1">
                <a:solidFill>
                  <a:srgbClr val="BD9FE3"/>
                </a:solidFill>
                <a:latin typeface="Helvetica Neue"/>
                <a:ea typeface="Helvetica Neue"/>
                <a:cs typeface="Helvetica Neue"/>
                <a:hlinkClick xmlns:r="http://schemas.openxmlformats.org/officeDocument/2006/relationships" r:id="R21e7d20074d94aa8"/>
              </a:rPr>
              <a:t>Gensim · Hugging Face · SBERT</a:t>
            </a:r>
          </a:p>
        </p:txBody>
      </p:sp>
      <p:sp>
        <p:nvSpPr>
          <p:cNvPr id="23" name="ysda-16">
            <a:extLst xmlns:a="http://schemas.openxmlformats.org/drawingml/2006/main">
              <a:ext uri="{FF2B5EF4-FFF2-40B4-BE49-F238E27FC236}">
                <a16:creationId xmlns:a16="http://schemas.microsoft.com/office/drawing/2014/main" id="{176D293B-7A95-4229-A91E-766BD6574304}"/>
              </a:ext>
            </a:extLst>
          </p:cNvPr>
          <p:cNvSpPr>
            <a:spLocks xmlns:a="http://schemas.openxmlformats.org/drawingml/2006/main" noGrp="1"/>
          </p:cNvSpPr>
          <p:nvPr/>
        </p:nvSpPr>
        <p:spPr>
          <a:xfrm xmlns:a="http://schemas.openxmlformats.org/drawingml/2006/main">
            <a:off x="6419850" y="4962525"/>
            <a:ext cx="50863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88" b="0">
                <a:solidFill>
                  <a:srgbClr val="CDCDD3"/>
                </a:solidFill>
                <a:latin typeface="Helvetica Neue"/>
                <a:ea typeface="Helvetica Neue"/>
                <a:cs typeface="Helvetica Neue"/>
              </a:defRPr>
            </a:defPPr>
            <a:lvl1pPr>
              <a:defRPr sz="1688" b="0">
                <a:solidFill>
                  <a:srgbClr val="CDCDD3"/>
                </a:solidFill>
                <a:latin typeface="Helvetica Neue"/>
                <a:ea typeface="Helvetica Neue"/>
                <a:cs typeface="Helvetica Neue"/>
              </a:defRPr>
            </a:lvl1pPr>
            <a:lvl2pPr>
              <a:defRPr sz="1688" b="0">
                <a:solidFill>
                  <a:srgbClr val="CDCDD3"/>
                </a:solidFill>
                <a:latin typeface="Helvetica Neue"/>
                <a:ea typeface="Helvetica Neue"/>
                <a:cs typeface="Helvetica Neue"/>
              </a:defRPr>
            </a:lvl2pPr>
            <a:lvl3pPr>
              <a:defRPr sz="1688" b="0">
                <a:solidFill>
                  <a:srgbClr val="CDCDD3"/>
                </a:solidFill>
                <a:latin typeface="Helvetica Neue"/>
                <a:ea typeface="Helvetica Neue"/>
                <a:cs typeface="Helvetica Neue"/>
              </a:defRPr>
            </a:lvl3pPr>
            <a:lvl4pPr>
              <a:defRPr sz="1688" b="0">
                <a:solidFill>
                  <a:srgbClr val="CDCDD3"/>
                </a:solidFill>
                <a:latin typeface="Helvetica Neue"/>
                <a:ea typeface="Helvetica Neue"/>
                <a:cs typeface="Helvetica Neue"/>
              </a:defRPr>
            </a:lvl4pPr>
            <a:lvl5pPr>
              <a:defRPr sz="1688" b="0">
                <a:solidFill>
                  <a:srgbClr val="CDCDD3"/>
                </a:solidFill>
                <a:latin typeface="Helvetica Neue"/>
                <a:ea typeface="Helvetica Neue"/>
                <a:cs typeface="Helvetica Neue"/>
              </a:defRPr>
            </a:lvl5pPr>
            <a:lvl6pPr>
              <a:defRPr sz="1688" b="0">
                <a:solidFill>
                  <a:srgbClr val="CDCDD3"/>
                </a:solidFill>
                <a:latin typeface="Helvetica Neue"/>
                <a:ea typeface="Helvetica Neue"/>
                <a:cs typeface="Helvetica Neue"/>
              </a:defRPr>
            </a:lvl6pPr>
            <a:lvl7pPr>
              <a:defRPr sz="1688" b="0">
                <a:solidFill>
                  <a:srgbClr val="CDCDD3"/>
                </a:solidFill>
                <a:latin typeface="Helvetica Neue"/>
                <a:ea typeface="Helvetica Neue"/>
                <a:cs typeface="Helvetica Neue"/>
              </a:defRPr>
            </a:lvl7pPr>
            <a:lvl8pPr>
              <a:defRPr sz="1688" b="0">
                <a:solidFill>
                  <a:srgbClr val="CDCDD3"/>
                </a:solidFill>
                <a:latin typeface="Helvetica Neue"/>
                <a:ea typeface="Helvetica Neue"/>
                <a:cs typeface="Helvetica Neue"/>
              </a:defRPr>
            </a:lvl8pPr>
            <a:lvl9pPr>
              <a:defRPr sz="1688" b="0">
                <a:solidFill>
                  <a:srgbClr val="CDCDD3"/>
                </a:solidFill>
                <a:latin typeface="Helvetica Neue"/>
                <a:ea typeface="Helvetica Neue"/>
                <a:cs typeface="Helvetica Neue"/>
              </a:defRPr>
            </a:lvl9pPr>
          </a:lstStyle>
          <a:p xmlns:a="http://schemas.openxmlformats.org/drawingml/2006/main">
            <a:pPr>
              <a:defRPr sz="1688" b="0">
                <a:solidFill>
                  <a:srgbClr val="CDCDD3"/>
                </a:solidFill>
                <a:latin typeface="Helvetica Neue"/>
                <a:ea typeface="Helvetica Neue"/>
                <a:cs typeface="Helvetica Neue"/>
              </a:defRPr>
            </a:pPr>
            <a:r>
              <a:rPr sz="1688" b="0">
                <a:solidFill>
                  <a:srgbClr val="CDCDD3"/>
                </a:solidFill>
                <a:latin typeface="Helvetica Neue"/>
                <a:ea typeface="Helvetica Neue"/>
                <a:cs typeface="Helvetica Neue"/>
              </a:rPr>
              <a:t>Corpus transformations и pretrained representations.</a:t>
            </a:r>
          </a:p>
        </p:txBody>
      </p:sp>
    </p:spTree>
    <p:extLst>
      <p:ext uri="{BB962C8B-B14F-4D97-AF65-F5344CB8AC3E}">
        <p14:creationId xmlns:p14="http://schemas.microsoft.com/office/powerpoint/2010/main" val="692999578"/>
      </p:ext>
    </p:extLst>
  </p:cSld>
</p:sld>
</file>

<file path=ppt/theme/theme1.xml><?xml version="1.0" encoding="utf-8"?>
<a:theme xmlns:a="http://schemas.openxmlformats.org/drawingml/2006/main" name="ChatGPT">
  <a:themeElements>
    <a:clrScheme name="RLL">
      <a:dk1>
        <a:srgbClr val="000000"/>
      </a:dk1>
      <a:lt1>
        <a:srgbClr val="F5F5F7"/>
      </a:lt1>
      <a:dk2>
        <a:srgbClr val="09090B"/>
      </a:dk2>
      <a:lt2>
        <a:srgbClr val="98989F"/>
      </a:lt2>
      <a:accent1>
        <a:srgbClr val="BD9FE3"/>
      </a:accent1>
      <a:accent2>
        <a:srgbClr val="A0BBA6"/>
      </a:accent2>
      <a:accent3>
        <a:srgbClr val="D1C9DF"/>
      </a:accent3>
      <a:accent4>
        <a:srgbClr val="80808A"/>
      </a:accent4>
      <a:accent5>
        <a:srgbClr val="C5B5F2"/>
      </a:accent5>
      <a:accent6>
        <a:srgbClr val="B4B4BB"/>
      </a:accent6>
      <a:hlink>
        <a:srgbClr val="BD9FE3"/>
      </a:hlink>
      <a:folHlink>
        <a:srgbClr val="BD9FE3"/>
      </a:folHlink>
    </a:clrScheme>
    <a:fontScheme name="">
      <a:majorFont>
        <a:latin typeface="Helvetica Neue"/>
        <a:ea typeface=""/>
        <a:cs typeface=""/>
      </a:majorFont>
      <a:minorFont>
        <a:latin typeface="Helvetica Neue"/>
        <a:ea typeface=""/>
        <a:cs typeface=""/>
      </a:minorFont>
    </a:fontScheme>
    <a:fmtScheme name="RLL">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2026-10-20T10:37:45.6420000Z</dcterms:created>
  <dcterms:modified xsi:type="dcterms:W3CDTF">2026-10-20T10:37:45.6420000Z</dcterms:modified>
</coreProperties>
</file>